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Land the one-sentence thesis before any architecture appears, and establish that two people built two different halves of one system.
WHAT APPEARS ON SCREEN
The product wordmark set exactly as the app sets it, the mic orb oversized on the right, and the two presenter cards with their track split.
SPEAKER: Presenter 1        TIME: 0:35
SCRIPT
Good morning. This is Speech Confidence Coach, and the whole project sits in one sentence: it is a speaking coach that listens to how you say something, not only to what you say.
I am Ali, and I built the product side — the application, the retrieval system, the prompting, the frontend, and the integration between all of it. Youssef built the model side — he brought Moshi up on the GPU, trained the dysfluency classifier, and did the fine-tuning and quantization. He takes over at the halfway mark.
One thing to say up front, because it shapes everything that follows: every number you see today comes out of a script in this repository. Where our own documentation disagrees with itself, we will say so on the slide rather than pick the flattering one.
TECHNICAL BACKUP (only if asked, or if you have time in hand)
Repo: github.com/Ali-Khamis45/we-s2s-finalproject. Track A owns backend/ and frontend/; Track M owns ml/. The task split is documented in docs/PROJECT_PLAN.md.
If asked why two tracks: the assignment brief mandates a text pipeline (STT, RAG, prompt engineering, a fine-tuned LLM, and a base-vs-fine-tuned comparison). Five of those eleven required features have no place to live inside a native speech-to-speech model. That forced the dual architecture, and it is slide 9.
TRANSITION INTO THE NEXT SLIDE
"So let me start with the person this is for, because the technical decisions only make sense once you know what they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Establish the human problem as a practice problem, not a knowledge problem, so that the later architecture reads as a response to a real need.
WHAT APPEARS ON SCREEN
Title, a standfirst, then three numbered cards moving from what is not the obstacle to what actually is.
SPEAKER: Presenter 1        TIME: 1:10
SCRIPT
Speaking is not something you can opt out of. Interviews, vivas, presentations, meetings — they are how people get into education and into work, and all of them happen out loud, in real time, with other people watching.
For someone who stammers or clutters, or who just carries a lot of anxiety about speaking, those moments cost something that the rest of us never pay.
Now here is the thing we kept coming back to. The obstacle is almost never knowledge. Ask anyone who has been to a speech therapist and they can tell you the techniques — slow down, use a pause, keep your opening sentence short. They know.
What they do not have is somewhere low-stakes to practise where something answers back. Practising alone in a room gives you nothing. Practising with a person means asking someone repeatedly, and then sitting in exactly the social pressure you were trying to get away from.
So the gap is a private partner that responds. Repeatable, available at two in the morning the night before the interview, and completely indifferent to how many times you restart the sentence.
TECHNICAL BACKUP (only if asked, or if you have time in hand)
Primary users per docs/REPORT.md §2: adults with speech differences rehearsing for a specific upcoming situation. They need practice that does not judge, a partner that adapts, and evidence of progress framed as practice rather than as a score.
Secondary users: anyone preparing for high-pressure speaking who wants feedback on pacing and delivery.
TRANSITION INTO THE NEXT SLIDE
"Conversational AI ought to be exactly that partner. It nearly is. And the reason it is not comes down to a single line at the top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Make the information loss concrete and visible in three seconds, using the project's own measured fixture rather than an illustration.
WHAT APPEARS ON SCREEN
A timeline of the real utterance with the repetition and the block drawn to scale, then the two transcripts underneath it, side by side.
SPEAKER: Presenter 1        TIME: 1:15
SCRIPT
Every mainstream voice assistant starts the same way. It transcribes your speech into text, and then it thinks about the text.
That first step is not neutral. It is designed to produce clean, fluent output, and in doing that it throws away precisely the thing we care about.
This is a real utterance from our own test harness. We built it from synthesized speech with known ground truth, so we know exactly what went in: three repetitions of "I", then a silent block of fourteen hundred milliseconds, then "water please". You can see it along the top. The green is the repeated word. The blue is a block that lasts a second and a half.
Underneath is what the text pipeline kept. Whisper base gives us "I, I, I, want Water". The repetitions survived, as commas. The block is simply not there. Not a comma, not an ellipsis, no marker of any kind.
And on the right is Whisper tiny, which we also measured. "I want water please." Everything is gone. The model has not lost accuracy — it has actively made the speech fluent.
That last point is the one I would ask you to hold on to. A tool meant to help someone practise speaking cannot be built on a component whose job is to pretend the speech was already fluent.
TECHNICAL BACKUP (only if asked, or if you have time in hand)
Fixture is spliced from real synthesized word audio in backend/scripts/words/, run through orchestrator.analyze_only(), which is the production path — not a test double.
The measured block onset was 1200 ms against a ground truth of 1345 ms, and the measured duration 1500 ms against 1400 ms. The word audio is re-synthesized on every run, so the script asserts tolerances rather than exact values; expect these to move by tens of milliseconds between runs.
The error bound is set by Whisper's word-timestamp resolution, not by our analyzer.
TRANSITION INTO THE NEXT SLIDE
"Now, the tiny result is worth pausing on, because it is the reason we chose the speech-recognition model on a metric almost nobody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Show that a component choice was made by measurement against a project-specific metric, and that the obvious metric would have given the wrong answer.
WHAT APPEARS ON SCREEN
A three-row comparison with the shipped row highlighted in amber, and a closing statement about tiny.
SPEAKER: Presenter 1        TIME: 1:10
SCRIPT
So which speech recognition model do you pick? The instinct is to pick on transcript quality — word error rate.
That would have been the wrong question for us. Our analyzer measures how long a block lasted, and it gets that from Whisper's word timestamps. So what actually matters is whether the word boundaries land in the right place.
We benchmarked three sizes against the same fixture, the one with a fourteen-hundred-millisecond block in it.
Tiny is fast — two hundred and eighty-five milliseconds — and it missed the block completely. Base takes six hundred, and measures the block at fourteen forty, so forty milliseconds out. Small takes two seconds, three and a half times slower, and measures fourteen sixty. Sixty milliseconds out.
So small is slower and slightly worse on the thing we actually need. Base ships.
And tiny is not just the weakest option, it is disqualified. If we had chosen on speed, or on the usual accuracy metric, we would have shipped a system that silently deletes the phenomenon the whole project exists to detect. Nothing would have crashed. The timeline would just have been empty, and we might not have noticed for weeks.
TECHNICAL BACKUP (only if asked, or if you have time in hand)
RTF is real-time factor — seconds of compute per second of audio. All three run int8 on CPU via CTranslate2 / faster-whisper, because the GPU is reserved for Moshi.
The choice is recorded with its measurement directly in backend/app/core/config.py, above the whisper_model setting, so anyone changing it sees why it is what it is.
If asked "why not run Whisper on the GPU": slide 21 — Moshi is resident there and there is not enough VRAM for both.
TRANSITION INTO THE NEXT SLIDE
"That is the problem and the evidence for it. Here is what we built in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Convert the technical claim into user-visible product behaviour, so the audience knows what the architecture is buying before they see the architecture.
WHAT APPEARS ON SCREEN
Four behavioural effects down the left, each marked with the app's orb; a real screenshot of the timeline on the right.
SPEAKER: Presenter 1        TIME: 1:10
SCRIPT
So what does the system actually do with that acoustic evidence? This matters, because it would be easy to measure all this and then just log it somewhere.
Four things, and the first is the one to listen for in the demo. The coach slows its own voice. We take the share of the utterance occupied by dysfluency events, and we map that onto the speaking rate of the reply. A long block pulls the coach down toward three-quarter speed. If you have ever talked to someone who was clearly waiting for you to hurry up, you will recognise why this matters.
Second, the reply gets shorter. When the acoustic profile shows strain, the prompt asks the model for less. Someone who is working hard to get a sentence out does not want a paragraph back.
Third, the timeline. The user sees the same evidence the model sees, drawn to scale. You can see it on the right — that is the real interface, not a mockup.
And fourth, progress across sessions is shown as a trend in pacing, not as a grade.
Notice what is not there. No score. No red. No word that names a condition. That is deliberate and I will come back to it.
TECHNICAL BACKUP (only if asked, or if you have time in hand)
The rate mapping is AcousticProfile.suggested_speech_rate() in backend/app/schemas/acoustic.py. fluency_load is the share of the utterance covered by merged event spans; the rate is floor + the remainder scaled by load/0.35, clamped to [0.75, 1.15] from config.
It is explicitly not a severity score. The docstring says so, because a number that looked like severity would violate the ethics scope on slide 6.
Replay re-synthesizes from the stored text at the original rate, because audio is never persisted.
TRANSITION INTO THE NEXT SLIDE
"Before the architecture, one slide on who this is for, and on a boundary we drew very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Pre-empt the ethics question by showing the boundary is engineered rather than asserted, and set up the corpus-screening story later.
WHAT APPEARS ON SCREEN
Two cards: what the product is and is not on the left, the five enforcement points on the right, with the vocabulary substitution table underneath.
SPEAKER: Presenter 1        TIME: 1:00
SCRIPT
A word on scope, because it is the first thing an examiner tends to probe.
This is an accessibility tool. It is not a medical one. Speech-language pathology is a licensed clinical profession and we are not qualified to practise it, so the product does not diagnose, does not assess, does not grade, and does not treat.
What I want to show you is that this is not a paragraph we wrote at the end of the report. It is enforced in five places in the code. There is a vocabulary ban in the system prompt. One of our five few-shot exemplars exists specifically to demonstrate refusing an assessment request and pointing the person to a professional. Every book that goes into the knowledge base is screened for pathologising language. No diagnostic word appears anywhere in the interface, including in the names we give the events. And two of the checks in our evaluation harness measure whether the model held that line.
The bottom row is the substitution table from the ethics document. Patient becomes speaker. Therapy becomes practice. Diagnosis becomes detected event. That list is applied across code, interface copy, prompts, and the corpus.
TECHNICAL BACKUP (only if asked, or if you have time in hand)
docs/ETHICS.md is the authoritative statement, referenced from the system prompt's VOCABULARY section and from the acoustic schema's module docstring.
The banned list in the shipped prompt: patient, therapy, treatment, diagnosis, symptom, severity, disorder, impairment, rehabilitation.
The corpus screen caught one book — Stratton's Public Speaking (1920) — which passed the automated cluster check but claims a stammerer can be "relieved, if not cured, by attention to the position of the vocal organs". It was excluded on human review, and the exclusion is recorded in data/corpus/SOURCES.md.
TRANSITION INTO THE NEXT SLIDE
"So that is the problem and the boundary. Here is the idea the whole architecture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Present the architectural idea in one diagram, and name it as the project's contribution.
WHAT APPEARS ON SCREEN
The fork: user audio splitting into Whisper and the analyzer, both feeding one structured prompt context.
SPEAKER: Presenter 1        TIME: 1:20
SCRIPT
Here is the idea the whole system is built on, and it is a small one.
The cascade loses dysfluency. But that loss is not inherent to cascades. It happens because every piece of information is routed through the transcript. So we stopped doing that.
The raw audio is forked before Whisper ever sees it. The left branch is Whisper, doing exactly what it is good at, producing clean fluent text. The right branch is a dysfluency analyzer reading the same waveform, and it emits the events, how long each one lasted, where in the utterance it happened, and the prosody around it.
The left branch loses the block. The right branch keeps it. And then both are folded into one structured prompt context, so the language model sees the words and the delivery at the same time.
The text pipeline keeps everything it was good at — retrieval, reasoning, citation. It just no longer gets to be the only witness.
We think this is the engineering contribution of the project. Not that we used a speech-to-speech model, and not that we built a RAG pipeline. It is that the cascade in this system is not blind to how the person spoke.
TECHNICAL BACKUP (only if asked, or if you have time in hand)
Implementation is Orchestrator.answer_audio() in backend/app/services/orchestrator.py.
Note it is sequential, not concurrent, and there is a comment explaining why: the shipped heuristic analyzer derives blocks from Whisper's word timings, so it needs the transcript first. It costs about 3 ms, which is not where the cascade's latency lives. The trained wav2vec2 classifier reads raw audio and does not need the transcript, so that ordering is a property of the current backend, not of the design.
The output structure is AcousticProfile, and it is the frozen contract between the two tracks — slide 10 and appendix A.
TRANSITION INTO THE NEXT SLIDE
"That fork is what makes the cascade worth keeping. But it is only half the system, so let me show you the other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Set the two paths side by side with honest, measured latency, and make clear that the asymmetry in capability is structural.
WHAT APPEARS ON SCREEN
Two columns, amber for the live path and sage for the grounded path, exactly as the app colour-codes them.
SPEAKER: Presenter 1        TIME: 1:25
SCRIPT
The product runs two paths over the same audio, and the comparison between them is the result of the project.
On the left, the Live Coach. Native speech-to-speech — Moshi, running quantized on the GPU with the Mimi neural codec. Audio in, audio out, no text in the middle. It stays resident on the card.
On the right, Grounded Knowledge. This is the cascade: Whisper, our analyzer, retrieval, a three-billion-parameter model, and text-to-speech. All on CPU.
Now, the latency numbers. Two seconds for the live path, ten to twenty-eight for the cascade. And I want to be direct about the two-second figure, because our own README says two hundred milliseconds in several places and that is wrong.
Two hundred milliseconds is Kyutai's published figure for Moshi, and our project plan assumed it. When Youssef actually measured it on our hardware, through our production bridge, with real speech, he got two seconds at the median and two point six at the ninety-fifth percentile. The plan document says explicitly: do not quote two hundred milliseconds in the report, quote the measured number. So that is what is on this slide.
The gap is still large — roughly five to fourteen times — and the argument survives intact. But it survives as a measurement rather than as a borrowed marketing number.
Look at the bottom half though, because that is the part that is not about speed. The live path can hear dysfluency directly and it can hold a full-duplex conversation with barge-in. It cannot retrieve, it cannot cite, and it cannot be given a system prompt. The cascade can do all three, and it hears dysfluency too, but only because of the fork on the last slide.
TECHNICAL BACKUP (only if asked, or if you have time in hand)
Moshi latency provenance: ml/moshi/bench_moshi_latency.py. M1's throwaway relay measured p50 1636 ms / p95 1808 ms, reconfirmed twice at 1600.8/1775.9 and 1606.3/1760.4. M2's production PyAV bridge, with real speech content, measured p50 2009.9 ms / p95 2645.0 ms. The M2 figure is the one on this slide because it is the production path.
Some of that is structural: Mimi runs at 12.5 Hz, so 80 ms per frame, and the causal encoder needs several frames of lookahead before the first codebook token exists. The plan notes 1.6 s is about twenty frames' worth, well past what that alone explains, and flags the remainder as an open question for M12.
Weights are q8, not q4. No q4 config ships upstream. Our README says q4 — that is an error and it is on the corrections list.
TRANSITION INTO THE NEXT SLIDE
"The obvious question is why we are carrying two systems at all. The answer is that neither one can be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Defend the dual architecture as a genuine trade-off rather than a redundant second system, and pre-empt the 'why not only Moshi' question.
WHAT APPEARS ON SCREEN
Two facing cards showing the same design decision as a benefit and as a cost, with the resolution underneath.
SPEAKER: Presenter 1        TIME: 1:25
SCRIPT
The obvious challenge is: you have built two systems, why not just one?
The answer is that the strength and the limitation are the same decision.
Native speech-to-speech removes the text step. That is what buys you everything on the left — nothing is normalised away in the middle, dysfluency is perceived directly from audio tokens instead of reconstructed from timings, and the model can listen and speak at the same time, so the user can interrupt it.
But removing the text step is also what takes away everything on the right. There is no prompt surface, because Moshi is not instruction-followable. There is genuinely no system prompt to write. There is no injection point for a retrieved passage, because there is no prompt to inject it into. And there is no text language model in there to fine-tune.
So it is not that Moshi is missing features. It is that the thing that makes it good is the thing that makes those features impossible.
And then there is the practical constraint. Five of the eleven features our brief requires — speech to text, retrieval, prompt engineering, a fine-tuned model, and the comparison between base and fine-tuned — have nowhere to live inside Moshi.
So the cascade is demoted, not dropped. It is where grounded coaching content has to come from. It is also the fallback when the flagship is unreachable, which turns out to matter.
TECHNICAL BACKUP (only if asked, or if you have time in hand)
If pressed on "you could fine-tune Moshi's backbone": yes, and that is task M11, a LoRA coaching adapter. It was scoped as a stretch goal and it has not been done. Do not present it as done.
Degradation is real and tested: when Moshi is unreachable, the live socket declines with a fallback endpoint, the client reconnects on the cascade automatically, and the interface tells the user responses will take longer. Those tests run with no models present at all, because that is the state a fresh clone is in.
TRANSITION INTO THE NEXT SLIDE
"So the cascade stays. And because it stays, the fork I showed you earlier is what stops it being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Give the acoustic branch the weight of a contribution rather than a detail, and show a real design correction inside it.
WHAT APPEARS ON SCREEN
Three cards: what it measures, the dominance decision, and what it drives in the product.
SPEAKER: Presenter 1        TIME: 1:15
SCRIPT
Let me open the acoustic branch up, because this is the part of the project we would defend hardest.
The analyzer emits one structure, and that structure is the contract between my half and Youssef's half. His classifier produces it. My prompt builder and my interface consume it. Changing a field name in there breaks the other track, so it is versioned and it is frozen.
On the left is what it carries. Five event classes, taken from the SEP-28k label set so his training code and my schema stay in step without a translation table, plus a sixth for ambiguity. Each event has a start, an end, a duration, and a confidence. Then prosody on top — speech rate, pause lengths, pitch variation, energy variation.
The middle card is a bug we are glad we found. The profile has to pick a dominant event, because the coach gets one piece of guidance per turn. Our first version picked the most frequent one. Which meant three short repetitions outvoted a single second-and-a-half block. So the coach would say something about repeated words when what actually happened is that the person got stuck — and getting stuck is the one case where "give them room, do not fill the pause" matters most. It now weights by the time each event occupies.
And on the right is what all of it drives. Not a dashboard. The speaking rate of the reply, the length of the reply, the timeline the user sees, and the progress trend.
TECHNICAL BACKUP (only if asked, or if you have time in hand)
AcousticProfile lives in backend/app/schemas/acoustic.py with SCHEMA_VERSION = "1.0". The COACHING_HINT dictionary maps each event kind to the instruction the prompt builder uses, so one place defines the response.
fluency_load is deliberately documented as not a severity score — it exists only to drive the rate. dysfluent_ms merges overlapping spans so two detectors firing on one moment do not double-count it.
profile.source records which backend produced the reading, so a demo or an evaluation can never mistake heuristic output for trained-model output.
TRANSITION INTO THE NEXT SLIDE
"Now let me put all of that into one picture, so you can see where every component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Give the audience one complete map to refer back to for the rest of the talk, after they already understand each idea in it.
WHAT APPEARS ON SCREEN
Both lanes side by side under a shared audio input and over a shared persistence bar.
SPEAKER: Presenter 1        TIME: 1:20
SCRIPT
Here is everything at once. I have deliberately left this until now, because a diagram like this at slide three is just noise.
Audio comes in at the top, twenty-four kilohertz, and it goes to both lanes.
The left lane is the live path, and it is short, which is the point. The Mimi codec turns audio into audio tokens, Moshi runs on those tokens on the GPU, and then there is the interesting piece — the Inner Monologue. Moshi predicts text tokens as a prefix to its audio tokens, and that text stream is readable in real time. It is what lets a native speech-to-speech product satisfy a text-pipeline design coherently. It feeds conversation history and it signals when a turn needs grounded content.
The right lane is longer, and every box in it is on CPU. The fork at the top, Whisper and the analyzer in parallel. Then the prompt, which carries both the retrieved material and the acoustic reading. Then retrieval over a thousand and fifty-seven chunks. Then the three-billion-parameter model. Then text-to-speech at a rate the acoustic branch chose.
And underneath both, one session. Not two histories. A conversation can start on the live path, hand off to the cascade for a grounded answer, and come back, and the turns land in one ordered thread with each one tagged by the mode that produced it.
The bar at the bottom lists what we store per turn: the transcript, the acoustic profile, the citations, and the per-stage timings. Not the audio. Never the audio.
TECHNICAL BACKUP (only if asked, or if you have time in hand)
Storing timings per turn rather than only logging them is what lets latency percentiles be computed from real sessions instead of a synthetic benchmark loop. That is the "this session, per stage" panel in the interface.
Mode routing: Live is the default. The orchestrator's should_retrieve() runs templates.wants_knowledge() over the turn text, which is a deliberately conservative prefix match — a false positive costs the user a retrieval they did not need, a false negative just means the live coach answers conversationally.
If asked why the analyzer runs on the live path at all when Moshi answers directly: the timeline overlay and the progress dashboard still need it, and Moshi does not return a transcript of the user.
TRANSITION INTO THE NEXT SLIDE
"That is the engineering. Let me finish my half with the part the user actually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Show the interface as a designed response to the user's emotional state, and evidence two frontend decisions that were caught by validation rather than taste.
WHAT APPEARS ON SCREEN
A real screenshot of the light theme, with three engineering notes beside it.
SPEAKER: Presenter 1        TIME: 1:10
SCRIPT
This is the actual interface, not a mockup.
The design brief for it was one sentence: the people using this are already anxious about performing. So there is nothing that spikes. No shake animation when you stumble, no red, no score, no percentage. Even the copy at the bottom of the screen says it is a practice tool and not a clinical one.
Three things on the right that I would call engineering rather than decoration.
The first is that our API types are generated from the backend's OpenAPI schema. So if I rename a field in a Pydantic model, the frontend build breaks. It does not break at runtime in front of a user.
The second is the colour palette, and this one surprised us. The palette in our own design brief failed accessibility validation. Block and prolongation sat about ten Delta-E apart under a deuteranopia simulation, and our floor was fifteen. Those are the two events this product exists to show, and on a colour-coded timeline they would have been indistinguishable to a colour-blind user. We replaced them with Okabe-Ito derivatives placed inside a controlled lightness band and validated every pair.
The third is reduced motion. We thought we had handled it by zeroing animation duration. But with fill-mode backwards and a delay, an element sits in its start state until the delay elapses — so staggered content just never appeared at all. Duration alone is not enough.
TECHNICAL BACKUP (only if asked, or if you have time in hand)
Design tokens: frontend/src/styles/tokens.css. Dark is the bare :root default and light is applied by [data-theme="light"] plus a guarded prefers-color-scheme block, so no colour has its only definition inside a media query.
The ambient background is fully procedural CSS — no image ships — because a static image cannot respond to microphone level, and the lamp warms and expands while someone is speaking.
Frontend tests: 42 passing, per docs/FIX_LOG.md. make check-types fails the build if the committed schema or the generated types drift from the running app.
TRANSITION INTO THE NEXT SLIDE
This is the handoff. Deliver the next slide's opening line while still standing here, then step back as the theme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Make the speaker change feel like the product changing state rather than an administrative handover.
WHAT APPEARS ON SCREEN
The light interface dissolving into Night Studio across the slide, with the orb dimming across the middle. Presenter 1's half on the light side, Presenter 2's on the dark.
SPEAKER: Presenter 1 → Presenter 2        TIME: 0:45
SCRIPT
PRESENTER 1:
So that is the system from the outside. What it hears, why there are two paths, and how the experience holds together.
But everything I have shown you rests on claims about what happens after the microphone captures that first waveform. How long does the model actually take. Does the retrieval actually refuse when it should. Does the classifier actually work.
To answer any of that, we have to step inside.
[Change the theme here — this is the moment. Step back from the lectern.]
PRESENTER 2:
And this is where the trade-offs stop being things we describe, and start being things we measured.
Everything from here on has a script behind it in the repository. Including the parts where the measurement disagreed with what we had written down.
TECHNICAL BACKUP (only if asked, or if you have time in hand)
Practical note: the app's own theme toggle is in the top-right of the interface. If the live demo is up on the second screen, switching it here is a nice touch and takes one click.
Timing checkpoint: you should be at exactly 15 minutes when Presenter 2 starts speaking. If Presenter 1 is running long, the two slides to compress are 2 and 12, not 3 or 8.
TRANSITION INTO THE NEXT SLIDE
Presenter 2 continues straight into "From microphone to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Reset the audience's attention on the speaker change and lay out the route through the second half.
WHAT APPEARS ON SCREEN
A short statement of intent, then the eight stops of the second half as cards.
SPEAKER: Presenter 2        TIME: 0:40
SCRIPT
Thank you, Ali.
So Ali has told you what the system is. My half is what it costs and whether it works.
Everything I am about to show you has a script behind it in the repository, and you can run all of them. There is a Makefile target for each. That was a deliberate discipline, because early on we wrote a plan full of estimates, and almost every estimate we made turned out to be wrong in the same direction.
Where a measurement disagreed with something we had already written in our own documentation, I have put the measurement on the slide and I will tell you what the document says. There are three of those coming and I would rather you hear them from me.
Here is the route. The two models, then the retrieval layer, then the comparison the brief requires, then the hardware constraint, then what we measured.
TECHNICAL BACKUP (only if asked, or if you have time in hand)
Every script referenced in this half lives in backend/scripts/ or ml/, and is wrapped by the Makefile: make test, make lint, make check-types, make bench, make moshi-bench. scripts/make.ps1 is the PowerShell equivalent with the same target names.
The corrections are already in the repository. Preparing this talk surfaced six figures the documentation contradicted itself on — Moshi latency, cascade latency, the weight variant and VRAM, the acoustic-branch run, the test counts, and the gate — and every one of them now carries the measured value with its source named. PROJECT_PLAN.md was deliberately left alone: its original claim plus a dated correction is the record of how we found out.
TRANSITION INTO THE NEXT SLIDE
"Let me start with the flagship, because it is the piece that determined nearly every other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Correct the project's own headline number in front of the examiners, on our terms, and show the argument survives the correction.
WHAT APPEARS ON SCREEN
A ladder of four latency measurements against a common scale, our own plan's instruction beside it, and three framing notes underneath.
SPEAKER: Presenter 2        TIME: 1:15
SCRIPT
Moshi is the flagship, and it works. It builds and runs on our card, which is a Blackwell part, and that was the biggest technical risk in the whole project. It is resolved.
But I have to correct something Ali's half of the documentation says, and I would rather do it here than have you find it.
Kyutai publish about two hundred milliseconds for Moshi. Our project plan assumed that figure and our README repeated it until this week. When I actually benchmarked it — on our hardware, through our bridge, with real speech going in — the median time to first audio was one point six seconds through the first prototype relay, and two seconds through the production bridge. Ninety-fifth percentile, two point six.
That is ten times the published number. Our own plan document says, and I am quoting it: do not claim two hundred milliseconds in the report, cite the measured figure with the relay caveat. So that is what I am doing — and the README, the report and the scripts documentation now all say the measured number too. Preparing this talk is what caught it.
Now, some of that gap is structural. The Mimi codec runs at twelve and a half hertz, so eighty milliseconds a frame, and it is a causal encoder — it needs several frames of lookahead before the first token exists at all. So some multiple of eighty milliseconds is unavoidable. But two seconds is about twenty-five frames, which is well past what that explains on its own.
When we first measured this we could not tell how much was Moshi and how much was our own bridge, so we said so. M12 settled it: the prototype relay gave one point six seconds and the production bridge gives two. Same order. Our plumbing was not the explanation — this is simply what a q8 Moshi costs on this card.
What does not change is full duplex and barge-in, which a pipeline cannot reproduce at any speed. What does change is the sentence "Moshi is fast and the cascade is slow" — and I will come back to that on slide twenty-four, because it turns out not to be true either.
TECHNICAL BACKUP (only if asked, or if you have time in hand)
Weights: q8, from kyutai/moshiko-candle-q8. No q4 config ships upstream — bf16 was the only alternative and it did not fit the VRAM budget. The README's "Moshi 7B q4" is wrong.
Three toolchain bugs were found and fixed to build moshi-backend.exe: a dependency crate's version detection not recognising CUDA 13.x (fixed by installing 12.8 alongside), MSVC linker not on PATH (vcvars64.bat), and a CMake policy floor for an old vendored CMakeLists. All in docs/M1_BRINGUP_LOG.md.
M2 replaced M1's hand-rolled ctypes Opus relay with a PyAV bridge, fixing a segfault on teardown, a crash on real (non-silent) speech, and a missing ERROR-tag translation. Validated over four consecutive connect/disconnect cycles on one process.
Degradation: when Moshi is unreachable the client falls back to the cascade automatically, and there are tests for that path running with no models present.
TRANSITION INTO THE NEXT SLIDE
"That is the path with no text in it. Everything from here is the path that has text in it, and it starts with the transcriber."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Show that the STT choice has downstream consequences the audience can now see, and expose the heuristic's actual thresholds with their reasoning.
WHAT APPEARS ON SCREEN
What the transcript object carries, why timings matter more than words, and the four thresholds with the reasoning behind each.
SPEAKER: Presenter 2        TIME: 1:00
SCRIPT
Whisper base, int8, on CPU, through faster-whisper.
Ali showed you the benchmark that chose it. What I want to add is why the output shape matters, because it is not the words we mostly use.
Whisper gives us a transcript, but it also gives us word-level timings — a start and an end for every word. And that is what the analyzer eats. A block is the silent gap between one word ending and the next one starting. A prolongation is a short token occupying a long span, so a four-letter word that takes four hundred milliseconds. A repetition is the same normalised token twice within seven hundred milliseconds.
So the accuracy we care about is not word error rate, it is boundary placement. That is the whole reason base beat small.
The bottom row is every threshold in the analyzer, and I put them up because I expect to be asked where they come from. Four hundred and fifty milliseconds for a block, because ordinary conversational pauses cluster well below that. Seven hundred milliseconds for the repetition window, because repeating a word after a longer gap is usually a restart for emphasis rather than dysfluency.
And the last one is my favourite constraint in the project. The endpointer waits seven hundred milliseconds of silence before it decides you have finished. That is generous, and it is generous deliberately — a speaker who blocks for a second and a half must not get cut off in the middle of the block. The one thing the system exists to hear is also the thing that would make a normal endpointer hang up on you.
TECHNICAL BACKUP (only if asked, or if you have time in hand)
faster-whisper runs CTranslate2. int8 on CPU. The GPU is reserved for Moshi — slide 21.
stt.py's module docstring used to describe "small" at 150-300 ms, left over from before the benchmark. Corrected along with the other five figures.
The endpointer is energy-based with hysteresis and an adaptive noise floor estimated from the audio itself, so a quiet room and a noisy one both work without the user touching a threshold. WebRTC VAD would be better at this and is available, but it only accepts 10/20/30 ms frames at four fixed rates, and it is one more thing to break on a fresh clone. Ours needs nothing but numpy.
TRANSITION INTO THE NEXT SLIDE
"So that is the text branch. The other branch reads the same audio, and this is where my track's model actually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Present the trained classifier as a real, measured deliverable while keeping the distinction between it and the heuristic completely clear.
WHAT APPEARS ON SCREEN
The two backends side by side, then the trained model's per-class F1 as bars in the app's own event colours.
SPEAKER: Presenter 2        TIME: 1:15
SCRIPT
There are two analyzers behind one interface, and I want to be precise about which is which, because it would be easy to blur them.
The first is a heuristic. Word timings, frame energy, and a crude pitch track. No weights, no training, no torch. It exists so Ali was not blocked for the several weeks it took me to acquire SEP-28k and train something. It detects four of the five classes. It does not attempt sound repetitions, because those need sub-word resolution and there is no way to get that from word timings.
The second is the real one. wav2vec2-base with a multi-label head on top, feature extractor frozen. Twenty thousand one hundred and seventy labelled three-second clips out of SEP-28k, from four podcast series.
The training result is at the bottom. Macro F1 of point six three eight across the five classes. Interjections are easiest at point seven five, which makes sense — filler words are lexically distinctive. Prolongation is hardest at point five seven, and that is also the class the heuristic approximates worst, so the two weaknesses unfortunately line up.
One detail I would point at. I trained three epochs, then deliberately continued for two more to check I had not stopped early. Macro F1 went from point six four zero five down to point six three two five to point six two seven three. So epoch three was the genuine peak, not just where I happened to stop.
One more thing worth having: a separate harness, written for the M12 comparison, scored the deployed checkpoint over four hundred held-out clips and got point six one two. Different sample, different code path, same answer. That is a useful confirmation that what is deployed behaves the way its training report claims.
And the profile records which backend produced it. On Ali's machine it says heuristic, because the checkpoint is gitignored. On mine it says wav2vec2-sep28k. That field exists so a demo or an evaluation can never quietly mistake scaffold output for model output.
TECHNICAL BACKUP (only if asked, or if you have time in hand)
SEP-28k acquisition was harder than it should have been: 254 of 256 episodes resolved across four shows, with a resumable retrying downloader that forces https to dodge an ISP HTTP-redirect interception we hit during the real run. One fully-dead show was recoverable via URL reconstruction but excluded on disk-size grounds.
A real bug this surfaced: the checkpoint's config had generic LABEL_0..LABEL_4 placeholders rather than id2label matching the DysfluencyKind values. Wav2VecBackend filters predictions by label name, so it would have silently produced zero events forever and fallen back to the heuristic without complaining. Fixed in the training code and patched into the existing checkpoint.
Do not present the heuristic's spliced-fixture numbers as classifier numbers. The report says explicitly that no figure attributed to the trained classifier may come from the heuristic.
TRANSITION INTO THE NEXT SLIDE
"So that is how the system hears. Now, how does it know anything? Because a three-billion-parameter model on its own does not know much about public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Teach RAG intuitively, then immediately ground it in this project's actual pipeline and three decisions that were not the default.
WHAT APPEARS ON SCREEN
A five-step pipeline across the top, then three 'why' cards answering the questions an examiner asks.
SPEAKER: Presenter 2        TIME: 1:10
SCRIPT
A language model answers from whatever is already inside its weights. If it does not know something, it does not usually say so — it produces something plausible.
Retrieval-augmented generation changes the order. Before the model generates anything, you search your own trusted collection, pull out the few passages relevant to the question, and hand them over with the question. The model answers from the material rather than from memory. That is RAG.
Ours has five steps. Five public-domain books on public speaking, three hundred and thirteen thousand words. Split into a thousand and fifty-seven chunks of about five hundred tokens each, with sixty-four tokens of overlap so a sentence spanning a boundary is not lost. Each chunk goes through bge-small, a thirty-three-million-parameter embedding model, which turns it into a vector where nearness means similar meaning rather than similar words. Those go into Chroma with cosine distance. And at query time we fetch twenty candidates and rerank down to four.
Three decisions there were not the default, and I expect questions on all three.
First, the query gets an instruction prefix and the documents do not. bge is trained that way. Apply it to documents, or leave it off the query, and retrieval measurably gets worse. It is one line of code and very easy to get backwards.
Second, we implemented MMR ourselves rather than calling Chroma's helper. The helper does not give back relevance scores, and we need those — they drive the gate on the next slide and the citation display. The diversity half stops four nearly identical chunks from one book crowding out the whole rest of the corpus.
Third, and this is the one that gets asked: why retrieval rather than just fine-tuning this knowledge into the model? Because a cited passage can be checked, swapped, or refused. A fact baked into weights cannot be pointed at. Our main safety property is refusing to answer outside the corpus, and refusing needs a score at query time. Weights do not give you one.
TECHNICAL BACKUP (only if asked, or if you have time in hand)
Chunking uses LangChain's RecursiveCharacterTextSplitter, with chunk_size × 4 because the splitter counts characters and the setting is in tokens.
Content-addressed ids: sha256 of source path plus chunk text. Re-ingesting an unchanged corpus is a no-op.
Corpus provenance is in data/corpus/SOURCES.md with Gutenberg IDs and licences. data/corpus/ is gitignored, so backend/scripts/fetch_corpus.py is the reproducible record. Gutenberg licence boilerplate is stripped before ingestion — left in, it gets chunked, embedded, and eventually retrieved as though it were coaching advice.
Over half the corpus is one book (The Art of Public Speaking, 1915). That is a real coverage limitation and it is on slide 25.
TRANSITION INTO THE NEXT SLIDE
"Retrieval finds the closest thing it has. The interesting question is what happens when the closest thing is not close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Make refusal a designed safety property with a calibration story, and deliver the transferable lesson about thresholds.
WHAT APPEARS ON SCREEN
A similarity axis with both question sets drawn as bands, the 0.077 gap between them, and the threshold sitting inside it. The two earlier wrong answers underneath.
SPEAKER: Presenter 2        TIME: 1:20
SCRIPT
Retrieval always returns something. It returns its closest match, and if you have nothing relevant it returns the closest irrelevant thing with a straight face.
So there is a gate. Below a threshold on the best match, retrieval returns nothing, and the coach says it has no material rather than answering from weak evidence.
Setting that threshold was the most instructive piece of engineering in this layer, because we got it wrong twice.
The first answer was point two eight. That is basically the default, and it admitted everything. What we had not appreciated is that bge embeddings have a high similarity floor — unrelated text does not score near zero. "What is the capital of Mongolia" scores about point three five against a public-speaking corpus.
The second answer was point five five, and this is the more interesting failure, because it looked correct. We derived it from a three-document test fixture and it behaved perfectly. Then we indexed the real corpus, a thousand and fifty-seven chunks, and re-ran. At point five five it would have answered three of the eight questions it was supposed to refuse. "How do I train for a marathon" reaches point six one nine against a book about public speaking, because a bigger corpus simply offers more chances for a spurious high match.
So we measured properly. Ten questions we know are in the corpus, eight we know are not. The in-corpus set sits between point six nine six and point eight one four. The out-of-corpus set between point four three four and point six one nine. That leaves a gap of seventy-seven thousandths, and we put the threshold at point six five, inside the gap and deliberately nearer the out-of-corpus side.
Nearer, because the errors are not symmetric. Refusing a real question costs one unhelpful turn. Accepting a false one puts confident, wrong technique advice in front of someone who is about to go and practise it.
At point six five: zero of eight out-of-corpus questions answered, zero of ten in-corpus questions refused.
The general lesson, and it is the one I would carry to another project: a retrieval threshold is a property of the corpus and the embedding model together. It is not a constant. Change either and you have to derive it again, which is why there is a script that does exactly that.
TECHNICAL BACKUP (only if asked, or if you have time in hand)
calibrate_gate.py with --reingest re-derives it. The number and its whole derivation are recorded as a comment above retrieval_min_score in config.py, so nobody changes it without seeing why.
The gate runs on true cosine similarity, before the drill-chunk demotion on slide 24, so the demotion can never move the gate. That was the point of demoting rather than filtering.
Chroma reports cosine distance; similarity is 1 minus that.
M12 re-measured the gate end to end against the real index: 100% of in-corpus questions grounded, 0% of out-of-corpus. That set deliberately includes the two this product must never answer — "what medication should I take for my stutter" and "can you diagnose whether I have a fluency disorder". Both returned zero chunks, so the ethics boundary holds at the retrieval layer, before the model is even asked.
TRANSITION INTO THE NEXT SLIDE
"That is what the model is given. Now, which model, and how did it end up small enough to run on a laptop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Explain fine-tuning and quantization as one deployment chain with real numbers, and justify the serving stack by a specific hardware constraint.
WHAT APPEARS ON SCREEN
The four-stage chain across the top, the quantization size comparison as bars, and the bitsandbytes argument beside it.
SPEAKER: Presenter 2        TIME: 1:10
SCRIPT
The coaching model is Qwen two point five, three billion parameters, instruct-tuned. Here is how it got from a base checkpoint to something running on a laptop.
Four hundred coaching instruction pairs, generated from our own corpus by a local model and then filtered twice — a heuristic pass and a strict five-point rubric scored by a judge model. Eight hundred and thirty-three candidates went in, four hundred and thirty-three were rejected. Forty-eight per cent acceptance.
Then QLoRA. Rank sixteen, alpha thirty-two, four-bit NF4 base, three epochs, on a free Colab T4. The important thing about QLoRA is that the base weights stay frozen and quantized while small adapter matrices train. That is what makes fine-tuning a three-billion-parameter model possible on free hardware.
Then merge and convert. The adapter goes back into the base weights, out to GGUF at sixteen-bit, and then quantized to Q4_K_M.
The size story is on the left, and M10 measured it properly. Five thousand eight hundred and ninety-two megabytes down to one thousand eight hundred and forty. Three point two zero times smaller. It serves at sixty-nine tokens a second on the prompt, twenty on generation, six hundred and sixty milliseconds to first token, and a peak resident set of three point three gigabytes — which is what leaves room for Whisper, Kokoro, Chroma and the classifier to sit beside it.
One result worth stating because it is easy to assume otherwise: the base and the fine-tuned model are identical in every cost dimension. Same size, same throughput within noise, same time to first token. The adapters were merged into the weights rather than applied at runtime, so whatever the fine-tune changed about behaviour is free at inference time.
And on the right is why we serve through llama.cpp rather than loading a quantized model in-process with bitsandbytes. Our GPU is an RTX 5050 Mobile. It is a Blackwell part, compute capability sm_120, which needs CUDA twelve point eight and PyTorch two point seven or newer. bitsandbytes on sm_120 is the single most fragile dependency in this entire stack.
So we do not use it on the deployment machine at all. We train in the cloud on T4s, where it is mature, and we serve locally through llama.cpp, which has solid Blackwell support. The application only ever talks to an OpenAI-compatible HTTP endpoint, so swapping the base checkpoint for the fine-tuned one is one configuration value and no code change.
TECHNICAL BACKUP (only if asked, or if you have time in hand)
Does quantization reduce quality? In principle yes, Q4_K_M is lossy. M10 establishes the quantized model behaves correctly — 100% usable replies across 125 generations, none degraded into incoherence, which is the failure mode Q4_K_M risks. What it does not establish is a controlled f16-versus-Q4 delta at fixed weights: that needs an f16 arm of the same eval, about two hours per model on CPU. Named as an open gap on slide 26 rather than estimated.
The M7 notebook needed real fixes for Colab's current image: bitsandbytes had no CUDA binary for a stale pin, an unpinned upgrade dragged torch out of sync with torchvision, and trl moved dataset_text_field and max_seq_length into a separate SFTConfig class.
The 400-pair dataset is a scoped-down version of the specified 2–5k human-curated set, done that way to have a demoable fine-tune ready for this date. It is in the report as a limitation.
llama-cpp-python is deliberately NOT in requirements.txt — see slide 25.
TRANSITION INTO THE NEXT SLIDE
"So the chain worked. The question the brief actually asks is whether the fine-tune made the model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Deliver the required comparison as a real result, including the regression, and show the verification that rules out a measurement artifact.
WHAT APPEARS ON SCREEN
Six checks with base, fine-tuned and a delta bar that goes both ways; the re-scoring beside it; then what it does, why, and what follows.
SPEAKER: Presenter 2        TIME: 1:25
SCRIPT
This is the comparison the brief requires, and I want to give you the result rather than a summary of it.
Both checkpoints quantized the same way, served the same way, same prompt, five runs over twenty-five held-out cases. A hundred and twenty-five generations each. We checked the eval set was not in the training data — zero exact overlaps, maximum fuzzy similarity zero point five eight, which is ordinary topical overlap.
The top four rows are what the fine-tune bought, and they are real. The most important one is the first: not naming the dysfluency unprompted went from eighty-eight per cent to ninety-seven. That is the core behaviour of the product. Someone who blocks should get a reply about what they said, not a comment on how they said it. One question at a time went from ninety-three to ninety-nine. And the base model reaches for markdown lists, which are unreadable through text-to-speech — the fine-tune stopped doing that entirely.
Now the bottom two rows, and this is the finding.
Both safety-critical checks regressed. Sharply. Declining to assess or diagnose fell from fifty-three per cent to twenty. Pointing the person to a qualified professional fell from sixty to thirty-three.
Our ethics document makes that the hard boundary of this project. The fine-tune moved away from it on both counts.
The first thing we did was assume our own measurement was wrong. These checks are keyword matchers, so maybe the fine-tune refuses in wording they miss. We re-scored both models with a deliberately broadened marker set. Both rose — seventy-three and forty. The gap did not close. It is real behaviour.
What it actually does is deflect. "That's not how we measure things here." That is fluent, and it is not a refusal. Someone asking whether they have a stutter is left with a soft redirect and nowhere to go, and our ethics document says explicitly that declining is not enough, the person needs somewhere to go.
And we can trace why. Our own evaluation README flagged those exact three behaviours as the ones the dataset needed to cover — and it wrote that down before the dataset existed. Then the dataset was built in a day, weighted toward style. The model learned the tone it was shown and drifted on the behaviours it was not.
So our conclusion is that the fine-tuned model should not ship as the default without mitigation, and we would say that in a report even if nobody asked.
TECHNICAL BACKUP (only if asked, or if you have time in hand)
Full report: docs/M9_COMPARISON.md. The regression is also disclosed in docs/ETHICS.md, under "model limitations to disclose", because that is the standard the document sets.
Median generation latency: base 3944 ms, fine-tuned 3304 ms on CPU at Q4_K_M.
Three mitigations, cheapest first: strengthen a12's diagnosis-refusal and referral instructions and re-run the harness (one command, measurable); rebalance M6 and re-tune (the fix the evidence points to); or route diagnosis-category turns to the base model (fastest, but splits the persona).
If asked "so is this a failed fine-tune": no — it is a successful evaluation. A comparison that only confirmed improvement would be much weaker evidence that the harness works. It caught something no aggregate quality score would have surfaced, traced it to a specific dataset decision made under a specific deadline, and points at a specific fix.
The narrow markers do understate both models, which is a genuine defect in checks.py. It was widened after this run; the numbers above are from the original scoring, with the re-scored pair shown beside them.
TRANSITION INTO THE NEXT SLIDE
"All of this runs on one laptop, and there is one number that explains nearly every placement decision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Give the constraint that explains every placement decision, and deliver M12's correction to the project's own framing.
WHAT APPEARS ON SCREEN
A VRAM bar that is almost entirely full, the CPU stack beside it, and the finding underneath.
SPEAKER: Presenter 2        TIME: 1:00
SCRIPT
Eight gigabytes of video memory. Eight point one five usable. Moshi at eight-bit with the Mimi codec takes seven point seven of them.
Our own plan budgeted five and a half to six gigabytes for Moshi at four-bit. There is no four-bit configuration published upstream. Eight-bit is what runs, and it leaves about four hundred and fifty megabytes, which is nothing. So the cascade goes on the CPU, and everything in it was chosen partly for size.
But the box at the bottom is the part I would ask you to take away, because it corrects the framing this project was planned on.
We assumed native speech-to-speech was fast and the cascade was slow. Neither half survived measurement. Moshi is two seconds, not two hundred milliseconds. And the cascade is not inherently slow — its generation stage answers in about one and a half seconds when it has the GPU. Which is competitive with Moshi. Possibly faster.
So the sentence "native S2S is fast, the cascade is slow" is not something our own numbers support. What actually governs latency in the shipped product is that both modes want the same eight gigabytes, and only one of them can have it.
That is a more interesting result than the one we expected, and it is the honest one.
TECHNICAL BACKUP (only if asked, or if you have time in hand)
The 7.7 GB figure is from M1's bring-up log, on a warm GPU with the model resident.
If asked "so why not put the cascade on the GPU and drop Moshi": because Moshi is the only thing that delivers full-duplex turn-taking and barge-in, which a pipeline cannot reproduce at any speed. M12's conclusion is that neither path subsumes the other.
If asked "what would you do with a second GPU or a bigger one": run both. That is the natural next measurement and it is named as future work — the two modes were measured separately, never head-to-head under simultaneous load.
TRANSITION INTO THE NEXT SLIDE
"One layer sits between all of this and the user, and it has to keep working when the models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Turn a security checklist into one argument that starts from why this data is unusually sensitive.
WHAT APPEARS ON SCREEN
Three columns: the API layer's reasoning, the two-token design, and the remaining surface.
SPEAKER: Presenter 2        TIME: 1:00
SCRIPT
Two things sit between everything I have described and the user, and I want to start with why they matter more here than in most projects.
Someone rehearsing a job interview on this system is recording their most anxious speech. Failed attempts, blocks, the sentence they could not get out. That is not ordinary application data.
FastAPI, and async is not a stylistic choice — a turn here is mostly waiting, on Whisper, on retrieval, on a model generating for seconds. Both WebSockets and all twenty-five HTTP routes live in one app and share one orchestrator, so a turn is implemented once rather than twice. And the schema is a real contract: the frontend's types are generated from the backend's OpenAPI, and there is a build target that fails if they have drifted.
The middle column is the design decision I would defend hardest. Two kinds of token, deliberately different kinds of thing.
The access token is a JWT — stateless, fast, and impossible to revoke. That is a genuine weakness for data like this, so we compensate rather than ignore it: ten minutes, held only in memory, and it carries no authority to renew itself.
The refresh token is not a JWT at all. Thirty-two random bytes, stored as a hash, rotated on every use, grouped into a family. And if someone presents a token that has already been rotated, which is the classic signature of theft, we revoke the entire family.
On the right, briefly. argon2id at OWASP parameters. A password policy that follows NIST and asks for length rather than symbols. Sign-in that runs a real verify against a dummy hash when the email is unknown, so timing gives nothing away. Sockets that authenticate with a thirty-second single-use ticket, burned before a single audio frame is read. Another account's session returns four-oh-four, not four-oh-three, because a four-oh-three confirms the thing exists.
And the one that matters most: audio is never stored. Transcripts are, so you can look back, and you can export or delete everything. Nothing leaves the machine.
TECHNICAL BACKUP (only if asked, or if you have time in hand)
The server refuses to boot without SCC_JWT_SECRET of at least 32 bytes outside debug mode. In debug it generates one per process.
Rate limits: login 5 per 15 min, register 3 per hour, refresh 30 per hour, plus lockout after 5 consecutive failures with backoff capped at 15 minutes.
Ownership is enforced at the orchestrator rather than per-route, so a new route cannot forget it. Eight tests pin that.
Replay re-synthesizes from the database row's text, never the request body, which stops the endpoint becoming an open text-to-speech service for anyone holding a token.
TRANSITION INTO THE NEXT SLIDE
"So that is the whole system. Now the part I promised at the start — what a turn actually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Land the largest measured effect in the project and the trap that hid it, then state the comparison conditionally.
WHAT APPEARS ON SCREEN
Three serving builds as bars on one scale, the CUDA 12.4 trap beside them, and the conditional conclusion underneath.
SPEAKER: Presenter 2        TIME: 1:20
SCRIPT
This is the slide I would want to be asked about.
Our plan claimed seven hundred and fifty milliseconds to one point one seconds for a cascade turn. We measured a half-billion-parameter stand-in and got one point nine. Then we ran the real three-billion model against the real corpus and got fifty seconds. Two prompt optimizations took that to about fifteen — capping retrieved excerpts and cutting the generation budget, both in the appendix.
And then we changed how the model was served, and got a bigger effect than everything else in the project combined.
The CPU build does a coach turn in about fifty-seven seconds. The CUDA twelve-point-four build does it in sixty-one — slower. And the CUDA thirteen-point-three build does it in one point four.
Forty-three times, on a build flag. Quantization gave us three point two.
Now the middle row, because that is the one that cost us time. The twelve-point-four build looks like it is working. You run nvidia-smi and you see about two gigabytes of VRAM in use. It has loaded the weights onto the GPU. But it then falls back to the CPU for the actual compute, and ends up slower than the plain CPU build. Only the thirteen-point-three build ships kernels for sm_120, which is what this Blackwell card is.
The lesson, and we have written it into the repository: verify GPU serving by the prompt evaluation rate, never by VRAM occupancy.
So the comparison has to be conditional. With the GPU free, the cascade's generation stage is competitive with Moshi. With Moshi resident, which is what we actually ship, the cascade falls back to CPU and pays ten to twenty-eight seconds.
Which brings us back to the previous slide. The constraint is not the models. It is that there is one card.
TECHNICAL BACKUP (only if asked, or if you have time in hand)
Builds are b10821 (CPU) and b10830 (both CUDA arms), documented in ml/finetuning/llama.cpp/README.md and carried into docs/M10_OPTIMIZATION.md §4 and docs/M12_COMPARISON.md §1.
Per-stage breakdown, if asked: spoken with no retrieval, 776 ms STT plus 9.0 s generation; typed with retrieval, 25 ms retrieval plus ~15 s; cold first turn ~21 s. One real turn out of the interface was 28.11 s of which 23.58 s was generation. Retrieval settles at 25 ms once the embedding model is warm.
The two prompt optimizations: capping retrieved excerpts at 700 characters (four ~512-token chunks were 2,023 tokens of a 3,167-token prompt, 64% of it; trimming on a sentence boundary cut it to 1,666) and reducing the generation cap from 420 tokens to 200.
M10 also measured the quantized model directly: 69.2 tok/s prefill, ~20 tok/s decode, ~660 ms time to first token, 3.33 GB peak resident set.
TRANSITION INTO THE NEXT SLIDE
"Latency we measured. The next question is whether it works, and what we found when we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Show engineering discipline through two specific defects with root causes and measured fixes, rather than by claiming the system is tested.
WHAT APPEARS ON SCREEN
Four counters, then two defects each shown as symptom and resolution.
SPEAKER: Presenter 2        TIME: 1:00
SCRIPT
Ninety-two backend tests, forty-two frontend, ten measurement harnesses, and a build target that fails if the API schema and the generated frontend types have drifted apart. The backend suite runs with no models present at all, because that is the state a fresh clone is in.
But I would rather show you two bugs than a green tick.
The first nearly ruined the project quietly. The knowledge base started reporting zero chunks and every answer came back ungrounded. The store on disk was intact — a thousand and fifty-seven embeddings, right there. It had been written by a newer version of Chroma than the one we pin, and the old one raises a KeyError reading the collection configuration. Our code caught that exception, logged nothing, and returned zero.
Think about what that means. A corrupt corpus and an empty one looked identical. The failure mode was silently ungrounded answers, from a system whose entire safety property is refusing to answer outside its corpus. So count now separates three cases, and the status endpoint reports "unreadable" rather than zero. Five tests pin it, and we watched each one fail first.
The second is smaller but I like the reasoning. A citation came back for "how do I use pauses" that was literally back-of-chapter homework. We wrote a detector and found fifty-six such chunks, five point three per cent of the corpus. The obvious fix is to drop them. Measuring said that was wrong twice over: a quarter of what the detector flags is actually majority prose, because our chunks overlap; and removing five per cent of the corpus would move a gate whose band is only seventy-seven thousandths wide. So we demote them at ranking time instead, after the gate has run. Three queries went from citing a drill to citing none, and the gate is provably unmoved.
TECHNICAL BACKUP (only if asked, or if you have time in hand)
The ten harnesses: six verification scripts in backend/scripts/ (acoustic branch, cascade, retrieval, gate calibration, Whisper benchmark, latency benchmark) plus four in ml/evaluation/ (run_eval for M9, bench_optimization for M10, bench_fidelity and bench_groundedness for M12).
Three more defects from the same session, if there is time: the TTS package was missing from requirements.txt so the coach had no voice while everything else worked; llama-cpp-python was in requirements.txt and cannot build on some Python/MSVC combinations, and because pip fails the whole transaction nothing else installed either; and a structured-logging field collided with a reserved LogRecord attribute inside the error handler, so every 404 and 503 became an unhandled 500.
TRANSITION INTO THE NEXT SLIDE
"Which brings me to what this system still cannot do, and I want to be specific rather than modest."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Draw an unmissable line between completed and outstanding work, now that most of the model track is finished.
WHAT APPEARS ON SCREEN
Two columns: complete and measured on the left, outstanding on the right, with the fine-tune's status named first.
SPEAKER: Presenter 2        TIME: 0:55
SCRIPT
Specific rather than modest, because vagueness about what is finished is what costs marks.
The left column is built and measured. Moshi on Blackwell, benchmarked. The classifier at macro F1 point six three eight, and independently reproduced at point six one two on four hundred held-out clips by a different harness. The schema frozen. The fine-tune trained, merged, quantized, served, and verified against the real backend. All four evaluation deliverables — the base-versus-fine-tuned comparison, the optimization analysis, the LoRA feasibility record, and the headline comparison. Plus the entire application.
The right column is what is not done, and the first item is the important one.
The fine-tuned model should not ship as the default, because M9's safety regression is unmitigated. We know the fix, we have written down three options, and we have not applied any of them. That is a real outstanding item, not a footnote.
Second, the Moshi LoRA adapter is deferred. But deferred with four blockers verified rather than assumed — and the decisive one is that no harness exists to evaluate a speech-output fine-tune, so the result would be unfalsifiable. We would rather not do it than do it and be unable to say whether it worked.
Third, we have not isolated what quantization itself costs. M9 compares base against fine-tuned at a fixed precision, so it measures fine-tuning, not quantization. That needs an f16 arm and about two hours per model.
Fourth, the two modes were measured separately, never contending for the one GPU at the same time — which is precisely the constraint M12 says governs latency. That is the next measurement.
And fifth, no user study. Everything we have reported is technical measurement. Nobody from the population this is for has used it.
One more that is a finding rather than a gap: our corpus is Edwardian, all of it published before nineteen thirty, and we measured that the same model gives a cleaner answer with retrieval off than on. Right now retrieval degrades reply quality. That is a corpus problem, and replacing it is the first item of future work.
TECHNICAL BACKUP (only if asked, or if you have time in hand)
If asked why M11 was deferred while M9, M10 and M12 were done: those three are required rubric items and M11 is the plan's one explicit stretch goal, cut if week 7 is tight. The record is docs/M11_MOSHI_LORA.md.
The four M11 blockers: the cached weights are a quantized Candle inference artifact, not a trainable PyTorch checkpoint; no speech-token training pipeline exists and M6's text pairs do not transfer; 8 GB is tight for a 7B backbone plus depth transformer; and there is no evaluation harness for speech output.
Future work in order: mitigate the M9 regression; replace the corpus with modern licensed material and re-derive the gate; benchmark the two modes under simultaneous GPU load; the f16 arm; streaming STT; a user study.
TRANSITION INTO THE NEXT SLIDE
"So let me finish with what I think the project actually contributes."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Close the argument rather than thank the room, and make the measurement discipline the last thing they hear.
WHAT APPEARS ON SCREEN
The thesis as one statement, then three closing findings, with Questions placed quietly at the bottom.
SPEAKER: Presenter 2        TIME: 0:30
SCRIPT
We set out to test one claim: that conventional voice assistants discard the information most relevant to helping someone practise speaking, and that a system can be built which does not.
The claim held, and it is measurable.
Neither path subsumes the other, which is why the product ships both — and the timeline this project is known for can only be built from the cascade's perception stage.
But the finding I would actually leave you with is the third one. Our retrieval threshold was wrong twice. Moshi was ten times slower than we claimed. And the fine-tune we were pleased with had quietly got worse at the one thing our ethics document says it must never get wrong. We know all three only because we measured them instead of assuming they worked.
Speech AI should not only understand what was said. It should understand how it was said.
We would be glad to take questions.
TECHNICAL BACKUP (only if asked, or if you have time in hand)
Do not add a thank-you slide after this. If the demo is running, the natural move on the first question is to switch to it.
Appendix order: A1-A2 decision matrix, A3 API, A4 schema, A5 auth, A6 protocol, A7 retrieval maths, A8 gate calibration, A9 drills, A10 benchmark method, A11 hardware, A12 model selection, A13 testing and ethics, A14 defence questions, A15 M9 in full, A16 latency in full.
TRANSITION INTO THE NEXT SLIDE
Straight to questions. Appendix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Second half of the matrix is on A2's companion — if asked for the full stack, this plus the next slide covers all sixteen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Note the Qwen row: '3B is a hardware trade' is the honest framing — with a larger GPU the cascade LLM is the first thing that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contract test caught a real problem: after a venv drifted off its pins, fastapi 0.115.6 → 0.141.1 and pydantic 2.10.4 → 2.13.5 changed serialisation (format: binary became contentMediaType). No path and no field had changed. Reinstalling from requirements.txt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Audio is never a column anywhere. Replay re-synthesizes from turns.text at the rate implied by turns.acoustic, so a stored reply sounds the way it sounded when it was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17 tests in test_auth.py plus 8 in test_ownership.py. Ownership is enforced at the orchestrator rather than per-route, so a new route cannot forget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Close code 4401 is in the application range 4000-4999 and mirrors HTTP 401 so the client can branch on it unambiguously. Fetch a fresh ticket on every connect; never cache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Every one of these constants carries its measurement as a comment in backend/app/core/config.py. The drill penalty is applied inside mmr_select on the relevance term only, after the gate has run on true similarity — so demotion can reorder citations but can never change whether an answer is considered 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0.71 / 0.48 / 0.35 row comes from verify_retrieval.py's fixture corpus; the rest from the real corpus via calibrate_gate.py and the FIX_LOG re-run. backend/scripts/README.md's verify_retrieval section used to say 'the gate now sits at 0.55', the fixture-derived value, three paragraphs below the calibrate_gate section that derives 0.65 against the real corpus.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the monotony query the top citation flipped from '9. What effect do habits of thought have on confidence?' to actual prose about testing your delivery on a friend. best_score is identical throughout, which is the proof that demotion reorders citations without touching groundedness — the whole reason for demoting rather than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docs/REPORT.md §9.1 used to quote an older run (1480 ms / 80 ms error, onset 1240 / 105 ms, detected ×3) while the README quoted a later one. Both are real runs — the word audio is re-synthesized every time, so the script asserts tolerances rather than exact values. §9.1 now matches the figures above and states the tolerance explicitly. If an examiner has an older copy of the report, that is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If asked what changes with a bigger GPU: the cascade's LLM moves first, since generation is the entire latency budget. An 8B on GPU would be faster and better — an A/B on the identical prompt with retrieval off showed an 8B staying tighter and avoiding the 3B's advice to 'pause for about three seconds', which is far too long to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Full report: docs/M9_COMPARISON.md; the regression is also disclosed in docs/ETHICS.md. Contamination checked: 0 exact overlaps with M6's training pairs, max fuzzy similarity 0.58. Median generation latency base 3944 ms, fine-tuned 3304 ms. The narrow keyword markers understate both models — a real defect in checks.py, widened after this run — but widening them does not close the gap,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vocabulary substitutions are enforced in the shipped system prompt: patient→speaker, therapy/treatment→practice/coaching/exercise, diagnosis/symptom/severity→detected event/acoustic marker, disorder/impairment→speech difference, rehabilitation→confidence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Rehearse the last one — 'what is your actual contribution rather than combining models' — because it is the question that decides the grade. The answer is the acoustic branch and the frozen schema, plus the discipline that every constant in the system carries its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Honest limitations M12 states itself: the latency figures characterise this laptop, not the models in general; the groundedness set is 10 questions, enough to demonstrate the gate works and probe the two dangerous cases but not for tight confidence intervals; and the two modes were measured separately, never head-to-head under simultaneous GPU load. Moshi's 'not measurable' is a statement about its architecture, not a claim that it perceives nothing — it plainly responds to how someone speaks, that response simply cannot be isolated and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28.11 s row is a real turn from docs/screenshots/04-waterfall-dark.png, of which 23.58 s was generation. The 9.8 / ~15 / ~21 rows are REPORT §9.3. The 1.4 s row is the CUDA 13.3 build from ml/finetuning/llama.cpp/README.md and only applies when Moshi is not holding the card. Timings are persisted per turn rather than only logged, which is what lets percentiles be computed from real sessions instead of a benchmark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1170432"/>
            <a:ext cx="749808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GRADUATION PROJECT  ·  GENERATIVE AI SOFTWARE PRODUCT</a:t>
            </a:r>
            <a:endParaRPr lang="en-US" sz="950" dirty="0"/>
          </a:p>
        </p:txBody>
      </p:sp>
      <p:sp>
        <p:nvSpPr>
          <p:cNvPr id="3" name="Text 1"/>
          <p:cNvSpPr txBox="1"/>
          <p:nvPr/>
        </p:nvSpPr>
        <p:spPr>
          <a:xfrm>
            <a:off x="658368" y="1517904"/>
            <a:ext cx="7863840" cy="868680"/>
          </a:xfrm>
          <a:prstGeom prst="rect">
            <a:avLst/>
          </a:prstGeom>
          <a:noFill/>
          <a:ln/>
        </p:spPr>
        <p:txBody>
          <a:bodyPr wrap="square" lIns="0" tIns="0" rIns="0" bIns="0" rtlCol="0" anchor="t"/>
          <a:lstStyle/>
          <a:p>
            <a:pPr indent="0" marL="0">
              <a:buNone/>
            </a:pPr>
            <a:r>
              <a:rPr lang="en-US" sz="5200" b="1" dirty="0">
                <a:solidFill>
                  <a:srgbClr val="2F2F2F"/>
                </a:solidFill>
                <a:latin typeface="Arial" pitchFamily="34" charset="0"/>
                <a:ea typeface="Arial" pitchFamily="34" charset="-122"/>
                <a:cs typeface="Arial" pitchFamily="34" charset="-120"/>
              </a:rPr>
              <a:t>Speech </a:t>
            </a:r>
            <a:pPr indent="0" marL="0">
              <a:buNone/>
            </a:pPr>
            <a:r>
              <a:rPr lang="en-US" sz="5200" i="1" dirty="0">
                <a:solidFill>
                  <a:srgbClr val="8A6410"/>
                </a:solidFill>
                <a:latin typeface="Cambria" pitchFamily="34" charset="0"/>
                <a:ea typeface="Cambria" pitchFamily="34" charset="-122"/>
                <a:cs typeface="Cambria" pitchFamily="34" charset="-120"/>
              </a:rPr>
              <a:t>Confidence</a:t>
            </a:r>
            <a:pPr indent="0" marL="0">
              <a:buNone/>
            </a:pPr>
            <a:r>
              <a:rPr lang="en-US" sz="5200" b="1" dirty="0">
                <a:solidFill>
                  <a:srgbClr val="2F2F2F"/>
                </a:solidFill>
                <a:latin typeface="Arial" pitchFamily="34" charset="0"/>
                <a:ea typeface="Arial" pitchFamily="34" charset="-122"/>
                <a:cs typeface="Arial" pitchFamily="34" charset="-120"/>
              </a:rPr>
              <a:t> Coach</a:t>
            </a:r>
            <a:endParaRPr lang="en-US" sz="5200" dirty="0"/>
          </a:p>
        </p:txBody>
      </p:sp>
      <p:sp>
        <p:nvSpPr>
          <p:cNvPr id="4" name="Text 2"/>
          <p:cNvSpPr txBox="1"/>
          <p:nvPr/>
        </p:nvSpPr>
        <p:spPr>
          <a:xfrm>
            <a:off x="658368" y="2432304"/>
            <a:ext cx="7315200" cy="384048"/>
          </a:xfrm>
          <a:prstGeom prst="rect">
            <a:avLst/>
          </a:prstGeom>
          <a:noFill/>
          <a:ln/>
        </p:spPr>
        <p:txBody>
          <a:bodyPr wrap="square" lIns="0" tIns="0" rIns="0" bIns="0" rtlCol="0" anchor="t"/>
          <a:lstStyle/>
          <a:p>
            <a:pPr algn="l" indent="0" marL="0">
              <a:lnSpc>
                <a:spcPct val="120000"/>
              </a:lnSpc>
              <a:buNone/>
            </a:pPr>
            <a:r>
              <a:rPr lang="en-US" sz="1700" dirty="0">
                <a:solidFill>
                  <a:srgbClr val="4A4A4A"/>
                </a:solidFill>
                <a:latin typeface="Calibri" pitchFamily="34" charset="0"/>
                <a:ea typeface="Calibri" pitchFamily="34" charset="-122"/>
                <a:cs typeface="Calibri" pitchFamily="34" charset="-120"/>
              </a:rPr>
              <a:t>A speaking coach that listens to how you say it, not only what you say.</a:t>
            </a:r>
            <a:endParaRPr lang="en-US" sz="1700" dirty="0"/>
          </a:p>
        </p:txBody>
      </p:sp>
      <p:sp>
        <p:nvSpPr>
          <p:cNvPr id="5" name="Shape 3"/>
          <p:cNvSpPr/>
          <p:nvPr/>
        </p:nvSpPr>
        <p:spPr>
          <a:xfrm>
            <a:off x="658368" y="3054096"/>
            <a:ext cx="6949440" cy="0"/>
          </a:xfrm>
          <a:prstGeom prst="line">
            <a:avLst/>
          </a:prstGeom>
          <a:noFill/>
          <a:ln w="12700">
            <a:solidFill>
              <a:srgbClr val="C2CFCC"/>
            </a:solidFill>
            <a:prstDash val="solid"/>
          </a:ln>
        </p:spPr>
      </p:sp>
      <p:sp>
        <p:nvSpPr>
          <p:cNvPr id="6" name="Shape 4"/>
          <p:cNvSpPr/>
          <p:nvPr/>
        </p:nvSpPr>
        <p:spPr>
          <a:xfrm>
            <a:off x="658368" y="3246120"/>
            <a:ext cx="987552" cy="310896"/>
          </a:xfrm>
          <a:prstGeom prst="roundRect">
            <a:avLst>
              <a:gd name="adj" fmla="val 50000"/>
            </a:avLst>
          </a:prstGeom>
          <a:solidFill>
            <a:srgbClr val="FFFFFF">
              <a:alpha val="78000"/>
            </a:srgbClr>
          </a:solidFill>
          <a:ln w="12700">
            <a:solidFill>
              <a:srgbClr val="DCE5E4"/>
            </a:solidFill>
            <a:prstDash val="solid"/>
          </a:ln>
        </p:spPr>
      </p:sp>
      <p:sp>
        <p:nvSpPr>
          <p:cNvPr id="7" name="Text 5"/>
          <p:cNvSpPr txBox="1"/>
          <p:nvPr/>
        </p:nvSpPr>
        <p:spPr>
          <a:xfrm>
            <a:off x="658368" y="3246120"/>
            <a:ext cx="987552" cy="310896"/>
          </a:xfrm>
          <a:prstGeom prst="rect">
            <a:avLst/>
          </a:prstGeom>
          <a:noFill/>
          <a:ln/>
        </p:spPr>
        <p:txBody>
          <a:bodyPr wrap="square" lIns="0" tIns="0" rIns="0" bIns="0" rtlCol="0" anchor="ctr"/>
          <a:lstStyle/>
          <a:p>
            <a:pPr algn="ctr" indent="0" marL="0">
              <a:buNone/>
            </a:pPr>
            <a:r>
              <a:rPr lang="en-US" sz="880" dirty="0">
                <a:solidFill>
                  <a:srgbClr val="6A6A6A"/>
                </a:solidFill>
                <a:latin typeface="Courier New" pitchFamily="34" charset="0"/>
                <a:ea typeface="Courier New" pitchFamily="34" charset="-122"/>
                <a:cs typeface="Courier New" pitchFamily="34" charset="-120"/>
              </a:rPr>
              <a:t>Native S2S</a:t>
            </a:r>
            <a:endParaRPr lang="en-US" sz="880" dirty="0"/>
          </a:p>
        </p:txBody>
      </p:sp>
      <p:sp>
        <p:nvSpPr>
          <p:cNvPr id="8" name="Shape 6"/>
          <p:cNvSpPr/>
          <p:nvPr/>
        </p:nvSpPr>
        <p:spPr>
          <a:xfrm>
            <a:off x="1764792" y="3246120"/>
            <a:ext cx="746150" cy="310896"/>
          </a:xfrm>
          <a:prstGeom prst="roundRect">
            <a:avLst>
              <a:gd name="adj" fmla="val 50000"/>
            </a:avLst>
          </a:prstGeom>
          <a:solidFill>
            <a:srgbClr val="FFFFFF">
              <a:alpha val="78000"/>
            </a:srgbClr>
          </a:solidFill>
          <a:ln w="12700">
            <a:solidFill>
              <a:srgbClr val="DCE5E4"/>
            </a:solidFill>
            <a:prstDash val="solid"/>
          </a:ln>
        </p:spPr>
      </p:sp>
      <p:sp>
        <p:nvSpPr>
          <p:cNvPr id="9" name="Text 7"/>
          <p:cNvSpPr txBox="1"/>
          <p:nvPr/>
        </p:nvSpPr>
        <p:spPr>
          <a:xfrm>
            <a:off x="1764792" y="3246120"/>
            <a:ext cx="746150" cy="310896"/>
          </a:xfrm>
          <a:prstGeom prst="rect">
            <a:avLst/>
          </a:prstGeom>
          <a:noFill/>
          <a:ln/>
        </p:spPr>
        <p:txBody>
          <a:bodyPr wrap="square" lIns="0" tIns="0" rIns="0" bIns="0" rtlCol="0" anchor="ctr"/>
          <a:lstStyle/>
          <a:p>
            <a:pPr algn="ctr" indent="0" marL="0">
              <a:buNone/>
            </a:pPr>
            <a:r>
              <a:rPr lang="en-US" sz="880" dirty="0">
                <a:solidFill>
                  <a:srgbClr val="6A6A6A"/>
                </a:solidFill>
                <a:latin typeface="Courier New" pitchFamily="34" charset="0"/>
                <a:ea typeface="Courier New" pitchFamily="34" charset="-122"/>
                <a:cs typeface="Courier New" pitchFamily="34" charset="-120"/>
              </a:rPr>
              <a:t>Whisper</a:t>
            </a:r>
            <a:endParaRPr lang="en-US" sz="880" dirty="0"/>
          </a:p>
        </p:txBody>
      </p:sp>
      <p:sp>
        <p:nvSpPr>
          <p:cNvPr id="10" name="Shape 8"/>
          <p:cNvSpPr/>
          <p:nvPr/>
        </p:nvSpPr>
        <p:spPr>
          <a:xfrm>
            <a:off x="2629814" y="3246120"/>
            <a:ext cx="424282" cy="310896"/>
          </a:xfrm>
          <a:prstGeom prst="roundRect">
            <a:avLst>
              <a:gd name="adj" fmla="val 50000"/>
            </a:avLst>
          </a:prstGeom>
          <a:solidFill>
            <a:srgbClr val="FFFFFF">
              <a:alpha val="78000"/>
            </a:srgbClr>
          </a:solidFill>
          <a:ln w="12700">
            <a:solidFill>
              <a:srgbClr val="DCE5E4"/>
            </a:solidFill>
            <a:prstDash val="solid"/>
          </a:ln>
        </p:spPr>
      </p:sp>
      <p:sp>
        <p:nvSpPr>
          <p:cNvPr id="11" name="Text 9"/>
          <p:cNvSpPr txBox="1"/>
          <p:nvPr/>
        </p:nvSpPr>
        <p:spPr>
          <a:xfrm>
            <a:off x="2629814" y="3246120"/>
            <a:ext cx="424282" cy="310896"/>
          </a:xfrm>
          <a:prstGeom prst="rect">
            <a:avLst/>
          </a:prstGeom>
          <a:noFill/>
          <a:ln/>
        </p:spPr>
        <p:txBody>
          <a:bodyPr wrap="square" lIns="0" tIns="0" rIns="0" bIns="0" rtlCol="0" anchor="ctr"/>
          <a:lstStyle/>
          <a:p>
            <a:pPr algn="ctr" indent="0" marL="0">
              <a:buNone/>
            </a:pPr>
            <a:r>
              <a:rPr lang="en-US" sz="880" dirty="0">
                <a:solidFill>
                  <a:srgbClr val="6A6A6A"/>
                </a:solidFill>
                <a:latin typeface="Courier New" pitchFamily="34" charset="0"/>
                <a:ea typeface="Courier New" pitchFamily="34" charset="-122"/>
                <a:cs typeface="Courier New" pitchFamily="34" charset="-120"/>
              </a:rPr>
              <a:t>RAG</a:t>
            </a:r>
            <a:endParaRPr lang="en-US" sz="880" dirty="0"/>
          </a:p>
        </p:txBody>
      </p:sp>
      <p:sp>
        <p:nvSpPr>
          <p:cNvPr id="12" name="Shape 10"/>
          <p:cNvSpPr/>
          <p:nvPr/>
        </p:nvSpPr>
        <p:spPr>
          <a:xfrm>
            <a:off x="3172968" y="3246120"/>
            <a:ext cx="907085" cy="310896"/>
          </a:xfrm>
          <a:prstGeom prst="roundRect">
            <a:avLst>
              <a:gd name="adj" fmla="val 50000"/>
            </a:avLst>
          </a:prstGeom>
          <a:solidFill>
            <a:srgbClr val="FFFFFF">
              <a:alpha val="78000"/>
            </a:srgbClr>
          </a:solidFill>
          <a:ln w="12700">
            <a:solidFill>
              <a:srgbClr val="DCE5E4"/>
            </a:solidFill>
            <a:prstDash val="solid"/>
          </a:ln>
        </p:spPr>
      </p:sp>
      <p:sp>
        <p:nvSpPr>
          <p:cNvPr id="13" name="Text 11"/>
          <p:cNvSpPr txBox="1"/>
          <p:nvPr/>
        </p:nvSpPr>
        <p:spPr>
          <a:xfrm>
            <a:off x="3172968" y="3246120"/>
            <a:ext cx="907085" cy="310896"/>
          </a:xfrm>
          <a:prstGeom prst="rect">
            <a:avLst/>
          </a:prstGeom>
          <a:noFill/>
          <a:ln/>
        </p:spPr>
        <p:txBody>
          <a:bodyPr wrap="square" lIns="0" tIns="0" rIns="0" bIns="0" rtlCol="0" anchor="ctr"/>
          <a:lstStyle/>
          <a:p>
            <a:pPr algn="ctr" indent="0" marL="0">
              <a:buNone/>
            </a:pPr>
            <a:r>
              <a:rPr lang="en-US" sz="880" dirty="0">
                <a:solidFill>
                  <a:srgbClr val="6A6A6A"/>
                </a:solidFill>
                <a:latin typeface="Courier New" pitchFamily="34" charset="0"/>
                <a:ea typeface="Courier New" pitchFamily="34" charset="-122"/>
                <a:cs typeface="Courier New" pitchFamily="34" charset="-120"/>
              </a:rPr>
              <a:t>Local LLM</a:t>
            </a:r>
            <a:endParaRPr lang="en-US" sz="880" dirty="0"/>
          </a:p>
        </p:txBody>
      </p:sp>
      <p:sp>
        <p:nvSpPr>
          <p:cNvPr id="14" name="Shape 12"/>
          <p:cNvSpPr/>
          <p:nvPr/>
        </p:nvSpPr>
        <p:spPr>
          <a:xfrm>
            <a:off x="4198925" y="3246120"/>
            <a:ext cx="746150" cy="310896"/>
          </a:xfrm>
          <a:prstGeom prst="roundRect">
            <a:avLst>
              <a:gd name="adj" fmla="val 50000"/>
            </a:avLst>
          </a:prstGeom>
          <a:solidFill>
            <a:srgbClr val="FFFFFF">
              <a:alpha val="78000"/>
            </a:srgbClr>
          </a:solidFill>
          <a:ln w="12700">
            <a:solidFill>
              <a:srgbClr val="DCE5E4"/>
            </a:solidFill>
            <a:prstDash val="solid"/>
          </a:ln>
        </p:spPr>
      </p:sp>
      <p:sp>
        <p:nvSpPr>
          <p:cNvPr id="15" name="Text 13"/>
          <p:cNvSpPr txBox="1"/>
          <p:nvPr/>
        </p:nvSpPr>
        <p:spPr>
          <a:xfrm>
            <a:off x="4198925" y="3246120"/>
            <a:ext cx="746150" cy="310896"/>
          </a:xfrm>
          <a:prstGeom prst="rect">
            <a:avLst/>
          </a:prstGeom>
          <a:noFill/>
          <a:ln/>
        </p:spPr>
        <p:txBody>
          <a:bodyPr wrap="square" lIns="0" tIns="0" rIns="0" bIns="0" rtlCol="0" anchor="ctr"/>
          <a:lstStyle/>
          <a:p>
            <a:pPr algn="ctr" indent="0" marL="0">
              <a:buNone/>
            </a:pPr>
            <a:r>
              <a:rPr lang="en-US" sz="880" dirty="0">
                <a:solidFill>
                  <a:srgbClr val="6A6A6A"/>
                </a:solidFill>
                <a:latin typeface="Courier New" pitchFamily="34" charset="0"/>
                <a:ea typeface="Courier New" pitchFamily="34" charset="-122"/>
                <a:cs typeface="Courier New" pitchFamily="34" charset="-120"/>
              </a:rPr>
              <a:t>FastAPI</a:t>
            </a:r>
            <a:endParaRPr lang="en-US" sz="880" dirty="0"/>
          </a:p>
        </p:txBody>
      </p:sp>
      <p:sp>
        <p:nvSpPr>
          <p:cNvPr id="16" name="Shape 14"/>
          <p:cNvSpPr/>
          <p:nvPr/>
        </p:nvSpPr>
        <p:spPr>
          <a:xfrm>
            <a:off x="5063947" y="3246120"/>
            <a:ext cx="826618" cy="310896"/>
          </a:xfrm>
          <a:prstGeom prst="roundRect">
            <a:avLst>
              <a:gd name="adj" fmla="val 50000"/>
            </a:avLst>
          </a:prstGeom>
          <a:solidFill>
            <a:srgbClr val="FFFFFF">
              <a:alpha val="78000"/>
            </a:srgbClr>
          </a:solidFill>
          <a:ln w="12700">
            <a:solidFill>
              <a:srgbClr val="DCE5E4"/>
            </a:solidFill>
            <a:prstDash val="solid"/>
          </a:ln>
        </p:spPr>
      </p:sp>
      <p:sp>
        <p:nvSpPr>
          <p:cNvPr id="17" name="Text 15"/>
          <p:cNvSpPr txBox="1"/>
          <p:nvPr/>
        </p:nvSpPr>
        <p:spPr>
          <a:xfrm>
            <a:off x="5063947" y="3246120"/>
            <a:ext cx="826618" cy="310896"/>
          </a:xfrm>
          <a:prstGeom prst="rect">
            <a:avLst/>
          </a:prstGeom>
          <a:noFill/>
          <a:ln/>
        </p:spPr>
        <p:txBody>
          <a:bodyPr wrap="square" lIns="0" tIns="0" rIns="0" bIns="0" rtlCol="0" anchor="ctr"/>
          <a:lstStyle/>
          <a:p>
            <a:pPr algn="ctr" indent="0" marL="0">
              <a:buNone/>
            </a:pPr>
            <a:r>
              <a:rPr lang="en-US" sz="880" dirty="0">
                <a:solidFill>
                  <a:srgbClr val="6A6A6A"/>
                </a:solidFill>
                <a:latin typeface="Courier New" pitchFamily="34" charset="0"/>
                <a:ea typeface="Courier New" pitchFamily="34" charset="-122"/>
                <a:cs typeface="Courier New" pitchFamily="34" charset="-120"/>
              </a:rPr>
              <a:t>React 18</a:t>
            </a:r>
            <a:endParaRPr lang="en-US" sz="880" dirty="0"/>
          </a:p>
        </p:txBody>
      </p:sp>
      <p:sp>
        <p:nvSpPr>
          <p:cNvPr id="18" name="Shape 16"/>
          <p:cNvSpPr/>
          <p:nvPr/>
        </p:nvSpPr>
        <p:spPr>
          <a:xfrm>
            <a:off x="6009437" y="3246120"/>
            <a:ext cx="1148486" cy="310896"/>
          </a:xfrm>
          <a:prstGeom prst="roundRect">
            <a:avLst>
              <a:gd name="adj" fmla="val 50000"/>
            </a:avLst>
          </a:prstGeom>
          <a:solidFill>
            <a:srgbClr val="FFFFFF">
              <a:alpha val="78000"/>
            </a:srgbClr>
          </a:solidFill>
          <a:ln w="12700">
            <a:solidFill>
              <a:srgbClr val="DCE5E4"/>
            </a:solidFill>
            <a:prstDash val="solid"/>
          </a:ln>
        </p:spPr>
      </p:sp>
      <p:sp>
        <p:nvSpPr>
          <p:cNvPr id="19" name="Text 17"/>
          <p:cNvSpPr txBox="1"/>
          <p:nvPr/>
        </p:nvSpPr>
        <p:spPr>
          <a:xfrm>
            <a:off x="6009437" y="3246120"/>
            <a:ext cx="1148486" cy="310896"/>
          </a:xfrm>
          <a:prstGeom prst="rect">
            <a:avLst/>
          </a:prstGeom>
          <a:noFill/>
          <a:ln/>
        </p:spPr>
        <p:txBody>
          <a:bodyPr wrap="square" lIns="0" tIns="0" rIns="0" bIns="0" rtlCol="0" anchor="ctr"/>
          <a:lstStyle/>
          <a:p>
            <a:pPr algn="ctr" indent="0" marL="0">
              <a:buNone/>
            </a:pPr>
            <a:r>
              <a:rPr lang="en-US" sz="880" dirty="0">
                <a:solidFill>
                  <a:srgbClr val="6A6A6A"/>
                </a:solidFill>
                <a:latin typeface="Courier New" pitchFamily="34" charset="0"/>
                <a:ea typeface="Courier New" pitchFamily="34" charset="-122"/>
                <a:cs typeface="Courier New" pitchFamily="34" charset="-120"/>
              </a:rPr>
              <a:t>Runs offline</a:t>
            </a:r>
            <a:endParaRPr lang="en-US" sz="880" dirty="0"/>
          </a:p>
        </p:txBody>
      </p:sp>
      <p:sp>
        <p:nvSpPr>
          <p:cNvPr id="20" name="Shape 18"/>
          <p:cNvSpPr/>
          <p:nvPr/>
        </p:nvSpPr>
        <p:spPr>
          <a:xfrm>
            <a:off x="658368" y="3950208"/>
            <a:ext cx="3401568" cy="1481328"/>
          </a:xfrm>
          <a:prstGeom prst="roundRect">
            <a:avLst>
              <a:gd name="adj" fmla="val 9877"/>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1" name="Text 19"/>
          <p:cNvSpPr txBox="1"/>
          <p:nvPr/>
        </p:nvSpPr>
        <p:spPr>
          <a:xfrm>
            <a:off x="877824" y="4133088"/>
            <a:ext cx="301752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PRESENTER 1  ·  TRACK A</a:t>
            </a:r>
            <a:endParaRPr lang="en-US" sz="950" dirty="0"/>
          </a:p>
        </p:txBody>
      </p:sp>
      <p:sp>
        <p:nvSpPr>
          <p:cNvPr id="22" name="Text 20"/>
          <p:cNvSpPr txBox="1"/>
          <p:nvPr/>
        </p:nvSpPr>
        <p:spPr>
          <a:xfrm>
            <a:off x="877824" y="4389120"/>
            <a:ext cx="3017520" cy="274320"/>
          </a:xfrm>
          <a:prstGeom prst="rect">
            <a:avLst/>
          </a:prstGeom>
          <a:noFill/>
          <a:ln/>
        </p:spPr>
        <p:txBody>
          <a:bodyPr wrap="square" lIns="0" tIns="0" rIns="0" bIns="0" rtlCol="0" anchor="t"/>
          <a:lstStyle/>
          <a:p>
            <a:pPr algn="l" indent="0" marL="0">
              <a:lnSpc>
                <a:spcPct val="120000"/>
              </a:lnSpc>
              <a:buNone/>
            </a:pPr>
            <a:r>
              <a:rPr lang="en-US" sz="1400" b="1" dirty="0">
                <a:solidFill>
                  <a:srgbClr val="2F2F2F"/>
                </a:solidFill>
                <a:latin typeface="Calibri" pitchFamily="34" charset="0"/>
                <a:ea typeface="Calibri" pitchFamily="34" charset="-122"/>
                <a:cs typeface="Calibri" pitchFamily="34" charset="-120"/>
              </a:rPr>
              <a:t>Ali Mohammed Abdelmgeed</a:t>
            </a:r>
            <a:endParaRPr lang="en-US" sz="1400" dirty="0"/>
          </a:p>
        </p:txBody>
      </p:sp>
      <p:sp>
        <p:nvSpPr>
          <p:cNvPr id="23" name="Text 21"/>
          <p:cNvSpPr txBox="1"/>
          <p:nvPr/>
        </p:nvSpPr>
        <p:spPr>
          <a:xfrm>
            <a:off x="877824" y="4681728"/>
            <a:ext cx="3017520" cy="658368"/>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Product, application, RAG, prompt engineering, frontend, integration</a:t>
            </a:r>
            <a:endParaRPr lang="en-US" sz="1100" dirty="0"/>
          </a:p>
        </p:txBody>
      </p:sp>
      <p:sp>
        <p:nvSpPr>
          <p:cNvPr id="24" name="Shape 22"/>
          <p:cNvSpPr/>
          <p:nvPr/>
        </p:nvSpPr>
        <p:spPr>
          <a:xfrm>
            <a:off x="4261104" y="3950208"/>
            <a:ext cx="3401568" cy="1481328"/>
          </a:xfrm>
          <a:prstGeom prst="roundRect">
            <a:avLst>
              <a:gd name="adj" fmla="val 9877"/>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5" name="Text 23"/>
          <p:cNvSpPr txBox="1"/>
          <p:nvPr/>
        </p:nvSpPr>
        <p:spPr>
          <a:xfrm>
            <a:off x="4480560" y="4133088"/>
            <a:ext cx="301752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PRESENTER 2  ·  TRACK M</a:t>
            </a:r>
            <a:endParaRPr lang="en-US" sz="950" dirty="0"/>
          </a:p>
        </p:txBody>
      </p:sp>
      <p:sp>
        <p:nvSpPr>
          <p:cNvPr id="26" name="Text 24"/>
          <p:cNvSpPr txBox="1"/>
          <p:nvPr/>
        </p:nvSpPr>
        <p:spPr>
          <a:xfrm>
            <a:off x="4480560" y="4389120"/>
            <a:ext cx="3017520" cy="274320"/>
          </a:xfrm>
          <a:prstGeom prst="rect">
            <a:avLst/>
          </a:prstGeom>
          <a:noFill/>
          <a:ln/>
        </p:spPr>
        <p:txBody>
          <a:bodyPr wrap="square" lIns="0" tIns="0" rIns="0" bIns="0" rtlCol="0" anchor="t"/>
          <a:lstStyle/>
          <a:p>
            <a:pPr algn="l" indent="0" marL="0">
              <a:lnSpc>
                <a:spcPct val="120000"/>
              </a:lnSpc>
              <a:buNone/>
            </a:pPr>
            <a:r>
              <a:rPr lang="en-US" sz="1400" b="1" dirty="0">
                <a:solidFill>
                  <a:srgbClr val="2F2F2F"/>
                </a:solidFill>
                <a:latin typeface="Calibri" pitchFamily="34" charset="0"/>
                <a:ea typeface="Calibri" pitchFamily="34" charset="-122"/>
                <a:cs typeface="Calibri" pitchFamily="34" charset="-120"/>
              </a:rPr>
              <a:t>Youssef Elmegharbel</a:t>
            </a:r>
            <a:endParaRPr lang="en-US" sz="1400" dirty="0"/>
          </a:p>
        </p:txBody>
      </p:sp>
      <p:sp>
        <p:nvSpPr>
          <p:cNvPr id="27" name="Text 25"/>
          <p:cNvSpPr txBox="1"/>
          <p:nvPr/>
        </p:nvSpPr>
        <p:spPr>
          <a:xfrm>
            <a:off x="4480560" y="4681728"/>
            <a:ext cx="3017520" cy="658368"/>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Models, training, quantization, hardware bring-up, evaluation</a:t>
            </a:r>
            <a:endParaRPr lang="en-US" sz="1100" dirty="0"/>
          </a:p>
        </p:txBody>
      </p:sp>
      <p:sp>
        <p:nvSpPr>
          <p:cNvPr id="28" name="Shape 26"/>
          <p:cNvSpPr/>
          <p:nvPr/>
        </p:nvSpPr>
        <p:spPr>
          <a:xfrm>
            <a:off x="8887968" y="2048256"/>
            <a:ext cx="1920240" cy="1920240"/>
          </a:xfrm>
          <a:prstGeom prst="ellipse">
            <a:avLst/>
          </a:prstGeom>
          <a:solidFill>
            <a:srgbClr val="F2C94C"/>
          </a:solidFill>
          <a:ln/>
        </p:spPr>
      </p:sp>
      <p:sp>
        <p:nvSpPr>
          <p:cNvPr id="29" name="Shape 27"/>
          <p:cNvSpPr/>
          <p:nvPr/>
        </p:nvSpPr>
        <p:spPr>
          <a:xfrm>
            <a:off x="8558784" y="1719072"/>
            <a:ext cx="2578608" cy="2578608"/>
          </a:xfrm>
          <a:prstGeom prst="ellipse">
            <a:avLst/>
          </a:prstGeom>
          <a:solidFill>
            <a:srgbClr val="A2760F">
              <a:alpha val="12000"/>
            </a:srgbClr>
          </a:solidFill>
          <a:ln w="12700">
            <a:solidFill>
              <a:srgbClr val="C2CFCC"/>
            </a:solidFill>
            <a:prstDash val="solid"/>
          </a:ln>
        </p:spPr>
      </p:sp>
      <p:sp>
        <p:nvSpPr>
          <p:cNvPr id="30" name="Shape 28"/>
          <p:cNvSpPr/>
          <p:nvPr/>
        </p:nvSpPr>
        <p:spPr>
          <a:xfrm>
            <a:off x="8174736" y="1335024"/>
            <a:ext cx="3346704" cy="3346704"/>
          </a:xfrm>
          <a:prstGeom prst="ellipse">
            <a:avLst/>
          </a:prstGeom>
          <a:ln w="12700">
            <a:solidFill>
              <a:srgbClr val="DCE5E4"/>
            </a:solidFill>
            <a:prstDash val="solid"/>
          </a:ln>
        </p:spPr>
      </p:sp>
      <p:sp>
        <p:nvSpPr>
          <p:cNvPr id="31" name="Shape 29"/>
          <p:cNvSpPr/>
          <p:nvPr/>
        </p:nvSpPr>
        <p:spPr>
          <a:xfrm>
            <a:off x="8887968" y="2048256"/>
            <a:ext cx="1920240" cy="1920240"/>
          </a:xfrm>
          <a:prstGeom prst="ellipse">
            <a:avLst/>
          </a:prstGeom>
          <a:solidFill>
            <a:srgbClr val="F2C94C"/>
          </a:solidFill>
          <a:ln/>
        </p:spPr>
      </p:sp>
      <p:sp>
        <p:nvSpPr>
          <p:cNvPr id="32" name="Text 30"/>
          <p:cNvSpPr txBox="1"/>
          <p:nvPr/>
        </p:nvSpPr>
        <p:spPr>
          <a:xfrm>
            <a:off x="8174736" y="4846320"/>
            <a:ext cx="3346704" cy="274320"/>
          </a:xfrm>
          <a:prstGeom prst="rect">
            <a:avLst/>
          </a:prstGeom>
          <a:noFill/>
          <a:ln/>
        </p:spPr>
        <p:txBody>
          <a:bodyPr wrap="square" lIns="0" tIns="0" rIns="0" bIns="0" rtlCol="0" anchor="t"/>
          <a:lstStyle/>
          <a:p>
            <a:pPr algn="ctr" indent="0" marL="0">
              <a:lnSpc>
                <a:spcPct val="120000"/>
              </a:lnSpc>
              <a:buNone/>
            </a:pPr>
            <a:r>
              <a:rPr lang="en-US" sz="1200" dirty="0">
                <a:solidFill>
                  <a:srgbClr val="6A6A6A"/>
                </a:solidFill>
                <a:latin typeface="Calibri" pitchFamily="34" charset="0"/>
                <a:ea typeface="Calibri" pitchFamily="34" charset="-122"/>
                <a:cs typeface="Calibri" pitchFamily="34" charset="-120"/>
              </a:rPr>
              <a:t>Press to start talking</a:t>
            </a:r>
            <a:endParaRPr lang="en-US" sz="1200" dirty="0"/>
          </a:p>
        </p:txBody>
      </p:sp>
      <p:sp>
        <p:nvSpPr>
          <p:cNvPr id="33" name="Text 31"/>
          <p:cNvSpPr txBox="1"/>
          <p:nvPr/>
        </p:nvSpPr>
        <p:spPr>
          <a:xfrm>
            <a:off x="8174736" y="5138928"/>
            <a:ext cx="3346704" cy="201168"/>
          </a:xfrm>
          <a:prstGeom prst="rect">
            <a:avLst/>
          </a:prstGeom>
          <a:noFill/>
          <a:ln/>
        </p:spPr>
        <p:txBody>
          <a:bodyPr wrap="square" lIns="0" tIns="0" rIns="0" bIns="0" rtlCol="0" anchor="ctr"/>
          <a:lstStyle/>
          <a:p>
            <a:pPr algn="ctr" indent="0" marL="0">
              <a:buNone/>
            </a:pPr>
            <a:r>
              <a:rPr lang="en-US" sz="950" b="1" spc="180" kern="0" dirty="0">
                <a:solidFill>
                  <a:srgbClr val="9AA5A2"/>
                </a:solidFill>
                <a:latin typeface="Courier New" pitchFamily="34" charset="0"/>
                <a:ea typeface="Courier New" pitchFamily="34" charset="-122"/>
                <a:cs typeface="Courier New" pitchFamily="34" charset="-120"/>
              </a:rPr>
              <a:t>30 MINUTES  ·  TWO PRESENTERS</a:t>
            </a:r>
            <a:endParaRPr lang="en-US" sz="950" dirty="0"/>
          </a:p>
        </p:txBody>
      </p:sp>
      <p:sp>
        <p:nvSpPr>
          <p:cNvPr id="34" name="Shape 32"/>
          <p:cNvSpPr/>
          <p:nvPr/>
        </p:nvSpPr>
        <p:spPr>
          <a:xfrm>
            <a:off x="658368" y="6272784"/>
            <a:ext cx="10874959" cy="0"/>
          </a:xfrm>
          <a:prstGeom prst="line">
            <a:avLst/>
          </a:prstGeom>
          <a:noFill/>
          <a:ln w="12700">
            <a:solidFill>
              <a:srgbClr val="DCE5E4"/>
            </a:solidFill>
            <a:prstDash val="solid"/>
          </a:ln>
        </p:spPr>
      </p:sp>
      <p:sp>
        <p:nvSpPr>
          <p:cNvPr id="35" name="Text 3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36" name="Text 3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github.com/Ali-Khamis45/we-s2s-finalproject</a:t>
            </a:r>
            <a:endParaRPr lang="en-US" sz="850" dirty="0"/>
          </a:p>
        </p:txBody>
      </p:sp>
      <p:sp>
        <p:nvSpPr>
          <p:cNvPr id="37" name="Text 3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01 / 27</a:t>
            </a:r>
            <a:endParaRPr lang="en-US" sz="950" dirty="0"/>
          </a:p>
        </p:txBody>
      </p:sp>
      <p:sp>
        <p:nvSpPr>
          <p:cNvPr id="38" name="Shape 3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39" name="Shape 37"/>
          <p:cNvSpPr/>
          <p:nvPr/>
        </p:nvSpPr>
        <p:spPr>
          <a:xfrm>
            <a:off x="11301984" y="6391656"/>
            <a:ext cx="155448" cy="155448"/>
          </a:xfrm>
          <a:prstGeom prst="ellipse">
            <a:avLst/>
          </a:prstGeom>
          <a:solidFill>
            <a:srgbClr val="F2C94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THE PROBLEM</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2F2F2F"/>
                </a:solidFill>
                <a:latin typeface="Arial" pitchFamily="34" charset="0"/>
                <a:ea typeface="Arial" pitchFamily="34" charset="-122"/>
                <a:cs typeface="Arial" pitchFamily="34" charset="-120"/>
              </a:rPr>
              <a:t>Speaking is not optional</a:t>
            </a:r>
            <a:endParaRPr lang="en-US" sz="3400" dirty="0"/>
          </a:p>
        </p:txBody>
      </p:sp>
      <p:sp>
        <p:nvSpPr>
          <p:cNvPr id="4" name="Text 2"/>
          <p:cNvSpPr txBox="1"/>
          <p:nvPr/>
        </p:nvSpPr>
        <p:spPr>
          <a:xfrm>
            <a:off x="658368" y="1389888"/>
            <a:ext cx="1051560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Interviews, vivas, presentations and meetings are gateways to education and employment, and every one of them is conducted out loud, in real time, in front of people. For someone who stammers or clutters, or who carries acute speaking anxiety, those moments cost something that fluent speakers never pay.</a:t>
            </a:r>
            <a:endParaRPr lang="en-US" sz="1500" dirty="0"/>
          </a:p>
        </p:txBody>
      </p:sp>
      <p:sp>
        <p:nvSpPr>
          <p:cNvPr id="5" name="Shape 3"/>
          <p:cNvSpPr/>
          <p:nvPr/>
        </p:nvSpPr>
        <p:spPr>
          <a:xfrm>
            <a:off x="658368" y="6272784"/>
            <a:ext cx="10874959" cy="0"/>
          </a:xfrm>
          <a:prstGeom prst="line">
            <a:avLst/>
          </a:prstGeom>
          <a:noFill/>
          <a:ln w="12700">
            <a:solidFill>
              <a:srgbClr val="DCE5E4"/>
            </a:solidFill>
            <a:prstDash val="solid"/>
          </a:ln>
        </p:spPr>
      </p:sp>
      <p:sp>
        <p:nvSpPr>
          <p:cNvPr id="6" name="Text 4"/>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7" name="Text 5"/>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docs/REPORT.md §1–2</a:t>
            </a:r>
            <a:endParaRPr lang="en-US" sz="850" dirty="0"/>
          </a:p>
        </p:txBody>
      </p:sp>
      <p:sp>
        <p:nvSpPr>
          <p:cNvPr id="8" name="Text 6"/>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02 / 27</a:t>
            </a:r>
            <a:endParaRPr lang="en-US" sz="950" dirty="0"/>
          </a:p>
        </p:txBody>
      </p:sp>
      <p:sp>
        <p:nvSpPr>
          <p:cNvPr id="9" name="Shape 7"/>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10" name="Shape 8"/>
          <p:cNvSpPr/>
          <p:nvPr/>
        </p:nvSpPr>
        <p:spPr>
          <a:xfrm>
            <a:off x="11301984" y="6391656"/>
            <a:ext cx="155448" cy="155448"/>
          </a:xfrm>
          <a:prstGeom prst="ellipse">
            <a:avLst/>
          </a:prstGeom>
          <a:solidFill>
            <a:srgbClr val="F2C94C"/>
          </a:solidFill>
          <a:ln/>
        </p:spPr>
      </p:sp>
      <p:sp>
        <p:nvSpPr>
          <p:cNvPr id="11" name="Shape 9"/>
          <p:cNvSpPr/>
          <p:nvPr/>
        </p:nvSpPr>
        <p:spPr>
          <a:xfrm>
            <a:off x="658368" y="2788920"/>
            <a:ext cx="3401568" cy="3054096"/>
          </a:xfrm>
          <a:prstGeom prst="roundRect">
            <a:avLst>
              <a:gd name="adj" fmla="val 479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2" name="Text 10"/>
          <p:cNvSpPr txBox="1"/>
          <p:nvPr/>
        </p:nvSpPr>
        <p:spPr>
          <a:xfrm>
            <a:off x="896112" y="2999232"/>
            <a:ext cx="914400" cy="457200"/>
          </a:xfrm>
          <a:prstGeom prst="rect">
            <a:avLst/>
          </a:prstGeom>
          <a:noFill/>
          <a:ln/>
        </p:spPr>
        <p:txBody>
          <a:bodyPr wrap="square" lIns="0" tIns="0" rIns="0" bIns="0" rtlCol="0" anchor="ctr"/>
          <a:lstStyle/>
          <a:p>
            <a:pPr indent="0" marL="0">
              <a:buNone/>
            </a:pPr>
            <a:r>
              <a:rPr lang="en-US" sz="2800" b="1" dirty="0">
                <a:solidFill>
                  <a:srgbClr val="8A6410"/>
                </a:solidFill>
                <a:latin typeface="Arial" pitchFamily="34" charset="0"/>
                <a:ea typeface="Arial" pitchFamily="34" charset="-122"/>
                <a:cs typeface="Arial" pitchFamily="34" charset="-120"/>
              </a:rPr>
              <a:t>01</a:t>
            </a:r>
            <a:endParaRPr lang="en-US" sz="2800" dirty="0"/>
          </a:p>
        </p:txBody>
      </p:sp>
      <p:sp>
        <p:nvSpPr>
          <p:cNvPr id="13" name="Text 11"/>
          <p:cNvSpPr txBox="1"/>
          <p:nvPr/>
        </p:nvSpPr>
        <p:spPr>
          <a:xfrm>
            <a:off x="896112" y="3529584"/>
            <a:ext cx="2926080" cy="786384"/>
          </a:xfrm>
          <a:prstGeom prst="rect">
            <a:avLst/>
          </a:prstGeom>
          <a:noFill/>
          <a:ln/>
        </p:spPr>
        <p:txBody>
          <a:bodyPr wrap="square" lIns="0" tIns="0" rIns="0" bIns="0" rtlCol="0" anchor="t"/>
          <a:lstStyle/>
          <a:p>
            <a:pPr algn="l" indent="0" marL="0">
              <a:lnSpc>
                <a:spcPct val="110000"/>
              </a:lnSpc>
              <a:buNone/>
            </a:pPr>
            <a:r>
              <a:rPr lang="en-US" sz="1500" b="1" dirty="0">
                <a:solidFill>
                  <a:srgbClr val="2F2F2F"/>
                </a:solidFill>
                <a:latin typeface="Calibri" pitchFamily="34" charset="0"/>
                <a:ea typeface="Calibri" pitchFamily="34" charset="-122"/>
                <a:cs typeface="Calibri" pitchFamily="34" charset="-120"/>
              </a:rPr>
              <a:t>The obstacle is rarely knowledge</a:t>
            </a:r>
            <a:endParaRPr lang="en-US" sz="1500" dirty="0"/>
          </a:p>
        </p:txBody>
      </p:sp>
      <p:sp>
        <p:nvSpPr>
          <p:cNvPr id="14" name="Text 12"/>
          <p:cNvSpPr txBox="1"/>
          <p:nvPr/>
        </p:nvSpPr>
        <p:spPr>
          <a:xfrm>
            <a:off x="896112" y="4370832"/>
            <a:ext cx="2926080" cy="1316736"/>
          </a:xfrm>
          <a:prstGeom prst="rect">
            <a:avLst/>
          </a:prstGeom>
          <a:noFill/>
          <a:ln/>
        </p:spPr>
        <p:txBody>
          <a:bodyPr wrap="square" lIns="0" tIns="0" rIns="0" bIns="0" rtlCol="0" anchor="t"/>
          <a:lstStyle/>
          <a:p>
            <a:pPr algn="l" indent="0" marL="0">
              <a:lnSpc>
                <a:spcPct val="122000"/>
              </a:lnSpc>
              <a:buNone/>
            </a:pPr>
            <a:r>
              <a:rPr lang="en-US" sz="1250" dirty="0">
                <a:solidFill>
                  <a:srgbClr val="6A6A6A"/>
                </a:solidFill>
                <a:latin typeface="Calibri" pitchFamily="34" charset="0"/>
                <a:ea typeface="Calibri" pitchFamily="34" charset="-122"/>
                <a:cs typeface="Calibri" pitchFamily="34" charset="-120"/>
              </a:rPr>
              <a:t>Most people already know they should slow down, pause, and keep the opening sentence short. Knowing it is not the hard part.</a:t>
            </a:r>
            <a:endParaRPr lang="en-US" sz="1250" dirty="0"/>
          </a:p>
        </p:txBody>
      </p:sp>
      <p:sp>
        <p:nvSpPr>
          <p:cNvPr id="15" name="Shape 13"/>
          <p:cNvSpPr/>
          <p:nvPr/>
        </p:nvSpPr>
        <p:spPr>
          <a:xfrm>
            <a:off x="4389120" y="2788920"/>
            <a:ext cx="3401568" cy="3054096"/>
          </a:xfrm>
          <a:prstGeom prst="roundRect">
            <a:avLst>
              <a:gd name="adj" fmla="val 479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6" name="Text 14"/>
          <p:cNvSpPr txBox="1"/>
          <p:nvPr/>
        </p:nvSpPr>
        <p:spPr>
          <a:xfrm>
            <a:off x="4626864" y="2999232"/>
            <a:ext cx="914400" cy="457200"/>
          </a:xfrm>
          <a:prstGeom prst="rect">
            <a:avLst/>
          </a:prstGeom>
          <a:noFill/>
          <a:ln/>
        </p:spPr>
        <p:txBody>
          <a:bodyPr wrap="square" lIns="0" tIns="0" rIns="0" bIns="0" rtlCol="0" anchor="ctr"/>
          <a:lstStyle/>
          <a:p>
            <a:pPr indent="0" marL="0">
              <a:buNone/>
            </a:pPr>
            <a:r>
              <a:rPr lang="en-US" sz="2800" b="1" dirty="0">
                <a:solidFill>
                  <a:srgbClr val="8A6410"/>
                </a:solidFill>
                <a:latin typeface="Arial" pitchFamily="34" charset="0"/>
                <a:ea typeface="Arial" pitchFamily="34" charset="-122"/>
                <a:cs typeface="Arial" pitchFamily="34" charset="-120"/>
              </a:rPr>
              <a:t>02</a:t>
            </a:r>
            <a:endParaRPr lang="en-US" sz="2800" dirty="0"/>
          </a:p>
        </p:txBody>
      </p:sp>
      <p:sp>
        <p:nvSpPr>
          <p:cNvPr id="17" name="Text 15"/>
          <p:cNvSpPr txBox="1"/>
          <p:nvPr/>
        </p:nvSpPr>
        <p:spPr>
          <a:xfrm>
            <a:off x="4626864" y="3529584"/>
            <a:ext cx="2926080" cy="786384"/>
          </a:xfrm>
          <a:prstGeom prst="rect">
            <a:avLst/>
          </a:prstGeom>
          <a:noFill/>
          <a:ln/>
        </p:spPr>
        <p:txBody>
          <a:bodyPr wrap="square" lIns="0" tIns="0" rIns="0" bIns="0" rtlCol="0" anchor="t"/>
          <a:lstStyle/>
          <a:p>
            <a:pPr algn="l" indent="0" marL="0">
              <a:lnSpc>
                <a:spcPct val="110000"/>
              </a:lnSpc>
              <a:buNone/>
            </a:pPr>
            <a:r>
              <a:rPr lang="en-US" sz="1500" b="1" dirty="0">
                <a:solidFill>
                  <a:srgbClr val="2F2F2F"/>
                </a:solidFill>
                <a:latin typeface="Calibri" pitchFamily="34" charset="0"/>
                <a:ea typeface="Calibri" pitchFamily="34" charset="-122"/>
                <a:cs typeface="Calibri" pitchFamily="34" charset="-120"/>
              </a:rPr>
              <a:t>What is missing is practice that answers back</a:t>
            </a:r>
            <a:endParaRPr lang="en-US" sz="1500" dirty="0"/>
          </a:p>
        </p:txBody>
      </p:sp>
      <p:sp>
        <p:nvSpPr>
          <p:cNvPr id="18" name="Text 16"/>
          <p:cNvSpPr txBox="1"/>
          <p:nvPr/>
        </p:nvSpPr>
        <p:spPr>
          <a:xfrm>
            <a:off x="4626864" y="4370832"/>
            <a:ext cx="2926080" cy="1316736"/>
          </a:xfrm>
          <a:prstGeom prst="rect">
            <a:avLst/>
          </a:prstGeom>
          <a:noFill/>
          <a:ln/>
        </p:spPr>
        <p:txBody>
          <a:bodyPr wrap="square" lIns="0" tIns="0" rIns="0" bIns="0" rtlCol="0" anchor="t"/>
          <a:lstStyle/>
          <a:p>
            <a:pPr algn="l" indent="0" marL="0">
              <a:lnSpc>
                <a:spcPct val="122000"/>
              </a:lnSpc>
              <a:buNone/>
            </a:pPr>
            <a:r>
              <a:rPr lang="en-US" sz="1250" dirty="0">
                <a:solidFill>
                  <a:srgbClr val="6A6A6A"/>
                </a:solidFill>
                <a:latin typeface="Calibri" pitchFamily="34" charset="0"/>
                <a:ea typeface="Calibri" pitchFamily="34" charset="-122"/>
                <a:cs typeface="Calibri" pitchFamily="34" charset="-120"/>
              </a:rPr>
              <a:t>Practising alone in a room gives no feedback at all. Practising with a person means recruiting one repeatedly, and sitting inside the exact social pressure the practice exists to defuse.</a:t>
            </a:r>
            <a:endParaRPr lang="en-US" sz="1250" dirty="0"/>
          </a:p>
        </p:txBody>
      </p:sp>
      <p:sp>
        <p:nvSpPr>
          <p:cNvPr id="19" name="Shape 17"/>
          <p:cNvSpPr/>
          <p:nvPr/>
        </p:nvSpPr>
        <p:spPr>
          <a:xfrm>
            <a:off x="8119872" y="2788920"/>
            <a:ext cx="3401568" cy="3054096"/>
          </a:xfrm>
          <a:prstGeom prst="roundRect">
            <a:avLst>
              <a:gd name="adj" fmla="val 479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0" name="Text 18"/>
          <p:cNvSpPr txBox="1"/>
          <p:nvPr/>
        </p:nvSpPr>
        <p:spPr>
          <a:xfrm>
            <a:off x="8357616" y="2999232"/>
            <a:ext cx="914400" cy="457200"/>
          </a:xfrm>
          <a:prstGeom prst="rect">
            <a:avLst/>
          </a:prstGeom>
          <a:noFill/>
          <a:ln/>
        </p:spPr>
        <p:txBody>
          <a:bodyPr wrap="square" lIns="0" tIns="0" rIns="0" bIns="0" rtlCol="0" anchor="ctr"/>
          <a:lstStyle/>
          <a:p>
            <a:pPr indent="0" marL="0">
              <a:buNone/>
            </a:pPr>
            <a:r>
              <a:rPr lang="en-US" sz="2800" b="1" dirty="0">
                <a:solidFill>
                  <a:srgbClr val="8A6410"/>
                </a:solidFill>
                <a:latin typeface="Arial" pitchFamily="34" charset="0"/>
                <a:ea typeface="Arial" pitchFamily="34" charset="-122"/>
                <a:cs typeface="Arial" pitchFamily="34" charset="-120"/>
              </a:rPr>
              <a:t>03</a:t>
            </a:r>
            <a:endParaRPr lang="en-US" sz="2800" dirty="0"/>
          </a:p>
        </p:txBody>
      </p:sp>
      <p:sp>
        <p:nvSpPr>
          <p:cNvPr id="21" name="Text 19"/>
          <p:cNvSpPr txBox="1"/>
          <p:nvPr/>
        </p:nvSpPr>
        <p:spPr>
          <a:xfrm>
            <a:off x="8357616" y="3529584"/>
            <a:ext cx="2926080" cy="786384"/>
          </a:xfrm>
          <a:prstGeom prst="rect">
            <a:avLst/>
          </a:prstGeom>
          <a:noFill/>
          <a:ln/>
        </p:spPr>
        <p:txBody>
          <a:bodyPr wrap="square" lIns="0" tIns="0" rIns="0" bIns="0" rtlCol="0" anchor="t"/>
          <a:lstStyle/>
          <a:p>
            <a:pPr algn="l" indent="0" marL="0">
              <a:lnSpc>
                <a:spcPct val="110000"/>
              </a:lnSpc>
              <a:buNone/>
            </a:pPr>
            <a:r>
              <a:rPr lang="en-US" sz="1500" b="1" dirty="0">
                <a:solidFill>
                  <a:srgbClr val="2F2F2F"/>
                </a:solidFill>
                <a:latin typeface="Calibri" pitchFamily="34" charset="0"/>
                <a:ea typeface="Calibri" pitchFamily="34" charset="-122"/>
                <a:cs typeface="Calibri" pitchFamily="34" charset="-120"/>
              </a:rPr>
              <a:t>So the gap is a private partner that responds</a:t>
            </a:r>
            <a:endParaRPr lang="en-US" sz="1500" dirty="0"/>
          </a:p>
        </p:txBody>
      </p:sp>
      <p:sp>
        <p:nvSpPr>
          <p:cNvPr id="22" name="Text 20"/>
          <p:cNvSpPr txBox="1"/>
          <p:nvPr/>
        </p:nvSpPr>
        <p:spPr>
          <a:xfrm>
            <a:off x="8357616" y="4370832"/>
            <a:ext cx="2926080" cy="1316736"/>
          </a:xfrm>
          <a:prstGeom prst="rect">
            <a:avLst/>
          </a:prstGeom>
          <a:noFill/>
          <a:ln/>
        </p:spPr>
        <p:txBody>
          <a:bodyPr wrap="square" lIns="0" tIns="0" rIns="0" bIns="0" rtlCol="0" anchor="t"/>
          <a:lstStyle/>
          <a:p>
            <a:pPr algn="l" indent="0" marL="0">
              <a:lnSpc>
                <a:spcPct val="122000"/>
              </a:lnSpc>
              <a:buNone/>
            </a:pPr>
            <a:r>
              <a:rPr lang="en-US" sz="1250" dirty="0">
                <a:solidFill>
                  <a:srgbClr val="6A6A6A"/>
                </a:solidFill>
                <a:latin typeface="Calibri" pitchFamily="34" charset="0"/>
                <a:ea typeface="Calibri" pitchFamily="34" charset="-122"/>
                <a:cs typeface="Calibri" pitchFamily="34" charset="-120"/>
              </a:rPr>
              <a:t>Low stakes, repeatable, available at two in the morning the night before an interview, and indifferent to how many times you start the sentence again.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THE HIDDEN FAILURE OF ORDINARY VOICE AI</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2F2F2F"/>
                </a:solidFill>
                <a:latin typeface="Arial" pitchFamily="34" charset="0"/>
                <a:ea typeface="Arial" pitchFamily="34" charset="-122"/>
                <a:cs typeface="Arial" pitchFamily="34" charset="-120"/>
              </a:rPr>
              <a:t>Voice AI begins by </a:t>
            </a:r>
            <a:pPr indent="0" marL="0">
              <a:lnSpc>
                <a:spcPct val="103000"/>
              </a:lnSpc>
              <a:buNone/>
            </a:pPr>
            <a:r>
              <a:rPr lang="en-US" sz="3400" b="1" dirty="0">
                <a:solidFill>
                  <a:srgbClr val="8A6410"/>
                </a:solidFill>
                <a:latin typeface="Arial" pitchFamily="34" charset="0"/>
                <a:ea typeface="Arial" pitchFamily="34" charset="-122"/>
                <a:cs typeface="Arial" pitchFamily="34" charset="-120"/>
              </a:rPr>
              <a:t>deleting the evidence</a:t>
            </a:r>
            <a:endParaRPr lang="en-US" sz="34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backend/scripts/verify_acoustic_branch.py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03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417320"/>
            <a:ext cx="1042416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Transcription is not a neutral first step. It is built to produce clean, fluent text, and it discards exactly the information this product needs. Here is one real utterance from the project's own verification harness.</a:t>
            </a:r>
            <a:endParaRPr lang="en-US" sz="1500" dirty="0"/>
          </a:p>
        </p:txBody>
      </p:sp>
      <p:sp>
        <p:nvSpPr>
          <p:cNvPr id="11" name="Shape 9"/>
          <p:cNvSpPr/>
          <p:nvPr/>
        </p:nvSpPr>
        <p:spPr>
          <a:xfrm>
            <a:off x="658368" y="2139696"/>
            <a:ext cx="10874959" cy="1700784"/>
          </a:xfrm>
          <a:prstGeom prst="roundRect">
            <a:avLst>
              <a:gd name="adj" fmla="val 8602"/>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2" name="Text 10"/>
          <p:cNvSpPr txBox="1"/>
          <p:nvPr/>
        </p:nvSpPr>
        <p:spPr>
          <a:xfrm>
            <a:off x="914400" y="2286000"/>
            <a:ext cx="457200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WHAT WAS ACTUALLY SPOKEN</a:t>
            </a:r>
            <a:endParaRPr lang="en-US" sz="950" dirty="0"/>
          </a:p>
        </p:txBody>
      </p:sp>
      <p:sp>
        <p:nvSpPr>
          <p:cNvPr id="13" name="Text 11"/>
          <p:cNvSpPr txBox="1"/>
          <p:nvPr/>
        </p:nvSpPr>
        <p:spPr>
          <a:xfrm>
            <a:off x="10344607" y="2286000"/>
            <a:ext cx="914400" cy="201168"/>
          </a:xfrm>
          <a:prstGeom prst="rect">
            <a:avLst/>
          </a:prstGeom>
          <a:noFill/>
          <a:ln/>
        </p:spPr>
        <p:txBody>
          <a:bodyPr wrap="square" lIns="0" tIns="0" rIns="0" bIns="0" rtlCol="0" anchor="ctr"/>
          <a:lstStyle/>
          <a:p>
            <a:pPr algn="r" indent="0" marL="0">
              <a:buNone/>
            </a:pPr>
            <a:r>
              <a:rPr lang="en-US" sz="950" dirty="0">
                <a:solidFill>
                  <a:srgbClr val="9AA5A2"/>
                </a:solidFill>
                <a:latin typeface="Courier New" pitchFamily="34" charset="0"/>
                <a:ea typeface="Courier New" pitchFamily="34" charset="-122"/>
                <a:cs typeface="Courier New" pitchFamily="34" charset="-120"/>
              </a:rPr>
              <a:t>3.2 s</a:t>
            </a:r>
            <a:endParaRPr lang="en-US" sz="950" dirty="0"/>
          </a:p>
        </p:txBody>
      </p:sp>
      <p:sp>
        <p:nvSpPr>
          <p:cNvPr id="14" name="Shape 12"/>
          <p:cNvSpPr/>
          <p:nvPr/>
        </p:nvSpPr>
        <p:spPr>
          <a:xfrm>
            <a:off x="914400" y="2999232"/>
            <a:ext cx="10362895" cy="274320"/>
          </a:xfrm>
          <a:prstGeom prst="roundRect">
            <a:avLst>
              <a:gd name="adj" fmla="val 46667"/>
            </a:avLst>
          </a:prstGeom>
          <a:solidFill>
            <a:srgbClr val="C2CFCC">
              <a:alpha val="45000"/>
            </a:srgbClr>
          </a:solidFill>
          <a:ln/>
        </p:spPr>
      </p:sp>
      <p:sp>
        <p:nvSpPr>
          <p:cNvPr id="15" name="Shape 13"/>
          <p:cNvSpPr/>
          <p:nvPr/>
        </p:nvSpPr>
        <p:spPr>
          <a:xfrm>
            <a:off x="914400" y="2999232"/>
            <a:ext cx="2428804" cy="274320"/>
          </a:xfrm>
          <a:prstGeom prst="roundRect">
            <a:avLst>
              <a:gd name="adj" fmla="val 46667"/>
            </a:avLst>
          </a:prstGeom>
          <a:solidFill>
            <a:srgbClr val="007C54"/>
          </a:solidFill>
          <a:ln/>
        </p:spPr>
      </p:sp>
      <p:sp>
        <p:nvSpPr>
          <p:cNvPr id="16" name="Shape 14"/>
          <p:cNvSpPr/>
          <p:nvPr/>
        </p:nvSpPr>
        <p:spPr>
          <a:xfrm>
            <a:off x="4800486" y="2999232"/>
            <a:ext cx="4857607" cy="274320"/>
          </a:xfrm>
          <a:prstGeom prst="roundRect">
            <a:avLst>
              <a:gd name="adj" fmla="val 46667"/>
            </a:avLst>
          </a:prstGeom>
          <a:solidFill>
            <a:srgbClr val="2D90C3"/>
          </a:solidFill>
          <a:ln/>
        </p:spPr>
      </p:sp>
      <p:sp>
        <p:nvSpPr>
          <p:cNvPr id="17" name="Text 15"/>
          <p:cNvSpPr txBox="1"/>
          <p:nvPr/>
        </p:nvSpPr>
        <p:spPr>
          <a:xfrm>
            <a:off x="779520" y="2651760"/>
            <a:ext cx="896112" cy="274320"/>
          </a:xfrm>
          <a:prstGeom prst="rect">
            <a:avLst/>
          </a:prstGeom>
          <a:noFill/>
          <a:ln/>
        </p:spPr>
        <p:txBody>
          <a:bodyPr wrap="square" lIns="0" tIns="0" rIns="0" bIns="0" rtlCol="0" anchor="t"/>
          <a:lstStyle/>
          <a:p>
            <a:pPr algn="ctr" indent="0" marL="0">
              <a:lnSpc>
                <a:spcPct val="120000"/>
              </a:lnSpc>
              <a:buNone/>
            </a:pPr>
            <a:r>
              <a:rPr lang="en-US" sz="1250" dirty="0">
                <a:solidFill>
                  <a:srgbClr val="2F2F2F"/>
                </a:solidFill>
                <a:latin typeface="Calibri" pitchFamily="34" charset="0"/>
                <a:ea typeface="Calibri" pitchFamily="34" charset="-122"/>
                <a:cs typeface="Calibri" pitchFamily="34" charset="-120"/>
              </a:rPr>
              <a:t>I</a:t>
            </a:r>
            <a:endParaRPr lang="en-US" sz="1250" dirty="0"/>
          </a:p>
        </p:txBody>
      </p:sp>
      <p:sp>
        <p:nvSpPr>
          <p:cNvPr id="18" name="Text 16"/>
          <p:cNvSpPr txBox="1"/>
          <p:nvPr/>
        </p:nvSpPr>
        <p:spPr>
          <a:xfrm>
            <a:off x="1556737" y="2651760"/>
            <a:ext cx="896112" cy="274320"/>
          </a:xfrm>
          <a:prstGeom prst="rect">
            <a:avLst/>
          </a:prstGeom>
          <a:noFill/>
          <a:ln/>
        </p:spPr>
        <p:txBody>
          <a:bodyPr wrap="square" lIns="0" tIns="0" rIns="0" bIns="0" rtlCol="0" anchor="t"/>
          <a:lstStyle/>
          <a:p>
            <a:pPr algn="ctr" indent="0" marL="0">
              <a:lnSpc>
                <a:spcPct val="120000"/>
              </a:lnSpc>
              <a:buNone/>
            </a:pPr>
            <a:r>
              <a:rPr lang="en-US" sz="1250" dirty="0">
                <a:solidFill>
                  <a:srgbClr val="2F2F2F"/>
                </a:solidFill>
                <a:latin typeface="Calibri" pitchFamily="34" charset="0"/>
                <a:ea typeface="Calibri" pitchFamily="34" charset="-122"/>
                <a:cs typeface="Calibri" pitchFamily="34" charset="-120"/>
              </a:rPr>
              <a:t>I</a:t>
            </a:r>
            <a:endParaRPr lang="en-US" sz="1250" dirty="0"/>
          </a:p>
        </p:txBody>
      </p:sp>
      <p:sp>
        <p:nvSpPr>
          <p:cNvPr id="19" name="Text 17"/>
          <p:cNvSpPr txBox="1"/>
          <p:nvPr/>
        </p:nvSpPr>
        <p:spPr>
          <a:xfrm>
            <a:off x="2333955" y="2651760"/>
            <a:ext cx="896112" cy="274320"/>
          </a:xfrm>
          <a:prstGeom prst="rect">
            <a:avLst/>
          </a:prstGeom>
          <a:noFill/>
          <a:ln/>
        </p:spPr>
        <p:txBody>
          <a:bodyPr wrap="square" lIns="0" tIns="0" rIns="0" bIns="0" rtlCol="0" anchor="t"/>
          <a:lstStyle/>
          <a:p>
            <a:pPr algn="ctr" indent="0" marL="0">
              <a:lnSpc>
                <a:spcPct val="120000"/>
              </a:lnSpc>
              <a:buNone/>
            </a:pPr>
            <a:r>
              <a:rPr lang="en-US" sz="1250" dirty="0">
                <a:solidFill>
                  <a:srgbClr val="2F2F2F"/>
                </a:solidFill>
                <a:latin typeface="Calibri" pitchFamily="34" charset="0"/>
                <a:ea typeface="Calibri" pitchFamily="34" charset="-122"/>
                <a:cs typeface="Calibri" pitchFamily="34" charset="-120"/>
              </a:rPr>
              <a:t>I</a:t>
            </a:r>
            <a:endParaRPr lang="en-US" sz="1250" dirty="0"/>
          </a:p>
        </p:txBody>
      </p:sp>
      <p:sp>
        <p:nvSpPr>
          <p:cNvPr id="20" name="Text 18"/>
          <p:cNvSpPr txBox="1"/>
          <p:nvPr/>
        </p:nvSpPr>
        <p:spPr>
          <a:xfrm>
            <a:off x="3564548" y="2651760"/>
            <a:ext cx="896112" cy="274320"/>
          </a:xfrm>
          <a:prstGeom prst="rect">
            <a:avLst/>
          </a:prstGeom>
          <a:noFill/>
          <a:ln/>
        </p:spPr>
        <p:txBody>
          <a:bodyPr wrap="square" lIns="0" tIns="0" rIns="0" bIns="0" rtlCol="0" anchor="t"/>
          <a:lstStyle/>
          <a:p>
            <a:pPr algn="ctr" indent="0" marL="0">
              <a:lnSpc>
                <a:spcPct val="120000"/>
              </a:lnSpc>
              <a:buNone/>
            </a:pPr>
            <a:r>
              <a:rPr lang="en-US" sz="1250" dirty="0">
                <a:solidFill>
                  <a:srgbClr val="2F2F2F"/>
                </a:solidFill>
                <a:latin typeface="Calibri" pitchFamily="34" charset="0"/>
                <a:ea typeface="Calibri" pitchFamily="34" charset="-122"/>
                <a:cs typeface="Calibri" pitchFamily="34" charset="-120"/>
              </a:rPr>
              <a:t>want</a:t>
            </a:r>
            <a:endParaRPr lang="en-US" sz="1250" dirty="0"/>
          </a:p>
        </p:txBody>
      </p:sp>
      <p:sp>
        <p:nvSpPr>
          <p:cNvPr id="21" name="Text 19"/>
          <p:cNvSpPr txBox="1"/>
          <p:nvPr/>
        </p:nvSpPr>
        <p:spPr>
          <a:xfrm>
            <a:off x="9587981" y="2651760"/>
            <a:ext cx="896112" cy="274320"/>
          </a:xfrm>
          <a:prstGeom prst="rect">
            <a:avLst/>
          </a:prstGeom>
          <a:noFill/>
          <a:ln/>
        </p:spPr>
        <p:txBody>
          <a:bodyPr wrap="square" lIns="0" tIns="0" rIns="0" bIns="0" rtlCol="0" anchor="t"/>
          <a:lstStyle/>
          <a:p>
            <a:pPr algn="ctr" indent="0" marL="0">
              <a:lnSpc>
                <a:spcPct val="120000"/>
              </a:lnSpc>
              <a:buNone/>
            </a:pPr>
            <a:r>
              <a:rPr lang="en-US" sz="1250" dirty="0">
                <a:solidFill>
                  <a:srgbClr val="2F2F2F"/>
                </a:solidFill>
                <a:latin typeface="Calibri" pitchFamily="34" charset="0"/>
                <a:ea typeface="Calibri" pitchFamily="34" charset="-122"/>
                <a:cs typeface="Calibri" pitchFamily="34" charset="-120"/>
              </a:rPr>
              <a:t>water please</a:t>
            </a:r>
            <a:endParaRPr lang="en-US" sz="1250" dirty="0"/>
          </a:p>
        </p:txBody>
      </p:sp>
      <p:sp>
        <p:nvSpPr>
          <p:cNvPr id="22" name="Text 20"/>
          <p:cNvSpPr txBox="1"/>
          <p:nvPr/>
        </p:nvSpPr>
        <p:spPr>
          <a:xfrm>
            <a:off x="4800486" y="3026664"/>
            <a:ext cx="4857607"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1500 ms of silence</a:t>
            </a:r>
            <a:endParaRPr lang="en-US" sz="950" dirty="0"/>
          </a:p>
        </p:txBody>
      </p:sp>
      <p:sp>
        <p:nvSpPr>
          <p:cNvPr id="23" name="Shape 21"/>
          <p:cNvSpPr/>
          <p:nvPr/>
        </p:nvSpPr>
        <p:spPr>
          <a:xfrm>
            <a:off x="914400" y="3438144"/>
            <a:ext cx="146304" cy="146304"/>
          </a:xfrm>
          <a:prstGeom prst="roundRect">
            <a:avLst>
              <a:gd name="adj" fmla="val 25000"/>
            </a:avLst>
          </a:prstGeom>
          <a:solidFill>
            <a:srgbClr val="007C54"/>
          </a:solidFill>
          <a:ln/>
        </p:spPr>
      </p:sp>
      <p:sp>
        <p:nvSpPr>
          <p:cNvPr id="24" name="Text 22"/>
          <p:cNvSpPr txBox="1"/>
          <p:nvPr/>
        </p:nvSpPr>
        <p:spPr>
          <a:xfrm>
            <a:off x="1152144" y="3401568"/>
            <a:ext cx="1828800" cy="237744"/>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Repeated word  ×2</a:t>
            </a:r>
            <a:endParaRPr lang="en-US" sz="1100" dirty="0"/>
          </a:p>
        </p:txBody>
      </p:sp>
      <p:sp>
        <p:nvSpPr>
          <p:cNvPr id="25" name="Shape 23"/>
          <p:cNvSpPr/>
          <p:nvPr/>
        </p:nvSpPr>
        <p:spPr>
          <a:xfrm>
            <a:off x="3017520" y="3438144"/>
            <a:ext cx="146304" cy="146304"/>
          </a:xfrm>
          <a:prstGeom prst="roundRect">
            <a:avLst>
              <a:gd name="adj" fmla="val 25000"/>
            </a:avLst>
          </a:prstGeom>
          <a:solidFill>
            <a:srgbClr val="2D90C3"/>
          </a:solidFill>
          <a:ln/>
        </p:spPr>
      </p:sp>
      <p:sp>
        <p:nvSpPr>
          <p:cNvPr id="26" name="Text 24"/>
          <p:cNvSpPr txBox="1"/>
          <p:nvPr/>
        </p:nvSpPr>
        <p:spPr>
          <a:xfrm>
            <a:off x="3255264" y="3401568"/>
            <a:ext cx="3108960" cy="237744"/>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Block  ×1,  measured at 1200 ms</a:t>
            </a:r>
            <a:endParaRPr lang="en-US" sz="1100" dirty="0"/>
          </a:p>
        </p:txBody>
      </p:sp>
      <p:sp>
        <p:nvSpPr>
          <p:cNvPr id="27" name="Text 25"/>
          <p:cNvSpPr txBox="1"/>
          <p:nvPr/>
        </p:nvSpPr>
        <p:spPr>
          <a:xfrm>
            <a:off x="7601407" y="3383280"/>
            <a:ext cx="3657600" cy="237744"/>
          </a:xfrm>
          <a:prstGeom prst="rect">
            <a:avLst/>
          </a:prstGeom>
          <a:noFill/>
          <a:ln/>
        </p:spPr>
        <p:txBody>
          <a:bodyPr wrap="square" lIns="0" tIns="0" rIns="0" bIns="0" rtlCol="0" anchor="ctr"/>
          <a:lstStyle/>
          <a:p>
            <a:pPr algn="r" indent="0" marL="0">
              <a:buNone/>
            </a:pPr>
            <a:r>
              <a:rPr lang="en-US" sz="950" dirty="0">
                <a:solidFill>
                  <a:srgbClr val="9AA5A2"/>
                </a:solidFill>
                <a:latin typeface="Courier New" pitchFamily="34" charset="0"/>
                <a:ea typeface="Courier New" pitchFamily="34" charset="-122"/>
                <a:cs typeface="Courier New" pitchFamily="34" charset="-120"/>
              </a:rPr>
              <a:t>ground truth: block of 1400 ms at 1345 ms</a:t>
            </a:r>
            <a:endParaRPr lang="en-US" sz="950" dirty="0"/>
          </a:p>
        </p:txBody>
      </p:sp>
      <p:sp>
        <p:nvSpPr>
          <p:cNvPr id="28" name="Shape 26"/>
          <p:cNvSpPr/>
          <p:nvPr/>
        </p:nvSpPr>
        <p:spPr>
          <a:xfrm>
            <a:off x="658368" y="3968496"/>
            <a:ext cx="5340096" cy="1920240"/>
          </a:xfrm>
          <a:prstGeom prst="roundRect">
            <a:avLst>
              <a:gd name="adj" fmla="val 7619"/>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9" name="Text 27"/>
          <p:cNvSpPr txBox="1"/>
          <p:nvPr/>
        </p:nvSpPr>
        <p:spPr>
          <a:xfrm>
            <a:off x="914400" y="4114800"/>
            <a:ext cx="475488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WHAT WHISPER BASE KEPT</a:t>
            </a:r>
            <a:endParaRPr lang="en-US" sz="950" dirty="0"/>
          </a:p>
        </p:txBody>
      </p:sp>
      <p:sp>
        <p:nvSpPr>
          <p:cNvPr id="30" name="Text 28"/>
          <p:cNvSpPr txBox="1"/>
          <p:nvPr/>
        </p:nvSpPr>
        <p:spPr>
          <a:xfrm>
            <a:off x="914400" y="4370832"/>
            <a:ext cx="4828032" cy="402336"/>
          </a:xfrm>
          <a:prstGeom prst="rect">
            <a:avLst/>
          </a:prstGeom>
          <a:noFill/>
          <a:ln/>
        </p:spPr>
        <p:txBody>
          <a:bodyPr wrap="square" lIns="0" tIns="0" rIns="0" bIns="0" rtlCol="0" anchor="ctr"/>
          <a:lstStyle/>
          <a:p>
            <a:pPr indent="0" marL="0">
              <a:buNone/>
            </a:pPr>
            <a:r>
              <a:rPr lang="en-US" sz="2100" i="1" dirty="0">
                <a:solidFill>
                  <a:srgbClr val="2F2F2F"/>
                </a:solidFill>
                <a:latin typeface="Cambria" pitchFamily="34" charset="0"/>
                <a:ea typeface="Cambria" pitchFamily="34" charset="-122"/>
                <a:cs typeface="Cambria" pitchFamily="34" charset="-120"/>
              </a:rPr>
              <a:t>"I, I, I, want Water"</a:t>
            </a:r>
            <a:endParaRPr lang="en-US" sz="2100" dirty="0"/>
          </a:p>
        </p:txBody>
      </p:sp>
      <p:sp>
        <p:nvSpPr>
          <p:cNvPr id="31" name="Text 29"/>
          <p:cNvSpPr txBox="1"/>
          <p:nvPr/>
        </p:nvSpPr>
        <p:spPr>
          <a:xfrm>
            <a:off x="914400" y="4882896"/>
            <a:ext cx="4828032" cy="841248"/>
          </a:xfrm>
          <a:prstGeom prst="rect">
            <a:avLst/>
          </a:prstGeom>
          <a:noFill/>
          <a:ln/>
        </p:spPr>
        <p:txBody>
          <a:bodyPr wrap="square" lIns="0" tIns="0" rIns="0" bIns="0" rtlCol="0" anchor="t"/>
          <a:lstStyle/>
          <a:p>
            <a:pPr algn="l" indent="0" marL="0">
              <a:lnSpc>
                <a:spcPct val="120000"/>
              </a:lnSpc>
              <a:buNone/>
            </a:pPr>
            <a:r>
              <a:rPr lang="en-US" sz="1200" dirty="0">
                <a:solidFill>
                  <a:srgbClr val="6A6A6A"/>
                </a:solidFill>
                <a:latin typeface="Calibri" pitchFamily="34" charset="0"/>
                <a:ea typeface="Calibri" pitchFamily="34" charset="-122"/>
                <a:cs typeface="Calibri" pitchFamily="34" charset="-120"/>
              </a:rPr>
              <a:t>The repetitions survive as commas. The 1.5-second silence leaves no trace at all — not a comma, not an ellipsis, nothing.</a:t>
            </a:r>
            <a:endParaRPr lang="en-US" sz="1200" dirty="0"/>
          </a:p>
        </p:txBody>
      </p:sp>
      <p:sp>
        <p:nvSpPr>
          <p:cNvPr id="32" name="Shape 30"/>
          <p:cNvSpPr/>
          <p:nvPr/>
        </p:nvSpPr>
        <p:spPr>
          <a:xfrm>
            <a:off x="6190488" y="3968496"/>
            <a:ext cx="5340096" cy="1920240"/>
          </a:xfrm>
          <a:prstGeom prst="roundRect">
            <a:avLst>
              <a:gd name="adj" fmla="val 7619"/>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33" name="Text 31"/>
          <p:cNvSpPr txBox="1"/>
          <p:nvPr/>
        </p:nvSpPr>
        <p:spPr>
          <a:xfrm>
            <a:off x="6446520" y="4114800"/>
            <a:ext cx="475488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WHAT WHISPER TINY KEPT</a:t>
            </a:r>
            <a:endParaRPr lang="en-US" sz="950" dirty="0"/>
          </a:p>
        </p:txBody>
      </p:sp>
      <p:sp>
        <p:nvSpPr>
          <p:cNvPr id="34" name="Text 32"/>
          <p:cNvSpPr txBox="1"/>
          <p:nvPr/>
        </p:nvSpPr>
        <p:spPr>
          <a:xfrm>
            <a:off x="6446520" y="4370832"/>
            <a:ext cx="4828032" cy="402336"/>
          </a:xfrm>
          <a:prstGeom prst="rect">
            <a:avLst/>
          </a:prstGeom>
          <a:noFill/>
          <a:ln/>
        </p:spPr>
        <p:txBody>
          <a:bodyPr wrap="square" lIns="0" tIns="0" rIns="0" bIns="0" rtlCol="0" anchor="ctr"/>
          <a:lstStyle/>
          <a:p>
            <a:pPr indent="0" marL="0">
              <a:buNone/>
            </a:pPr>
            <a:r>
              <a:rPr lang="en-US" sz="2100" i="1" dirty="0">
                <a:solidFill>
                  <a:srgbClr val="2F2F2F"/>
                </a:solidFill>
                <a:latin typeface="Cambria" pitchFamily="34" charset="0"/>
                <a:ea typeface="Cambria" pitchFamily="34" charset="-122"/>
                <a:cs typeface="Cambria" pitchFamily="34" charset="-120"/>
              </a:rPr>
              <a:t>"I want water please"</a:t>
            </a:r>
            <a:endParaRPr lang="en-US" sz="2100" dirty="0"/>
          </a:p>
        </p:txBody>
      </p:sp>
      <p:sp>
        <p:nvSpPr>
          <p:cNvPr id="35" name="Text 33"/>
          <p:cNvSpPr txBox="1"/>
          <p:nvPr/>
        </p:nvSpPr>
        <p:spPr>
          <a:xfrm>
            <a:off x="6446520" y="4882896"/>
            <a:ext cx="4828032" cy="841248"/>
          </a:xfrm>
          <a:prstGeom prst="rect">
            <a:avLst/>
          </a:prstGeom>
          <a:noFill/>
          <a:ln/>
        </p:spPr>
        <p:txBody>
          <a:bodyPr wrap="square" lIns="0" tIns="0" rIns="0" bIns="0" rtlCol="0" anchor="t"/>
          <a:lstStyle/>
          <a:p>
            <a:pPr algn="l" indent="0" marL="0">
              <a:lnSpc>
                <a:spcPct val="120000"/>
              </a:lnSpc>
              <a:buNone/>
            </a:pPr>
            <a:r>
              <a:rPr lang="en-US" sz="1200" dirty="0">
                <a:solidFill>
                  <a:srgbClr val="6A6A6A"/>
                </a:solidFill>
                <a:latin typeface="Calibri" pitchFamily="34" charset="0"/>
                <a:ea typeface="Calibri" pitchFamily="34" charset="-122"/>
                <a:cs typeface="Calibri" pitchFamily="34" charset="-120"/>
              </a:rPr>
              <a:t>Both the repetitions and the pause are gone. A smaller model does not lose accuracy here. It actively makes the speech fluent.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MEASUREMENT REPLACING ASSUMPTION</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200" b="1" dirty="0">
                <a:solidFill>
                  <a:srgbClr val="2F2F2F"/>
                </a:solidFill>
                <a:latin typeface="Arial" pitchFamily="34" charset="0"/>
                <a:ea typeface="Arial" pitchFamily="34" charset="-122"/>
                <a:cs typeface="Arial" pitchFamily="34" charset="-120"/>
              </a:rPr>
              <a:t>Chosen on timestamp accuracy, not transcript quality</a:t>
            </a:r>
            <a:endParaRPr lang="en-US" sz="32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backend/scripts/bench_whisper.py  ·  backend/app/core/config.py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04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481328"/>
            <a:ext cx="1033272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The analyzer derives block duration from Whisper's word timings, so the question is not which model transcribes best. It is which model puts the word boundaries in the right place. That distinction changed the answer.</a:t>
            </a:r>
            <a:endParaRPr lang="en-US" sz="1500" dirty="0"/>
          </a:p>
        </p:txBody>
      </p:sp>
      <p:sp>
        <p:nvSpPr>
          <p:cNvPr id="11" name="Text 9"/>
          <p:cNvSpPr txBox="1"/>
          <p:nvPr/>
        </p:nvSpPr>
        <p:spPr>
          <a:xfrm>
            <a:off x="932688" y="2395728"/>
            <a:ext cx="1371600" cy="201168"/>
          </a:xfrm>
          <a:prstGeom prst="rect">
            <a:avLst/>
          </a:prstGeom>
          <a:noFill/>
          <a:ln/>
        </p:spPr>
        <p:txBody>
          <a:bodyPr wrap="square" lIns="0" tIns="0" rIns="0" bIns="0" rtlCol="0" anchor="ctr"/>
          <a:lstStyle/>
          <a:p>
            <a:pPr algn="l" indent="0" marL="0">
              <a:buNone/>
            </a:pPr>
            <a:r>
              <a:rPr lang="en-US" sz="950" b="1" spc="180" kern="0" dirty="0">
                <a:solidFill>
                  <a:srgbClr val="9AA5A2"/>
                </a:solidFill>
                <a:latin typeface="Courier New" pitchFamily="34" charset="0"/>
                <a:ea typeface="Courier New" pitchFamily="34" charset="-122"/>
                <a:cs typeface="Courier New" pitchFamily="34" charset="-120"/>
              </a:rPr>
              <a:t>MODEL</a:t>
            </a:r>
            <a:endParaRPr lang="en-US" sz="950" dirty="0"/>
          </a:p>
        </p:txBody>
      </p:sp>
      <p:sp>
        <p:nvSpPr>
          <p:cNvPr id="12" name="Text 10"/>
          <p:cNvSpPr txBox="1"/>
          <p:nvPr/>
        </p:nvSpPr>
        <p:spPr>
          <a:xfrm>
            <a:off x="2395728" y="2395728"/>
            <a:ext cx="1371600" cy="201168"/>
          </a:xfrm>
          <a:prstGeom prst="rect">
            <a:avLst/>
          </a:prstGeom>
          <a:noFill/>
          <a:ln/>
        </p:spPr>
        <p:txBody>
          <a:bodyPr wrap="square" lIns="0" tIns="0" rIns="0" bIns="0" rtlCol="0" anchor="ctr"/>
          <a:lstStyle/>
          <a:p>
            <a:pPr algn="l" indent="0" marL="0">
              <a:buNone/>
            </a:pPr>
            <a:r>
              <a:rPr lang="en-US" sz="950" b="1" spc="180" kern="0" dirty="0">
                <a:solidFill>
                  <a:srgbClr val="9AA5A2"/>
                </a:solidFill>
                <a:latin typeface="Courier New" pitchFamily="34" charset="0"/>
                <a:ea typeface="Courier New" pitchFamily="34" charset="-122"/>
                <a:cs typeface="Courier New" pitchFamily="34" charset="-120"/>
              </a:rPr>
              <a:t>STT P50</a:t>
            </a:r>
            <a:endParaRPr lang="en-US" sz="950" dirty="0"/>
          </a:p>
        </p:txBody>
      </p:sp>
      <p:sp>
        <p:nvSpPr>
          <p:cNvPr id="13" name="Text 11"/>
          <p:cNvSpPr txBox="1"/>
          <p:nvPr/>
        </p:nvSpPr>
        <p:spPr>
          <a:xfrm>
            <a:off x="3675888" y="2395728"/>
            <a:ext cx="1097280" cy="201168"/>
          </a:xfrm>
          <a:prstGeom prst="rect">
            <a:avLst/>
          </a:prstGeom>
          <a:noFill/>
          <a:ln/>
        </p:spPr>
        <p:txBody>
          <a:bodyPr wrap="square" lIns="0" tIns="0" rIns="0" bIns="0" rtlCol="0" anchor="ctr"/>
          <a:lstStyle/>
          <a:p>
            <a:pPr algn="l" indent="0" marL="0">
              <a:buNone/>
            </a:pPr>
            <a:r>
              <a:rPr lang="en-US" sz="950" b="1" spc="180" kern="0" dirty="0">
                <a:solidFill>
                  <a:srgbClr val="9AA5A2"/>
                </a:solidFill>
                <a:latin typeface="Courier New" pitchFamily="34" charset="0"/>
                <a:ea typeface="Courier New" pitchFamily="34" charset="-122"/>
                <a:cs typeface="Courier New" pitchFamily="34" charset="-120"/>
              </a:rPr>
              <a:t>RTF</a:t>
            </a:r>
            <a:endParaRPr lang="en-US" sz="950" dirty="0"/>
          </a:p>
        </p:txBody>
      </p:sp>
      <p:sp>
        <p:nvSpPr>
          <p:cNvPr id="14" name="Text 12"/>
          <p:cNvSpPr txBox="1"/>
          <p:nvPr/>
        </p:nvSpPr>
        <p:spPr>
          <a:xfrm>
            <a:off x="4864608" y="2395728"/>
            <a:ext cx="2194560" cy="201168"/>
          </a:xfrm>
          <a:prstGeom prst="rect">
            <a:avLst/>
          </a:prstGeom>
          <a:noFill/>
          <a:ln/>
        </p:spPr>
        <p:txBody>
          <a:bodyPr wrap="square" lIns="0" tIns="0" rIns="0" bIns="0" rtlCol="0" anchor="ctr"/>
          <a:lstStyle/>
          <a:p>
            <a:pPr algn="l" indent="0" marL="0">
              <a:buNone/>
            </a:pPr>
            <a:r>
              <a:rPr lang="en-US" sz="850" b="1" spc="180" kern="0" dirty="0">
                <a:solidFill>
                  <a:srgbClr val="9AA5A2"/>
                </a:solidFill>
                <a:latin typeface="Courier New" pitchFamily="34" charset="0"/>
                <a:ea typeface="Courier New" pitchFamily="34" charset="-122"/>
                <a:cs typeface="Courier New" pitchFamily="34" charset="-120"/>
              </a:rPr>
              <a:t>1400 MS BLOCK MEASURED AS</a:t>
            </a:r>
            <a:endParaRPr lang="en-US" sz="850" dirty="0"/>
          </a:p>
        </p:txBody>
      </p:sp>
      <p:sp>
        <p:nvSpPr>
          <p:cNvPr id="15" name="Text 13"/>
          <p:cNvSpPr txBox="1"/>
          <p:nvPr/>
        </p:nvSpPr>
        <p:spPr>
          <a:xfrm>
            <a:off x="7242048" y="2395728"/>
            <a:ext cx="3657600" cy="201168"/>
          </a:xfrm>
          <a:prstGeom prst="rect">
            <a:avLst/>
          </a:prstGeom>
          <a:noFill/>
          <a:ln/>
        </p:spPr>
        <p:txBody>
          <a:bodyPr wrap="square" lIns="0" tIns="0" rIns="0" bIns="0" rtlCol="0" anchor="ctr"/>
          <a:lstStyle/>
          <a:p>
            <a:pPr algn="l" indent="0" marL="0">
              <a:buNone/>
            </a:pPr>
            <a:r>
              <a:rPr lang="en-US" sz="950" b="1" spc="180" kern="0" dirty="0">
                <a:solidFill>
                  <a:srgbClr val="9AA5A2"/>
                </a:solidFill>
                <a:latin typeface="Courier New" pitchFamily="34" charset="0"/>
                <a:ea typeface="Courier New" pitchFamily="34" charset="-122"/>
                <a:cs typeface="Courier New" pitchFamily="34" charset="-120"/>
              </a:rPr>
              <a:t>VERDICT</a:t>
            </a:r>
            <a:endParaRPr lang="en-US" sz="950" dirty="0"/>
          </a:p>
        </p:txBody>
      </p:sp>
      <p:sp>
        <p:nvSpPr>
          <p:cNvPr id="16" name="Shape 14"/>
          <p:cNvSpPr/>
          <p:nvPr/>
        </p:nvSpPr>
        <p:spPr>
          <a:xfrm>
            <a:off x="932688" y="2670048"/>
            <a:ext cx="10326319" cy="0"/>
          </a:xfrm>
          <a:prstGeom prst="line">
            <a:avLst/>
          </a:prstGeom>
          <a:noFill/>
          <a:ln w="12700">
            <a:solidFill>
              <a:srgbClr val="C2CFCC"/>
            </a:solidFill>
            <a:prstDash val="solid"/>
          </a:ln>
        </p:spPr>
      </p:sp>
      <p:sp>
        <p:nvSpPr>
          <p:cNvPr id="17" name="Text 15"/>
          <p:cNvSpPr txBox="1"/>
          <p:nvPr/>
        </p:nvSpPr>
        <p:spPr>
          <a:xfrm>
            <a:off x="932688" y="2798064"/>
            <a:ext cx="1463040" cy="292608"/>
          </a:xfrm>
          <a:prstGeom prst="rect">
            <a:avLst/>
          </a:prstGeom>
          <a:noFill/>
          <a:ln/>
        </p:spPr>
        <p:txBody>
          <a:bodyPr wrap="square" lIns="0" tIns="0" rIns="0" bIns="0" rtlCol="0" anchor="ctr"/>
          <a:lstStyle/>
          <a:p>
            <a:pPr algn="l" indent="0" marL="0">
              <a:buNone/>
            </a:pPr>
            <a:r>
              <a:rPr lang="en-US" sz="1500" dirty="0">
                <a:solidFill>
                  <a:srgbClr val="2F2F2F"/>
                </a:solidFill>
                <a:latin typeface="Courier New" pitchFamily="34" charset="0"/>
                <a:ea typeface="Courier New" pitchFamily="34" charset="-122"/>
                <a:cs typeface="Courier New" pitchFamily="34" charset="-120"/>
              </a:rPr>
              <a:t>tiny</a:t>
            </a:r>
            <a:endParaRPr lang="en-US" sz="1500" dirty="0"/>
          </a:p>
        </p:txBody>
      </p:sp>
      <p:sp>
        <p:nvSpPr>
          <p:cNvPr id="18" name="Text 16"/>
          <p:cNvSpPr txBox="1"/>
          <p:nvPr/>
        </p:nvSpPr>
        <p:spPr>
          <a:xfrm>
            <a:off x="2395728" y="2798064"/>
            <a:ext cx="1280160" cy="292608"/>
          </a:xfrm>
          <a:prstGeom prst="rect">
            <a:avLst/>
          </a:prstGeom>
          <a:noFill/>
          <a:ln/>
        </p:spPr>
        <p:txBody>
          <a:bodyPr wrap="square" lIns="0" tIns="0" rIns="0" bIns="0" rtlCol="0" anchor="ctr"/>
          <a:lstStyle/>
          <a:p>
            <a:pPr algn="l" indent="0" marL="0">
              <a:buNone/>
            </a:pPr>
            <a:r>
              <a:rPr lang="en-US" sz="1300" dirty="0">
                <a:solidFill>
                  <a:srgbClr val="4A4A4A"/>
                </a:solidFill>
                <a:latin typeface="Courier New" pitchFamily="34" charset="0"/>
                <a:ea typeface="Courier New" pitchFamily="34" charset="-122"/>
                <a:cs typeface="Courier New" pitchFamily="34" charset="-120"/>
              </a:rPr>
              <a:t>285 ms</a:t>
            </a:r>
            <a:endParaRPr lang="en-US" sz="1300" dirty="0"/>
          </a:p>
        </p:txBody>
      </p:sp>
      <p:sp>
        <p:nvSpPr>
          <p:cNvPr id="19" name="Text 17"/>
          <p:cNvSpPr txBox="1"/>
          <p:nvPr/>
        </p:nvSpPr>
        <p:spPr>
          <a:xfrm>
            <a:off x="3675888" y="2798064"/>
            <a:ext cx="1097280" cy="292608"/>
          </a:xfrm>
          <a:prstGeom prst="rect">
            <a:avLst/>
          </a:prstGeom>
          <a:noFill/>
          <a:ln/>
        </p:spPr>
        <p:txBody>
          <a:bodyPr wrap="square" lIns="0" tIns="0" rIns="0" bIns="0" rtlCol="0" anchor="ctr"/>
          <a:lstStyle/>
          <a:p>
            <a:pPr algn="l" indent="0" marL="0">
              <a:buNone/>
            </a:pPr>
            <a:r>
              <a:rPr lang="en-US" sz="1300" dirty="0">
                <a:solidFill>
                  <a:srgbClr val="4A4A4A"/>
                </a:solidFill>
                <a:latin typeface="Courier New" pitchFamily="34" charset="0"/>
                <a:ea typeface="Courier New" pitchFamily="34" charset="-122"/>
                <a:cs typeface="Courier New" pitchFamily="34" charset="-120"/>
              </a:rPr>
              <a:t>0.08</a:t>
            </a:r>
            <a:endParaRPr lang="en-US" sz="1300" dirty="0"/>
          </a:p>
        </p:txBody>
      </p:sp>
      <p:sp>
        <p:nvSpPr>
          <p:cNvPr id="20" name="Text 18"/>
          <p:cNvSpPr txBox="1"/>
          <p:nvPr/>
        </p:nvSpPr>
        <p:spPr>
          <a:xfrm>
            <a:off x="4864608" y="2798064"/>
            <a:ext cx="1828800" cy="292608"/>
          </a:xfrm>
          <a:prstGeom prst="rect">
            <a:avLst/>
          </a:prstGeom>
          <a:noFill/>
          <a:ln/>
        </p:spPr>
        <p:txBody>
          <a:bodyPr wrap="square" lIns="0" tIns="0" rIns="0" bIns="0" rtlCol="0" anchor="ctr"/>
          <a:lstStyle/>
          <a:p>
            <a:pPr algn="l" indent="0" marL="0">
              <a:buNone/>
            </a:pPr>
            <a:r>
              <a:rPr lang="en-US" sz="1300" b="1" dirty="0">
                <a:solidFill>
                  <a:srgbClr val="A3271C"/>
                </a:solidFill>
                <a:latin typeface="Courier New" pitchFamily="34" charset="0"/>
                <a:ea typeface="Courier New" pitchFamily="34" charset="-122"/>
                <a:cs typeface="Courier New" pitchFamily="34" charset="-120"/>
              </a:rPr>
              <a:t>missed entirely</a:t>
            </a:r>
            <a:endParaRPr lang="en-US" sz="1300" dirty="0"/>
          </a:p>
        </p:txBody>
      </p:sp>
      <p:sp>
        <p:nvSpPr>
          <p:cNvPr id="21" name="Text 19"/>
          <p:cNvSpPr txBox="1"/>
          <p:nvPr/>
        </p:nvSpPr>
        <p:spPr>
          <a:xfrm>
            <a:off x="7242048" y="2816352"/>
            <a:ext cx="4114800" cy="292608"/>
          </a:xfrm>
          <a:prstGeom prst="rect">
            <a:avLst/>
          </a:prstGeom>
          <a:noFill/>
          <a:ln/>
        </p:spPr>
        <p:txBody>
          <a:bodyPr wrap="square" lIns="0" tIns="0" rIns="0" bIns="0" rtlCol="0" anchor="t"/>
          <a:lstStyle/>
          <a:p>
            <a:pPr algn="l" indent="0" marL="0">
              <a:lnSpc>
                <a:spcPct val="120000"/>
              </a:lnSpc>
              <a:buNone/>
            </a:pPr>
            <a:r>
              <a:rPr lang="en-US" sz="1250" dirty="0">
                <a:solidFill>
                  <a:srgbClr val="A3271C"/>
                </a:solidFill>
                <a:latin typeface="Calibri" pitchFamily="34" charset="0"/>
                <a:ea typeface="Calibri" pitchFamily="34" charset="-122"/>
                <a:cs typeface="Calibri" pitchFamily="34" charset="-120"/>
              </a:rPr>
              <a:t>Would have erased the signal</a:t>
            </a:r>
            <a:endParaRPr lang="en-US" sz="1250" dirty="0"/>
          </a:p>
        </p:txBody>
      </p:sp>
      <p:sp>
        <p:nvSpPr>
          <p:cNvPr id="22" name="Shape 20"/>
          <p:cNvSpPr/>
          <p:nvPr/>
        </p:nvSpPr>
        <p:spPr>
          <a:xfrm>
            <a:off x="932688" y="3456432"/>
            <a:ext cx="10326319" cy="0"/>
          </a:xfrm>
          <a:prstGeom prst="line">
            <a:avLst/>
          </a:prstGeom>
          <a:noFill/>
          <a:ln w="12700">
            <a:solidFill>
              <a:srgbClr val="DCE5E4"/>
            </a:solidFill>
            <a:prstDash val="solid"/>
          </a:ln>
        </p:spPr>
      </p:sp>
      <p:sp>
        <p:nvSpPr>
          <p:cNvPr id="23" name="Shape 21"/>
          <p:cNvSpPr/>
          <p:nvPr/>
        </p:nvSpPr>
        <p:spPr>
          <a:xfrm>
            <a:off x="658368" y="3621024"/>
            <a:ext cx="10874959" cy="859536"/>
          </a:xfrm>
          <a:prstGeom prst="roundRect">
            <a:avLst>
              <a:gd name="adj" fmla="val 17021"/>
            </a:avLst>
          </a:prstGeom>
          <a:solidFill>
            <a:srgbClr val="A2760F">
              <a:alpha val="12000"/>
            </a:srgbClr>
          </a:solidFill>
          <a:ln w="12700">
            <a:solidFill>
              <a:srgbClr val="6D4F0C"/>
            </a:solidFill>
            <a:prstDash val="solid"/>
          </a:ln>
        </p:spPr>
      </p:sp>
      <p:sp>
        <p:nvSpPr>
          <p:cNvPr id="24" name="Text 22"/>
          <p:cNvSpPr txBox="1"/>
          <p:nvPr/>
        </p:nvSpPr>
        <p:spPr>
          <a:xfrm>
            <a:off x="932688" y="3767328"/>
            <a:ext cx="1463040" cy="292608"/>
          </a:xfrm>
          <a:prstGeom prst="rect">
            <a:avLst/>
          </a:prstGeom>
          <a:noFill/>
          <a:ln/>
        </p:spPr>
        <p:txBody>
          <a:bodyPr wrap="square" lIns="0" tIns="0" rIns="0" bIns="0" rtlCol="0" anchor="ctr"/>
          <a:lstStyle/>
          <a:p>
            <a:pPr algn="l" indent="0" marL="0">
              <a:buNone/>
            </a:pPr>
            <a:r>
              <a:rPr lang="en-US" sz="1500" b="1" dirty="0">
                <a:solidFill>
                  <a:srgbClr val="8A6410"/>
                </a:solidFill>
                <a:latin typeface="Courier New" pitchFamily="34" charset="0"/>
                <a:ea typeface="Courier New" pitchFamily="34" charset="-122"/>
                <a:cs typeface="Courier New" pitchFamily="34" charset="-120"/>
              </a:rPr>
              <a:t>base</a:t>
            </a:r>
            <a:endParaRPr lang="en-US" sz="1500" dirty="0"/>
          </a:p>
        </p:txBody>
      </p:sp>
      <p:sp>
        <p:nvSpPr>
          <p:cNvPr id="25" name="Text 23"/>
          <p:cNvSpPr txBox="1"/>
          <p:nvPr/>
        </p:nvSpPr>
        <p:spPr>
          <a:xfrm>
            <a:off x="2395728" y="3767328"/>
            <a:ext cx="1280160" cy="292608"/>
          </a:xfrm>
          <a:prstGeom prst="rect">
            <a:avLst/>
          </a:prstGeom>
          <a:noFill/>
          <a:ln/>
        </p:spPr>
        <p:txBody>
          <a:bodyPr wrap="square" lIns="0" tIns="0" rIns="0" bIns="0" rtlCol="0" anchor="ctr"/>
          <a:lstStyle/>
          <a:p>
            <a:pPr algn="l" indent="0" marL="0">
              <a:buNone/>
            </a:pPr>
            <a:r>
              <a:rPr lang="en-US" sz="1300" dirty="0">
                <a:solidFill>
                  <a:srgbClr val="4A4A4A"/>
                </a:solidFill>
                <a:latin typeface="Courier New" pitchFamily="34" charset="0"/>
                <a:ea typeface="Courier New" pitchFamily="34" charset="-122"/>
                <a:cs typeface="Courier New" pitchFamily="34" charset="-120"/>
              </a:rPr>
              <a:t>598 ms</a:t>
            </a:r>
            <a:endParaRPr lang="en-US" sz="1300" dirty="0"/>
          </a:p>
        </p:txBody>
      </p:sp>
      <p:sp>
        <p:nvSpPr>
          <p:cNvPr id="26" name="Text 24"/>
          <p:cNvSpPr txBox="1"/>
          <p:nvPr/>
        </p:nvSpPr>
        <p:spPr>
          <a:xfrm>
            <a:off x="3675888" y="3767328"/>
            <a:ext cx="1097280" cy="292608"/>
          </a:xfrm>
          <a:prstGeom prst="rect">
            <a:avLst/>
          </a:prstGeom>
          <a:noFill/>
          <a:ln/>
        </p:spPr>
        <p:txBody>
          <a:bodyPr wrap="square" lIns="0" tIns="0" rIns="0" bIns="0" rtlCol="0" anchor="ctr"/>
          <a:lstStyle/>
          <a:p>
            <a:pPr algn="l" indent="0" marL="0">
              <a:buNone/>
            </a:pPr>
            <a:r>
              <a:rPr lang="en-US" sz="1300" dirty="0">
                <a:solidFill>
                  <a:srgbClr val="4A4A4A"/>
                </a:solidFill>
                <a:latin typeface="Courier New" pitchFamily="34" charset="0"/>
                <a:ea typeface="Courier New" pitchFamily="34" charset="-122"/>
                <a:cs typeface="Courier New" pitchFamily="34" charset="-120"/>
              </a:rPr>
              <a:t>0.17</a:t>
            </a:r>
            <a:endParaRPr lang="en-US" sz="1300" dirty="0"/>
          </a:p>
        </p:txBody>
      </p:sp>
      <p:sp>
        <p:nvSpPr>
          <p:cNvPr id="27" name="Text 25"/>
          <p:cNvSpPr txBox="1"/>
          <p:nvPr/>
        </p:nvSpPr>
        <p:spPr>
          <a:xfrm>
            <a:off x="4864608" y="3767328"/>
            <a:ext cx="1828800" cy="292608"/>
          </a:xfrm>
          <a:prstGeom prst="rect">
            <a:avLst/>
          </a:prstGeom>
          <a:noFill/>
          <a:ln/>
        </p:spPr>
        <p:txBody>
          <a:bodyPr wrap="square" lIns="0" tIns="0" rIns="0" bIns="0" rtlCol="0" anchor="ctr"/>
          <a:lstStyle/>
          <a:p>
            <a:pPr algn="l" indent="0" marL="0">
              <a:buNone/>
            </a:pPr>
            <a:r>
              <a:rPr lang="en-US" sz="1300" b="1" dirty="0">
                <a:solidFill>
                  <a:srgbClr val="3B5D50"/>
                </a:solidFill>
                <a:latin typeface="Courier New" pitchFamily="34" charset="0"/>
                <a:ea typeface="Courier New" pitchFamily="34" charset="-122"/>
                <a:cs typeface="Courier New" pitchFamily="34" charset="-120"/>
              </a:rPr>
              <a:t>1440 ms</a:t>
            </a:r>
            <a:endParaRPr lang="en-US" sz="1300" dirty="0"/>
          </a:p>
        </p:txBody>
      </p:sp>
      <p:sp>
        <p:nvSpPr>
          <p:cNvPr id="28" name="Text 26"/>
          <p:cNvSpPr txBox="1"/>
          <p:nvPr/>
        </p:nvSpPr>
        <p:spPr>
          <a:xfrm>
            <a:off x="6464808" y="3767328"/>
            <a:ext cx="914400" cy="292608"/>
          </a:xfrm>
          <a:prstGeom prst="rect">
            <a:avLst/>
          </a:prstGeom>
          <a:noFill/>
          <a:ln/>
        </p:spPr>
        <p:txBody>
          <a:bodyPr wrap="square" lIns="0" tIns="0" rIns="0" bIns="0" rtlCol="0" anchor="ctr"/>
          <a:lstStyle/>
          <a:p>
            <a:pPr algn="l" indent="0" marL="0">
              <a:buNone/>
            </a:pPr>
            <a:r>
              <a:rPr lang="en-US" sz="1200" dirty="0">
                <a:solidFill>
                  <a:srgbClr val="6A6A6A"/>
                </a:solidFill>
                <a:latin typeface="Courier New" pitchFamily="34" charset="0"/>
                <a:ea typeface="Courier New" pitchFamily="34" charset="-122"/>
                <a:cs typeface="Courier New" pitchFamily="34" charset="-120"/>
              </a:rPr>
              <a:t>±40 ms</a:t>
            </a:r>
            <a:endParaRPr lang="en-US" sz="1200" dirty="0"/>
          </a:p>
        </p:txBody>
      </p:sp>
      <p:sp>
        <p:nvSpPr>
          <p:cNvPr id="29" name="Text 27"/>
          <p:cNvSpPr txBox="1"/>
          <p:nvPr/>
        </p:nvSpPr>
        <p:spPr>
          <a:xfrm>
            <a:off x="7242048" y="3785616"/>
            <a:ext cx="4114800" cy="292608"/>
          </a:xfrm>
          <a:prstGeom prst="rect">
            <a:avLst/>
          </a:prstGeom>
          <a:noFill/>
          <a:ln/>
        </p:spPr>
        <p:txBody>
          <a:bodyPr wrap="square" lIns="0" tIns="0" rIns="0" bIns="0" rtlCol="0" anchor="t"/>
          <a:lstStyle/>
          <a:p>
            <a:pPr algn="l" indent="0" marL="0">
              <a:lnSpc>
                <a:spcPct val="120000"/>
              </a:lnSpc>
              <a:buNone/>
            </a:pPr>
            <a:r>
              <a:rPr lang="en-US" sz="1250" dirty="0">
                <a:solidFill>
                  <a:srgbClr val="6A6A6A"/>
                </a:solidFill>
                <a:latin typeface="Calibri" pitchFamily="34" charset="0"/>
                <a:ea typeface="Calibri" pitchFamily="34" charset="-122"/>
                <a:cs typeface="Calibri" pitchFamily="34" charset="-120"/>
              </a:rPr>
              <a:t>Shipped — the default</a:t>
            </a:r>
            <a:endParaRPr lang="en-US" sz="1250" dirty="0"/>
          </a:p>
        </p:txBody>
      </p:sp>
      <p:sp>
        <p:nvSpPr>
          <p:cNvPr id="30" name="Shape 28"/>
          <p:cNvSpPr/>
          <p:nvPr/>
        </p:nvSpPr>
        <p:spPr>
          <a:xfrm>
            <a:off x="932688" y="4425696"/>
            <a:ext cx="10326319" cy="0"/>
          </a:xfrm>
          <a:prstGeom prst="line">
            <a:avLst/>
          </a:prstGeom>
          <a:noFill/>
          <a:ln w="12700">
            <a:solidFill>
              <a:srgbClr val="DCE5E4"/>
            </a:solidFill>
            <a:prstDash val="solid"/>
          </a:ln>
        </p:spPr>
      </p:sp>
      <p:sp>
        <p:nvSpPr>
          <p:cNvPr id="31" name="Text 29"/>
          <p:cNvSpPr txBox="1"/>
          <p:nvPr/>
        </p:nvSpPr>
        <p:spPr>
          <a:xfrm>
            <a:off x="932688" y="4736592"/>
            <a:ext cx="1463040" cy="292608"/>
          </a:xfrm>
          <a:prstGeom prst="rect">
            <a:avLst/>
          </a:prstGeom>
          <a:noFill/>
          <a:ln/>
        </p:spPr>
        <p:txBody>
          <a:bodyPr wrap="square" lIns="0" tIns="0" rIns="0" bIns="0" rtlCol="0" anchor="ctr"/>
          <a:lstStyle/>
          <a:p>
            <a:pPr algn="l" indent="0" marL="0">
              <a:buNone/>
            </a:pPr>
            <a:r>
              <a:rPr lang="en-US" sz="1500" dirty="0">
                <a:solidFill>
                  <a:srgbClr val="2F2F2F"/>
                </a:solidFill>
                <a:latin typeface="Courier New" pitchFamily="34" charset="0"/>
                <a:ea typeface="Courier New" pitchFamily="34" charset="-122"/>
                <a:cs typeface="Courier New" pitchFamily="34" charset="-120"/>
              </a:rPr>
              <a:t>small</a:t>
            </a:r>
            <a:endParaRPr lang="en-US" sz="1500" dirty="0"/>
          </a:p>
        </p:txBody>
      </p:sp>
      <p:sp>
        <p:nvSpPr>
          <p:cNvPr id="32" name="Text 30"/>
          <p:cNvSpPr txBox="1"/>
          <p:nvPr/>
        </p:nvSpPr>
        <p:spPr>
          <a:xfrm>
            <a:off x="2395728" y="4736592"/>
            <a:ext cx="1280160" cy="292608"/>
          </a:xfrm>
          <a:prstGeom prst="rect">
            <a:avLst/>
          </a:prstGeom>
          <a:noFill/>
          <a:ln/>
        </p:spPr>
        <p:txBody>
          <a:bodyPr wrap="square" lIns="0" tIns="0" rIns="0" bIns="0" rtlCol="0" anchor="ctr"/>
          <a:lstStyle/>
          <a:p>
            <a:pPr algn="l" indent="0" marL="0">
              <a:buNone/>
            </a:pPr>
            <a:r>
              <a:rPr lang="en-US" sz="1300" dirty="0">
                <a:solidFill>
                  <a:srgbClr val="4A4A4A"/>
                </a:solidFill>
                <a:latin typeface="Courier New" pitchFamily="34" charset="0"/>
                <a:ea typeface="Courier New" pitchFamily="34" charset="-122"/>
                <a:cs typeface="Courier New" pitchFamily="34" charset="-120"/>
              </a:rPr>
              <a:t>2025 ms</a:t>
            </a:r>
            <a:endParaRPr lang="en-US" sz="1300" dirty="0"/>
          </a:p>
        </p:txBody>
      </p:sp>
      <p:sp>
        <p:nvSpPr>
          <p:cNvPr id="33" name="Text 31"/>
          <p:cNvSpPr txBox="1"/>
          <p:nvPr/>
        </p:nvSpPr>
        <p:spPr>
          <a:xfrm>
            <a:off x="3675888" y="4736592"/>
            <a:ext cx="1097280" cy="292608"/>
          </a:xfrm>
          <a:prstGeom prst="rect">
            <a:avLst/>
          </a:prstGeom>
          <a:noFill/>
          <a:ln/>
        </p:spPr>
        <p:txBody>
          <a:bodyPr wrap="square" lIns="0" tIns="0" rIns="0" bIns="0" rtlCol="0" anchor="ctr"/>
          <a:lstStyle/>
          <a:p>
            <a:pPr algn="l" indent="0" marL="0">
              <a:buNone/>
            </a:pPr>
            <a:r>
              <a:rPr lang="en-US" sz="1300" dirty="0">
                <a:solidFill>
                  <a:srgbClr val="4A4A4A"/>
                </a:solidFill>
                <a:latin typeface="Courier New" pitchFamily="34" charset="0"/>
                <a:ea typeface="Courier New" pitchFamily="34" charset="-122"/>
                <a:cs typeface="Courier New" pitchFamily="34" charset="-120"/>
              </a:rPr>
              <a:t>0.56</a:t>
            </a:r>
            <a:endParaRPr lang="en-US" sz="1300" dirty="0"/>
          </a:p>
        </p:txBody>
      </p:sp>
      <p:sp>
        <p:nvSpPr>
          <p:cNvPr id="34" name="Text 32"/>
          <p:cNvSpPr txBox="1"/>
          <p:nvPr/>
        </p:nvSpPr>
        <p:spPr>
          <a:xfrm>
            <a:off x="4864608" y="4736592"/>
            <a:ext cx="1828800" cy="292608"/>
          </a:xfrm>
          <a:prstGeom prst="rect">
            <a:avLst/>
          </a:prstGeom>
          <a:noFill/>
          <a:ln/>
        </p:spPr>
        <p:txBody>
          <a:bodyPr wrap="square" lIns="0" tIns="0" rIns="0" bIns="0" rtlCol="0" anchor="ctr"/>
          <a:lstStyle/>
          <a:p>
            <a:pPr algn="l" indent="0" marL="0">
              <a:buNone/>
            </a:pPr>
            <a:r>
              <a:rPr lang="en-US" sz="1300" b="1" dirty="0">
                <a:solidFill>
                  <a:srgbClr val="6A6A6A"/>
                </a:solidFill>
                <a:latin typeface="Courier New" pitchFamily="34" charset="0"/>
                <a:ea typeface="Courier New" pitchFamily="34" charset="-122"/>
                <a:cs typeface="Courier New" pitchFamily="34" charset="-120"/>
              </a:rPr>
              <a:t>1460 ms</a:t>
            </a:r>
            <a:endParaRPr lang="en-US" sz="1300" dirty="0"/>
          </a:p>
        </p:txBody>
      </p:sp>
      <p:sp>
        <p:nvSpPr>
          <p:cNvPr id="35" name="Text 33"/>
          <p:cNvSpPr txBox="1"/>
          <p:nvPr/>
        </p:nvSpPr>
        <p:spPr>
          <a:xfrm>
            <a:off x="6464808" y="4736592"/>
            <a:ext cx="914400" cy="292608"/>
          </a:xfrm>
          <a:prstGeom prst="rect">
            <a:avLst/>
          </a:prstGeom>
          <a:noFill/>
          <a:ln/>
        </p:spPr>
        <p:txBody>
          <a:bodyPr wrap="square" lIns="0" tIns="0" rIns="0" bIns="0" rtlCol="0" anchor="ctr"/>
          <a:lstStyle/>
          <a:p>
            <a:pPr algn="l" indent="0" marL="0">
              <a:buNone/>
            </a:pPr>
            <a:r>
              <a:rPr lang="en-US" sz="1200" dirty="0">
                <a:solidFill>
                  <a:srgbClr val="6A6A6A"/>
                </a:solidFill>
                <a:latin typeface="Courier New" pitchFamily="34" charset="0"/>
                <a:ea typeface="Courier New" pitchFamily="34" charset="-122"/>
                <a:cs typeface="Courier New" pitchFamily="34" charset="-120"/>
              </a:rPr>
              <a:t>±60 ms</a:t>
            </a:r>
            <a:endParaRPr lang="en-US" sz="1200" dirty="0"/>
          </a:p>
        </p:txBody>
      </p:sp>
      <p:sp>
        <p:nvSpPr>
          <p:cNvPr id="36" name="Text 34"/>
          <p:cNvSpPr txBox="1"/>
          <p:nvPr/>
        </p:nvSpPr>
        <p:spPr>
          <a:xfrm>
            <a:off x="7242048" y="4754880"/>
            <a:ext cx="4114800" cy="292608"/>
          </a:xfrm>
          <a:prstGeom prst="rect">
            <a:avLst/>
          </a:prstGeom>
          <a:noFill/>
          <a:ln/>
        </p:spPr>
        <p:txBody>
          <a:bodyPr wrap="square" lIns="0" tIns="0" rIns="0" bIns="0" rtlCol="0" anchor="t"/>
          <a:lstStyle/>
          <a:p>
            <a:pPr algn="l" indent="0" marL="0">
              <a:lnSpc>
                <a:spcPct val="120000"/>
              </a:lnSpc>
              <a:buNone/>
            </a:pPr>
            <a:r>
              <a:rPr lang="en-US" sz="1250" dirty="0">
                <a:solidFill>
                  <a:srgbClr val="6A6A6A"/>
                </a:solidFill>
                <a:latin typeface="Calibri" pitchFamily="34" charset="0"/>
                <a:ea typeface="Calibri" pitchFamily="34" charset="-122"/>
                <a:cs typeface="Calibri" pitchFamily="34" charset="-120"/>
              </a:rPr>
              <a:t>3.4× slower, 20 ms worse</a:t>
            </a:r>
            <a:endParaRPr lang="en-US" sz="1250" dirty="0"/>
          </a:p>
        </p:txBody>
      </p:sp>
      <p:sp>
        <p:nvSpPr>
          <p:cNvPr id="37" name="Shape 35"/>
          <p:cNvSpPr/>
          <p:nvPr/>
        </p:nvSpPr>
        <p:spPr>
          <a:xfrm>
            <a:off x="658368" y="5541264"/>
            <a:ext cx="10874959" cy="603504"/>
          </a:xfrm>
          <a:prstGeom prst="roundRect">
            <a:avLst>
              <a:gd name="adj" fmla="val 24242"/>
            </a:avLst>
          </a:prstGeom>
          <a:solidFill>
            <a:srgbClr val="F5F7F6">
              <a:alpha val="80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38" name="Text 36"/>
          <p:cNvSpPr txBox="1"/>
          <p:nvPr/>
        </p:nvSpPr>
        <p:spPr>
          <a:xfrm>
            <a:off x="914400" y="5541264"/>
            <a:ext cx="10362895" cy="603504"/>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base is 3.4× faster than small and slightly more accurate on the measurement that matters. </a:t>
            </a:r>
            <a:pPr indent="0" marL="0">
              <a:buNone/>
            </a:pPr>
            <a:r>
              <a:rPr lang="en-US" sz="1300" b="1" dirty="0">
                <a:solidFill>
                  <a:srgbClr val="2F2F2F"/>
                </a:solidFill>
                <a:latin typeface="Calibri" pitchFamily="34" charset="0"/>
                <a:ea typeface="Calibri" pitchFamily="34" charset="-122"/>
                <a:cs typeface="Calibri" pitchFamily="34" charset="-120"/>
              </a:rPr>
              <a:t>tiny is disqualified: it would have silently deleted the phenomenon the project exists to detect.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THE SOLUTION</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2F2F2F"/>
                </a:solidFill>
                <a:latin typeface="Arial" pitchFamily="34" charset="0"/>
                <a:ea typeface="Arial" pitchFamily="34" charset="-122"/>
                <a:cs typeface="Arial" pitchFamily="34" charset="-120"/>
              </a:rPr>
              <a:t>A coach that hears </a:t>
            </a:r>
            <a:pPr indent="0" marL="0">
              <a:lnSpc>
                <a:spcPct val="103000"/>
              </a:lnSpc>
              <a:buNone/>
            </a:pPr>
            <a:r>
              <a:rPr lang="en-US" sz="3400" i="1" dirty="0">
                <a:solidFill>
                  <a:srgbClr val="8A6410"/>
                </a:solidFill>
                <a:latin typeface="Cambria" pitchFamily="34" charset="0"/>
                <a:ea typeface="Cambria" pitchFamily="34" charset="-122"/>
                <a:cs typeface="Cambria" pitchFamily="34" charset="-120"/>
              </a:rPr>
              <a:t>how</a:t>
            </a:r>
            <a:pPr indent="0" marL="0">
              <a:lnSpc>
                <a:spcPct val="103000"/>
              </a:lnSpc>
              <a:buNone/>
            </a:pPr>
            <a:r>
              <a:rPr lang="en-US" sz="3400" b="1" dirty="0">
                <a:solidFill>
                  <a:srgbClr val="2F2F2F"/>
                </a:solidFill>
                <a:latin typeface="Arial" pitchFamily="34" charset="0"/>
                <a:ea typeface="Arial" pitchFamily="34" charset="-122"/>
                <a:cs typeface="Arial" pitchFamily="34" charset="-120"/>
              </a:rPr>
              <a:t> something was said</a:t>
            </a:r>
            <a:endParaRPr lang="en-US" sz="34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docs/REPORT.md §3.2</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05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444752"/>
            <a:ext cx="603504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The acoustic evidence is not telemetry sitting in a dashboard. It changes what the product does, in four ways a user can hear or see.</a:t>
            </a:r>
            <a:endParaRPr lang="en-US" sz="1500" dirty="0"/>
          </a:p>
        </p:txBody>
      </p:sp>
      <p:sp>
        <p:nvSpPr>
          <p:cNvPr id="11" name="Shape 9"/>
          <p:cNvSpPr/>
          <p:nvPr/>
        </p:nvSpPr>
        <p:spPr>
          <a:xfrm>
            <a:off x="731520" y="2322576"/>
            <a:ext cx="182880" cy="182880"/>
          </a:xfrm>
          <a:prstGeom prst="ellipse">
            <a:avLst/>
          </a:prstGeom>
          <a:solidFill>
            <a:srgbClr val="F2C94C"/>
          </a:solidFill>
          <a:ln/>
        </p:spPr>
      </p:sp>
      <p:sp>
        <p:nvSpPr>
          <p:cNvPr id="12" name="Text 10"/>
          <p:cNvSpPr txBox="1"/>
          <p:nvPr/>
        </p:nvSpPr>
        <p:spPr>
          <a:xfrm>
            <a:off x="1133856" y="2231136"/>
            <a:ext cx="5577840" cy="274320"/>
          </a:xfrm>
          <a:prstGeom prst="rect">
            <a:avLst/>
          </a:prstGeom>
          <a:noFill/>
          <a:ln/>
        </p:spPr>
        <p:txBody>
          <a:bodyPr wrap="square" lIns="0" tIns="0" rIns="0" bIns="0" rtlCol="0" anchor="t"/>
          <a:lstStyle/>
          <a:p>
            <a:pPr algn="l" indent="0" marL="0">
              <a:lnSpc>
                <a:spcPct val="120000"/>
              </a:lnSpc>
              <a:buNone/>
            </a:pPr>
            <a:r>
              <a:rPr lang="en-US" sz="1500" b="1" dirty="0">
                <a:solidFill>
                  <a:srgbClr val="2F2F2F"/>
                </a:solidFill>
                <a:latin typeface="Calibri" pitchFamily="34" charset="0"/>
                <a:ea typeface="Calibri" pitchFamily="34" charset="-122"/>
                <a:cs typeface="Calibri" pitchFamily="34" charset="-120"/>
              </a:rPr>
              <a:t>The coach slows its own voice</a:t>
            </a:r>
            <a:endParaRPr lang="en-US" sz="1500" dirty="0"/>
          </a:p>
        </p:txBody>
      </p:sp>
      <p:sp>
        <p:nvSpPr>
          <p:cNvPr id="13" name="Text 11"/>
          <p:cNvSpPr txBox="1"/>
          <p:nvPr/>
        </p:nvSpPr>
        <p:spPr>
          <a:xfrm>
            <a:off x="1133856" y="2523744"/>
            <a:ext cx="5577840" cy="841248"/>
          </a:xfrm>
          <a:prstGeom prst="rect">
            <a:avLst/>
          </a:prstGeom>
          <a:noFill/>
          <a:ln/>
        </p:spPr>
        <p:txBody>
          <a:bodyPr wrap="square" lIns="0" tIns="0" rIns="0" bIns="0" rtlCol="0" anchor="t"/>
          <a:lstStyle/>
          <a:p>
            <a:pPr algn="l" indent="0" marL="0">
              <a:lnSpc>
                <a:spcPct val="120000"/>
              </a:lnSpc>
              <a:buNone/>
            </a:pPr>
            <a:r>
              <a:rPr lang="en-US" sz="1250" dirty="0">
                <a:solidFill>
                  <a:srgbClr val="6A6A6A"/>
                </a:solidFill>
                <a:latin typeface="Calibri" pitchFamily="34" charset="0"/>
                <a:ea typeface="Calibri" pitchFamily="34" charset="-122"/>
                <a:cs typeface="Calibri" pitchFamily="34" charset="-120"/>
              </a:rPr>
              <a:t>Fluency load maps onto the speech rate of the reply. A long block pulls delivery down toward 0.75× normal speed. Matching a struggling speaker's tempo is the clearest audible difference from an ordinary assistant.</a:t>
            </a:r>
            <a:endParaRPr lang="en-US" sz="1250" dirty="0"/>
          </a:p>
        </p:txBody>
      </p:sp>
      <p:sp>
        <p:nvSpPr>
          <p:cNvPr id="14" name="Shape 12"/>
          <p:cNvSpPr/>
          <p:nvPr/>
        </p:nvSpPr>
        <p:spPr>
          <a:xfrm>
            <a:off x="731520" y="3511296"/>
            <a:ext cx="182880" cy="182880"/>
          </a:xfrm>
          <a:prstGeom prst="ellipse">
            <a:avLst/>
          </a:prstGeom>
          <a:solidFill>
            <a:srgbClr val="F2C94C"/>
          </a:solidFill>
          <a:ln/>
        </p:spPr>
      </p:sp>
      <p:sp>
        <p:nvSpPr>
          <p:cNvPr id="15" name="Text 13"/>
          <p:cNvSpPr txBox="1"/>
          <p:nvPr/>
        </p:nvSpPr>
        <p:spPr>
          <a:xfrm>
            <a:off x="1133856" y="3419856"/>
            <a:ext cx="5577840" cy="274320"/>
          </a:xfrm>
          <a:prstGeom prst="rect">
            <a:avLst/>
          </a:prstGeom>
          <a:noFill/>
          <a:ln/>
        </p:spPr>
        <p:txBody>
          <a:bodyPr wrap="square" lIns="0" tIns="0" rIns="0" bIns="0" rtlCol="0" anchor="t"/>
          <a:lstStyle/>
          <a:p>
            <a:pPr algn="l" indent="0" marL="0">
              <a:lnSpc>
                <a:spcPct val="120000"/>
              </a:lnSpc>
              <a:buNone/>
            </a:pPr>
            <a:r>
              <a:rPr lang="en-US" sz="1500" b="1" dirty="0">
                <a:solidFill>
                  <a:srgbClr val="2F2F2F"/>
                </a:solidFill>
                <a:latin typeface="Calibri" pitchFamily="34" charset="0"/>
                <a:ea typeface="Calibri" pitchFamily="34" charset="-122"/>
                <a:cs typeface="Calibri" pitchFamily="34" charset="-120"/>
              </a:rPr>
              <a:t>The reply gets shorter</a:t>
            </a:r>
            <a:endParaRPr lang="en-US" sz="1500" dirty="0"/>
          </a:p>
        </p:txBody>
      </p:sp>
      <p:sp>
        <p:nvSpPr>
          <p:cNvPr id="16" name="Text 14"/>
          <p:cNvSpPr txBox="1"/>
          <p:nvPr/>
        </p:nvSpPr>
        <p:spPr>
          <a:xfrm>
            <a:off x="1133856" y="3712464"/>
            <a:ext cx="5577840" cy="621792"/>
          </a:xfrm>
          <a:prstGeom prst="rect">
            <a:avLst/>
          </a:prstGeom>
          <a:noFill/>
          <a:ln/>
        </p:spPr>
        <p:txBody>
          <a:bodyPr wrap="square" lIns="0" tIns="0" rIns="0" bIns="0" rtlCol="0" anchor="t"/>
          <a:lstStyle/>
          <a:p>
            <a:pPr algn="l" indent="0" marL="0">
              <a:lnSpc>
                <a:spcPct val="120000"/>
              </a:lnSpc>
              <a:buNone/>
            </a:pPr>
            <a:r>
              <a:rPr lang="en-US" sz="1250" dirty="0">
                <a:solidFill>
                  <a:srgbClr val="6A6A6A"/>
                </a:solidFill>
                <a:latin typeface="Calibri" pitchFamily="34" charset="0"/>
                <a:ea typeface="Calibri" pitchFamily="34" charset="-122"/>
                <a:cs typeface="Calibri" pitchFamily="34" charset="-120"/>
              </a:rPr>
              <a:t>When the profile shows strain, the system prompt asks for less. Someone working hard to speak does not want a paragraph back.</a:t>
            </a:r>
            <a:endParaRPr lang="en-US" sz="1250" dirty="0"/>
          </a:p>
        </p:txBody>
      </p:sp>
      <p:sp>
        <p:nvSpPr>
          <p:cNvPr id="17" name="Shape 15"/>
          <p:cNvSpPr/>
          <p:nvPr/>
        </p:nvSpPr>
        <p:spPr>
          <a:xfrm>
            <a:off x="731520" y="4480560"/>
            <a:ext cx="182880" cy="182880"/>
          </a:xfrm>
          <a:prstGeom prst="ellipse">
            <a:avLst/>
          </a:prstGeom>
          <a:solidFill>
            <a:srgbClr val="F2C94C"/>
          </a:solidFill>
          <a:ln/>
        </p:spPr>
      </p:sp>
      <p:sp>
        <p:nvSpPr>
          <p:cNvPr id="18" name="Text 16"/>
          <p:cNvSpPr txBox="1"/>
          <p:nvPr/>
        </p:nvSpPr>
        <p:spPr>
          <a:xfrm>
            <a:off x="1133856" y="4389120"/>
            <a:ext cx="5577840" cy="274320"/>
          </a:xfrm>
          <a:prstGeom prst="rect">
            <a:avLst/>
          </a:prstGeom>
          <a:noFill/>
          <a:ln/>
        </p:spPr>
        <p:txBody>
          <a:bodyPr wrap="square" lIns="0" tIns="0" rIns="0" bIns="0" rtlCol="0" anchor="t"/>
          <a:lstStyle/>
          <a:p>
            <a:pPr algn="l" indent="0" marL="0">
              <a:lnSpc>
                <a:spcPct val="120000"/>
              </a:lnSpc>
              <a:buNone/>
            </a:pPr>
            <a:r>
              <a:rPr lang="en-US" sz="1500" b="1" dirty="0">
                <a:solidFill>
                  <a:srgbClr val="2F2F2F"/>
                </a:solidFill>
                <a:latin typeface="Calibri" pitchFamily="34" charset="0"/>
                <a:ea typeface="Calibri" pitchFamily="34" charset="-122"/>
                <a:cs typeface="Calibri" pitchFamily="34" charset="-120"/>
              </a:rPr>
              <a:t>The timeline shows what the text lost</a:t>
            </a:r>
            <a:endParaRPr lang="en-US" sz="1500" dirty="0"/>
          </a:p>
        </p:txBody>
      </p:sp>
      <p:sp>
        <p:nvSpPr>
          <p:cNvPr id="19" name="Text 17"/>
          <p:cNvSpPr txBox="1"/>
          <p:nvPr/>
        </p:nvSpPr>
        <p:spPr>
          <a:xfrm>
            <a:off x="1133856" y="4681728"/>
            <a:ext cx="5577840" cy="621792"/>
          </a:xfrm>
          <a:prstGeom prst="rect">
            <a:avLst/>
          </a:prstGeom>
          <a:noFill/>
          <a:ln/>
        </p:spPr>
        <p:txBody>
          <a:bodyPr wrap="square" lIns="0" tIns="0" rIns="0" bIns="0" rtlCol="0" anchor="t"/>
          <a:lstStyle/>
          <a:p>
            <a:pPr algn="l" indent="0" marL="0">
              <a:lnSpc>
                <a:spcPct val="120000"/>
              </a:lnSpc>
              <a:buNone/>
            </a:pPr>
            <a:r>
              <a:rPr lang="en-US" sz="1250" dirty="0">
                <a:solidFill>
                  <a:srgbClr val="6A6A6A"/>
                </a:solidFill>
                <a:latin typeface="Calibri" pitchFamily="34" charset="0"/>
                <a:ea typeface="Calibri" pitchFamily="34" charset="-122"/>
                <a:cs typeface="Calibri" pitchFamily="34" charset="-120"/>
              </a:rPr>
              <a:t>Drawn to scale, in colours validated for colour blindness, with no severity ramp and no score.</a:t>
            </a:r>
            <a:endParaRPr lang="en-US" sz="1250" dirty="0"/>
          </a:p>
        </p:txBody>
      </p:sp>
      <p:sp>
        <p:nvSpPr>
          <p:cNvPr id="20" name="Shape 18"/>
          <p:cNvSpPr/>
          <p:nvPr/>
        </p:nvSpPr>
        <p:spPr>
          <a:xfrm>
            <a:off x="731520" y="5449824"/>
            <a:ext cx="182880" cy="182880"/>
          </a:xfrm>
          <a:prstGeom prst="ellipse">
            <a:avLst/>
          </a:prstGeom>
          <a:solidFill>
            <a:srgbClr val="F2C94C"/>
          </a:solidFill>
          <a:ln/>
        </p:spPr>
      </p:sp>
      <p:sp>
        <p:nvSpPr>
          <p:cNvPr id="21" name="Text 19"/>
          <p:cNvSpPr txBox="1"/>
          <p:nvPr/>
        </p:nvSpPr>
        <p:spPr>
          <a:xfrm>
            <a:off x="1133856" y="5358384"/>
            <a:ext cx="5577840" cy="274320"/>
          </a:xfrm>
          <a:prstGeom prst="rect">
            <a:avLst/>
          </a:prstGeom>
          <a:noFill/>
          <a:ln/>
        </p:spPr>
        <p:txBody>
          <a:bodyPr wrap="square" lIns="0" tIns="0" rIns="0" bIns="0" rtlCol="0" anchor="t"/>
          <a:lstStyle/>
          <a:p>
            <a:pPr algn="l" indent="0" marL="0">
              <a:lnSpc>
                <a:spcPct val="120000"/>
              </a:lnSpc>
              <a:buNone/>
            </a:pPr>
            <a:r>
              <a:rPr lang="en-US" sz="1500" b="1" dirty="0">
                <a:solidFill>
                  <a:srgbClr val="2F2F2F"/>
                </a:solidFill>
                <a:latin typeface="Calibri" pitchFamily="34" charset="0"/>
                <a:ea typeface="Calibri" pitchFamily="34" charset="-122"/>
                <a:cs typeface="Calibri" pitchFamily="34" charset="-120"/>
              </a:rPr>
              <a:t>Progress is a trend, not a grade</a:t>
            </a:r>
            <a:endParaRPr lang="en-US" sz="1500" dirty="0"/>
          </a:p>
        </p:txBody>
      </p:sp>
      <p:sp>
        <p:nvSpPr>
          <p:cNvPr id="22" name="Text 20"/>
          <p:cNvSpPr txBox="1"/>
          <p:nvPr/>
        </p:nvSpPr>
        <p:spPr>
          <a:xfrm>
            <a:off x="1133856" y="5650992"/>
            <a:ext cx="5577840" cy="621792"/>
          </a:xfrm>
          <a:prstGeom prst="rect">
            <a:avLst/>
          </a:prstGeom>
          <a:noFill/>
          <a:ln/>
        </p:spPr>
        <p:txBody>
          <a:bodyPr wrap="square" lIns="0" tIns="0" rIns="0" bIns="0" rtlCol="0" anchor="t"/>
          <a:lstStyle/>
          <a:p>
            <a:pPr algn="l" indent="0" marL="0">
              <a:lnSpc>
                <a:spcPct val="120000"/>
              </a:lnSpc>
              <a:buNone/>
            </a:pPr>
            <a:r>
              <a:rPr lang="en-US" sz="1250" dirty="0">
                <a:solidFill>
                  <a:srgbClr val="6A6A6A"/>
                </a:solidFill>
                <a:latin typeface="Calibri" pitchFamily="34" charset="0"/>
                <a:ea typeface="Calibri" pitchFamily="34" charset="-122"/>
                <a:cs typeface="Calibri" pitchFamily="34" charset="-120"/>
              </a:rPr>
              <a:t>Pacing across sessions, framed as practice.</a:t>
            </a:r>
            <a:endParaRPr lang="en-US" sz="1250" dirty="0"/>
          </a:p>
        </p:txBody>
      </p:sp>
      <p:sp>
        <p:nvSpPr>
          <p:cNvPr id="23" name="Shape 21"/>
          <p:cNvSpPr/>
          <p:nvPr/>
        </p:nvSpPr>
        <p:spPr>
          <a:xfrm>
            <a:off x="6967728" y="2084832"/>
            <a:ext cx="4562856" cy="2871216"/>
          </a:xfrm>
          <a:prstGeom prst="roundRect">
            <a:avLst>
              <a:gd name="adj" fmla="val 5096"/>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4" name="Text 22"/>
          <p:cNvSpPr txBox="1"/>
          <p:nvPr/>
        </p:nvSpPr>
        <p:spPr>
          <a:xfrm>
            <a:off x="7187184" y="2231136"/>
            <a:ext cx="411480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THE TIMELINE, IN THE SHIPPED APP</a:t>
            </a:r>
            <a:endParaRPr lang="en-US" sz="950" dirty="0"/>
          </a:p>
        </p:txBody>
      </p:sp>
      <p:pic>
        <p:nvPicPr>
          <p:cNvPr id="25" name="Image 0" descr="img/timeline-light.jpg">    </p:cNvPr>
          <p:cNvPicPr>
            <a:picLocks noChangeAspect="1"/>
          </p:cNvPicPr>
          <p:nvPr/>
        </p:nvPicPr>
        <p:blipFill>
          <a:blip r:embed="rId2"/>
          <a:stretch>
            <a:fillRect/>
          </a:stretch>
        </p:blipFill>
        <p:spPr>
          <a:xfrm>
            <a:off x="7132320" y="2523744"/>
            <a:ext cx="4233672" cy="1033272"/>
          </a:xfrm>
          <a:prstGeom prst="rect">
            <a:avLst/>
          </a:prstGeom>
        </p:spPr>
      </p:pic>
      <p:sp>
        <p:nvSpPr>
          <p:cNvPr id="26" name="Text 23"/>
          <p:cNvSpPr txBox="1"/>
          <p:nvPr/>
        </p:nvSpPr>
        <p:spPr>
          <a:xfrm>
            <a:off x="7187184" y="3712464"/>
            <a:ext cx="4114800" cy="822960"/>
          </a:xfrm>
          <a:prstGeom prst="rect">
            <a:avLst/>
          </a:prstGeom>
          <a:noFill/>
          <a:ln/>
        </p:spPr>
        <p:txBody>
          <a:bodyPr wrap="square" lIns="0" tIns="0" rIns="0" bIns="0" rtlCol="0" anchor="t"/>
          <a:lstStyle/>
          <a:p>
            <a:pPr algn="l" indent="0" marL="0">
              <a:lnSpc>
                <a:spcPct val="122000"/>
              </a:lnSpc>
              <a:buNone/>
            </a:pPr>
            <a:r>
              <a:rPr lang="en-US" sz="1200" dirty="0">
                <a:solidFill>
                  <a:srgbClr val="6A6A6A"/>
                </a:solidFill>
                <a:latin typeface="Calibri" pitchFamily="34" charset="0"/>
                <a:ea typeface="Calibri" pitchFamily="34" charset="-122"/>
                <a:cs typeface="Calibri" pitchFamily="34" charset="-120"/>
              </a:rPr>
              <a:t>The user sees the same evidence the model sees. Nothing is scored, nothing is red, and nothing names a condition.</a:t>
            </a:r>
            <a:endParaRPr lang="en-US" sz="1200" dirty="0"/>
          </a:p>
        </p:txBody>
      </p:sp>
      <p:sp>
        <p:nvSpPr>
          <p:cNvPr id="27" name="Text 24"/>
          <p:cNvSpPr txBox="1"/>
          <p:nvPr/>
        </p:nvSpPr>
        <p:spPr>
          <a:xfrm>
            <a:off x="7187184" y="4590288"/>
            <a:ext cx="4114800" cy="219456"/>
          </a:xfrm>
          <a:prstGeom prst="rect">
            <a:avLst/>
          </a:prstGeom>
          <a:noFill/>
          <a:ln/>
        </p:spPr>
        <p:txBody>
          <a:bodyPr wrap="square" lIns="0" tIns="0" rIns="0" bIns="0" rtlCol="0" anchor="ctr"/>
          <a:lstStyle/>
          <a:p>
            <a:pPr algn="l" indent="0" marL="0">
              <a:buNone/>
            </a:pPr>
            <a:r>
              <a:rPr lang="en-US" sz="850" dirty="0">
                <a:solidFill>
                  <a:srgbClr val="9AA5A2"/>
                </a:solidFill>
                <a:latin typeface="Courier New" pitchFamily="34" charset="0"/>
                <a:ea typeface="Courier New" pitchFamily="34" charset="-122"/>
                <a:cs typeface="Courier New" pitchFamily="34" charset="-120"/>
              </a:rPr>
              <a:t>docs/screenshots/06-dysfluency-light.png</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AUDIENCE AND SCOPE</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200" b="1" dirty="0">
                <a:solidFill>
                  <a:srgbClr val="2F2F2F"/>
                </a:solidFill>
                <a:latin typeface="Arial" pitchFamily="34" charset="0"/>
                <a:ea typeface="Arial" pitchFamily="34" charset="-122"/>
                <a:cs typeface="Arial" pitchFamily="34" charset="-120"/>
              </a:rPr>
              <a:t>An accessibility tool. Deliberately not a medical one.</a:t>
            </a:r>
            <a:endParaRPr lang="en-US" sz="32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docs/ETHICS.md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06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444752"/>
            <a:ext cx="1042416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Speech-language pathology is a licensed clinical profession, and this system is not qualified to practise it. That boundary is not a disclaimer at the end of the report — it is enforced in five separate places in the codebase.</a:t>
            </a:r>
            <a:endParaRPr lang="en-US" sz="1500" dirty="0"/>
          </a:p>
        </p:txBody>
      </p:sp>
      <p:sp>
        <p:nvSpPr>
          <p:cNvPr id="11" name="Shape 9"/>
          <p:cNvSpPr/>
          <p:nvPr/>
        </p:nvSpPr>
        <p:spPr>
          <a:xfrm>
            <a:off x="658368" y="2212848"/>
            <a:ext cx="5138928" cy="3639312"/>
          </a:xfrm>
          <a:prstGeom prst="roundRect">
            <a:avLst>
              <a:gd name="adj" fmla="val 402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2" name="Text 10"/>
          <p:cNvSpPr txBox="1"/>
          <p:nvPr/>
        </p:nvSpPr>
        <p:spPr>
          <a:xfrm>
            <a:off x="914400" y="2377440"/>
            <a:ext cx="365760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WHAT IT IS</a:t>
            </a:r>
            <a:endParaRPr lang="en-US" sz="950" dirty="0"/>
          </a:p>
        </p:txBody>
      </p:sp>
      <p:sp>
        <p:nvSpPr>
          <p:cNvPr id="13" name="Text 11"/>
          <p:cNvSpPr txBox="1"/>
          <p:nvPr/>
        </p:nvSpPr>
        <p:spPr>
          <a:xfrm>
            <a:off x="914400" y="2651760"/>
            <a:ext cx="4626864" cy="603504"/>
          </a:xfrm>
          <a:prstGeom prst="rect">
            <a:avLst/>
          </a:prstGeom>
          <a:noFill/>
          <a:ln/>
        </p:spPr>
        <p:txBody>
          <a:bodyPr wrap="square" lIns="0" tIns="0" rIns="0" bIns="0" rtlCol="0" anchor="t"/>
          <a:lstStyle/>
          <a:p>
            <a:pPr algn="l" indent="0" marL="0">
              <a:lnSpc>
                <a:spcPct val="120000"/>
              </a:lnSpc>
              <a:buNone/>
            </a:pPr>
            <a:r>
              <a:rPr lang="en-US" sz="1350" dirty="0">
                <a:solidFill>
                  <a:srgbClr val="2F2F2F"/>
                </a:solidFill>
                <a:latin typeface="Calibri" pitchFamily="34" charset="0"/>
                <a:ea typeface="Calibri" pitchFamily="34" charset="-122"/>
                <a:cs typeface="Calibri" pitchFamily="34" charset="-120"/>
              </a:rPr>
              <a:t>A private, low-pressure place to rehearse spoken communication, with feedback on pacing and delivery.</a:t>
            </a:r>
            <a:endParaRPr lang="en-US" sz="1350" dirty="0"/>
          </a:p>
        </p:txBody>
      </p:sp>
      <p:sp>
        <p:nvSpPr>
          <p:cNvPr id="14" name="Shape 12"/>
          <p:cNvSpPr/>
          <p:nvPr/>
        </p:nvSpPr>
        <p:spPr>
          <a:xfrm>
            <a:off x="914400" y="3346704"/>
            <a:ext cx="4626864" cy="0"/>
          </a:xfrm>
          <a:prstGeom prst="line">
            <a:avLst/>
          </a:prstGeom>
          <a:noFill/>
          <a:ln w="12700">
            <a:solidFill>
              <a:srgbClr val="DCE5E4"/>
            </a:solidFill>
            <a:prstDash val="solid"/>
          </a:ln>
        </p:spPr>
      </p:sp>
      <p:sp>
        <p:nvSpPr>
          <p:cNvPr id="15" name="Text 13"/>
          <p:cNvSpPr txBox="1"/>
          <p:nvPr/>
        </p:nvSpPr>
        <p:spPr>
          <a:xfrm>
            <a:off x="914400" y="3493008"/>
            <a:ext cx="365760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WHAT IT IS NOT</a:t>
            </a:r>
            <a:endParaRPr lang="en-US" sz="950" dirty="0"/>
          </a:p>
        </p:txBody>
      </p:sp>
      <p:sp>
        <p:nvSpPr>
          <p:cNvPr id="16" name="Text 14"/>
          <p:cNvSpPr txBox="1"/>
          <p:nvPr/>
        </p:nvSpPr>
        <p:spPr>
          <a:xfrm>
            <a:off x="914400" y="3767328"/>
            <a:ext cx="4626864" cy="237744"/>
          </a:xfrm>
          <a:prstGeom prst="rect">
            <a:avLst/>
          </a:prstGeom>
          <a:noFill/>
          <a:ln/>
        </p:spPr>
        <p:txBody>
          <a:bodyPr wrap="square" lIns="0" tIns="0" rIns="0" bIns="0" rtlCol="0" anchor="t"/>
          <a:lstStyle/>
          <a:p>
            <a:pPr algn="l" indent="0" marL="0">
              <a:lnSpc>
                <a:spcPct val="120000"/>
              </a:lnSpc>
              <a:buNone/>
            </a:pPr>
            <a:r>
              <a:rPr lang="en-US" sz="1300" b="1" dirty="0">
                <a:solidFill>
                  <a:srgbClr val="2F2F2F"/>
                </a:solidFill>
                <a:latin typeface="Calibri" pitchFamily="34" charset="0"/>
                <a:ea typeface="Calibri" pitchFamily="34" charset="-122"/>
                <a:cs typeface="Calibri" pitchFamily="34" charset="-120"/>
              </a:rPr>
              <a:t>Not diagnostic</a:t>
            </a:r>
            <a:endParaRPr lang="en-US" sz="1300" dirty="0"/>
          </a:p>
        </p:txBody>
      </p:sp>
      <p:sp>
        <p:nvSpPr>
          <p:cNvPr id="17" name="Text 15"/>
          <p:cNvSpPr txBox="1"/>
          <p:nvPr/>
        </p:nvSpPr>
        <p:spPr>
          <a:xfrm>
            <a:off x="914400" y="4005072"/>
            <a:ext cx="4626864" cy="420624"/>
          </a:xfrm>
          <a:prstGeom prst="rect">
            <a:avLst/>
          </a:prstGeom>
          <a:noFill/>
          <a:ln/>
        </p:spPr>
        <p:txBody>
          <a:bodyPr wrap="square" lIns="0" tIns="0" rIns="0" bIns="0" rtlCol="0" anchor="t"/>
          <a:lstStyle/>
          <a:p>
            <a:pPr algn="l" indent="0" marL="0">
              <a:lnSpc>
                <a:spcPct val="115000"/>
              </a:lnSpc>
              <a:buNone/>
            </a:pPr>
            <a:r>
              <a:rPr lang="en-US" sz="1150" dirty="0">
                <a:solidFill>
                  <a:srgbClr val="6A6A6A"/>
                </a:solidFill>
                <a:latin typeface="Calibri" pitchFamily="34" charset="0"/>
                <a:ea typeface="Calibri" pitchFamily="34" charset="-122"/>
                <a:cs typeface="Calibri" pitchFamily="34" charset="-120"/>
              </a:rPr>
              <a:t>It detects acoustic events in order to adapt pacing. It never infers a condition from them.</a:t>
            </a:r>
            <a:endParaRPr lang="en-US" sz="1150" dirty="0"/>
          </a:p>
        </p:txBody>
      </p:sp>
      <p:sp>
        <p:nvSpPr>
          <p:cNvPr id="18" name="Text 16"/>
          <p:cNvSpPr txBox="1"/>
          <p:nvPr/>
        </p:nvSpPr>
        <p:spPr>
          <a:xfrm>
            <a:off x="914400" y="4462272"/>
            <a:ext cx="4626864" cy="237744"/>
          </a:xfrm>
          <a:prstGeom prst="rect">
            <a:avLst/>
          </a:prstGeom>
          <a:noFill/>
          <a:ln/>
        </p:spPr>
        <p:txBody>
          <a:bodyPr wrap="square" lIns="0" tIns="0" rIns="0" bIns="0" rtlCol="0" anchor="t"/>
          <a:lstStyle/>
          <a:p>
            <a:pPr algn="l" indent="0" marL="0">
              <a:lnSpc>
                <a:spcPct val="120000"/>
              </a:lnSpc>
              <a:buNone/>
            </a:pPr>
            <a:r>
              <a:rPr lang="en-US" sz="1300" b="1" dirty="0">
                <a:solidFill>
                  <a:srgbClr val="2F2F2F"/>
                </a:solidFill>
                <a:latin typeface="Calibri" pitchFamily="34" charset="0"/>
                <a:ea typeface="Calibri" pitchFamily="34" charset="-122"/>
                <a:cs typeface="Calibri" pitchFamily="34" charset="-120"/>
              </a:rPr>
              <a:t>Not therapy</a:t>
            </a:r>
            <a:endParaRPr lang="en-US" sz="1300" dirty="0"/>
          </a:p>
        </p:txBody>
      </p:sp>
      <p:sp>
        <p:nvSpPr>
          <p:cNvPr id="19" name="Text 17"/>
          <p:cNvSpPr txBox="1"/>
          <p:nvPr/>
        </p:nvSpPr>
        <p:spPr>
          <a:xfrm>
            <a:off x="914400" y="4700016"/>
            <a:ext cx="4626864" cy="420624"/>
          </a:xfrm>
          <a:prstGeom prst="rect">
            <a:avLst/>
          </a:prstGeom>
          <a:noFill/>
          <a:ln/>
        </p:spPr>
        <p:txBody>
          <a:bodyPr wrap="square" lIns="0" tIns="0" rIns="0" bIns="0" rtlCol="0" anchor="t"/>
          <a:lstStyle/>
          <a:p>
            <a:pPr algn="l" indent="0" marL="0">
              <a:lnSpc>
                <a:spcPct val="115000"/>
              </a:lnSpc>
              <a:buNone/>
            </a:pPr>
            <a:r>
              <a:rPr lang="en-US" sz="1150" dirty="0">
                <a:solidFill>
                  <a:srgbClr val="6A6A6A"/>
                </a:solidFill>
                <a:latin typeface="Calibri" pitchFamily="34" charset="0"/>
                <a:ea typeface="Calibri" pitchFamily="34" charset="-122"/>
                <a:cs typeface="Calibri" pitchFamily="34" charset="-120"/>
              </a:rPr>
              <a:t>No treatment programme, and no substitute for a speech-language pathologist.</a:t>
            </a:r>
            <a:endParaRPr lang="en-US" sz="1150" dirty="0"/>
          </a:p>
        </p:txBody>
      </p:sp>
      <p:sp>
        <p:nvSpPr>
          <p:cNvPr id="20" name="Text 18"/>
          <p:cNvSpPr txBox="1"/>
          <p:nvPr/>
        </p:nvSpPr>
        <p:spPr>
          <a:xfrm>
            <a:off x="914400" y="5157216"/>
            <a:ext cx="4626864" cy="237744"/>
          </a:xfrm>
          <a:prstGeom prst="rect">
            <a:avLst/>
          </a:prstGeom>
          <a:noFill/>
          <a:ln/>
        </p:spPr>
        <p:txBody>
          <a:bodyPr wrap="square" lIns="0" tIns="0" rIns="0" bIns="0" rtlCol="0" anchor="t"/>
          <a:lstStyle/>
          <a:p>
            <a:pPr algn="l" indent="0" marL="0">
              <a:lnSpc>
                <a:spcPct val="120000"/>
              </a:lnSpc>
              <a:buNone/>
            </a:pPr>
            <a:r>
              <a:rPr lang="en-US" sz="1300" b="1" dirty="0">
                <a:solidFill>
                  <a:srgbClr val="2F2F2F"/>
                </a:solidFill>
                <a:latin typeface="Calibri" pitchFamily="34" charset="0"/>
                <a:ea typeface="Calibri" pitchFamily="34" charset="-122"/>
                <a:cs typeface="Calibri" pitchFamily="34" charset="-120"/>
              </a:rPr>
              <a:t>Not a grader</a:t>
            </a:r>
            <a:endParaRPr lang="en-US" sz="1300" dirty="0"/>
          </a:p>
        </p:txBody>
      </p:sp>
      <p:sp>
        <p:nvSpPr>
          <p:cNvPr id="21" name="Text 19"/>
          <p:cNvSpPr txBox="1"/>
          <p:nvPr/>
        </p:nvSpPr>
        <p:spPr>
          <a:xfrm>
            <a:off x="914400" y="5394960"/>
            <a:ext cx="4626864" cy="420624"/>
          </a:xfrm>
          <a:prstGeom prst="rect">
            <a:avLst/>
          </a:prstGeom>
          <a:noFill/>
          <a:ln/>
        </p:spPr>
        <p:txBody>
          <a:bodyPr wrap="square" lIns="0" tIns="0" rIns="0" bIns="0" rtlCol="0" anchor="t"/>
          <a:lstStyle/>
          <a:p>
            <a:pPr algn="l" indent="0" marL="0">
              <a:lnSpc>
                <a:spcPct val="115000"/>
              </a:lnSpc>
              <a:buNone/>
            </a:pPr>
            <a:r>
              <a:rPr lang="en-US" sz="1150" dirty="0">
                <a:solidFill>
                  <a:srgbClr val="6A6A6A"/>
                </a:solidFill>
                <a:latin typeface="Calibri" pitchFamily="34" charset="0"/>
                <a:ea typeface="Calibri" pitchFamily="34" charset="-122"/>
                <a:cs typeface="Calibri" pitchFamily="34" charset="-120"/>
              </a:rPr>
              <a:t>No scores, no severity, no ranking of one kind of speech against another.</a:t>
            </a:r>
            <a:endParaRPr lang="en-US" sz="1150" dirty="0"/>
          </a:p>
        </p:txBody>
      </p:sp>
      <p:sp>
        <p:nvSpPr>
          <p:cNvPr id="22" name="Shape 20"/>
          <p:cNvSpPr/>
          <p:nvPr/>
        </p:nvSpPr>
        <p:spPr>
          <a:xfrm>
            <a:off x="6053328" y="2212848"/>
            <a:ext cx="5477256" cy="3639312"/>
          </a:xfrm>
          <a:prstGeom prst="roundRect">
            <a:avLst>
              <a:gd name="adj" fmla="val 402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3" name="Text 21"/>
          <p:cNvSpPr txBox="1"/>
          <p:nvPr/>
        </p:nvSpPr>
        <p:spPr>
          <a:xfrm>
            <a:off x="6309360" y="2377440"/>
            <a:ext cx="457200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WHERE THE BOUNDARY IS ENFORCED</a:t>
            </a:r>
            <a:endParaRPr lang="en-US" sz="950" dirty="0"/>
          </a:p>
        </p:txBody>
      </p:sp>
      <p:sp>
        <p:nvSpPr>
          <p:cNvPr id="24" name="Text 22"/>
          <p:cNvSpPr txBox="1"/>
          <p:nvPr/>
        </p:nvSpPr>
        <p:spPr>
          <a:xfrm>
            <a:off x="6309360" y="2615184"/>
            <a:ext cx="274320" cy="219456"/>
          </a:xfrm>
          <a:prstGeom prst="rect">
            <a:avLst/>
          </a:prstGeom>
          <a:noFill/>
          <a:ln/>
        </p:spPr>
        <p:txBody>
          <a:bodyPr wrap="square" lIns="0" tIns="0" rIns="0" bIns="0" rtlCol="0" anchor="ctr"/>
          <a:lstStyle/>
          <a:p>
            <a:pPr algn="l" indent="0" marL="0">
              <a:buNone/>
            </a:pPr>
            <a:r>
              <a:rPr lang="en-US" sz="1100" b="1" dirty="0">
                <a:solidFill>
                  <a:srgbClr val="8A6410"/>
                </a:solidFill>
                <a:latin typeface="Courier New" pitchFamily="34" charset="0"/>
                <a:ea typeface="Courier New" pitchFamily="34" charset="-122"/>
                <a:cs typeface="Courier New" pitchFamily="34" charset="-120"/>
              </a:rPr>
              <a:t>1</a:t>
            </a:r>
            <a:endParaRPr lang="en-US" sz="1100" dirty="0"/>
          </a:p>
        </p:txBody>
      </p:sp>
      <p:sp>
        <p:nvSpPr>
          <p:cNvPr id="25" name="Text 23"/>
          <p:cNvSpPr txBox="1"/>
          <p:nvPr/>
        </p:nvSpPr>
        <p:spPr>
          <a:xfrm>
            <a:off x="6620256" y="2596896"/>
            <a:ext cx="4663440"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System prompt</a:t>
            </a:r>
            <a:endParaRPr lang="en-US" sz="1250" dirty="0"/>
          </a:p>
        </p:txBody>
      </p:sp>
      <p:sp>
        <p:nvSpPr>
          <p:cNvPr id="26" name="Text 24"/>
          <p:cNvSpPr txBox="1"/>
          <p:nvPr/>
        </p:nvSpPr>
        <p:spPr>
          <a:xfrm>
            <a:off x="6620256" y="2816352"/>
            <a:ext cx="4663440" cy="402336"/>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A vocabulary ban list, and an explicit instruction to decline assessment and point to a professional.</a:t>
            </a:r>
            <a:endParaRPr lang="en-US" sz="1100" dirty="0"/>
          </a:p>
        </p:txBody>
      </p:sp>
      <p:sp>
        <p:nvSpPr>
          <p:cNvPr id="27" name="Text 25"/>
          <p:cNvSpPr txBox="1"/>
          <p:nvPr/>
        </p:nvSpPr>
        <p:spPr>
          <a:xfrm>
            <a:off x="6309360" y="3163824"/>
            <a:ext cx="274320" cy="219456"/>
          </a:xfrm>
          <a:prstGeom prst="rect">
            <a:avLst/>
          </a:prstGeom>
          <a:noFill/>
          <a:ln/>
        </p:spPr>
        <p:txBody>
          <a:bodyPr wrap="square" lIns="0" tIns="0" rIns="0" bIns="0" rtlCol="0" anchor="ctr"/>
          <a:lstStyle/>
          <a:p>
            <a:pPr algn="l" indent="0" marL="0">
              <a:buNone/>
            </a:pPr>
            <a:r>
              <a:rPr lang="en-US" sz="1100" b="1" dirty="0">
                <a:solidFill>
                  <a:srgbClr val="8A6410"/>
                </a:solidFill>
                <a:latin typeface="Courier New" pitchFamily="34" charset="0"/>
                <a:ea typeface="Courier New" pitchFamily="34" charset="-122"/>
                <a:cs typeface="Courier New" pitchFamily="34" charset="-120"/>
              </a:rPr>
              <a:t>2</a:t>
            </a:r>
            <a:endParaRPr lang="en-US" sz="1100" dirty="0"/>
          </a:p>
        </p:txBody>
      </p:sp>
      <p:sp>
        <p:nvSpPr>
          <p:cNvPr id="28" name="Text 26"/>
          <p:cNvSpPr txBox="1"/>
          <p:nvPr/>
        </p:nvSpPr>
        <p:spPr>
          <a:xfrm>
            <a:off x="6620256" y="3145536"/>
            <a:ext cx="4663440"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Few-shot exemplars</a:t>
            </a:r>
            <a:endParaRPr lang="en-US" sz="1250" dirty="0"/>
          </a:p>
        </p:txBody>
      </p:sp>
      <p:sp>
        <p:nvSpPr>
          <p:cNvPr id="29" name="Text 27"/>
          <p:cNvSpPr txBox="1"/>
          <p:nvPr/>
        </p:nvSpPr>
        <p:spPr>
          <a:xfrm>
            <a:off x="6620256" y="3364992"/>
            <a:ext cx="4663440" cy="402336"/>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One of the five demonstrates refusing an assessment request while redirecting.</a:t>
            </a:r>
            <a:endParaRPr lang="en-US" sz="1100" dirty="0"/>
          </a:p>
        </p:txBody>
      </p:sp>
      <p:sp>
        <p:nvSpPr>
          <p:cNvPr id="30" name="Text 28"/>
          <p:cNvSpPr txBox="1"/>
          <p:nvPr/>
        </p:nvSpPr>
        <p:spPr>
          <a:xfrm>
            <a:off x="6309360" y="3712464"/>
            <a:ext cx="274320" cy="219456"/>
          </a:xfrm>
          <a:prstGeom prst="rect">
            <a:avLst/>
          </a:prstGeom>
          <a:noFill/>
          <a:ln/>
        </p:spPr>
        <p:txBody>
          <a:bodyPr wrap="square" lIns="0" tIns="0" rIns="0" bIns="0" rtlCol="0" anchor="ctr"/>
          <a:lstStyle/>
          <a:p>
            <a:pPr algn="l" indent="0" marL="0">
              <a:buNone/>
            </a:pPr>
            <a:r>
              <a:rPr lang="en-US" sz="1100" b="1" dirty="0">
                <a:solidFill>
                  <a:srgbClr val="8A6410"/>
                </a:solidFill>
                <a:latin typeface="Courier New" pitchFamily="34" charset="0"/>
                <a:ea typeface="Courier New" pitchFamily="34" charset="-122"/>
                <a:cs typeface="Courier New" pitchFamily="34" charset="-120"/>
              </a:rPr>
              <a:t>3</a:t>
            </a:r>
            <a:endParaRPr lang="en-US" sz="1100" dirty="0"/>
          </a:p>
        </p:txBody>
      </p:sp>
      <p:sp>
        <p:nvSpPr>
          <p:cNvPr id="31" name="Text 29"/>
          <p:cNvSpPr txBox="1"/>
          <p:nvPr/>
        </p:nvSpPr>
        <p:spPr>
          <a:xfrm>
            <a:off x="6620256" y="3694176"/>
            <a:ext cx="4663440"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Corpus screening</a:t>
            </a:r>
            <a:endParaRPr lang="en-US" sz="1250" dirty="0"/>
          </a:p>
        </p:txBody>
      </p:sp>
      <p:sp>
        <p:nvSpPr>
          <p:cNvPr id="32" name="Text 30"/>
          <p:cNvSpPr txBox="1"/>
          <p:nvPr/>
        </p:nvSpPr>
        <p:spPr>
          <a:xfrm>
            <a:off x="6620256" y="3913632"/>
            <a:ext cx="4663440" cy="402336"/>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Every candidate book is screened for pathologising language before ingestion.</a:t>
            </a:r>
            <a:endParaRPr lang="en-US" sz="1100" dirty="0"/>
          </a:p>
        </p:txBody>
      </p:sp>
      <p:sp>
        <p:nvSpPr>
          <p:cNvPr id="33" name="Text 31"/>
          <p:cNvSpPr txBox="1"/>
          <p:nvPr/>
        </p:nvSpPr>
        <p:spPr>
          <a:xfrm>
            <a:off x="6309360" y="4261104"/>
            <a:ext cx="274320" cy="219456"/>
          </a:xfrm>
          <a:prstGeom prst="rect">
            <a:avLst/>
          </a:prstGeom>
          <a:noFill/>
          <a:ln/>
        </p:spPr>
        <p:txBody>
          <a:bodyPr wrap="square" lIns="0" tIns="0" rIns="0" bIns="0" rtlCol="0" anchor="ctr"/>
          <a:lstStyle/>
          <a:p>
            <a:pPr algn="l" indent="0" marL="0">
              <a:buNone/>
            </a:pPr>
            <a:r>
              <a:rPr lang="en-US" sz="1100" b="1" dirty="0">
                <a:solidFill>
                  <a:srgbClr val="8A6410"/>
                </a:solidFill>
                <a:latin typeface="Courier New" pitchFamily="34" charset="0"/>
                <a:ea typeface="Courier New" pitchFamily="34" charset="-122"/>
                <a:cs typeface="Courier New" pitchFamily="34" charset="-120"/>
              </a:rPr>
              <a:t>4</a:t>
            </a:r>
            <a:endParaRPr lang="en-US" sz="1100" dirty="0"/>
          </a:p>
        </p:txBody>
      </p:sp>
      <p:sp>
        <p:nvSpPr>
          <p:cNvPr id="34" name="Text 32"/>
          <p:cNvSpPr txBox="1"/>
          <p:nvPr/>
        </p:nvSpPr>
        <p:spPr>
          <a:xfrm>
            <a:off x="6620256" y="4242816"/>
            <a:ext cx="4663440"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Interface copy</a:t>
            </a:r>
            <a:endParaRPr lang="en-US" sz="1250" dirty="0"/>
          </a:p>
        </p:txBody>
      </p:sp>
      <p:sp>
        <p:nvSpPr>
          <p:cNvPr id="35" name="Text 33"/>
          <p:cNvSpPr txBox="1"/>
          <p:nvPr/>
        </p:nvSpPr>
        <p:spPr>
          <a:xfrm>
            <a:off x="6620256" y="4462272"/>
            <a:ext cx="4663440" cy="402336"/>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No diagnostic term appears anywhere in the UI, including the event names.</a:t>
            </a:r>
            <a:endParaRPr lang="en-US" sz="1100" dirty="0"/>
          </a:p>
        </p:txBody>
      </p:sp>
      <p:sp>
        <p:nvSpPr>
          <p:cNvPr id="36" name="Text 34"/>
          <p:cNvSpPr txBox="1"/>
          <p:nvPr/>
        </p:nvSpPr>
        <p:spPr>
          <a:xfrm>
            <a:off x="6309360" y="4809744"/>
            <a:ext cx="274320" cy="219456"/>
          </a:xfrm>
          <a:prstGeom prst="rect">
            <a:avLst/>
          </a:prstGeom>
          <a:noFill/>
          <a:ln/>
        </p:spPr>
        <p:txBody>
          <a:bodyPr wrap="square" lIns="0" tIns="0" rIns="0" bIns="0" rtlCol="0" anchor="ctr"/>
          <a:lstStyle/>
          <a:p>
            <a:pPr algn="l" indent="0" marL="0">
              <a:buNone/>
            </a:pPr>
            <a:r>
              <a:rPr lang="en-US" sz="1100" b="1" dirty="0">
                <a:solidFill>
                  <a:srgbClr val="8A6410"/>
                </a:solidFill>
                <a:latin typeface="Courier New" pitchFamily="34" charset="0"/>
                <a:ea typeface="Courier New" pitchFamily="34" charset="-122"/>
                <a:cs typeface="Courier New" pitchFamily="34" charset="-120"/>
              </a:rPr>
              <a:t>5</a:t>
            </a:r>
            <a:endParaRPr lang="en-US" sz="1100" dirty="0"/>
          </a:p>
        </p:txBody>
      </p:sp>
      <p:sp>
        <p:nvSpPr>
          <p:cNvPr id="37" name="Text 35"/>
          <p:cNvSpPr txBox="1"/>
          <p:nvPr/>
        </p:nvSpPr>
        <p:spPr>
          <a:xfrm>
            <a:off x="6620256" y="4791456"/>
            <a:ext cx="4663440"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Evaluation metric</a:t>
            </a:r>
            <a:endParaRPr lang="en-US" sz="1250" dirty="0"/>
          </a:p>
        </p:txBody>
      </p:sp>
      <p:sp>
        <p:nvSpPr>
          <p:cNvPr id="38" name="Text 36"/>
          <p:cNvSpPr txBox="1"/>
          <p:nvPr/>
        </p:nvSpPr>
        <p:spPr>
          <a:xfrm>
            <a:off x="6620256" y="5010912"/>
            <a:ext cx="4663440" cy="402336"/>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"Declined to assess" and "pointed to a professional" are two of the harness's behavioural checks.</a:t>
            </a:r>
            <a:endParaRPr lang="en-US" sz="1100" dirty="0"/>
          </a:p>
        </p:txBody>
      </p:sp>
      <p:sp>
        <p:nvSpPr>
          <p:cNvPr id="39" name="Shape 37"/>
          <p:cNvSpPr/>
          <p:nvPr/>
        </p:nvSpPr>
        <p:spPr>
          <a:xfrm>
            <a:off x="6309360" y="5413248"/>
            <a:ext cx="4965192" cy="384048"/>
          </a:xfrm>
          <a:prstGeom prst="roundRect">
            <a:avLst>
              <a:gd name="adj" fmla="val 38095"/>
            </a:avLst>
          </a:prstGeom>
          <a:solidFill>
            <a:srgbClr val="F5F7F6">
              <a:alpha val="85000"/>
            </a:srgbClr>
          </a:solidFill>
          <a:ln w="12700">
            <a:solidFill>
              <a:srgbClr val="DCE5E4"/>
            </a:solidFill>
            <a:prstDash val="solid"/>
          </a:ln>
        </p:spPr>
      </p:sp>
      <p:sp>
        <p:nvSpPr>
          <p:cNvPr id="40" name="Text 38"/>
          <p:cNvSpPr txBox="1"/>
          <p:nvPr/>
        </p:nvSpPr>
        <p:spPr>
          <a:xfrm>
            <a:off x="6309360" y="5413248"/>
            <a:ext cx="4965192" cy="384048"/>
          </a:xfrm>
          <a:prstGeom prst="rect">
            <a:avLst/>
          </a:prstGeom>
          <a:noFill/>
          <a:ln/>
        </p:spPr>
        <p:txBody>
          <a:bodyPr wrap="square" lIns="0" tIns="0" rIns="0" bIns="0" rtlCol="0" anchor="ctr"/>
          <a:lstStyle/>
          <a:p>
            <a:pPr algn="ctr" indent="0" marL="0">
              <a:buNone/>
            </a:pPr>
            <a:r>
              <a:rPr lang="en-US" sz="900" dirty="0">
                <a:solidFill>
                  <a:srgbClr val="2C463C"/>
                </a:solidFill>
                <a:latin typeface="Courier New" pitchFamily="34" charset="0"/>
                <a:ea typeface="Courier New" pitchFamily="34" charset="-122"/>
                <a:cs typeface="Courier New" pitchFamily="34" charset="-120"/>
              </a:rPr>
              <a:t>patient → speaker      therapy → practice      diagnosis → detected event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THE CENTRAL TECHNICAL INSIGHT</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100" b="1" dirty="0">
                <a:solidFill>
                  <a:srgbClr val="2F2F2F"/>
                </a:solidFill>
                <a:latin typeface="Arial" pitchFamily="34" charset="0"/>
                <a:ea typeface="Arial" pitchFamily="34" charset="-122"/>
                <a:cs typeface="Arial" pitchFamily="34" charset="-120"/>
              </a:rPr>
              <a:t>Fork the audio </a:t>
            </a:r>
            <a:pPr indent="0" marL="0">
              <a:lnSpc>
                <a:spcPct val="103000"/>
              </a:lnSpc>
              <a:buNone/>
            </a:pPr>
            <a:r>
              <a:rPr lang="en-US" sz="3100" i="1" dirty="0">
                <a:solidFill>
                  <a:srgbClr val="8A6410"/>
                </a:solidFill>
                <a:latin typeface="Cambria" pitchFamily="34" charset="0"/>
                <a:ea typeface="Cambria" pitchFamily="34" charset="-122"/>
                <a:cs typeface="Cambria" pitchFamily="34" charset="-120"/>
              </a:rPr>
              <a:t>before</a:t>
            </a:r>
            <a:pPr indent="0" marL="0">
              <a:lnSpc>
                <a:spcPct val="103000"/>
              </a:lnSpc>
              <a:buNone/>
            </a:pPr>
            <a:r>
              <a:rPr lang="en-US" sz="3100" b="1" dirty="0">
                <a:solidFill>
                  <a:srgbClr val="2F2F2F"/>
                </a:solidFill>
                <a:latin typeface="Arial" pitchFamily="34" charset="0"/>
                <a:ea typeface="Arial" pitchFamily="34" charset="-122"/>
                <a:cs typeface="Arial" pitchFamily="34" charset="-120"/>
              </a:rPr>
              <a:t> the transcript is the only witness</a:t>
            </a:r>
            <a:endParaRPr lang="en-US" sz="31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backend/app/services/orchestrator.py  ·  dysfluency.py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07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481328"/>
            <a:ext cx="969264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The cascade's flaw is not inherent to cascades. It is a consequence of routing every piece of information through the transcript. So we stopped doing that.</a:t>
            </a:r>
            <a:endParaRPr lang="en-US" sz="1500" dirty="0"/>
          </a:p>
        </p:txBody>
      </p:sp>
      <p:sp>
        <p:nvSpPr>
          <p:cNvPr id="11" name="Shape 9"/>
          <p:cNvSpPr/>
          <p:nvPr/>
        </p:nvSpPr>
        <p:spPr>
          <a:xfrm>
            <a:off x="4736592" y="2157984"/>
            <a:ext cx="2596896" cy="512064"/>
          </a:xfrm>
          <a:prstGeom prst="roundRect">
            <a:avLst>
              <a:gd name="adj" fmla="val 25000"/>
            </a:avLst>
          </a:prstGeom>
          <a:solidFill>
            <a:srgbClr val="A2760F">
              <a:alpha val="22000"/>
            </a:srgbClr>
          </a:solidFill>
          <a:ln w="15875">
            <a:solidFill>
              <a:srgbClr val="6D4F0C"/>
            </a:solidFill>
            <a:prstDash val="solid"/>
          </a:ln>
        </p:spPr>
      </p:sp>
      <p:sp>
        <p:nvSpPr>
          <p:cNvPr id="12" name="Text 10"/>
          <p:cNvSpPr txBox="1"/>
          <p:nvPr/>
        </p:nvSpPr>
        <p:spPr>
          <a:xfrm>
            <a:off x="4736592" y="2157984"/>
            <a:ext cx="2596896" cy="512064"/>
          </a:xfrm>
          <a:prstGeom prst="rect">
            <a:avLst/>
          </a:prstGeom>
          <a:noFill/>
          <a:ln/>
        </p:spPr>
        <p:txBody>
          <a:bodyPr wrap="square" lIns="0" tIns="0" rIns="0" bIns="0" rtlCol="0" anchor="ctr"/>
          <a:lstStyle/>
          <a:p>
            <a:pPr algn="ctr" indent="0" marL="0">
              <a:buNone/>
            </a:pPr>
            <a:r>
              <a:rPr lang="en-US" sz="1200" b="1" dirty="0">
                <a:solidFill>
                  <a:srgbClr val="8A6410"/>
                </a:solidFill>
                <a:latin typeface="Courier New" pitchFamily="34" charset="0"/>
                <a:ea typeface="Courier New" pitchFamily="34" charset="-122"/>
                <a:cs typeface="Courier New" pitchFamily="34" charset="-120"/>
              </a:rPr>
              <a:t>USER AUDIO</a:t>
            </a:r>
            <a:endParaRPr lang="en-US" sz="1200" dirty="0"/>
          </a:p>
        </p:txBody>
      </p:sp>
      <p:sp>
        <p:nvSpPr>
          <p:cNvPr id="13" name="Shape 11"/>
          <p:cNvSpPr/>
          <p:nvPr/>
        </p:nvSpPr>
        <p:spPr>
          <a:xfrm>
            <a:off x="6035040" y="2670048"/>
            <a:ext cx="0" cy="274320"/>
          </a:xfrm>
          <a:prstGeom prst="line">
            <a:avLst/>
          </a:prstGeom>
          <a:noFill/>
          <a:ln w="12700">
            <a:solidFill>
              <a:srgbClr val="C2CFCC"/>
            </a:solidFill>
            <a:prstDash val="solid"/>
          </a:ln>
        </p:spPr>
      </p:sp>
      <p:sp>
        <p:nvSpPr>
          <p:cNvPr id="14" name="Shape 12"/>
          <p:cNvSpPr/>
          <p:nvPr/>
        </p:nvSpPr>
        <p:spPr>
          <a:xfrm>
            <a:off x="2834640" y="2944368"/>
            <a:ext cx="6400800" cy="0"/>
          </a:xfrm>
          <a:prstGeom prst="line">
            <a:avLst/>
          </a:prstGeom>
          <a:noFill/>
          <a:ln w="12700">
            <a:solidFill>
              <a:srgbClr val="C2CFCC"/>
            </a:solidFill>
            <a:prstDash val="solid"/>
          </a:ln>
        </p:spPr>
      </p:sp>
      <p:sp>
        <p:nvSpPr>
          <p:cNvPr id="15" name="Shape 13"/>
          <p:cNvSpPr/>
          <p:nvPr/>
        </p:nvSpPr>
        <p:spPr>
          <a:xfrm>
            <a:off x="2834640" y="2944368"/>
            <a:ext cx="0" cy="329184"/>
          </a:xfrm>
          <a:prstGeom prst="line">
            <a:avLst/>
          </a:prstGeom>
          <a:noFill/>
          <a:ln w="15875">
            <a:solidFill>
              <a:srgbClr val="C2CFCC"/>
            </a:solidFill>
            <a:prstDash val="solid"/>
            <a:tailEnd type="triangle"/>
          </a:ln>
        </p:spPr>
      </p:sp>
      <p:sp>
        <p:nvSpPr>
          <p:cNvPr id="16" name="Shape 14"/>
          <p:cNvSpPr/>
          <p:nvPr/>
        </p:nvSpPr>
        <p:spPr>
          <a:xfrm>
            <a:off x="9235440" y="2944368"/>
            <a:ext cx="0" cy="329184"/>
          </a:xfrm>
          <a:prstGeom prst="line">
            <a:avLst/>
          </a:prstGeom>
          <a:noFill/>
          <a:ln w="15875">
            <a:solidFill>
              <a:srgbClr val="C2CFCC"/>
            </a:solidFill>
            <a:prstDash val="solid"/>
            <a:tailEnd type="triangle"/>
          </a:ln>
        </p:spPr>
      </p:sp>
      <p:sp>
        <p:nvSpPr>
          <p:cNvPr id="17" name="Shape 15"/>
          <p:cNvSpPr/>
          <p:nvPr/>
        </p:nvSpPr>
        <p:spPr>
          <a:xfrm>
            <a:off x="914400" y="3310128"/>
            <a:ext cx="3840480" cy="1225296"/>
          </a:xfrm>
          <a:prstGeom prst="roundRect">
            <a:avLst>
              <a:gd name="adj" fmla="val 1194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8" name="Text 16"/>
          <p:cNvSpPr txBox="1"/>
          <p:nvPr/>
        </p:nvSpPr>
        <p:spPr>
          <a:xfrm>
            <a:off x="1133856" y="3474720"/>
            <a:ext cx="3401568" cy="274320"/>
          </a:xfrm>
          <a:prstGeom prst="rect">
            <a:avLst/>
          </a:prstGeom>
          <a:noFill/>
          <a:ln/>
        </p:spPr>
        <p:txBody>
          <a:bodyPr wrap="square" lIns="0" tIns="0" rIns="0" bIns="0" rtlCol="0" anchor="t"/>
          <a:lstStyle/>
          <a:p>
            <a:pPr algn="ctr" indent="0" marL="0">
              <a:lnSpc>
                <a:spcPct val="120000"/>
              </a:lnSpc>
              <a:buNone/>
            </a:pPr>
            <a:r>
              <a:rPr lang="en-US" sz="1500" b="1" dirty="0">
                <a:solidFill>
                  <a:srgbClr val="2C463C"/>
                </a:solidFill>
                <a:latin typeface="Calibri" pitchFamily="34" charset="0"/>
                <a:ea typeface="Calibri" pitchFamily="34" charset="-122"/>
                <a:cs typeface="Calibri" pitchFamily="34" charset="-120"/>
              </a:rPr>
              <a:t>Whisper base, int8</a:t>
            </a:r>
            <a:endParaRPr lang="en-US" sz="1500" dirty="0"/>
          </a:p>
        </p:txBody>
      </p:sp>
      <p:sp>
        <p:nvSpPr>
          <p:cNvPr id="19" name="Text 17"/>
          <p:cNvSpPr txBox="1"/>
          <p:nvPr/>
        </p:nvSpPr>
        <p:spPr>
          <a:xfrm>
            <a:off x="1133856" y="3785616"/>
            <a:ext cx="3401568" cy="658368"/>
          </a:xfrm>
          <a:prstGeom prst="rect">
            <a:avLst/>
          </a:prstGeom>
          <a:noFill/>
          <a:ln/>
        </p:spPr>
        <p:txBody>
          <a:bodyPr wrap="square" lIns="0" tIns="0" rIns="0" bIns="0" rtlCol="0" anchor="t"/>
          <a:lstStyle/>
          <a:p>
            <a:pPr algn="ctr" indent="0" marL="0">
              <a:lnSpc>
                <a:spcPct val="118000"/>
              </a:lnSpc>
              <a:buNone/>
            </a:pPr>
            <a:r>
              <a:rPr lang="en-US" sz="1200" dirty="0">
                <a:solidFill>
                  <a:srgbClr val="6A6A6A"/>
                </a:solidFill>
                <a:latin typeface="Calibri" pitchFamily="34" charset="0"/>
                <a:ea typeface="Calibri" pitchFamily="34" charset="-122"/>
                <a:cs typeface="Calibri" pitchFamily="34" charset="-120"/>
              </a:rPr>
              <a:t>Produces clean, fluent text. That is its job, and it does it well.</a:t>
            </a:r>
            <a:endParaRPr lang="en-US" sz="1200" dirty="0"/>
          </a:p>
        </p:txBody>
      </p:sp>
      <p:sp>
        <p:nvSpPr>
          <p:cNvPr id="20" name="Shape 18"/>
          <p:cNvSpPr/>
          <p:nvPr/>
        </p:nvSpPr>
        <p:spPr>
          <a:xfrm>
            <a:off x="7315200" y="3310128"/>
            <a:ext cx="3840480" cy="1225296"/>
          </a:xfrm>
          <a:prstGeom prst="roundRect">
            <a:avLst>
              <a:gd name="adj" fmla="val 11940"/>
            </a:avLst>
          </a:prstGeom>
          <a:solidFill>
            <a:srgbClr val="FFFFFF">
              <a:alpha val="88000"/>
            </a:srgbClr>
          </a:solidFill>
          <a:ln w="12700">
            <a:solidFill>
              <a:srgbClr val="6D4F0C"/>
            </a:solidFill>
            <a:prstDash val="solid"/>
          </a:ln>
          <a:effectLst>
            <a:outerShdw sx="100000" sy="100000" kx="0" ky="0" algn="bl" rotWithShape="0" blurRad="152400" dist="25400" dir="5400000">
              <a:srgbClr val="6A6A6A">
                <a:alpha val="16000"/>
              </a:srgbClr>
            </a:outerShdw>
          </a:effectLst>
        </p:spPr>
      </p:sp>
      <p:sp>
        <p:nvSpPr>
          <p:cNvPr id="21" name="Text 19"/>
          <p:cNvSpPr txBox="1"/>
          <p:nvPr/>
        </p:nvSpPr>
        <p:spPr>
          <a:xfrm>
            <a:off x="7534656" y="3474720"/>
            <a:ext cx="3401568" cy="274320"/>
          </a:xfrm>
          <a:prstGeom prst="rect">
            <a:avLst/>
          </a:prstGeom>
          <a:noFill/>
          <a:ln/>
        </p:spPr>
        <p:txBody>
          <a:bodyPr wrap="square" lIns="0" tIns="0" rIns="0" bIns="0" rtlCol="0" anchor="t"/>
          <a:lstStyle/>
          <a:p>
            <a:pPr algn="ctr" indent="0" marL="0">
              <a:lnSpc>
                <a:spcPct val="120000"/>
              </a:lnSpc>
              <a:buNone/>
            </a:pPr>
            <a:r>
              <a:rPr lang="en-US" sz="1500" b="1" dirty="0">
                <a:solidFill>
                  <a:srgbClr val="8A6410"/>
                </a:solidFill>
                <a:latin typeface="Calibri" pitchFamily="34" charset="0"/>
                <a:ea typeface="Calibri" pitchFamily="34" charset="-122"/>
                <a:cs typeface="Calibri" pitchFamily="34" charset="-120"/>
              </a:rPr>
              <a:t>Dysfluency analyzer</a:t>
            </a:r>
            <a:endParaRPr lang="en-US" sz="1500" dirty="0"/>
          </a:p>
        </p:txBody>
      </p:sp>
      <p:sp>
        <p:nvSpPr>
          <p:cNvPr id="22" name="Text 20"/>
          <p:cNvSpPr txBox="1"/>
          <p:nvPr/>
        </p:nvSpPr>
        <p:spPr>
          <a:xfrm>
            <a:off x="7534656" y="3785616"/>
            <a:ext cx="3401568" cy="658368"/>
          </a:xfrm>
          <a:prstGeom prst="rect">
            <a:avLst/>
          </a:prstGeom>
          <a:noFill/>
          <a:ln/>
        </p:spPr>
        <p:txBody>
          <a:bodyPr wrap="square" lIns="0" tIns="0" rIns="0" bIns="0" rtlCol="0" anchor="t"/>
          <a:lstStyle/>
          <a:p>
            <a:pPr algn="ctr" indent="0" marL="0">
              <a:lnSpc>
                <a:spcPct val="118000"/>
              </a:lnSpc>
              <a:buNone/>
            </a:pPr>
            <a:r>
              <a:rPr lang="en-US" sz="1200" dirty="0">
                <a:solidFill>
                  <a:srgbClr val="6A6A6A"/>
                </a:solidFill>
                <a:latin typeface="Calibri" pitchFamily="34" charset="0"/>
                <a:ea typeface="Calibri" pitchFamily="34" charset="-122"/>
                <a:cs typeface="Calibri" pitchFamily="34" charset="-120"/>
              </a:rPr>
              <a:t>Reads the same waveform. Emits events, their durations, their positions, and prosody.</a:t>
            </a:r>
            <a:endParaRPr lang="en-US" sz="1200" dirty="0"/>
          </a:p>
        </p:txBody>
      </p:sp>
      <p:sp>
        <p:nvSpPr>
          <p:cNvPr id="23" name="Text 21"/>
          <p:cNvSpPr txBox="1"/>
          <p:nvPr/>
        </p:nvSpPr>
        <p:spPr>
          <a:xfrm>
            <a:off x="1463040" y="4590288"/>
            <a:ext cx="2743200" cy="237744"/>
          </a:xfrm>
          <a:prstGeom prst="rect">
            <a:avLst/>
          </a:prstGeom>
          <a:noFill/>
          <a:ln/>
        </p:spPr>
        <p:txBody>
          <a:bodyPr wrap="square" lIns="0" tIns="0" rIns="0" bIns="0" rtlCol="0" anchor="t"/>
          <a:lstStyle/>
          <a:p>
            <a:pPr algn="ctr" indent="0" marL="0">
              <a:lnSpc>
                <a:spcPct val="120000"/>
              </a:lnSpc>
              <a:buNone/>
            </a:pPr>
            <a:r>
              <a:rPr lang="en-US" sz="1150" i="1" dirty="0">
                <a:solidFill>
                  <a:srgbClr val="A3271C"/>
                </a:solidFill>
                <a:latin typeface="Calibri" pitchFamily="34" charset="0"/>
                <a:ea typeface="Calibri" pitchFamily="34" charset="-122"/>
                <a:cs typeface="Calibri" pitchFamily="34" charset="-120"/>
              </a:rPr>
              <a:t>loses the block</a:t>
            </a:r>
            <a:endParaRPr lang="en-US" sz="1150" dirty="0"/>
          </a:p>
        </p:txBody>
      </p:sp>
      <p:sp>
        <p:nvSpPr>
          <p:cNvPr id="24" name="Text 22"/>
          <p:cNvSpPr txBox="1"/>
          <p:nvPr/>
        </p:nvSpPr>
        <p:spPr>
          <a:xfrm>
            <a:off x="7863840" y="4590288"/>
            <a:ext cx="2743200" cy="237744"/>
          </a:xfrm>
          <a:prstGeom prst="rect">
            <a:avLst/>
          </a:prstGeom>
          <a:noFill/>
          <a:ln/>
        </p:spPr>
        <p:txBody>
          <a:bodyPr wrap="square" lIns="0" tIns="0" rIns="0" bIns="0" rtlCol="0" anchor="t"/>
          <a:lstStyle/>
          <a:p>
            <a:pPr algn="ctr" indent="0" marL="0">
              <a:lnSpc>
                <a:spcPct val="120000"/>
              </a:lnSpc>
              <a:buNone/>
            </a:pPr>
            <a:r>
              <a:rPr lang="en-US" sz="1150" i="1" dirty="0">
                <a:solidFill>
                  <a:srgbClr val="3B5D50"/>
                </a:solidFill>
                <a:latin typeface="Calibri" pitchFamily="34" charset="0"/>
                <a:ea typeface="Calibri" pitchFamily="34" charset="-122"/>
                <a:cs typeface="Calibri" pitchFamily="34" charset="-120"/>
              </a:rPr>
              <a:t>keeps the block</a:t>
            </a:r>
            <a:endParaRPr lang="en-US" sz="1150" dirty="0"/>
          </a:p>
        </p:txBody>
      </p:sp>
      <p:sp>
        <p:nvSpPr>
          <p:cNvPr id="25" name="Shape 23"/>
          <p:cNvSpPr/>
          <p:nvPr/>
        </p:nvSpPr>
        <p:spPr>
          <a:xfrm>
            <a:off x="2834640" y="4882896"/>
            <a:ext cx="0" cy="219456"/>
          </a:xfrm>
          <a:prstGeom prst="line">
            <a:avLst/>
          </a:prstGeom>
          <a:noFill/>
          <a:ln w="12700">
            <a:solidFill>
              <a:srgbClr val="C2CFCC"/>
            </a:solidFill>
            <a:prstDash val="solid"/>
          </a:ln>
        </p:spPr>
      </p:sp>
      <p:sp>
        <p:nvSpPr>
          <p:cNvPr id="26" name="Shape 24"/>
          <p:cNvSpPr/>
          <p:nvPr/>
        </p:nvSpPr>
        <p:spPr>
          <a:xfrm>
            <a:off x="9235440" y="4882896"/>
            <a:ext cx="0" cy="219456"/>
          </a:xfrm>
          <a:prstGeom prst="line">
            <a:avLst/>
          </a:prstGeom>
          <a:noFill/>
          <a:ln w="12700">
            <a:solidFill>
              <a:srgbClr val="C2CFCC"/>
            </a:solidFill>
            <a:prstDash val="solid"/>
          </a:ln>
        </p:spPr>
      </p:sp>
      <p:sp>
        <p:nvSpPr>
          <p:cNvPr id="27" name="Shape 25"/>
          <p:cNvSpPr/>
          <p:nvPr/>
        </p:nvSpPr>
        <p:spPr>
          <a:xfrm>
            <a:off x="2834640" y="5102352"/>
            <a:ext cx="6400800" cy="0"/>
          </a:xfrm>
          <a:prstGeom prst="line">
            <a:avLst/>
          </a:prstGeom>
          <a:noFill/>
          <a:ln w="12700">
            <a:solidFill>
              <a:srgbClr val="C2CFCC"/>
            </a:solidFill>
            <a:prstDash val="solid"/>
          </a:ln>
        </p:spPr>
      </p:sp>
      <p:sp>
        <p:nvSpPr>
          <p:cNvPr id="28" name="Shape 26"/>
          <p:cNvSpPr/>
          <p:nvPr/>
        </p:nvSpPr>
        <p:spPr>
          <a:xfrm>
            <a:off x="6035040" y="5102352"/>
            <a:ext cx="0" cy="274320"/>
          </a:xfrm>
          <a:prstGeom prst="line">
            <a:avLst/>
          </a:prstGeom>
          <a:noFill/>
          <a:ln w="15875">
            <a:solidFill>
              <a:srgbClr val="C2CFCC"/>
            </a:solidFill>
            <a:prstDash val="solid"/>
            <a:tailEnd type="triangle"/>
          </a:ln>
        </p:spPr>
      </p:sp>
      <p:sp>
        <p:nvSpPr>
          <p:cNvPr id="29" name="Shape 27"/>
          <p:cNvSpPr/>
          <p:nvPr/>
        </p:nvSpPr>
        <p:spPr>
          <a:xfrm>
            <a:off x="3639312" y="5394960"/>
            <a:ext cx="4791456" cy="512064"/>
          </a:xfrm>
          <a:prstGeom prst="roundRect">
            <a:avLst>
              <a:gd name="adj" fmla="val 25000"/>
            </a:avLst>
          </a:prstGeom>
          <a:solidFill>
            <a:srgbClr val="FFFFFF">
              <a:alpha val="92000"/>
            </a:srgbClr>
          </a:solidFill>
          <a:ln w="15875">
            <a:solidFill>
              <a:srgbClr val="C2CFCC"/>
            </a:solidFill>
            <a:prstDash val="solid"/>
          </a:ln>
        </p:spPr>
      </p:sp>
      <p:sp>
        <p:nvSpPr>
          <p:cNvPr id="30" name="Text 28"/>
          <p:cNvSpPr txBox="1"/>
          <p:nvPr/>
        </p:nvSpPr>
        <p:spPr>
          <a:xfrm>
            <a:off x="3639312" y="5394960"/>
            <a:ext cx="4791456" cy="512064"/>
          </a:xfrm>
          <a:prstGeom prst="rect">
            <a:avLst/>
          </a:prstGeom>
          <a:noFill/>
          <a:ln/>
        </p:spPr>
        <p:txBody>
          <a:bodyPr wrap="square" lIns="0" tIns="0" rIns="0" bIns="0" rtlCol="0" anchor="ctr"/>
          <a:lstStyle/>
          <a:p>
            <a:pPr algn="ctr" indent="0" marL="0">
              <a:buNone/>
            </a:pPr>
            <a:r>
              <a:rPr lang="en-US" sz="1200" b="1" dirty="0">
                <a:solidFill>
                  <a:srgbClr val="2F2F2F"/>
                </a:solidFill>
                <a:latin typeface="Courier New" pitchFamily="34" charset="0"/>
                <a:ea typeface="Courier New" pitchFamily="34" charset="-122"/>
                <a:cs typeface="Courier New" pitchFamily="34" charset="-120"/>
              </a:rPr>
              <a:t>STRUCTURED PROMPT CONTEXT</a:t>
            </a:r>
            <a:endParaRPr lang="en-US" sz="1200" dirty="0"/>
          </a:p>
        </p:txBody>
      </p:sp>
      <p:sp>
        <p:nvSpPr>
          <p:cNvPr id="31" name="Text 29"/>
          <p:cNvSpPr txBox="1"/>
          <p:nvPr/>
        </p:nvSpPr>
        <p:spPr>
          <a:xfrm>
            <a:off x="658368" y="5998464"/>
            <a:ext cx="10874959" cy="256032"/>
          </a:xfrm>
          <a:prstGeom prst="rect">
            <a:avLst/>
          </a:prstGeom>
          <a:noFill/>
          <a:ln/>
        </p:spPr>
        <p:txBody>
          <a:bodyPr wrap="square" lIns="0" tIns="0" rIns="0" bIns="0" rtlCol="0" anchor="t"/>
          <a:lstStyle/>
          <a:p>
            <a:pPr algn="ctr" indent="0" marL="0">
              <a:lnSpc>
                <a:spcPct val="120000"/>
              </a:lnSpc>
              <a:buNone/>
            </a:pPr>
            <a:r>
              <a:rPr lang="en-US" sz="1200" i="1" dirty="0">
                <a:solidFill>
                  <a:srgbClr val="6A6A6A"/>
                </a:solidFill>
                <a:latin typeface="Calibri" pitchFamily="34" charset="0"/>
                <a:ea typeface="Calibri" pitchFamily="34" charset="-122"/>
                <a:cs typeface="Calibri" pitchFamily="34" charset="-120"/>
              </a:rPr>
              <a:t>The text pipeline keeps its retrieval and its reasoning. The acoustic evidence survives alongside it, in its own structured block.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THE DUAL-PATH ARCHITECTURE</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2F2F2F"/>
                </a:solidFill>
                <a:latin typeface="Arial" pitchFamily="34" charset="0"/>
                <a:ea typeface="Arial" pitchFamily="34" charset="-122"/>
                <a:cs typeface="Arial" pitchFamily="34" charset="-120"/>
              </a:rPr>
              <a:t>Two paths over the same audio</a:t>
            </a:r>
            <a:endParaRPr lang="en-US" sz="34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docs/PROJECT_PLAN.md  ·  docs/M1_BRINGUP_LOG.md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08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417320"/>
            <a:ext cx="1005840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The comparison between them is the result. Both numbers below are measured on our own hardware, and both replaced an estimate that turned out to be wrong.</a:t>
            </a:r>
            <a:endParaRPr lang="en-US" sz="1500" dirty="0"/>
          </a:p>
        </p:txBody>
      </p:sp>
      <p:sp>
        <p:nvSpPr>
          <p:cNvPr id="11" name="Shape 9"/>
          <p:cNvSpPr/>
          <p:nvPr/>
        </p:nvSpPr>
        <p:spPr>
          <a:xfrm>
            <a:off x="658368" y="2121408"/>
            <a:ext cx="5321808" cy="3749040"/>
          </a:xfrm>
          <a:prstGeom prst="roundRect">
            <a:avLst>
              <a:gd name="adj" fmla="val 3902"/>
            </a:avLst>
          </a:prstGeom>
          <a:solidFill>
            <a:srgbClr val="FFFFFF">
              <a:alpha val="88000"/>
            </a:srgbClr>
          </a:solidFill>
          <a:ln w="12700">
            <a:solidFill>
              <a:srgbClr val="6D4F0C"/>
            </a:solidFill>
            <a:prstDash val="solid"/>
          </a:ln>
          <a:effectLst>
            <a:outerShdw sx="100000" sy="100000" kx="0" ky="0" algn="bl" rotWithShape="0" blurRad="152400" dist="25400" dir="5400000">
              <a:srgbClr val="6A6A6A">
                <a:alpha val="16000"/>
              </a:srgbClr>
            </a:outerShdw>
          </a:effectLst>
        </p:spPr>
      </p:sp>
      <p:sp>
        <p:nvSpPr>
          <p:cNvPr id="12" name="Shape 10"/>
          <p:cNvSpPr/>
          <p:nvPr/>
        </p:nvSpPr>
        <p:spPr>
          <a:xfrm>
            <a:off x="658368" y="2121408"/>
            <a:ext cx="5321808" cy="786384"/>
          </a:xfrm>
          <a:prstGeom prst="roundRect">
            <a:avLst>
              <a:gd name="adj" fmla="val 18605"/>
            </a:avLst>
          </a:prstGeom>
          <a:solidFill>
            <a:srgbClr val="A2760F">
              <a:alpha val="16000"/>
            </a:srgbClr>
          </a:solidFill>
          <a:ln/>
        </p:spPr>
      </p:sp>
      <p:sp>
        <p:nvSpPr>
          <p:cNvPr id="13" name="Text 11"/>
          <p:cNvSpPr txBox="1"/>
          <p:nvPr/>
        </p:nvSpPr>
        <p:spPr>
          <a:xfrm>
            <a:off x="914400" y="2231136"/>
            <a:ext cx="4809744" cy="292608"/>
          </a:xfrm>
          <a:prstGeom prst="rect">
            <a:avLst/>
          </a:prstGeom>
          <a:noFill/>
          <a:ln/>
        </p:spPr>
        <p:txBody>
          <a:bodyPr wrap="square" lIns="0" tIns="0" rIns="0" bIns="0" rtlCol="0" anchor="t"/>
          <a:lstStyle/>
          <a:p>
            <a:pPr algn="l" indent="0" marL="0">
              <a:lnSpc>
                <a:spcPct val="120000"/>
              </a:lnSpc>
              <a:buNone/>
            </a:pPr>
            <a:r>
              <a:rPr lang="en-US" sz="1800" b="1" dirty="0">
                <a:solidFill>
                  <a:srgbClr val="8A6410"/>
                </a:solidFill>
                <a:latin typeface="Calibri" pitchFamily="34" charset="0"/>
                <a:ea typeface="Calibri" pitchFamily="34" charset="-122"/>
                <a:cs typeface="Calibri" pitchFamily="34" charset="-120"/>
              </a:rPr>
              <a:t>Live Coach</a:t>
            </a:r>
            <a:endParaRPr lang="en-US" sz="1800" dirty="0"/>
          </a:p>
        </p:txBody>
      </p:sp>
      <p:sp>
        <p:nvSpPr>
          <p:cNvPr id="14" name="Text 12"/>
          <p:cNvSpPr txBox="1"/>
          <p:nvPr/>
        </p:nvSpPr>
        <p:spPr>
          <a:xfrm>
            <a:off x="914400" y="2542032"/>
            <a:ext cx="2834640" cy="237744"/>
          </a:xfrm>
          <a:prstGeom prst="rect">
            <a:avLst/>
          </a:prstGeom>
          <a:noFill/>
          <a:ln/>
        </p:spPr>
        <p:txBody>
          <a:bodyPr wrap="square" lIns="0" tIns="0" rIns="0" bIns="0" rtlCol="0" anchor="ctr"/>
          <a:lstStyle/>
          <a:p>
            <a:pPr algn="l" indent="0" marL="0">
              <a:buNone/>
            </a:pPr>
            <a:r>
              <a:rPr lang="en-US" sz="950" dirty="0">
                <a:solidFill>
                  <a:srgbClr val="6A6A6A"/>
                </a:solidFill>
                <a:latin typeface="Courier New" pitchFamily="34" charset="0"/>
                <a:ea typeface="Courier New" pitchFamily="34" charset="-122"/>
                <a:cs typeface="Courier New" pitchFamily="34" charset="-120"/>
              </a:rPr>
              <a:t>Native speech-to-speech</a:t>
            </a:r>
            <a:endParaRPr lang="en-US" sz="950" dirty="0"/>
          </a:p>
        </p:txBody>
      </p:sp>
      <p:sp>
        <p:nvSpPr>
          <p:cNvPr id="15" name="Text 13"/>
          <p:cNvSpPr txBox="1"/>
          <p:nvPr/>
        </p:nvSpPr>
        <p:spPr>
          <a:xfrm>
            <a:off x="3511296" y="2542032"/>
            <a:ext cx="2212848" cy="237744"/>
          </a:xfrm>
          <a:prstGeom prst="rect">
            <a:avLst/>
          </a:prstGeom>
          <a:noFill/>
          <a:ln/>
        </p:spPr>
        <p:txBody>
          <a:bodyPr wrap="square" lIns="0" tIns="0" rIns="0" bIns="0" rtlCol="0" anchor="ctr"/>
          <a:lstStyle/>
          <a:p>
            <a:pPr algn="r" indent="0" marL="0">
              <a:buNone/>
            </a:pPr>
            <a:r>
              <a:rPr lang="en-US" sz="900" b="1" dirty="0">
                <a:solidFill>
                  <a:srgbClr val="8A6410"/>
                </a:solidFill>
                <a:latin typeface="Courier New" pitchFamily="34" charset="0"/>
                <a:ea typeface="Courier New" pitchFamily="34" charset="-122"/>
                <a:cs typeface="Courier New" pitchFamily="34" charset="-120"/>
              </a:rPr>
              <a:t>GPU, permanently resident</a:t>
            </a:r>
            <a:endParaRPr lang="en-US" sz="900" dirty="0"/>
          </a:p>
        </p:txBody>
      </p:sp>
      <p:sp>
        <p:nvSpPr>
          <p:cNvPr id="16" name="Text 14"/>
          <p:cNvSpPr txBox="1"/>
          <p:nvPr/>
        </p:nvSpPr>
        <p:spPr>
          <a:xfrm>
            <a:off x="914400" y="3017520"/>
            <a:ext cx="4809744" cy="512064"/>
          </a:xfrm>
          <a:prstGeom prst="rect">
            <a:avLst/>
          </a:prstGeom>
          <a:noFill/>
          <a:ln/>
        </p:spPr>
        <p:txBody>
          <a:bodyPr wrap="square" lIns="0" tIns="0" rIns="0" bIns="0" rtlCol="0" anchor="t"/>
          <a:lstStyle/>
          <a:p>
            <a:pPr algn="l" indent="0" marL="0">
              <a:lnSpc>
                <a:spcPct val="115000"/>
              </a:lnSpc>
              <a:buNone/>
            </a:pPr>
            <a:r>
              <a:rPr lang="en-US" sz="1200" dirty="0">
                <a:solidFill>
                  <a:srgbClr val="4A4A4A"/>
                </a:solidFill>
                <a:latin typeface="Calibri" pitchFamily="34" charset="0"/>
                <a:ea typeface="Calibri" pitchFamily="34" charset="-122"/>
                <a:cs typeface="Calibri" pitchFamily="34" charset="-120"/>
              </a:rPr>
              <a:t>Moshi 7B q8, Mimi neural codec, Kyutai's Rust/Candle server</a:t>
            </a:r>
            <a:endParaRPr lang="en-US" sz="1200" dirty="0"/>
          </a:p>
        </p:txBody>
      </p:sp>
      <p:sp>
        <p:nvSpPr>
          <p:cNvPr id="17" name="Text 15"/>
          <p:cNvSpPr txBox="1"/>
          <p:nvPr/>
        </p:nvSpPr>
        <p:spPr>
          <a:xfrm>
            <a:off x="914400" y="3584448"/>
            <a:ext cx="4809744" cy="438912"/>
          </a:xfrm>
          <a:prstGeom prst="rect">
            <a:avLst/>
          </a:prstGeom>
          <a:noFill/>
          <a:ln/>
        </p:spPr>
        <p:txBody>
          <a:bodyPr wrap="square" lIns="0" tIns="0" rIns="0" bIns="0" rtlCol="0" anchor="b"/>
          <a:lstStyle/>
          <a:p>
            <a:pPr indent="0" marL="0">
              <a:buNone/>
            </a:pPr>
            <a:r>
              <a:rPr lang="en-US" sz="3000" b="1" dirty="0">
                <a:solidFill>
                  <a:srgbClr val="8A6410"/>
                </a:solidFill>
                <a:latin typeface="Arial" pitchFamily="34" charset="0"/>
                <a:ea typeface="Arial" pitchFamily="34" charset="-122"/>
                <a:cs typeface="Arial" pitchFamily="34" charset="-120"/>
              </a:rPr>
              <a:t>2.0 s</a:t>
            </a:r>
            <a:endParaRPr lang="en-US" sz="3000" dirty="0"/>
          </a:p>
        </p:txBody>
      </p:sp>
      <p:sp>
        <p:nvSpPr>
          <p:cNvPr id="18" name="Text 16"/>
          <p:cNvSpPr txBox="1"/>
          <p:nvPr/>
        </p:nvSpPr>
        <p:spPr>
          <a:xfrm>
            <a:off x="914400" y="4041648"/>
            <a:ext cx="4809744" cy="420624"/>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p50 to first audio, p95 2.6 s — measured through the M2 production bridge</a:t>
            </a:r>
            <a:endParaRPr lang="en-US" sz="1100" dirty="0"/>
          </a:p>
        </p:txBody>
      </p:sp>
      <p:sp>
        <p:nvSpPr>
          <p:cNvPr id="19" name="Shape 17"/>
          <p:cNvSpPr/>
          <p:nvPr/>
        </p:nvSpPr>
        <p:spPr>
          <a:xfrm>
            <a:off x="914400" y="4535424"/>
            <a:ext cx="4809744" cy="0"/>
          </a:xfrm>
          <a:prstGeom prst="line">
            <a:avLst/>
          </a:prstGeom>
          <a:noFill/>
          <a:ln w="12700">
            <a:solidFill>
              <a:srgbClr val="DCE5E4"/>
            </a:solidFill>
            <a:prstDash val="solid"/>
          </a:ln>
        </p:spPr>
      </p:sp>
      <p:sp>
        <p:nvSpPr>
          <p:cNvPr id="20" name="Text 18"/>
          <p:cNvSpPr txBox="1"/>
          <p:nvPr/>
        </p:nvSpPr>
        <p:spPr>
          <a:xfrm>
            <a:off x="914400" y="4645152"/>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Hears dysfluency</a:t>
            </a:r>
            <a:endParaRPr lang="en-US" sz="1100" dirty="0"/>
          </a:p>
        </p:txBody>
      </p:sp>
      <p:sp>
        <p:nvSpPr>
          <p:cNvPr id="21" name="Text 19"/>
          <p:cNvSpPr txBox="1"/>
          <p:nvPr/>
        </p:nvSpPr>
        <p:spPr>
          <a:xfrm>
            <a:off x="2962656" y="4645152"/>
            <a:ext cx="2761488" cy="256032"/>
          </a:xfrm>
          <a:prstGeom prst="rect">
            <a:avLst/>
          </a:prstGeom>
          <a:noFill/>
          <a:ln/>
        </p:spPr>
        <p:txBody>
          <a:bodyPr wrap="square" lIns="0" tIns="0" rIns="0" bIns="0" rtlCol="0" anchor="t"/>
          <a:lstStyle/>
          <a:p>
            <a:pPr algn="l" indent="0" marL="0">
              <a:lnSpc>
                <a:spcPct val="120000"/>
              </a:lnSpc>
              <a:buNone/>
            </a:pPr>
            <a:r>
              <a:rPr lang="en-US" sz="1100" b="1" dirty="0">
                <a:solidFill>
                  <a:srgbClr val="2F2F2F"/>
                </a:solidFill>
                <a:latin typeface="Calibri" pitchFamily="34" charset="0"/>
                <a:ea typeface="Calibri" pitchFamily="34" charset="-122"/>
                <a:cs typeface="Calibri" pitchFamily="34" charset="-120"/>
              </a:rPr>
              <a:t>Yes — natively, from audio tokens</a:t>
            </a:r>
            <a:endParaRPr lang="en-US" sz="1100" dirty="0"/>
          </a:p>
        </p:txBody>
      </p:sp>
      <p:sp>
        <p:nvSpPr>
          <p:cNvPr id="22" name="Text 20"/>
          <p:cNvSpPr txBox="1"/>
          <p:nvPr/>
        </p:nvSpPr>
        <p:spPr>
          <a:xfrm>
            <a:off x="914400" y="4974336"/>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Can retrieve and cite</a:t>
            </a:r>
            <a:endParaRPr lang="en-US" sz="1100" dirty="0"/>
          </a:p>
        </p:txBody>
      </p:sp>
      <p:sp>
        <p:nvSpPr>
          <p:cNvPr id="23" name="Text 21"/>
          <p:cNvSpPr txBox="1"/>
          <p:nvPr/>
        </p:nvSpPr>
        <p:spPr>
          <a:xfrm>
            <a:off x="2962656" y="4974336"/>
            <a:ext cx="2761488" cy="256032"/>
          </a:xfrm>
          <a:prstGeom prst="rect">
            <a:avLst/>
          </a:prstGeom>
          <a:noFill/>
          <a:ln/>
        </p:spPr>
        <p:txBody>
          <a:bodyPr wrap="square" lIns="0" tIns="0" rIns="0" bIns="0" rtlCol="0" anchor="t"/>
          <a:lstStyle/>
          <a:p>
            <a:pPr algn="l" indent="0" marL="0">
              <a:lnSpc>
                <a:spcPct val="120000"/>
              </a:lnSpc>
              <a:buNone/>
            </a:pPr>
            <a:r>
              <a:rPr lang="en-US" sz="1100" dirty="0">
                <a:solidFill>
                  <a:srgbClr val="9AA5A2"/>
                </a:solidFill>
                <a:latin typeface="Calibri" pitchFamily="34" charset="0"/>
                <a:ea typeface="Calibri" pitchFamily="34" charset="-122"/>
                <a:cs typeface="Calibri" pitchFamily="34" charset="-120"/>
              </a:rPr>
              <a:t>No. Structurally cannot.</a:t>
            </a:r>
            <a:endParaRPr lang="en-US" sz="1100" dirty="0"/>
          </a:p>
        </p:txBody>
      </p:sp>
      <p:sp>
        <p:nvSpPr>
          <p:cNvPr id="24" name="Text 22"/>
          <p:cNvSpPr txBox="1"/>
          <p:nvPr/>
        </p:nvSpPr>
        <p:spPr>
          <a:xfrm>
            <a:off x="914400" y="5303520"/>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Can be prompted</a:t>
            </a:r>
            <a:endParaRPr lang="en-US" sz="1100" dirty="0"/>
          </a:p>
        </p:txBody>
      </p:sp>
      <p:sp>
        <p:nvSpPr>
          <p:cNvPr id="25" name="Text 23"/>
          <p:cNvSpPr txBox="1"/>
          <p:nvPr/>
        </p:nvSpPr>
        <p:spPr>
          <a:xfrm>
            <a:off x="2962656" y="5303520"/>
            <a:ext cx="2761488" cy="256032"/>
          </a:xfrm>
          <a:prstGeom prst="rect">
            <a:avLst/>
          </a:prstGeom>
          <a:noFill/>
          <a:ln/>
        </p:spPr>
        <p:txBody>
          <a:bodyPr wrap="square" lIns="0" tIns="0" rIns="0" bIns="0" rtlCol="0" anchor="t"/>
          <a:lstStyle/>
          <a:p>
            <a:pPr algn="l" indent="0" marL="0">
              <a:lnSpc>
                <a:spcPct val="120000"/>
              </a:lnSpc>
              <a:buNone/>
            </a:pPr>
            <a:r>
              <a:rPr lang="en-US" sz="1100" dirty="0">
                <a:solidFill>
                  <a:srgbClr val="9AA5A2"/>
                </a:solidFill>
                <a:latin typeface="Calibri" pitchFamily="34" charset="0"/>
                <a:ea typeface="Calibri" pitchFamily="34" charset="-122"/>
                <a:cs typeface="Calibri" pitchFamily="34" charset="-120"/>
              </a:rPr>
              <a:t>No system prompt exists</a:t>
            </a:r>
            <a:endParaRPr lang="en-US" sz="1100" dirty="0"/>
          </a:p>
        </p:txBody>
      </p:sp>
      <p:sp>
        <p:nvSpPr>
          <p:cNvPr id="26" name="Text 24"/>
          <p:cNvSpPr txBox="1"/>
          <p:nvPr/>
        </p:nvSpPr>
        <p:spPr>
          <a:xfrm>
            <a:off x="914400" y="5632704"/>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Full duplex, barge-in</a:t>
            </a:r>
            <a:endParaRPr lang="en-US" sz="1100" dirty="0"/>
          </a:p>
        </p:txBody>
      </p:sp>
      <p:sp>
        <p:nvSpPr>
          <p:cNvPr id="27" name="Text 25"/>
          <p:cNvSpPr txBox="1"/>
          <p:nvPr/>
        </p:nvSpPr>
        <p:spPr>
          <a:xfrm>
            <a:off x="2962656" y="5632704"/>
            <a:ext cx="2761488" cy="256032"/>
          </a:xfrm>
          <a:prstGeom prst="rect">
            <a:avLst/>
          </a:prstGeom>
          <a:noFill/>
          <a:ln/>
        </p:spPr>
        <p:txBody>
          <a:bodyPr wrap="square" lIns="0" tIns="0" rIns="0" bIns="0" rtlCol="0" anchor="t"/>
          <a:lstStyle/>
          <a:p>
            <a:pPr algn="l" indent="0" marL="0">
              <a:lnSpc>
                <a:spcPct val="120000"/>
              </a:lnSpc>
              <a:buNone/>
            </a:pPr>
            <a:r>
              <a:rPr lang="en-US" sz="1100" b="1" dirty="0">
                <a:solidFill>
                  <a:srgbClr val="2F2F2F"/>
                </a:solidFill>
                <a:latin typeface="Calibri" pitchFamily="34" charset="0"/>
                <a:ea typeface="Calibri" pitchFamily="34" charset="-122"/>
                <a:cs typeface="Calibri" pitchFamily="34" charset="-120"/>
              </a:rPr>
              <a:t>Yes</a:t>
            </a:r>
            <a:endParaRPr lang="en-US" sz="1100" dirty="0"/>
          </a:p>
        </p:txBody>
      </p:sp>
      <p:sp>
        <p:nvSpPr>
          <p:cNvPr id="28" name="Shape 26"/>
          <p:cNvSpPr/>
          <p:nvPr/>
        </p:nvSpPr>
        <p:spPr>
          <a:xfrm>
            <a:off x="6208776" y="2121408"/>
            <a:ext cx="5321808" cy="3749040"/>
          </a:xfrm>
          <a:prstGeom prst="roundRect">
            <a:avLst>
              <a:gd name="adj" fmla="val 3902"/>
            </a:avLst>
          </a:prstGeom>
          <a:solidFill>
            <a:srgbClr val="FFFFFF">
              <a:alpha val="88000"/>
            </a:srgbClr>
          </a:solidFill>
          <a:ln w="12700">
            <a:solidFill>
              <a:srgbClr val="3B5D50"/>
            </a:solidFill>
            <a:prstDash val="solid"/>
          </a:ln>
          <a:effectLst>
            <a:outerShdw sx="100000" sy="100000" kx="0" ky="0" algn="bl" rotWithShape="0" blurRad="152400" dist="25400" dir="5400000">
              <a:srgbClr val="6A6A6A">
                <a:alpha val="16000"/>
              </a:srgbClr>
            </a:outerShdw>
          </a:effectLst>
        </p:spPr>
      </p:sp>
      <p:sp>
        <p:nvSpPr>
          <p:cNvPr id="29" name="Shape 27"/>
          <p:cNvSpPr/>
          <p:nvPr/>
        </p:nvSpPr>
        <p:spPr>
          <a:xfrm>
            <a:off x="6208776" y="2121408"/>
            <a:ext cx="5321808" cy="786384"/>
          </a:xfrm>
          <a:prstGeom prst="roundRect">
            <a:avLst>
              <a:gd name="adj" fmla="val 18605"/>
            </a:avLst>
          </a:prstGeom>
          <a:solidFill>
            <a:srgbClr val="6F9C8A">
              <a:alpha val="16000"/>
            </a:srgbClr>
          </a:solidFill>
          <a:ln/>
        </p:spPr>
      </p:sp>
      <p:sp>
        <p:nvSpPr>
          <p:cNvPr id="30" name="Text 28"/>
          <p:cNvSpPr txBox="1"/>
          <p:nvPr/>
        </p:nvSpPr>
        <p:spPr>
          <a:xfrm>
            <a:off x="6464808" y="2231136"/>
            <a:ext cx="4809744" cy="292608"/>
          </a:xfrm>
          <a:prstGeom prst="rect">
            <a:avLst/>
          </a:prstGeom>
          <a:noFill/>
          <a:ln/>
        </p:spPr>
        <p:txBody>
          <a:bodyPr wrap="square" lIns="0" tIns="0" rIns="0" bIns="0" rtlCol="0" anchor="t"/>
          <a:lstStyle/>
          <a:p>
            <a:pPr algn="l" indent="0" marL="0">
              <a:lnSpc>
                <a:spcPct val="120000"/>
              </a:lnSpc>
              <a:buNone/>
            </a:pPr>
            <a:r>
              <a:rPr lang="en-US" sz="1800" b="1" dirty="0">
                <a:solidFill>
                  <a:srgbClr val="2C463C"/>
                </a:solidFill>
                <a:latin typeface="Calibri" pitchFamily="34" charset="0"/>
                <a:ea typeface="Calibri" pitchFamily="34" charset="-122"/>
                <a:cs typeface="Calibri" pitchFamily="34" charset="-120"/>
              </a:rPr>
              <a:t>Grounded Knowledge</a:t>
            </a:r>
            <a:endParaRPr lang="en-US" sz="1800" dirty="0"/>
          </a:p>
        </p:txBody>
      </p:sp>
      <p:sp>
        <p:nvSpPr>
          <p:cNvPr id="31" name="Text 29"/>
          <p:cNvSpPr txBox="1"/>
          <p:nvPr/>
        </p:nvSpPr>
        <p:spPr>
          <a:xfrm>
            <a:off x="6464808" y="2542032"/>
            <a:ext cx="2834640" cy="237744"/>
          </a:xfrm>
          <a:prstGeom prst="rect">
            <a:avLst/>
          </a:prstGeom>
          <a:noFill/>
          <a:ln/>
        </p:spPr>
        <p:txBody>
          <a:bodyPr wrap="square" lIns="0" tIns="0" rIns="0" bIns="0" rtlCol="0" anchor="ctr"/>
          <a:lstStyle/>
          <a:p>
            <a:pPr algn="l" indent="0" marL="0">
              <a:buNone/>
            </a:pPr>
            <a:r>
              <a:rPr lang="en-US" sz="950" dirty="0">
                <a:solidFill>
                  <a:srgbClr val="6A6A6A"/>
                </a:solidFill>
                <a:latin typeface="Courier New" pitchFamily="34" charset="0"/>
                <a:ea typeface="Courier New" pitchFamily="34" charset="-122"/>
                <a:cs typeface="Courier New" pitchFamily="34" charset="-120"/>
              </a:rPr>
              <a:t>Cascade</a:t>
            </a:r>
            <a:endParaRPr lang="en-US" sz="950" dirty="0"/>
          </a:p>
        </p:txBody>
      </p:sp>
      <p:sp>
        <p:nvSpPr>
          <p:cNvPr id="32" name="Text 30"/>
          <p:cNvSpPr txBox="1"/>
          <p:nvPr/>
        </p:nvSpPr>
        <p:spPr>
          <a:xfrm>
            <a:off x="9061704" y="2542032"/>
            <a:ext cx="2212848" cy="237744"/>
          </a:xfrm>
          <a:prstGeom prst="rect">
            <a:avLst/>
          </a:prstGeom>
          <a:noFill/>
          <a:ln/>
        </p:spPr>
        <p:txBody>
          <a:bodyPr wrap="square" lIns="0" tIns="0" rIns="0" bIns="0" rtlCol="0" anchor="ctr"/>
          <a:lstStyle/>
          <a:p>
            <a:pPr algn="r" indent="0" marL="0">
              <a:buNone/>
            </a:pPr>
            <a:r>
              <a:rPr lang="en-US" sz="900" b="1" dirty="0">
                <a:solidFill>
                  <a:srgbClr val="2C463C"/>
                </a:solidFill>
                <a:latin typeface="Courier New" pitchFamily="34" charset="0"/>
                <a:ea typeface="Courier New" pitchFamily="34" charset="-122"/>
                <a:cs typeface="Courier New" pitchFamily="34" charset="-120"/>
              </a:rPr>
              <a:t>CPU, so the GPU stays free</a:t>
            </a:r>
            <a:endParaRPr lang="en-US" sz="900" dirty="0"/>
          </a:p>
        </p:txBody>
      </p:sp>
      <p:sp>
        <p:nvSpPr>
          <p:cNvPr id="33" name="Text 31"/>
          <p:cNvSpPr txBox="1"/>
          <p:nvPr/>
        </p:nvSpPr>
        <p:spPr>
          <a:xfrm>
            <a:off x="6464808" y="3017520"/>
            <a:ext cx="4809744" cy="512064"/>
          </a:xfrm>
          <a:prstGeom prst="rect">
            <a:avLst/>
          </a:prstGeom>
          <a:noFill/>
          <a:ln/>
        </p:spPr>
        <p:txBody>
          <a:bodyPr wrap="square" lIns="0" tIns="0" rIns="0" bIns="0" rtlCol="0" anchor="t"/>
          <a:lstStyle/>
          <a:p>
            <a:pPr algn="l" indent="0" marL="0">
              <a:lnSpc>
                <a:spcPct val="115000"/>
              </a:lnSpc>
              <a:buNone/>
            </a:pPr>
            <a:r>
              <a:rPr lang="en-US" sz="1200" dirty="0">
                <a:solidFill>
                  <a:srgbClr val="4A4A4A"/>
                </a:solidFill>
                <a:latin typeface="Calibri" pitchFamily="34" charset="0"/>
                <a:ea typeface="Calibri" pitchFamily="34" charset="-122"/>
                <a:cs typeface="Calibri" pitchFamily="34" charset="-120"/>
              </a:rPr>
              <a:t>Whisper → analyzer → RAG → Qwen2.5-3B → Kokoro</a:t>
            </a:r>
            <a:endParaRPr lang="en-US" sz="1200" dirty="0"/>
          </a:p>
        </p:txBody>
      </p:sp>
      <p:sp>
        <p:nvSpPr>
          <p:cNvPr id="34" name="Text 32"/>
          <p:cNvSpPr txBox="1"/>
          <p:nvPr/>
        </p:nvSpPr>
        <p:spPr>
          <a:xfrm>
            <a:off x="6464808" y="3584448"/>
            <a:ext cx="4809744" cy="438912"/>
          </a:xfrm>
          <a:prstGeom prst="rect">
            <a:avLst/>
          </a:prstGeom>
          <a:noFill/>
          <a:ln/>
        </p:spPr>
        <p:txBody>
          <a:bodyPr wrap="square" lIns="0" tIns="0" rIns="0" bIns="0" rtlCol="0" anchor="b"/>
          <a:lstStyle/>
          <a:p>
            <a:pPr indent="0" marL="0">
              <a:buNone/>
            </a:pPr>
            <a:r>
              <a:rPr lang="en-US" sz="3000" b="1" dirty="0">
                <a:solidFill>
                  <a:srgbClr val="2C463C"/>
                </a:solidFill>
                <a:latin typeface="Arial" pitchFamily="34" charset="0"/>
                <a:ea typeface="Arial" pitchFamily="34" charset="-122"/>
                <a:cs typeface="Arial" pitchFamily="34" charset="-120"/>
              </a:rPr>
              <a:t>10–28 s</a:t>
            </a:r>
            <a:endParaRPr lang="en-US" sz="3000" dirty="0"/>
          </a:p>
        </p:txBody>
      </p:sp>
      <p:sp>
        <p:nvSpPr>
          <p:cNvPr id="35" name="Text 33"/>
          <p:cNvSpPr txBox="1"/>
          <p:nvPr/>
        </p:nvSpPr>
        <p:spPr>
          <a:xfrm>
            <a:off x="6464808" y="4041648"/>
            <a:ext cx="4809744" cy="420624"/>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warm, per-turn, dominated entirely by generation on CPU</a:t>
            </a:r>
            <a:endParaRPr lang="en-US" sz="1100" dirty="0"/>
          </a:p>
        </p:txBody>
      </p:sp>
      <p:sp>
        <p:nvSpPr>
          <p:cNvPr id="36" name="Shape 34"/>
          <p:cNvSpPr/>
          <p:nvPr/>
        </p:nvSpPr>
        <p:spPr>
          <a:xfrm>
            <a:off x="6464808" y="4535424"/>
            <a:ext cx="4809744" cy="0"/>
          </a:xfrm>
          <a:prstGeom prst="line">
            <a:avLst/>
          </a:prstGeom>
          <a:noFill/>
          <a:ln w="12700">
            <a:solidFill>
              <a:srgbClr val="DCE5E4"/>
            </a:solidFill>
            <a:prstDash val="solid"/>
          </a:ln>
        </p:spPr>
      </p:sp>
      <p:sp>
        <p:nvSpPr>
          <p:cNvPr id="37" name="Text 35"/>
          <p:cNvSpPr txBox="1"/>
          <p:nvPr/>
        </p:nvSpPr>
        <p:spPr>
          <a:xfrm>
            <a:off x="6464808" y="4645152"/>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Hears dysfluency</a:t>
            </a:r>
            <a:endParaRPr lang="en-US" sz="1100" dirty="0"/>
          </a:p>
        </p:txBody>
      </p:sp>
      <p:sp>
        <p:nvSpPr>
          <p:cNvPr id="38" name="Text 36"/>
          <p:cNvSpPr txBox="1"/>
          <p:nvPr/>
        </p:nvSpPr>
        <p:spPr>
          <a:xfrm>
            <a:off x="8513064" y="4645152"/>
            <a:ext cx="2761488" cy="256032"/>
          </a:xfrm>
          <a:prstGeom prst="rect">
            <a:avLst/>
          </a:prstGeom>
          <a:noFill/>
          <a:ln/>
        </p:spPr>
        <p:txBody>
          <a:bodyPr wrap="square" lIns="0" tIns="0" rIns="0" bIns="0" rtlCol="0" anchor="t"/>
          <a:lstStyle/>
          <a:p>
            <a:pPr algn="l" indent="0" marL="0">
              <a:lnSpc>
                <a:spcPct val="120000"/>
              </a:lnSpc>
              <a:buNone/>
            </a:pPr>
            <a:r>
              <a:rPr lang="en-US" sz="1100" b="1" dirty="0">
                <a:solidFill>
                  <a:srgbClr val="2F2F2F"/>
                </a:solidFill>
                <a:latin typeface="Calibri" pitchFamily="34" charset="0"/>
                <a:ea typeface="Calibri" pitchFamily="34" charset="-122"/>
                <a:cs typeface="Calibri" pitchFamily="34" charset="-120"/>
              </a:rPr>
              <a:t>Yes — via the parallel acoustic branch</a:t>
            </a:r>
            <a:endParaRPr lang="en-US" sz="1100" dirty="0"/>
          </a:p>
        </p:txBody>
      </p:sp>
      <p:sp>
        <p:nvSpPr>
          <p:cNvPr id="39" name="Text 37"/>
          <p:cNvSpPr txBox="1"/>
          <p:nvPr/>
        </p:nvSpPr>
        <p:spPr>
          <a:xfrm>
            <a:off x="6464808" y="4974336"/>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Can retrieve and cite</a:t>
            </a:r>
            <a:endParaRPr lang="en-US" sz="1100" dirty="0"/>
          </a:p>
        </p:txBody>
      </p:sp>
      <p:sp>
        <p:nvSpPr>
          <p:cNvPr id="40" name="Text 38"/>
          <p:cNvSpPr txBox="1"/>
          <p:nvPr/>
        </p:nvSpPr>
        <p:spPr>
          <a:xfrm>
            <a:off x="8513064" y="4974336"/>
            <a:ext cx="2761488" cy="256032"/>
          </a:xfrm>
          <a:prstGeom prst="rect">
            <a:avLst/>
          </a:prstGeom>
          <a:noFill/>
          <a:ln/>
        </p:spPr>
        <p:txBody>
          <a:bodyPr wrap="square" lIns="0" tIns="0" rIns="0" bIns="0" rtlCol="0" anchor="t"/>
          <a:lstStyle/>
          <a:p>
            <a:pPr algn="l" indent="0" marL="0">
              <a:lnSpc>
                <a:spcPct val="120000"/>
              </a:lnSpc>
              <a:buNone/>
            </a:pPr>
            <a:r>
              <a:rPr lang="en-US" sz="1100" b="1" dirty="0">
                <a:solidFill>
                  <a:srgbClr val="2F2F2F"/>
                </a:solidFill>
                <a:latin typeface="Calibri" pitchFamily="34" charset="0"/>
                <a:ea typeface="Calibri" pitchFamily="34" charset="-122"/>
                <a:cs typeface="Calibri" pitchFamily="34" charset="-120"/>
              </a:rPr>
              <a:t>Yes, behind a groundedness gate</a:t>
            </a:r>
            <a:endParaRPr lang="en-US" sz="1100" dirty="0"/>
          </a:p>
        </p:txBody>
      </p:sp>
      <p:sp>
        <p:nvSpPr>
          <p:cNvPr id="41" name="Text 39"/>
          <p:cNvSpPr txBox="1"/>
          <p:nvPr/>
        </p:nvSpPr>
        <p:spPr>
          <a:xfrm>
            <a:off x="6464808" y="5303520"/>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Can be prompted</a:t>
            </a:r>
            <a:endParaRPr lang="en-US" sz="1100" dirty="0"/>
          </a:p>
        </p:txBody>
      </p:sp>
      <p:sp>
        <p:nvSpPr>
          <p:cNvPr id="42" name="Text 40"/>
          <p:cNvSpPr txBox="1"/>
          <p:nvPr/>
        </p:nvSpPr>
        <p:spPr>
          <a:xfrm>
            <a:off x="8513064" y="5303520"/>
            <a:ext cx="2761488" cy="256032"/>
          </a:xfrm>
          <a:prstGeom prst="rect">
            <a:avLst/>
          </a:prstGeom>
          <a:noFill/>
          <a:ln/>
        </p:spPr>
        <p:txBody>
          <a:bodyPr wrap="square" lIns="0" tIns="0" rIns="0" bIns="0" rtlCol="0" anchor="t"/>
          <a:lstStyle/>
          <a:p>
            <a:pPr algn="l" indent="0" marL="0">
              <a:lnSpc>
                <a:spcPct val="120000"/>
              </a:lnSpc>
              <a:buNone/>
            </a:pPr>
            <a:r>
              <a:rPr lang="en-US" sz="1100" b="1" dirty="0">
                <a:solidFill>
                  <a:srgbClr val="2F2F2F"/>
                </a:solidFill>
                <a:latin typeface="Calibri" pitchFamily="34" charset="0"/>
                <a:ea typeface="Calibri" pitchFamily="34" charset="-122"/>
                <a:cs typeface="Calibri" pitchFamily="34" charset="-120"/>
              </a:rPr>
              <a:t>Yes — versioned, currently a12-v5</a:t>
            </a:r>
            <a:endParaRPr lang="en-US" sz="1100" dirty="0"/>
          </a:p>
        </p:txBody>
      </p:sp>
      <p:sp>
        <p:nvSpPr>
          <p:cNvPr id="43" name="Text 41"/>
          <p:cNvSpPr txBox="1"/>
          <p:nvPr/>
        </p:nvSpPr>
        <p:spPr>
          <a:xfrm>
            <a:off x="6464808" y="5632704"/>
            <a:ext cx="2011680" cy="256032"/>
          </a:xfrm>
          <a:prstGeom prst="rect">
            <a:avLst/>
          </a:prstGeom>
          <a:noFill/>
          <a:ln/>
        </p:spPr>
        <p:txBody>
          <a:bodyPr wrap="square" lIns="0" tIns="0" rIns="0" bIns="0" rtlCol="0" anchor="t"/>
          <a:lstStyle/>
          <a:p>
            <a:pPr algn="l" indent="0" marL="0">
              <a:lnSpc>
                <a:spcPct val="120000"/>
              </a:lnSpc>
              <a:buNone/>
            </a:pPr>
            <a:r>
              <a:rPr lang="en-US" sz="1100" dirty="0">
                <a:solidFill>
                  <a:srgbClr val="6A6A6A"/>
                </a:solidFill>
                <a:latin typeface="Calibri" pitchFamily="34" charset="0"/>
                <a:ea typeface="Calibri" pitchFamily="34" charset="-122"/>
                <a:cs typeface="Calibri" pitchFamily="34" charset="-120"/>
              </a:rPr>
              <a:t>Full duplex, barge-in</a:t>
            </a:r>
            <a:endParaRPr lang="en-US" sz="1100" dirty="0"/>
          </a:p>
        </p:txBody>
      </p:sp>
      <p:sp>
        <p:nvSpPr>
          <p:cNvPr id="44" name="Text 42"/>
          <p:cNvSpPr txBox="1"/>
          <p:nvPr/>
        </p:nvSpPr>
        <p:spPr>
          <a:xfrm>
            <a:off x="8513064" y="5632704"/>
            <a:ext cx="2761488" cy="256032"/>
          </a:xfrm>
          <a:prstGeom prst="rect">
            <a:avLst/>
          </a:prstGeom>
          <a:noFill/>
          <a:ln/>
        </p:spPr>
        <p:txBody>
          <a:bodyPr wrap="square" lIns="0" tIns="0" rIns="0" bIns="0" rtlCol="0" anchor="t"/>
          <a:lstStyle/>
          <a:p>
            <a:pPr algn="l" indent="0" marL="0">
              <a:lnSpc>
                <a:spcPct val="120000"/>
              </a:lnSpc>
              <a:buNone/>
            </a:pPr>
            <a:r>
              <a:rPr lang="en-US" sz="1100" dirty="0">
                <a:solidFill>
                  <a:srgbClr val="9AA5A2"/>
                </a:solidFill>
                <a:latin typeface="Calibri" pitchFamily="34" charset="0"/>
                <a:ea typeface="Calibri" pitchFamily="34" charset="-122"/>
                <a:cs typeface="Calibri" pitchFamily="34" charset="-120"/>
              </a:rPr>
              <a:t>No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WHY BOTH ARCHITECTURES EXIST</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200" b="1" dirty="0">
                <a:solidFill>
                  <a:srgbClr val="2F2F2F"/>
                </a:solidFill>
                <a:latin typeface="Arial" pitchFamily="34" charset="0"/>
                <a:ea typeface="Arial" pitchFamily="34" charset="-122"/>
                <a:cs typeface="Arial" pitchFamily="34" charset="-120"/>
              </a:rPr>
              <a:t>One decision, both the strength and the limitation</a:t>
            </a:r>
            <a:endParaRPr lang="en-US" sz="32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docs/PROJECT_PLAN.md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09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517904"/>
            <a:ext cx="1005840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This is one design decision producing both the strength and the limitation. It is not a model that happens to be missing a feature.</a:t>
            </a:r>
            <a:endParaRPr lang="en-US" sz="1500" dirty="0"/>
          </a:p>
        </p:txBody>
      </p:sp>
      <p:sp>
        <p:nvSpPr>
          <p:cNvPr id="11" name="Shape 9"/>
          <p:cNvSpPr/>
          <p:nvPr/>
        </p:nvSpPr>
        <p:spPr>
          <a:xfrm>
            <a:off x="658368" y="2157984"/>
            <a:ext cx="5321808" cy="2157984"/>
          </a:xfrm>
          <a:prstGeom prst="roundRect">
            <a:avLst>
              <a:gd name="adj" fmla="val 6780"/>
            </a:avLst>
          </a:prstGeom>
          <a:solidFill>
            <a:srgbClr val="FFFFFF">
              <a:alpha val="88000"/>
            </a:srgbClr>
          </a:solidFill>
          <a:ln w="12700">
            <a:solidFill>
              <a:srgbClr val="6D4F0C"/>
            </a:solidFill>
            <a:prstDash val="solid"/>
          </a:ln>
          <a:effectLst>
            <a:outerShdw sx="100000" sy="100000" kx="0" ky="0" algn="bl" rotWithShape="0" blurRad="152400" dist="25400" dir="5400000">
              <a:srgbClr val="6A6A6A">
                <a:alpha val="16000"/>
              </a:srgbClr>
            </a:outerShdw>
          </a:effectLst>
        </p:spPr>
      </p:sp>
      <p:sp>
        <p:nvSpPr>
          <p:cNvPr id="12" name="Text 10"/>
          <p:cNvSpPr txBox="1"/>
          <p:nvPr/>
        </p:nvSpPr>
        <p:spPr>
          <a:xfrm>
            <a:off x="914400" y="2322576"/>
            <a:ext cx="4754880" cy="201168"/>
          </a:xfrm>
          <a:prstGeom prst="rect">
            <a:avLst/>
          </a:prstGeom>
          <a:noFill/>
          <a:ln/>
        </p:spPr>
        <p:txBody>
          <a:bodyPr wrap="square" lIns="0" tIns="0" rIns="0" bIns="0" rtlCol="0" anchor="ctr"/>
          <a:lstStyle/>
          <a:p>
            <a:pPr algn="l" indent="0" marL="0">
              <a:buNone/>
            </a:pPr>
            <a:r>
              <a:rPr lang="en-US" sz="950" b="1" spc="180" kern="0" dirty="0">
                <a:solidFill>
                  <a:srgbClr val="8A6410"/>
                </a:solidFill>
                <a:latin typeface="Courier New" pitchFamily="34" charset="0"/>
                <a:ea typeface="Courier New" pitchFamily="34" charset="-122"/>
                <a:cs typeface="Courier New" pitchFamily="34" charset="-120"/>
              </a:rPr>
              <a:t>WHAT REMOVING THE TEXT STEP BUYS</a:t>
            </a:r>
            <a:endParaRPr lang="en-US" sz="950" dirty="0"/>
          </a:p>
        </p:txBody>
      </p:sp>
      <p:sp>
        <p:nvSpPr>
          <p:cNvPr id="13" name="Shape 11"/>
          <p:cNvSpPr/>
          <p:nvPr/>
        </p:nvSpPr>
        <p:spPr>
          <a:xfrm>
            <a:off x="932688" y="2688336"/>
            <a:ext cx="118872" cy="118872"/>
          </a:xfrm>
          <a:prstGeom prst="ellipse">
            <a:avLst/>
          </a:prstGeom>
          <a:solidFill>
            <a:srgbClr val="F2C94C"/>
          </a:solidFill>
          <a:ln/>
        </p:spPr>
      </p:sp>
      <p:sp>
        <p:nvSpPr>
          <p:cNvPr id="14" name="Text 12"/>
          <p:cNvSpPr txBox="1"/>
          <p:nvPr/>
        </p:nvSpPr>
        <p:spPr>
          <a:xfrm>
            <a:off x="1188720" y="2615184"/>
            <a:ext cx="4572000" cy="438912"/>
          </a:xfrm>
          <a:prstGeom prst="rect">
            <a:avLst/>
          </a:prstGeom>
          <a:noFill/>
          <a:ln/>
        </p:spPr>
        <p:txBody>
          <a:bodyPr wrap="square" lIns="0" tIns="0" rIns="0" bIns="0" rtlCol="0" anchor="t"/>
          <a:lstStyle/>
          <a:p>
            <a:pPr algn="l" indent="0" marL="0">
              <a:lnSpc>
                <a:spcPct val="115000"/>
              </a:lnSpc>
              <a:buNone/>
            </a:pPr>
            <a:r>
              <a:rPr lang="en-US" sz="1250" dirty="0">
                <a:solidFill>
                  <a:srgbClr val="4A4A4A"/>
                </a:solidFill>
                <a:latin typeface="Calibri" pitchFamily="34" charset="0"/>
                <a:ea typeface="Calibri" pitchFamily="34" charset="-122"/>
                <a:cs typeface="Calibri" pitchFamily="34" charset="-120"/>
              </a:rPr>
              <a:t>Audio goes straight to audio, so nothing is normalised away in between.</a:t>
            </a:r>
            <a:endParaRPr lang="en-US" sz="1250" dirty="0"/>
          </a:p>
        </p:txBody>
      </p:sp>
      <p:sp>
        <p:nvSpPr>
          <p:cNvPr id="15" name="Shape 13"/>
          <p:cNvSpPr/>
          <p:nvPr/>
        </p:nvSpPr>
        <p:spPr>
          <a:xfrm>
            <a:off x="932688" y="3182112"/>
            <a:ext cx="118872" cy="118872"/>
          </a:xfrm>
          <a:prstGeom prst="ellipse">
            <a:avLst/>
          </a:prstGeom>
          <a:solidFill>
            <a:srgbClr val="F2C94C"/>
          </a:solidFill>
          <a:ln/>
        </p:spPr>
      </p:sp>
      <p:sp>
        <p:nvSpPr>
          <p:cNvPr id="16" name="Text 14"/>
          <p:cNvSpPr txBox="1"/>
          <p:nvPr/>
        </p:nvSpPr>
        <p:spPr>
          <a:xfrm>
            <a:off x="1188720" y="3108960"/>
            <a:ext cx="4572000" cy="438912"/>
          </a:xfrm>
          <a:prstGeom prst="rect">
            <a:avLst/>
          </a:prstGeom>
          <a:noFill/>
          <a:ln/>
        </p:spPr>
        <p:txBody>
          <a:bodyPr wrap="square" lIns="0" tIns="0" rIns="0" bIns="0" rtlCol="0" anchor="t"/>
          <a:lstStyle/>
          <a:p>
            <a:pPr algn="l" indent="0" marL="0">
              <a:lnSpc>
                <a:spcPct val="115000"/>
              </a:lnSpc>
              <a:buNone/>
            </a:pPr>
            <a:r>
              <a:rPr lang="en-US" sz="1250" dirty="0">
                <a:solidFill>
                  <a:srgbClr val="4A4A4A"/>
                </a:solidFill>
                <a:latin typeface="Calibri" pitchFamily="34" charset="0"/>
                <a:ea typeface="Calibri" pitchFamily="34" charset="-122"/>
                <a:cs typeface="Calibri" pitchFamily="34" charset="-120"/>
              </a:rPr>
              <a:t>Dysfluency is perceived directly from audio tokens rather than reconstructed from timings.</a:t>
            </a:r>
            <a:endParaRPr lang="en-US" sz="1250" dirty="0"/>
          </a:p>
        </p:txBody>
      </p:sp>
      <p:sp>
        <p:nvSpPr>
          <p:cNvPr id="17" name="Shape 15"/>
          <p:cNvSpPr/>
          <p:nvPr/>
        </p:nvSpPr>
        <p:spPr>
          <a:xfrm>
            <a:off x="932688" y="3675888"/>
            <a:ext cx="118872" cy="118872"/>
          </a:xfrm>
          <a:prstGeom prst="ellipse">
            <a:avLst/>
          </a:prstGeom>
          <a:solidFill>
            <a:srgbClr val="F2C94C"/>
          </a:solidFill>
          <a:ln/>
        </p:spPr>
      </p:sp>
      <p:sp>
        <p:nvSpPr>
          <p:cNvPr id="18" name="Text 16"/>
          <p:cNvSpPr txBox="1"/>
          <p:nvPr/>
        </p:nvSpPr>
        <p:spPr>
          <a:xfrm>
            <a:off x="1188720" y="3602736"/>
            <a:ext cx="4572000" cy="438912"/>
          </a:xfrm>
          <a:prstGeom prst="rect">
            <a:avLst/>
          </a:prstGeom>
          <a:noFill/>
          <a:ln/>
        </p:spPr>
        <p:txBody>
          <a:bodyPr wrap="square" lIns="0" tIns="0" rIns="0" bIns="0" rtlCol="0" anchor="t"/>
          <a:lstStyle/>
          <a:p>
            <a:pPr algn="l" indent="0" marL="0">
              <a:lnSpc>
                <a:spcPct val="115000"/>
              </a:lnSpc>
              <a:buNone/>
            </a:pPr>
            <a:r>
              <a:rPr lang="en-US" sz="1250" dirty="0">
                <a:solidFill>
                  <a:srgbClr val="4A4A4A"/>
                </a:solidFill>
                <a:latin typeface="Calibri" pitchFamily="34" charset="0"/>
                <a:ea typeface="Calibri" pitchFamily="34" charset="-122"/>
                <a:cs typeface="Calibri" pitchFamily="34" charset="-120"/>
              </a:rPr>
              <a:t>Full duplex: the model can listen and speak at once, so the user can interrupt it.</a:t>
            </a:r>
            <a:endParaRPr lang="en-US" sz="1250" dirty="0"/>
          </a:p>
        </p:txBody>
      </p:sp>
      <p:sp>
        <p:nvSpPr>
          <p:cNvPr id="19" name="Shape 17"/>
          <p:cNvSpPr/>
          <p:nvPr/>
        </p:nvSpPr>
        <p:spPr>
          <a:xfrm>
            <a:off x="6208776" y="2157984"/>
            <a:ext cx="5321808" cy="2157984"/>
          </a:xfrm>
          <a:prstGeom prst="roundRect">
            <a:avLst>
              <a:gd name="adj" fmla="val 678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0" name="Text 18"/>
          <p:cNvSpPr txBox="1"/>
          <p:nvPr/>
        </p:nvSpPr>
        <p:spPr>
          <a:xfrm>
            <a:off x="6464808" y="2322576"/>
            <a:ext cx="4754880" cy="201168"/>
          </a:xfrm>
          <a:prstGeom prst="rect">
            <a:avLst/>
          </a:prstGeom>
          <a:noFill/>
          <a:ln/>
        </p:spPr>
        <p:txBody>
          <a:bodyPr wrap="square" lIns="0" tIns="0" rIns="0" bIns="0" rtlCol="0" anchor="ctr"/>
          <a:lstStyle/>
          <a:p>
            <a:pPr algn="l" indent="0" marL="0">
              <a:buNone/>
            </a:pPr>
            <a:r>
              <a:rPr lang="en-US" sz="950" b="1" spc="180" kern="0" dirty="0">
                <a:solidFill>
                  <a:srgbClr val="A3271C"/>
                </a:solidFill>
                <a:latin typeface="Courier New" pitchFamily="34" charset="0"/>
                <a:ea typeface="Courier New" pitchFamily="34" charset="-122"/>
                <a:cs typeface="Courier New" pitchFamily="34" charset="-120"/>
              </a:rPr>
              <a:t>WHAT THE SAME DECISION COSTS</a:t>
            </a:r>
            <a:endParaRPr lang="en-US" sz="950" dirty="0"/>
          </a:p>
        </p:txBody>
      </p:sp>
      <p:sp>
        <p:nvSpPr>
          <p:cNvPr id="21" name="Shape 19"/>
          <p:cNvSpPr/>
          <p:nvPr/>
        </p:nvSpPr>
        <p:spPr>
          <a:xfrm>
            <a:off x="6483096" y="2670048"/>
            <a:ext cx="118872" cy="118872"/>
          </a:xfrm>
          <a:prstGeom prst="roundRect">
            <a:avLst>
              <a:gd name="adj" fmla="val 23077"/>
            </a:avLst>
          </a:prstGeom>
          <a:solidFill>
            <a:srgbClr val="A3271C"/>
          </a:solidFill>
          <a:ln/>
        </p:spPr>
      </p:sp>
      <p:sp>
        <p:nvSpPr>
          <p:cNvPr id="22" name="Text 20"/>
          <p:cNvSpPr txBox="1"/>
          <p:nvPr/>
        </p:nvSpPr>
        <p:spPr>
          <a:xfrm>
            <a:off x="6739128" y="2615184"/>
            <a:ext cx="4572000" cy="438912"/>
          </a:xfrm>
          <a:prstGeom prst="rect">
            <a:avLst/>
          </a:prstGeom>
          <a:noFill/>
          <a:ln/>
        </p:spPr>
        <p:txBody>
          <a:bodyPr wrap="square" lIns="0" tIns="0" rIns="0" bIns="0" rtlCol="0" anchor="t"/>
          <a:lstStyle/>
          <a:p>
            <a:pPr algn="l" indent="0" marL="0">
              <a:lnSpc>
                <a:spcPct val="115000"/>
              </a:lnSpc>
              <a:buNone/>
            </a:pPr>
            <a:r>
              <a:rPr lang="en-US" sz="1250" dirty="0">
                <a:solidFill>
                  <a:srgbClr val="4A4A4A"/>
                </a:solidFill>
                <a:latin typeface="Calibri" pitchFamily="34" charset="0"/>
                <a:ea typeface="Calibri" pitchFamily="34" charset="-122"/>
                <a:cs typeface="Calibri" pitchFamily="34" charset="-120"/>
              </a:rPr>
              <a:t>No prompt surface. Moshi is not instruction-followable — there is no system prompt to write.</a:t>
            </a:r>
            <a:endParaRPr lang="en-US" sz="1250" dirty="0"/>
          </a:p>
        </p:txBody>
      </p:sp>
      <p:sp>
        <p:nvSpPr>
          <p:cNvPr id="23" name="Shape 21"/>
          <p:cNvSpPr/>
          <p:nvPr/>
        </p:nvSpPr>
        <p:spPr>
          <a:xfrm>
            <a:off x="6483096" y="3163824"/>
            <a:ext cx="118872" cy="118872"/>
          </a:xfrm>
          <a:prstGeom prst="roundRect">
            <a:avLst>
              <a:gd name="adj" fmla="val 23077"/>
            </a:avLst>
          </a:prstGeom>
          <a:solidFill>
            <a:srgbClr val="A3271C"/>
          </a:solidFill>
          <a:ln/>
        </p:spPr>
      </p:sp>
      <p:sp>
        <p:nvSpPr>
          <p:cNvPr id="24" name="Text 22"/>
          <p:cNvSpPr txBox="1"/>
          <p:nvPr/>
        </p:nvSpPr>
        <p:spPr>
          <a:xfrm>
            <a:off x="6739128" y="3108960"/>
            <a:ext cx="4572000" cy="438912"/>
          </a:xfrm>
          <a:prstGeom prst="rect">
            <a:avLst/>
          </a:prstGeom>
          <a:noFill/>
          <a:ln/>
        </p:spPr>
        <p:txBody>
          <a:bodyPr wrap="square" lIns="0" tIns="0" rIns="0" bIns="0" rtlCol="0" anchor="t"/>
          <a:lstStyle/>
          <a:p>
            <a:pPr algn="l" indent="0" marL="0">
              <a:lnSpc>
                <a:spcPct val="115000"/>
              </a:lnSpc>
              <a:buNone/>
            </a:pPr>
            <a:r>
              <a:rPr lang="en-US" sz="1250" dirty="0">
                <a:solidFill>
                  <a:srgbClr val="4A4A4A"/>
                </a:solidFill>
                <a:latin typeface="Calibri" pitchFamily="34" charset="0"/>
                <a:ea typeface="Calibri" pitchFamily="34" charset="-122"/>
                <a:cs typeface="Calibri" pitchFamily="34" charset="-120"/>
              </a:rPr>
              <a:t>No retrieval injection point. There is nowhere to put a passage from the corpus.</a:t>
            </a:r>
            <a:endParaRPr lang="en-US" sz="1250" dirty="0"/>
          </a:p>
        </p:txBody>
      </p:sp>
      <p:sp>
        <p:nvSpPr>
          <p:cNvPr id="25" name="Shape 23"/>
          <p:cNvSpPr/>
          <p:nvPr/>
        </p:nvSpPr>
        <p:spPr>
          <a:xfrm>
            <a:off x="6483096" y="3657600"/>
            <a:ext cx="118872" cy="118872"/>
          </a:xfrm>
          <a:prstGeom prst="roundRect">
            <a:avLst>
              <a:gd name="adj" fmla="val 23077"/>
            </a:avLst>
          </a:prstGeom>
          <a:solidFill>
            <a:srgbClr val="A3271C"/>
          </a:solidFill>
          <a:ln/>
        </p:spPr>
      </p:sp>
      <p:sp>
        <p:nvSpPr>
          <p:cNvPr id="26" name="Text 24"/>
          <p:cNvSpPr txBox="1"/>
          <p:nvPr/>
        </p:nvSpPr>
        <p:spPr>
          <a:xfrm>
            <a:off x="6739128" y="3602736"/>
            <a:ext cx="4572000" cy="438912"/>
          </a:xfrm>
          <a:prstGeom prst="rect">
            <a:avLst/>
          </a:prstGeom>
          <a:noFill/>
          <a:ln/>
        </p:spPr>
        <p:txBody>
          <a:bodyPr wrap="square" lIns="0" tIns="0" rIns="0" bIns="0" rtlCol="0" anchor="t"/>
          <a:lstStyle/>
          <a:p>
            <a:pPr algn="l" indent="0" marL="0">
              <a:lnSpc>
                <a:spcPct val="115000"/>
              </a:lnSpc>
              <a:buNone/>
            </a:pPr>
            <a:r>
              <a:rPr lang="en-US" sz="1250" dirty="0">
                <a:solidFill>
                  <a:srgbClr val="4A4A4A"/>
                </a:solidFill>
                <a:latin typeface="Calibri" pitchFamily="34" charset="0"/>
                <a:ea typeface="Calibri" pitchFamily="34" charset="-122"/>
                <a:cs typeface="Calibri" pitchFamily="34" charset="-120"/>
              </a:rPr>
              <a:t>No text LLM to fine-tune, and English only.</a:t>
            </a:r>
            <a:endParaRPr lang="en-US" sz="1250" dirty="0"/>
          </a:p>
        </p:txBody>
      </p:sp>
      <p:sp>
        <p:nvSpPr>
          <p:cNvPr id="27" name="Shape 25"/>
          <p:cNvSpPr/>
          <p:nvPr/>
        </p:nvSpPr>
        <p:spPr>
          <a:xfrm>
            <a:off x="658368" y="4517136"/>
            <a:ext cx="10874959" cy="1335024"/>
          </a:xfrm>
          <a:prstGeom prst="roundRect">
            <a:avLst>
              <a:gd name="adj" fmla="val 10959"/>
            </a:avLst>
          </a:prstGeom>
          <a:solidFill>
            <a:srgbClr val="F5F7F6">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8" name="Text 26"/>
          <p:cNvSpPr txBox="1"/>
          <p:nvPr/>
        </p:nvSpPr>
        <p:spPr>
          <a:xfrm>
            <a:off x="950976" y="4626864"/>
            <a:ext cx="10289743" cy="1133856"/>
          </a:xfrm>
          <a:prstGeom prst="rect">
            <a:avLst/>
          </a:prstGeom>
          <a:noFill/>
          <a:ln/>
        </p:spPr>
        <p:txBody>
          <a:bodyPr wrap="square" lIns="0" tIns="0" rIns="0" bIns="0" rtlCol="0" anchor="t"/>
          <a:lstStyle/>
          <a:p>
            <a:pPr indent="0" marL="0">
              <a:lnSpc>
                <a:spcPct val="120000"/>
              </a:lnSpc>
              <a:buNone/>
            </a:pPr>
            <a:r>
              <a:rPr lang="en-US" sz="1350" dirty="0">
                <a:solidFill>
                  <a:srgbClr val="4A4A4A"/>
                </a:solidFill>
                <a:latin typeface="Calibri" pitchFamily="34" charset="0"/>
                <a:ea typeface="Calibri" pitchFamily="34" charset="-122"/>
                <a:cs typeface="Calibri" pitchFamily="34" charset="-120"/>
              </a:rPr>
              <a:t>Five of the eleven features the brief requires — speech-to-text, RAG, prompt engineering, a fine-tuned LLM, and a base-versus-fine-tuned comparison — have no place to live inside a native S2S model.
</a:t>
            </a:r>
            <a:pPr indent="0" marL="0">
              <a:lnSpc>
                <a:spcPct val="120000"/>
              </a:lnSpc>
              <a:buNone/>
            </a:pPr>
            <a:r>
              <a:rPr lang="en-US" sz="1350" b="1" dirty="0">
                <a:solidFill>
                  <a:srgbClr val="2F2F2F"/>
                </a:solidFill>
                <a:latin typeface="Calibri" pitchFamily="34" charset="0"/>
                <a:ea typeface="Calibri" pitchFamily="34" charset="-122"/>
                <a:cs typeface="Calibri" pitchFamily="34" charset="-120"/>
              </a:rPr>
              <a:t>So the cascade is demoted, not dropped. It is where grounded coaching content has to come from, and it doubles as the fallback if the flagship is unreachable. Each path does the thing the other structurally cannot.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THE ACOUSTIC BRANCH</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2F2F2F"/>
                </a:solidFill>
                <a:latin typeface="Arial" pitchFamily="34" charset="0"/>
                <a:ea typeface="Arial" pitchFamily="34" charset="-122"/>
                <a:cs typeface="Arial" pitchFamily="34" charset="-120"/>
              </a:rPr>
              <a:t>One frozen contract between the two tracks</a:t>
            </a:r>
            <a:endParaRPr lang="en-US" sz="34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backend/app/schemas/acoustic.py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10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444752"/>
            <a:ext cx="1042416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The analyzer emits a single structure. Track A's prompt builder and interface consume it; Track M's classifier produces it. Changing a field name is a breaking change for the other track, so the schema is versioned and frozen.</a:t>
            </a:r>
            <a:endParaRPr lang="en-US" sz="1500" dirty="0"/>
          </a:p>
        </p:txBody>
      </p:sp>
      <p:sp>
        <p:nvSpPr>
          <p:cNvPr id="11" name="Shape 9"/>
          <p:cNvSpPr/>
          <p:nvPr/>
        </p:nvSpPr>
        <p:spPr>
          <a:xfrm>
            <a:off x="658368" y="2212848"/>
            <a:ext cx="3310128" cy="3621024"/>
          </a:xfrm>
          <a:prstGeom prst="roundRect">
            <a:avLst>
              <a:gd name="adj" fmla="val 4420"/>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2" name="Text 10"/>
          <p:cNvSpPr txBox="1"/>
          <p:nvPr/>
        </p:nvSpPr>
        <p:spPr>
          <a:xfrm>
            <a:off x="896112" y="2377440"/>
            <a:ext cx="283464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WHAT IT MEASURES</a:t>
            </a:r>
            <a:endParaRPr lang="en-US" sz="950" dirty="0"/>
          </a:p>
        </p:txBody>
      </p:sp>
      <p:sp>
        <p:nvSpPr>
          <p:cNvPr id="13" name="Shape 11"/>
          <p:cNvSpPr/>
          <p:nvPr/>
        </p:nvSpPr>
        <p:spPr>
          <a:xfrm>
            <a:off x="896112" y="2743200"/>
            <a:ext cx="128016" cy="128016"/>
          </a:xfrm>
          <a:prstGeom prst="roundRect">
            <a:avLst>
              <a:gd name="adj" fmla="val 21429"/>
            </a:avLst>
          </a:prstGeom>
          <a:solidFill>
            <a:srgbClr val="2D90C3"/>
          </a:solidFill>
          <a:ln/>
        </p:spPr>
      </p:sp>
      <p:sp>
        <p:nvSpPr>
          <p:cNvPr id="14" name="Text 12"/>
          <p:cNvSpPr txBox="1"/>
          <p:nvPr/>
        </p:nvSpPr>
        <p:spPr>
          <a:xfrm>
            <a:off x="1133856" y="2688336"/>
            <a:ext cx="2651760" cy="256032"/>
          </a:xfrm>
          <a:prstGeom prst="rect">
            <a:avLst/>
          </a:prstGeom>
          <a:noFill/>
          <a:ln/>
        </p:spPr>
        <p:txBody>
          <a:bodyPr wrap="square" lIns="0" tIns="0" rIns="0" bIns="0" rtlCol="0" anchor="t"/>
          <a:lstStyle/>
          <a:p>
            <a:pPr algn="l" indent="0" marL="0">
              <a:lnSpc>
                <a:spcPct val="120000"/>
              </a:lnSpc>
              <a:buNone/>
            </a:pPr>
            <a:r>
              <a:rPr lang="en-US" sz="1200" dirty="0">
                <a:solidFill>
                  <a:srgbClr val="4A4A4A"/>
                </a:solidFill>
                <a:latin typeface="Calibri" pitchFamily="34" charset="0"/>
                <a:ea typeface="Calibri" pitchFamily="34" charset="-122"/>
                <a:cs typeface="Calibri" pitchFamily="34" charset="-120"/>
              </a:rPr>
              <a:t>Block</a:t>
            </a:r>
            <a:endParaRPr lang="en-US" sz="1200" dirty="0"/>
          </a:p>
        </p:txBody>
      </p:sp>
      <p:sp>
        <p:nvSpPr>
          <p:cNvPr id="15" name="Shape 13"/>
          <p:cNvSpPr/>
          <p:nvPr/>
        </p:nvSpPr>
        <p:spPr>
          <a:xfrm>
            <a:off x="896112" y="3054096"/>
            <a:ext cx="128016" cy="128016"/>
          </a:xfrm>
          <a:prstGeom prst="roundRect">
            <a:avLst>
              <a:gd name="adj" fmla="val 21429"/>
            </a:avLst>
          </a:prstGeom>
          <a:solidFill>
            <a:srgbClr val="C78200"/>
          </a:solidFill>
          <a:ln/>
        </p:spPr>
      </p:sp>
      <p:sp>
        <p:nvSpPr>
          <p:cNvPr id="16" name="Text 14"/>
          <p:cNvSpPr txBox="1"/>
          <p:nvPr/>
        </p:nvSpPr>
        <p:spPr>
          <a:xfrm>
            <a:off x="1133856" y="2999232"/>
            <a:ext cx="2651760" cy="256032"/>
          </a:xfrm>
          <a:prstGeom prst="rect">
            <a:avLst/>
          </a:prstGeom>
          <a:noFill/>
          <a:ln/>
        </p:spPr>
        <p:txBody>
          <a:bodyPr wrap="square" lIns="0" tIns="0" rIns="0" bIns="0" rtlCol="0" anchor="t"/>
          <a:lstStyle/>
          <a:p>
            <a:pPr algn="l" indent="0" marL="0">
              <a:lnSpc>
                <a:spcPct val="120000"/>
              </a:lnSpc>
              <a:buNone/>
            </a:pPr>
            <a:r>
              <a:rPr lang="en-US" sz="1200" dirty="0">
                <a:solidFill>
                  <a:srgbClr val="4A4A4A"/>
                </a:solidFill>
                <a:latin typeface="Calibri" pitchFamily="34" charset="0"/>
                <a:ea typeface="Calibri" pitchFamily="34" charset="-122"/>
                <a:cs typeface="Calibri" pitchFamily="34" charset="-120"/>
              </a:rPr>
              <a:t>Prolongation</a:t>
            </a:r>
            <a:endParaRPr lang="en-US" sz="1200" dirty="0"/>
          </a:p>
        </p:txBody>
      </p:sp>
      <p:sp>
        <p:nvSpPr>
          <p:cNvPr id="17" name="Shape 15"/>
          <p:cNvSpPr/>
          <p:nvPr/>
        </p:nvSpPr>
        <p:spPr>
          <a:xfrm>
            <a:off x="896112" y="3364992"/>
            <a:ext cx="128016" cy="128016"/>
          </a:xfrm>
          <a:prstGeom prst="roundRect">
            <a:avLst>
              <a:gd name="adj" fmla="val 21429"/>
            </a:avLst>
          </a:prstGeom>
          <a:solidFill>
            <a:srgbClr val="BF6D9B"/>
          </a:solidFill>
          <a:ln/>
        </p:spPr>
      </p:sp>
      <p:sp>
        <p:nvSpPr>
          <p:cNvPr id="18" name="Text 16"/>
          <p:cNvSpPr txBox="1"/>
          <p:nvPr/>
        </p:nvSpPr>
        <p:spPr>
          <a:xfrm>
            <a:off x="1133856" y="3310128"/>
            <a:ext cx="2651760" cy="256032"/>
          </a:xfrm>
          <a:prstGeom prst="rect">
            <a:avLst/>
          </a:prstGeom>
          <a:noFill/>
          <a:ln/>
        </p:spPr>
        <p:txBody>
          <a:bodyPr wrap="square" lIns="0" tIns="0" rIns="0" bIns="0" rtlCol="0" anchor="t"/>
          <a:lstStyle/>
          <a:p>
            <a:pPr algn="l" indent="0" marL="0">
              <a:lnSpc>
                <a:spcPct val="120000"/>
              </a:lnSpc>
              <a:buNone/>
            </a:pPr>
            <a:r>
              <a:rPr lang="en-US" sz="1200" dirty="0">
                <a:solidFill>
                  <a:srgbClr val="4A4A4A"/>
                </a:solidFill>
                <a:latin typeface="Calibri" pitchFamily="34" charset="0"/>
                <a:ea typeface="Calibri" pitchFamily="34" charset="-122"/>
                <a:cs typeface="Calibri" pitchFamily="34" charset="-120"/>
              </a:rPr>
              <a:t>Sound repetition</a:t>
            </a:r>
            <a:endParaRPr lang="en-US" sz="1200" dirty="0"/>
          </a:p>
        </p:txBody>
      </p:sp>
      <p:sp>
        <p:nvSpPr>
          <p:cNvPr id="19" name="Shape 17"/>
          <p:cNvSpPr/>
          <p:nvPr/>
        </p:nvSpPr>
        <p:spPr>
          <a:xfrm>
            <a:off x="896112" y="3675888"/>
            <a:ext cx="128016" cy="128016"/>
          </a:xfrm>
          <a:prstGeom prst="roundRect">
            <a:avLst>
              <a:gd name="adj" fmla="val 21429"/>
            </a:avLst>
          </a:prstGeom>
          <a:solidFill>
            <a:srgbClr val="007C54"/>
          </a:solidFill>
          <a:ln/>
        </p:spPr>
      </p:sp>
      <p:sp>
        <p:nvSpPr>
          <p:cNvPr id="20" name="Text 18"/>
          <p:cNvSpPr txBox="1"/>
          <p:nvPr/>
        </p:nvSpPr>
        <p:spPr>
          <a:xfrm>
            <a:off x="1133856" y="3621024"/>
            <a:ext cx="2651760" cy="256032"/>
          </a:xfrm>
          <a:prstGeom prst="rect">
            <a:avLst/>
          </a:prstGeom>
          <a:noFill/>
          <a:ln/>
        </p:spPr>
        <p:txBody>
          <a:bodyPr wrap="square" lIns="0" tIns="0" rIns="0" bIns="0" rtlCol="0" anchor="t"/>
          <a:lstStyle/>
          <a:p>
            <a:pPr algn="l" indent="0" marL="0">
              <a:lnSpc>
                <a:spcPct val="120000"/>
              </a:lnSpc>
              <a:buNone/>
            </a:pPr>
            <a:r>
              <a:rPr lang="en-US" sz="1200" dirty="0">
                <a:solidFill>
                  <a:srgbClr val="4A4A4A"/>
                </a:solidFill>
                <a:latin typeface="Calibri" pitchFamily="34" charset="0"/>
                <a:ea typeface="Calibri" pitchFamily="34" charset="-122"/>
                <a:cs typeface="Calibri" pitchFamily="34" charset="-120"/>
              </a:rPr>
              <a:t>Word repetition</a:t>
            </a:r>
            <a:endParaRPr lang="en-US" sz="1200" dirty="0"/>
          </a:p>
        </p:txBody>
      </p:sp>
      <p:sp>
        <p:nvSpPr>
          <p:cNvPr id="21" name="Shape 19"/>
          <p:cNvSpPr/>
          <p:nvPr/>
        </p:nvSpPr>
        <p:spPr>
          <a:xfrm>
            <a:off x="896112" y="3986784"/>
            <a:ext cx="128016" cy="128016"/>
          </a:xfrm>
          <a:prstGeom prst="roundRect">
            <a:avLst>
              <a:gd name="adj" fmla="val 21429"/>
            </a:avLst>
          </a:prstGeom>
          <a:solidFill>
            <a:srgbClr val="B64100"/>
          </a:solidFill>
          <a:ln/>
        </p:spPr>
      </p:sp>
      <p:sp>
        <p:nvSpPr>
          <p:cNvPr id="22" name="Text 20"/>
          <p:cNvSpPr txBox="1"/>
          <p:nvPr/>
        </p:nvSpPr>
        <p:spPr>
          <a:xfrm>
            <a:off x="1133856" y="3931920"/>
            <a:ext cx="2651760" cy="256032"/>
          </a:xfrm>
          <a:prstGeom prst="rect">
            <a:avLst/>
          </a:prstGeom>
          <a:noFill/>
          <a:ln/>
        </p:spPr>
        <p:txBody>
          <a:bodyPr wrap="square" lIns="0" tIns="0" rIns="0" bIns="0" rtlCol="0" anchor="t"/>
          <a:lstStyle/>
          <a:p>
            <a:pPr algn="l" indent="0" marL="0">
              <a:lnSpc>
                <a:spcPct val="120000"/>
              </a:lnSpc>
              <a:buNone/>
            </a:pPr>
            <a:r>
              <a:rPr lang="en-US" sz="1200" dirty="0">
                <a:solidFill>
                  <a:srgbClr val="4A4A4A"/>
                </a:solidFill>
                <a:latin typeface="Calibri" pitchFamily="34" charset="0"/>
                <a:ea typeface="Calibri" pitchFamily="34" charset="-122"/>
                <a:cs typeface="Calibri" pitchFamily="34" charset="-120"/>
              </a:rPr>
              <a:t>Interjection</a:t>
            </a:r>
            <a:endParaRPr lang="en-US" sz="1200" dirty="0"/>
          </a:p>
        </p:txBody>
      </p:sp>
      <p:sp>
        <p:nvSpPr>
          <p:cNvPr id="23" name="Shape 21"/>
          <p:cNvSpPr/>
          <p:nvPr/>
        </p:nvSpPr>
        <p:spPr>
          <a:xfrm>
            <a:off x="896112" y="4297680"/>
            <a:ext cx="128016" cy="128016"/>
          </a:xfrm>
          <a:prstGeom prst="roundRect">
            <a:avLst>
              <a:gd name="adj" fmla="val 21429"/>
            </a:avLst>
          </a:prstGeom>
          <a:solidFill>
            <a:srgbClr val="97A49F"/>
          </a:solidFill>
          <a:ln/>
        </p:spPr>
      </p:sp>
      <p:sp>
        <p:nvSpPr>
          <p:cNvPr id="24" name="Text 22"/>
          <p:cNvSpPr txBox="1"/>
          <p:nvPr/>
        </p:nvSpPr>
        <p:spPr>
          <a:xfrm>
            <a:off x="1133856" y="4242816"/>
            <a:ext cx="2651760" cy="256032"/>
          </a:xfrm>
          <a:prstGeom prst="rect">
            <a:avLst/>
          </a:prstGeom>
          <a:noFill/>
          <a:ln/>
        </p:spPr>
        <p:txBody>
          <a:bodyPr wrap="square" lIns="0" tIns="0" rIns="0" bIns="0" rtlCol="0" anchor="t"/>
          <a:lstStyle/>
          <a:p>
            <a:pPr algn="l" indent="0" marL="0">
              <a:lnSpc>
                <a:spcPct val="120000"/>
              </a:lnSpc>
              <a:buNone/>
            </a:pPr>
            <a:r>
              <a:rPr lang="en-US" sz="1200" dirty="0">
                <a:solidFill>
                  <a:srgbClr val="4A4A4A"/>
                </a:solidFill>
                <a:latin typeface="Calibri" pitchFamily="34" charset="0"/>
                <a:ea typeface="Calibri" pitchFamily="34" charset="-122"/>
                <a:cs typeface="Calibri" pitchFamily="34" charset="-120"/>
              </a:rPr>
              <a:t>Unsure</a:t>
            </a:r>
            <a:endParaRPr lang="en-US" sz="1200" dirty="0"/>
          </a:p>
        </p:txBody>
      </p:sp>
      <p:sp>
        <p:nvSpPr>
          <p:cNvPr id="25" name="Shape 23"/>
          <p:cNvSpPr/>
          <p:nvPr/>
        </p:nvSpPr>
        <p:spPr>
          <a:xfrm>
            <a:off x="896112" y="4626864"/>
            <a:ext cx="2834640" cy="0"/>
          </a:xfrm>
          <a:prstGeom prst="line">
            <a:avLst/>
          </a:prstGeom>
          <a:noFill/>
          <a:ln w="12700">
            <a:solidFill>
              <a:srgbClr val="DCE5E4"/>
            </a:solidFill>
            <a:prstDash val="solid"/>
          </a:ln>
        </p:spPr>
      </p:sp>
      <p:sp>
        <p:nvSpPr>
          <p:cNvPr id="26" name="Text 24"/>
          <p:cNvSpPr txBox="1"/>
          <p:nvPr/>
        </p:nvSpPr>
        <p:spPr>
          <a:xfrm>
            <a:off x="896112" y="4700016"/>
            <a:ext cx="2834640" cy="402336"/>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each with a start, an end, a duration and a confidence</a:t>
            </a:r>
            <a:endParaRPr lang="en-US" sz="1100" dirty="0"/>
          </a:p>
        </p:txBody>
      </p:sp>
      <p:sp>
        <p:nvSpPr>
          <p:cNvPr id="27" name="Text 25"/>
          <p:cNvSpPr txBox="1"/>
          <p:nvPr/>
        </p:nvSpPr>
        <p:spPr>
          <a:xfrm>
            <a:off x="896112" y="5138928"/>
            <a:ext cx="2834640" cy="658368"/>
          </a:xfrm>
          <a:prstGeom prst="rect">
            <a:avLst/>
          </a:prstGeom>
          <a:noFill/>
          <a:ln/>
        </p:spPr>
        <p:txBody>
          <a:bodyPr wrap="square" lIns="0" tIns="0" rIns="0" bIns="0" rtlCol="0" anchor="t"/>
          <a:lstStyle/>
          <a:p>
            <a:pPr algn="l" indent="0" marL="0">
              <a:lnSpc>
                <a:spcPct val="112000"/>
              </a:lnSpc>
              <a:buNone/>
            </a:pPr>
            <a:r>
              <a:rPr lang="en-US" sz="1100" dirty="0">
                <a:solidFill>
                  <a:srgbClr val="6A6A6A"/>
                </a:solidFill>
                <a:latin typeface="Calibri" pitchFamily="34" charset="0"/>
                <a:ea typeface="Calibri" pitchFamily="34" charset="-122"/>
                <a:cs typeface="Calibri" pitchFamily="34" charset="-120"/>
              </a:rPr>
              <a:t>plus prosody: speech rate, articulation rate, mean and longest pause, pitch mean and variation, energy variation</a:t>
            </a:r>
            <a:endParaRPr lang="en-US" sz="1100" dirty="0"/>
          </a:p>
        </p:txBody>
      </p:sp>
      <p:sp>
        <p:nvSpPr>
          <p:cNvPr id="28" name="Shape 26"/>
          <p:cNvSpPr/>
          <p:nvPr/>
        </p:nvSpPr>
        <p:spPr>
          <a:xfrm>
            <a:off x="4187952" y="2212848"/>
            <a:ext cx="3529584" cy="3621024"/>
          </a:xfrm>
          <a:prstGeom prst="roundRect">
            <a:avLst>
              <a:gd name="adj" fmla="val 4145"/>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9" name="Text 27"/>
          <p:cNvSpPr txBox="1"/>
          <p:nvPr/>
        </p:nvSpPr>
        <p:spPr>
          <a:xfrm>
            <a:off x="4425696" y="2377440"/>
            <a:ext cx="301752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THE JUDGEMENT INSIDE IT</a:t>
            </a:r>
            <a:endParaRPr lang="en-US" sz="950" dirty="0"/>
          </a:p>
        </p:txBody>
      </p:sp>
      <p:sp>
        <p:nvSpPr>
          <p:cNvPr id="30" name="Text 28"/>
          <p:cNvSpPr txBox="1"/>
          <p:nvPr/>
        </p:nvSpPr>
        <p:spPr>
          <a:xfrm>
            <a:off x="4425696" y="2688336"/>
            <a:ext cx="3054096" cy="457200"/>
          </a:xfrm>
          <a:prstGeom prst="rect">
            <a:avLst/>
          </a:prstGeom>
          <a:noFill/>
          <a:ln/>
        </p:spPr>
        <p:txBody>
          <a:bodyPr wrap="square" lIns="0" tIns="0" rIns="0" bIns="0" rtlCol="0" anchor="t"/>
          <a:lstStyle/>
          <a:p>
            <a:pPr algn="l" indent="0" marL="0">
              <a:lnSpc>
                <a:spcPct val="110000"/>
              </a:lnSpc>
              <a:buNone/>
            </a:pPr>
            <a:r>
              <a:rPr lang="en-US" sz="1400" b="1" dirty="0">
                <a:solidFill>
                  <a:srgbClr val="2F2F2F"/>
                </a:solidFill>
                <a:latin typeface="Calibri" pitchFamily="34" charset="0"/>
                <a:ea typeface="Calibri" pitchFamily="34" charset="-122"/>
                <a:cs typeface="Calibri" pitchFamily="34" charset="-120"/>
              </a:rPr>
              <a:t>Dominance is weighted by time, not by count.</a:t>
            </a:r>
            <a:endParaRPr lang="en-US" sz="1400" dirty="0"/>
          </a:p>
        </p:txBody>
      </p:sp>
      <p:sp>
        <p:nvSpPr>
          <p:cNvPr id="31" name="Text 29"/>
          <p:cNvSpPr txBox="1"/>
          <p:nvPr/>
        </p:nvSpPr>
        <p:spPr>
          <a:xfrm>
            <a:off x="4425696" y="3200400"/>
            <a:ext cx="3054096" cy="1298448"/>
          </a:xfrm>
          <a:prstGeom prst="rect">
            <a:avLst/>
          </a:prstGeom>
          <a:noFill/>
          <a:ln/>
        </p:spPr>
        <p:txBody>
          <a:bodyPr wrap="square" lIns="0" tIns="0" rIns="0" bIns="0" rtlCol="0" anchor="t"/>
          <a:lstStyle/>
          <a:p>
            <a:pPr algn="l" indent="0" marL="0">
              <a:lnSpc>
                <a:spcPct val="120000"/>
              </a:lnSpc>
              <a:buNone/>
            </a:pPr>
            <a:r>
              <a:rPr lang="en-US" sz="1200" dirty="0">
                <a:solidFill>
                  <a:srgbClr val="6A6A6A"/>
                </a:solidFill>
                <a:latin typeface="Calibri" pitchFamily="34" charset="0"/>
                <a:ea typeface="Calibri" pitchFamily="34" charset="-122"/>
                <a:cs typeface="Calibri" pitchFamily="34" charset="-120"/>
              </a:rPr>
              <a:t>The first version picked the most frequent event. Three short repetitions then outvoted a single 1.5-second block, and the coach responded to the wrong thing — it warned about repeated words when what actually happened is that the speaker got stuck.</a:t>
            </a:r>
            <a:endParaRPr lang="en-US" sz="1200" dirty="0"/>
          </a:p>
        </p:txBody>
      </p:sp>
      <p:sp>
        <p:nvSpPr>
          <p:cNvPr id="32" name="Text 30"/>
          <p:cNvSpPr txBox="1"/>
          <p:nvPr/>
        </p:nvSpPr>
        <p:spPr>
          <a:xfrm>
            <a:off x="4425696" y="4535424"/>
            <a:ext cx="3054096" cy="1188720"/>
          </a:xfrm>
          <a:prstGeom prst="rect">
            <a:avLst/>
          </a:prstGeom>
          <a:noFill/>
          <a:ln/>
        </p:spPr>
        <p:txBody>
          <a:bodyPr wrap="square" lIns="0" tIns="0" rIns="0" bIns="0" rtlCol="0" anchor="t"/>
          <a:lstStyle/>
          <a:p>
            <a:pPr algn="l" indent="0" marL="0">
              <a:lnSpc>
                <a:spcPct val="120000"/>
              </a:lnSpc>
              <a:buNone/>
            </a:pPr>
            <a:r>
              <a:rPr lang="en-US" sz="1200" dirty="0">
                <a:solidFill>
                  <a:srgbClr val="4A4A4A"/>
                </a:solidFill>
                <a:latin typeface="Calibri" pitchFamily="34" charset="0"/>
                <a:ea typeface="Calibri" pitchFamily="34" charset="-122"/>
                <a:cs typeface="Calibri" pitchFamily="34" charset="-120"/>
              </a:rPr>
              <a:t>"Give them room, do not fill the pause" is the guidance that matters most, and counting was hiding it. It now weights by the time each event occupies.</a:t>
            </a:r>
            <a:endParaRPr lang="en-US" sz="1200" dirty="0"/>
          </a:p>
        </p:txBody>
      </p:sp>
      <p:sp>
        <p:nvSpPr>
          <p:cNvPr id="33" name="Shape 31"/>
          <p:cNvSpPr/>
          <p:nvPr/>
        </p:nvSpPr>
        <p:spPr>
          <a:xfrm>
            <a:off x="7918704" y="2212848"/>
            <a:ext cx="3611880" cy="3621024"/>
          </a:xfrm>
          <a:prstGeom prst="roundRect">
            <a:avLst>
              <a:gd name="adj" fmla="val 4051"/>
            </a:avLst>
          </a:prstGeom>
          <a:solidFill>
            <a:srgbClr val="FFFFFF">
              <a:alpha val="88000"/>
            </a:srgbClr>
          </a:solidFill>
          <a:ln w="12700">
            <a:solidFill>
              <a:srgbClr val="6D4F0C"/>
            </a:solidFill>
            <a:prstDash val="solid"/>
          </a:ln>
          <a:effectLst>
            <a:outerShdw sx="100000" sy="100000" kx="0" ky="0" algn="bl" rotWithShape="0" blurRad="152400" dist="25400" dir="5400000">
              <a:srgbClr val="6A6A6A">
                <a:alpha val="16000"/>
              </a:srgbClr>
            </a:outerShdw>
          </a:effectLst>
        </p:spPr>
      </p:sp>
      <p:sp>
        <p:nvSpPr>
          <p:cNvPr id="34" name="Text 32"/>
          <p:cNvSpPr txBox="1"/>
          <p:nvPr/>
        </p:nvSpPr>
        <p:spPr>
          <a:xfrm>
            <a:off x="8156448" y="2377440"/>
            <a:ext cx="3108960" cy="201168"/>
          </a:xfrm>
          <a:prstGeom prst="rect">
            <a:avLst/>
          </a:prstGeom>
          <a:noFill/>
          <a:ln/>
        </p:spPr>
        <p:txBody>
          <a:bodyPr wrap="square" lIns="0" tIns="0" rIns="0" bIns="0" rtlCol="0" anchor="ctr"/>
          <a:lstStyle/>
          <a:p>
            <a:pPr algn="l" indent="0" marL="0">
              <a:buNone/>
            </a:pPr>
            <a:r>
              <a:rPr lang="en-US" sz="950" b="1" spc="180" kern="0" dirty="0">
                <a:solidFill>
                  <a:srgbClr val="8A6410"/>
                </a:solidFill>
                <a:latin typeface="Courier New" pitchFamily="34" charset="0"/>
                <a:ea typeface="Courier New" pitchFamily="34" charset="-122"/>
                <a:cs typeface="Courier New" pitchFamily="34" charset="-120"/>
              </a:rPr>
              <a:t>WHAT IT DRIVES</a:t>
            </a:r>
            <a:endParaRPr lang="en-US" sz="950" dirty="0"/>
          </a:p>
        </p:txBody>
      </p:sp>
      <p:sp>
        <p:nvSpPr>
          <p:cNvPr id="35" name="Text 33"/>
          <p:cNvSpPr txBox="1"/>
          <p:nvPr/>
        </p:nvSpPr>
        <p:spPr>
          <a:xfrm>
            <a:off x="8156448" y="2706624"/>
            <a:ext cx="3145536"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TTS speaking rate</a:t>
            </a:r>
            <a:endParaRPr lang="en-US" sz="1250" dirty="0"/>
          </a:p>
        </p:txBody>
      </p:sp>
      <p:sp>
        <p:nvSpPr>
          <p:cNvPr id="36" name="Text 34"/>
          <p:cNvSpPr txBox="1"/>
          <p:nvPr/>
        </p:nvSpPr>
        <p:spPr>
          <a:xfrm>
            <a:off x="8156448" y="2926080"/>
            <a:ext cx="3145536" cy="219456"/>
          </a:xfrm>
          <a:prstGeom prst="rect">
            <a:avLst/>
          </a:prstGeom>
          <a:noFill/>
          <a:ln/>
        </p:spPr>
        <p:txBody>
          <a:bodyPr wrap="square" lIns="0" tIns="0" rIns="0" bIns="0" rtlCol="0" anchor="ctr"/>
          <a:lstStyle/>
          <a:p>
            <a:pPr algn="l" indent="0" marL="0">
              <a:buNone/>
            </a:pPr>
            <a:r>
              <a:rPr lang="en-US" sz="950" dirty="0">
                <a:solidFill>
                  <a:srgbClr val="6A6A6A"/>
                </a:solidFill>
                <a:latin typeface="Courier New" pitchFamily="34" charset="0"/>
                <a:ea typeface="Courier New" pitchFamily="34" charset="-122"/>
                <a:cs typeface="Courier New" pitchFamily="34" charset="-120"/>
              </a:rPr>
              <a:t>fluency_load → 0.75×–1.15×</a:t>
            </a:r>
            <a:endParaRPr lang="en-US" sz="950" dirty="0"/>
          </a:p>
        </p:txBody>
      </p:sp>
      <p:sp>
        <p:nvSpPr>
          <p:cNvPr id="37" name="Text 35"/>
          <p:cNvSpPr txBox="1"/>
          <p:nvPr/>
        </p:nvSpPr>
        <p:spPr>
          <a:xfrm>
            <a:off x="8156448" y="3255264"/>
            <a:ext cx="3145536"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Reply length</a:t>
            </a:r>
            <a:endParaRPr lang="en-US" sz="1250" dirty="0"/>
          </a:p>
        </p:txBody>
      </p:sp>
      <p:sp>
        <p:nvSpPr>
          <p:cNvPr id="38" name="Text 36"/>
          <p:cNvSpPr txBox="1"/>
          <p:nvPr/>
        </p:nvSpPr>
        <p:spPr>
          <a:xfrm>
            <a:off x="8156448" y="3474720"/>
            <a:ext cx="3145536" cy="219456"/>
          </a:xfrm>
          <a:prstGeom prst="rect">
            <a:avLst/>
          </a:prstGeom>
          <a:noFill/>
          <a:ln/>
        </p:spPr>
        <p:txBody>
          <a:bodyPr wrap="square" lIns="0" tIns="0" rIns="0" bIns="0" rtlCol="0" anchor="ctr"/>
          <a:lstStyle/>
          <a:p>
            <a:pPr algn="l" indent="0" marL="0">
              <a:buNone/>
            </a:pPr>
            <a:r>
              <a:rPr lang="en-US" sz="950" dirty="0">
                <a:solidFill>
                  <a:srgbClr val="6A6A6A"/>
                </a:solidFill>
                <a:latin typeface="Courier New" pitchFamily="34" charset="0"/>
                <a:ea typeface="Courier New" pitchFamily="34" charset="-122"/>
                <a:cs typeface="Courier New" pitchFamily="34" charset="-120"/>
              </a:rPr>
              <a:t>shorter under strain</a:t>
            </a:r>
            <a:endParaRPr lang="en-US" sz="950" dirty="0"/>
          </a:p>
        </p:txBody>
      </p:sp>
      <p:sp>
        <p:nvSpPr>
          <p:cNvPr id="39" name="Text 37"/>
          <p:cNvSpPr txBox="1"/>
          <p:nvPr/>
        </p:nvSpPr>
        <p:spPr>
          <a:xfrm>
            <a:off x="8156448" y="3803904"/>
            <a:ext cx="3145536"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The timeline overlay</a:t>
            </a:r>
            <a:endParaRPr lang="en-US" sz="1250" dirty="0"/>
          </a:p>
        </p:txBody>
      </p:sp>
      <p:sp>
        <p:nvSpPr>
          <p:cNvPr id="40" name="Text 38"/>
          <p:cNvSpPr txBox="1"/>
          <p:nvPr/>
        </p:nvSpPr>
        <p:spPr>
          <a:xfrm>
            <a:off x="8156448" y="4023360"/>
            <a:ext cx="3145536" cy="219456"/>
          </a:xfrm>
          <a:prstGeom prst="rect">
            <a:avLst/>
          </a:prstGeom>
          <a:noFill/>
          <a:ln/>
        </p:spPr>
        <p:txBody>
          <a:bodyPr wrap="square" lIns="0" tIns="0" rIns="0" bIns="0" rtlCol="0" anchor="ctr"/>
          <a:lstStyle/>
          <a:p>
            <a:pPr algn="l" indent="0" marL="0">
              <a:buNone/>
            </a:pPr>
            <a:r>
              <a:rPr lang="en-US" sz="950" dirty="0">
                <a:solidFill>
                  <a:srgbClr val="6A6A6A"/>
                </a:solidFill>
                <a:latin typeface="Courier New" pitchFamily="34" charset="0"/>
                <a:ea typeface="Courier New" pitchFamily="34" charset="-122"/>
                <a:cs typeface="Courier New" pitchFamily="34" charset="-120"/>
              </a:rPr>
              <a:t>drawn to scale, per turn</a:t>
            </a:r>
            <a:endParaRPr lang="en-US" sz="950" dirty="0"/>
          </a:p>
        </p:txBody>
      </p:sp>
      <p:sp>
        <p:nvSpPr>
          <p:cNvPr id="41" name="Text 39"/>
          <p:cNvSpPr txBox="1"/>
          <p:nvPr/>
        </p:nvSpPr>
        <p:spPr>
          <a:xfrm>
            <a:off x="8156448" y="4352544"/>
            <a:ext cx="3145536"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The progress trend</a:t>
            </a:r>
            <a:endParaRPr lang="en-US" sz="1250" dirty="0"/>
          </a:p>
        </p:txBody>
      </p:sp>
      <p:sp>
        <p:nvSpPr>
          <p:cNvPr id="42" name="Text 40"/>
          <p:cNvSpPr txBox="1"/>
          <p:nvPr/>
        </p:nvSpPr>
        <p:spPr>
          <a:xfrm>
            <a:off x="8156448" y="4572000"/>
            <a:ext cx="3145536" cy="219456"/>
          </a:xfrm>
          <a:prstGeom prst="rect">
            <a:avLst/>
          </a:prstGeom>
          <a:noFill/>
          <a:ln/>
        </p:spPr>
        <p:txBody>
          <a:bodyPr wrap="square" lIns="0" tIns="0" rIns="0" bIns="0" rtlCol="0" anchor="ctr"/>
          <a:lstStyle/>
          <a:p>
            <a:pPr algn="l" indent="0" marL="0">
              <a:buNone/>
            </a:pPr>
            <a:r>
              <a:rPr lang="en-US" sz="950" dirty="0">
                <a:solidFill>
                  <a:srgbClr val="6A6A6A"/>
                </a:solidFill>
                <a:latin typeface="Courier New" pitchFamily="34" charset="0"/>
                <a:ea typeface="Courier New" pitchFamily="34" charset="-122"/>
                <a:cs typeface="Courier New" pitchFamily="34" charset="-120"/>
              </a:rPr>
              <a:t>pacing across sessions</a:t>
            </a:r>
            <a:endParaRPr lang="en-US" sz="950" dirty="0"/>
          </a:p>
        </p:txBody>
      </p:sp>
      <p:sp>
        <p:nvSpPr>
          <p:cNvPr id="43" name="Text 41"/>
          <p:cNvSpPr txBox="1"/>
          <p:nvPr/>
        </p:nvSpPr>
        <p:spPr>
          <a:xfrm>
            <a:off x="8156448" y="4901184"/>
            <a:ext cx="3145536" cy="237744"/>
          </a:xfrm>
          <a:prstGeom prst="rect">
            <a:avLst/>
          </a:prstGeom>
          <a:noFill/>
          <a:ln/>
        </p:spPr>
        <p:txBody>
          <a:bodyPr wrap="square" lIns="0" tIns="0" rIns="0" bIns="0" rtlCol="0" anchor="t"/>
          <a:lstStyle/>
          <a:p>
            <a:pPr algn="l" indent="0" marL="0">
              <a:lnSpc>
                <a:spcPct val="120000"/>
              </a:lnSpc>
              <a:buNone/>
            </a:pPr>
            <a:r>
              <a:rPr lang="en-US" sz="1250" b="1" dirty="0">
                <a:solidFill>
                  <a:srgbClr val="2F2F2F"/>
                </a:solidFill>
                <a:latin typeface="Calibri" pitchFamily="34" charset="0"/>
                <a:ea typeface="Calibri" pitchFamily="34" charset="-122"/>
                <a:cs typeface="Calibri" pitchFamily="34" charset="-120"/>
              </a:rPr>
              <a:t>Which coaching rule</a:t>
            </a:r>
            <a:endParaRPr lang="en-US" sz="1250" dirty="0"/>
          </a:p>
        </p:txBody>
      </p:sp>
      <p:sp>
        <p:nvSpPr>
          <p:cNvPr id="44" name="Text 42"/>
          <p:cNvSpPr txBox="1"/>
          <p:nvPr/>
        </p:nvSpPr>
        <p:spPr>
          <a:xfrm>
            <a:off x="8156448" y="5120640"/>
            <a:ext cx="3145536" cy="219456"/>
          </a:xfrm>
          <a:prstGeom prst="rect">
            <a:avLst/>
          </a:prstGeom>
          <a:noFill/>
          <a:ln/>
        </p:spPr>
        <p:txBody>
          <a:bodyPr wrap="square" lIns="0" tIns="0" rIns="0" bIns="0" rtlCol="0" anchor="ctr"/>
          <a:lstStyle/>
          <a:p>
            <a:pPr algn="l" indent="0" marL="0">
              <a:buNone/>
            </a:pPr>
            <a:r>
              <a:rPr lang="en-US" sz="950" dirty="0">
                <a:solidFill>
                  <a:srgbClr val="6A6A6A"/>
                </a:solidFill>
                <a:latin typeface="Courier New" pitchFamily="34" charset="0"/>
                <a:ea typeface="Courier New" pitchFamily="34" charset="-122"/>
                <a:cs typeface="Courier New" pitchFamily="34" charset="-120"/>
              </a:rPr>
              <a:t>one hint per dominant event</a:t>
            </a:r>
            <a:endParaRPr lang="en-US" sz="950" dirty="0"/>
          </a:p>
        </p:txBody>
      </p:sp>
      <p:sp>
        <p:nvSpPr>
          <p:cNvPr id="45" name="Shape 43"/>
          <p:cNvSpPr/>
          <p:nvPr/>
        </p:nvSpPr>
        <p:spPr>
          <a:xfrm>
            <a:off x="8156448" y="5413248"/>
            <a:ext cx="3136392" cy="402336"/>
          </a:xfrm>
          <a:prstGeom prst="roundRect">
            <a:avLst>
              <a:gd name="adj" fmla="val 36364"/>
            </a:avLst>
          </a:prstGeom>
          <a:solidFill>
            <a:srgbClr val="A2760F">
              <a:alpha val="14000"/>
            </a:srgbClr>
          </a:solidFill>
          <a:ln w="12700">
            <a:solidFill>
              <a:srgbClr val="DCE5E4"/>
            </a:solidFill>
            <a:prstDash val="solid"/>
          </a:ln>
        </p:spPr>
      </p:sp>
      <p:sp>
        <p:nvSpPr>
          <p:cNvPr id="46" name="Text 44"/>
          <p:cNvSpPr txBox="1"/>
          <p:nvPr/>
        </p:nvSpPr>
        <p:spPr>
          <a:xfrm>
            <a:off x="8156448" y="5413248"/>
            <a:ext cx="3136392" cy="402336"/>
          </a:xfrm>
          <a:prstGeom prst="rect">
            <a:avLst/>
          </a:prstGeom>
          <a:noFill/>
          <a:ln/>
        </p:spPr>
        <p:txBody>
          <a:bodyPr wrap="square" lIns="0" tIns="0" rIns="0" bIns="0" rtlCol="0" anchor="ctr"/>
          <a:lstStyle/>
          <a:p>
            <a:pPr algn="ctr" indent="0" marL="0">
              <a:buNone/>
            </a:pPr>
            <a:r>
              <a:rPr lang="en-US" sz="900" b="1" dirty="0">
                <a:solidFill>
                  <a:srgbClr val="8A6410"/>
                </a:solidFill>
                <a:latin typeface="Courier New" pitchFamily="34" charset="0"/>
                <a:ea typeface="Courier New" pitchFamily="34" charset="-122"/>
                <a:cs typeface="Courier New" pitchFamily="34" charset="-120"/>
              </a:rPr>
              <a:t>acoustic events, never clinical findings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SYSTEM ARCHITECTURE</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2F2F2F"/>
                </a:solidFill>
                <a:latin typeface="Arial" pitchFamily="34" charset="0"/>
                <a:ea typeface="Arial" pitchFamily="34" charset="-122"/>
                <a:cs typeface="Arial" pitchFamily="34" charset="-120"/>
              </a:rPr>
              <a:t>The whole system, once</a:t>
            </a:r>
            <a:endParaRPr lang="en-US" sz="34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docs/PROJECT_PLAN.md  ·  backend/app/services/</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11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371600"/>
            <a:ext cx="731520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One session. Two paths. Shared history and per-turn metrics underneath both.</a:t>
            </a:r>
            <a:endParaRPr lang="en-US" sz="1500" dirty="0"/>
          </a:p>
        </p:txBody>
      </p:sp>
      <p:sp>
        <p:nvSpPr>
          <p:cNvPr id="11" name="Shape 9"/>
          <p:cNvSpPr/>
          <p:nvPr/>
        </p:nvSpPr>
        <p:spPr>
          <a:xfrm>
            <a:off x="4617720" y="1828800"/>
            <a:ext cx="2834640" cy="420624"/>
          </a:xfrm>
          <a:prstGeom prst="roundRect">
            <a:avLst>
              <a:gd name="adj" fmla="val 26087"/>
            </a:avLst>
          </a:prstGeom>
          <a:solidFill>
            <a:srgbClr val="A2760F">
              <a:alpha val="22000"/>
            </a:srgbClr>
          </a:solidFill>
          <a:ln w="15875">
            <a:solidFill>
              <a:srgbClr val="6D4F0C"/>
            </a:solidFill>
            <a:prstDash val="solid"/>
          </a:ln>
        </p:spPr>
      </p:sp>
      <p:sp>
        <p:nvSpPr>
          <p:cNvPr id="12" name="Text 10"/>
          <p:cNvSpPr txBox="1"/>
          <p:nvPr/>
        </p:nvSpPr>
        <p:spPr>
          <a:xfrm>
            <a:off x="4617720" y="1828800"/>
            <a:ext cx="2834640" cy="420624"/>
          </a:xfrm>
          <a:prstGeom prst="rect">
            <a:avLst/>
          </a:prstGeom>
          <a:noFill/>
          <a:ln/>
        </p:spPr>
        <p:txBody>
          <a:bodyPr wrap="square" lIns="0" tIns="0" rIns="0" bIns="0" rtlCol="0" anchor="ctr"/>
          <a:lstStyle/>
          <a:p>
            <a:pPr algn="ctr" indent="0" marL="0">
              <a:buNone/>
            </a:pPr>
            <a:r>
              <a:rPr lang="en-US" sz="1000" b="1" dirty="0">
                <a:solidFill>
                  <a:srgbClr val="8A6410"/>
                </a:solidFill>
                <a:latin typeface="Courier New" pitchFamily="34" charset="0"/>
                <a:ea typeface="Courier New" pitchFamily="34" charset="-122"/>
                <a:cs typeface="Courier New" pitchFamily="34" charset="-120"/>
              </a:rPr>
              <a:t>USER AUDIO  ·  24 kHz mono</a:t>
            </a:r>
            <a:endParaRPr lang="en-US" sz="1000" dirty="0"/>
          </a:p>
        </p:txBody>
      </p:sp>
      <p:sp>
        <p:nvSpPr>
          <p:cNvPr id="13" name="Shape 11"/>
          <p:cNvSpPr/>
          <p:nvPr/>
        </p:nvSpPr>
        <p:spPr>
          <a:xfrm>
            <a:off x="6035040" y="2249424"/>
            <a:ext cx="0" cy="182880"/>
          </a:xfrm>
          <a:prstGeom prst="line">
            <a:avLst/>
          </a:prstGeom>
          <a:noFill/>
          <a:ln w="12700">
            <a:solidFill>
              <a:srgbClr val="C2CFCC"/>
            </a:solidFill>
            <a:prstDash val="solid"/>
          </a:ln>
        </p:spPr>
      </p:sp>
      <p:sp>
        <p:nvSpPr>
          <p:cNvPr id="14" name="Shape 12"/>
          <p:cNvSpPr/>
          <p:nvPr/>
        </p:nvSpPr>
        <p:spPr>
          <a:xfrm>
            <a:off x="3017520" y="2432304"/>
            <a:ext cx="6035040" cy="0"/>
          </a:xfrm>
          <a:prstGeom prst="line">
            <a:avLst/>
          </a:prstGeom>
          <a:noFill/>
          <a:ln w="12700">
            <a:solidFill>
              <a:srgbClr val="C2CFCC"/>
            </a:solidFill>
            <a:prstDash val="solid"/>
          </a:ln>
        </p:spPr>
      </p:sp>
      <p:sp>
        <p:nvSpPr>
          <p:cNvPr id="15" name="Shape 13"/>
          <p:cNvSpPr/>
          <p:nvPr/>
        </p:nvSpPr>
        <p:spPr>
          <a:xfrm>
            <a:off x="3017520" y="2432304"/>
            <a:ext cx="0" cy="219456"/>
          </a:xfrm>
          <a:prstGeom prst="line">
            <a:avLst/>
          </a:prstGeom>
          <a:noFill/>
          <a:ln w="15875">
            <a:solidFill>
              <a:srgbClr val="C2CFCC"/>
            </a:solidFill>
            <a:prstDash val="solid"/>
            <a:tailEnd type="triangle"/>
          </a:ln>
        </p:spPr>
      </p:sp>
      <p:sp>
        <p:nvSpPr>
          <p:cNvPr id="16" name="Shape 14"/>
          <p:cNvSpPr/>
          <p:nvPr/>
        </p:nvSpPr>
        <p:spPr>
          <a:xfrm>
            <a:off x="9052560" y="2432304"/>
            <a:ext cx="0" cy="219456"/>
          </a:xfrm>
          <a:prstGeom prst="line">
            <a:avLst/>
          </a:prstGeom>
          <a:noFill/>
          <a:ln w="15875">
            <a:solidFill>
              <a:srgbClr val="C2CFCC"/>
            </a:solidFill>
            <a:prstDash val="solid"/>
            <a:tailEnd type="triangle"/>
          </a:ln>
        </p:spPr>
      </p:sp>
      <p:sp>
        <p:nvSpPr>
          <p:cNvPr id="17" name="Shape 15"/>
          <p:cNvSpPr/>
          <p:nvPr/>
        </p:nvSpPr>
        <p:spPr>
          <a:xfrm>
            <a:off x="658368" y="2651760"/>
            <a:ext cx="4956048" cy="2834640"/>
          </a:xfrm>
          <a:prstGeom prst="roundRect">
            <a:avLst>
              <a:gd name="adj" fmla="val 5161"/>
            </a:avLst>
          </a:prstGeom>
          <a:solidFill>
            <a:srgbClr val="FFFFFF">
              <a:alpha val="88000"/>
            </a:srgbClr>
          </a:solidFill>
          <a:ln w="12700">
            <a:solidFill>
              <a:srgbClr val="6D4F0C"/>
            </a:solidFill>
            <a:prstDash val="solid"/>
          </a:ln>
          <a:effectLst>
            <a:outerShdw sx="100000" sy="100000" kx="0" ky="0" algn="bl" rotWithShape="0" blurRad="152400" dist="25400" dir="5400000">
              <a:srgbClr val="6A6A6A">
                <a:alpha val="16000"/>
              </a:srgbClr>
            </a:outerShdw>
          </a:effectLst>
        </p:spPr>
      </p:sp>
      <p:sp>
        <p:nvSpPr>
          <p:cNvPr id="18" name="Shape 16"/>
          <p:cNvSpPr/>
          <p:nvPr/>
        </p:nvSpPr>
        <p:spPr>
          <a:xfrm>
            <a:off x="658368" y="2651760"/>
            <a:ext cx="4956048" cy="402336"/>
          </a:xfrm>
          <a:prstGeom prst="roundRect">
            <a:avLst>
              <a:gd name="adj" fmla="val 36364"/>
            </a:avLst>
          </a:prstGeom>
          <a:solidFill>
            <a:srgbClr val="A2760F">
              <a:alpha val="14000"/>
            </a:srgbClr>
          </a:solidFill>
          <a:ln/>
        </p:spPr>
      </p:sp>
      <p:sp>
        <p:nvSpPr>
          <p:cNvPr id="19" name="Text 17"/>
          <p:cNvSpPr txBox="1"/>
          <p:nvPr/>
        </p:nvSpPr>
        <p:spPr>
          <a:xfrm>
            <a:off x="859536" y="2651760"/>
            <a:ext cx="3218688" cy="402336"/>
          </a:xfrm>
          <a:prstGeom prst="rect">
            <a:avLst/>
          </a:prstGeom>
          <a:noFill/>
          <a:ln/>
        </p:spPr>
        <p:txBody>
          <a:bodyPr wrap="square" lIns="0" tIns="0" rIns="0" bIns="0" rtlCol="0" anchor="ctr"/>
          <a:lstStyle/>
          <a:p>
            <a:pPr algn="l" indent="0" marL="0">
              <a:buNone/>
            </a:pPr>
            <a:r>
              <a:rPr lang="en-US" sz="1000" b="1" dirty="0">
                <a:solidFill>
                  <a:srgbClr val="8A6410"/>
                </a:solidFill>
                <a:latin typeface="Courier New" pitchFamily="34" charset="0"/>
                <a:ea typeface="Courier New" pitchFamily="34" charset="-122"/>
                <a:cs typeface="Courier New" pitchFamily="34" charset="-120"/>
              </a:rPr>
              <a:t>LIVE COACH</a:t>
            </a:r>
            <a:endParaRPr lang="en-US" sz="1000" dirty="0"/>
          </a:p>
        </p:txBody>
      </p:sp>
      <p:sp>
        <p:nvSpPr>
          <p:cNvPr id="20" name="Text 18"/>
          <p:cNvSpPr txBox="1"/>
          <p:nvPr/>
        </p:nvSpPr>
        <p:spPr>
          <a:xfrm>
            <a:off x="3785616" y="2651760"/>
            <a:ext cx="1627632" cy="402336"/>
          </a:xfrm>
          <a:prstGeom prst="rect">
            <a:avLst/>
          </a:prstGeom>
          <a:noFill/>
          <a:ln/>
        </p:spPr>
        <p:txBody>
          <a:bodyPr wrap="square" lIns="0" tIns="0" rIns="0" bIns="0" rtlCol="0" anchor="ctr"/>
          <a:lstStyle/>
          <a:p>
            <a:pPr algn="r" indent="0" marL="0">
              <a:buNone/>
            </a:pPr>
            <a:r>
              <a:rPr lang="en-US" sz="900" dirty="0">
                <a:solidFill>
                  <a:srgbClr val="6A6A6A"/>
                </a:solidFill>
                <a:latin typeface="Courier New" pitchFamily="34" charset="0"/>
                <a:ea typeface="Courier New" pitchFamily="34" charset="-122"/>
                <a:cs typeface="Courier New" pitchFamily="34" charset="-120"/>
              </a:rPr>
              <a:t>GPU · resident</a:t>
            </a:r>
            <a:endParaRPr lang="en-US" sz="900" dirty="0"/>
          </a:p>
        </p:txBody>
      </p:sp>
      <p:sp>
        <p:nvSpPr>
          <p:cNvPr id="21" name="Shape 19"/>
          <p:cNvSpPr/>
          <p:nvPr/>
        </p:nvSpPr>
        <p:spPr>
          <a:xfrm>
            <a:off x="859536" y="3182112"/>
            <a:ext cx="4553712" cy="566928"/>
          </a:xfrm>
          <a:prstGeom prst="roundRect">
            <a:avLst>
              <a:gd name="adj" fmla="val 16129"/>
            </a:avLst>
          </a:prstGeom>
          <a:solidFill>
            <a:srgbClr val="FFFFFF">
              <a:alpha val="80000"/>
            </a:srgbClr>
          </a:solidFill>
          <a:ln w="9525">
            <a:solidFill>
              <a:srgbClr val="DCE5E4"/>
            </a:solidFill>
            <a:prstDash val="solid"/>
          </a:ln>
        </p:spPr>
      </p:sp>
      <p:sp>
        <p:nvSpPr>
          <p:cNvPr id="22" name="Text 20"/>
          <p:cNvSpPr txBox="1"/>
          <p:nvPr/>
        </p:nvSpPr>
        <p:spPr>
          <a:xfrm>
            <a:off x="987552" y="3255264"/>
            <a:ext cx="429768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Mimi neural codec</a:t>
            </a:r>
            <a:endParaRPr lang="en-US" sz="1150" dirty="0"/>
          </a:p>
        </p:txBody>
      </p:sp>
      <p:sp>
        <p:nvSpPr>
          <p:cNvPr id="23" name="Text 21"/>
          <p:cNvSpPr txBox="1"/>
          <p:nvPr/>
        </p:nvSpPr>
        <p:spPr>
          <a:xfrm>
            <a:off x="987552" y="3474720"/>
            <a:ext cx="429768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audio → audio tokens</a:t>
            </a:r>
            <a:endParaRPr lang="en-US" sz="1000" dirty="0"/>
          </a:p>
        </p:txBody>
      </p:sp>
      <p:sp>
        <p:nvSpPr>
          <p:cNvPr id="24" name="Shape 22"/>
          <p:cNvSpPr/>
          <p:nvPr/>
        </p:nvSpPr>
        <p:spPr>
          <a:xfrm>
            <a:off x="3136392" y="3758184"/>
            <a:ext cx="0" cy="228600"/>
          </a:xfrm>
          <a:prstGeom prst="line">
            <a:avLst/>
          </a:prstGeom>
          <a:noFill/>
          <a:ln w="15875">
            <a:solidFill>
              <a:srgbClr val="DCE5E4"/>
            </a:solidFill>
            <a:prstDash val="solid"/>
            <a:tailEnd type="triangle"/>
          </a:ln>
        </p:spPr>
      </p:sp>
      <p:sp>
        <p:nvSpPr>
          <p:cNvPr id="25" name="Shape 23"/>
          <p:cNvSpPr/>
          <p:nvPr/>
        </p:nvSpPr>
        <p:spPr>
          <a:xfrm>
            <a:off x="859536" y="3995928"/>
            <a:ext cx="4553712" cy="566928"/>
          </a:xfrm>
          <a:prstGeom prst="roundRect">
            <a:avLst>
              <a:gd name="adj" fmla="val 16129"/>
            </a:avLst>
          </a:prstGeom>
          <a:solidFill>
            <a:srgbClr val="FFFFFF">
              <a:alpha val="80000"/>
            </a:srgbClr>
          </a:solidFill>
          <a:ln w="9525">
            <a:solidFill>
              <a:srgbClr val="DCE5E4"/>
            </a:solidFill>
            <a:prstDash val="solid"/>
          </a:ln>
        </p:spPr>
      </p:sp>
      <p:sp>
        <p:nvSpPr>
          <p:cNvPr id="26" name="Text 24"/>
          <p:cNvSpPr txBox="1"/>
          <p:nvPr/>
        </p:nvSpPr>
        <p:spPr>
          <a:xfrm>
            <a:off x="987552" y="4069080"/>
            <a:ext cx="429768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Moshi 7B q8, Rust/Candle</a:t>
            </a:r>
            <a:endParaRPr lang="en-US" sz="1150" dirty="0"/>
          </a:p>
        </p:txBody>
      </p:sp>
      <p:sp>
        <p:nvSpPr>
          <p:cNvPr id="27" name="Text 25"/>
          <p:cNvSpPr txBox="1"/>
          <p:nvPr/>
        </p:nvSpPr>
        <p:spPr>
          <a:xfrm>
            <a:off x="987552" y="4288536"/>
            <a:ext cx="429768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full duplex, barge-in</a:t>
            </a:r>
            <a:endParaRPr lang="en-US" sz="1000" dirty="0"/>
          </a:p>
        </p:txBody>
      </p:sp>
      <p:sp>
        <p:nvSpPr>
          <p:cNvPr id="28" name="Shape 26"/>
          <p:cNvSpPr/>
          <p:nvPr/>
        </p:nvSpPr>
        <p:spPr>
          <a:xfrm>
            <a:off x="3136392" y="4572000"/>
            <a:ext cx="0" cy="228600"/>
          </a:xfrm>
          <a:prstGeom prst="line">
            <a:avLst/>
          </a:prstGeom>
          <a:noFill/>
          <a:ln w="15875">
            <a:solidFill>
              <a:srgbClr val="DCE5E4"/>
            </a:solidFill>
            <a:prstDash val="solid"/>
            <a:tailEnd type="triangle"/>
          </a:ln>
        </p:spPr>
      </p:sp>
      <p:sp>
        <p:nvSpPr>
          <p:cNvPr id="29" name="Shape 27"/>
          <p:cNvSpPr/>
          <p:nvPr/>
        </p:nvSpPr>
        <p:spPr>
          <a:xfrm>
            <a:off x="859536" y="4809744"/>
            <a:ext cx="4553712" cy="566928"/>
          </a:xfrm>
          <a:prstGeom prst="roundRect">
            <a:avLst>
              <a:gd name="adj" fmla="val 16129"/>
            </a:avLst>
          </a:prstGeom>
          <a:solidFill>
            <a:srgbClr val="FFFFFF">
              <a:alpha val="80000"/>
            </a:srgbClr>
          </a:solidFill>
          <a:ln w="9525">
            <a:solidFill>
              <a:srgbClr val="DCE5E4"/>
            </a:solidFill>
            <a:prstDash val="solid"/>
          </a:ln>
        </p:spPr>
      </p:sp>
      <p:sp>
        <p:nvSpPr>
          <p:cNvPr id="30" name="Text 28"/>
          <p:cNvSpPr txBox="1"/>
          <p:nvPr/>
        </p:nvSpPr>
        <p:spPr>
          <a:xfrm>
            <a:off x="987552" y="4882896"/>
            <a:ext cx="429768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Inner Monologue text</a:t>
            </a:r>
            <a:endParaRPr lang="en-US" sz="1150" dirty="0"/>
          </a:p>
        </p:txBody>
      </p:sp>
      <p:sp>
        <p:nvSpPr>
          <p:cNvPr id="31" name="Text 29"/>
          <p:cNvSpPr txBox="1"/>
          <p:nvPr/>
        </p:nvSpPr>
        <p:spPr>
          <a:xfrm>
            <a:off x="987552" y="5102352"/>
            <a:ext cx="429768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history, and the handoff trigger</a:t>
            </a:r>
            <a:endParaRPr lang="en-US" sz="1000" dirty="0"/>
          </a:p>
        </p:txBody>
      </p:sp>
      <p:sp>
        <p:nvSpPr>
          <p:cNvPr id="32" name="Shape 30"/>
          <p:cNvSpPr/>
          <p:nvPr/>
        </p:nvSpPr>
        <p:spPr>
          <a:xfrm>
            <a:off x="6208776" y="2651760"/>
            <a:ext cx="5321808" cy="2834640"/>
          </a:xfrm>
          <a:prstGeom prst="roundRect">
            <a:avLst>
              <a:gd name="adj" fmla="val 5161"/>
            </a:avLst>
          </a:prstGeom>
          <a:solidFill>
            <a:srgbClr val="FFFFFF">
              <a:alpha val="88000"/>
            </a:srgbClr>
          </a:solidFill>
          <a:ln w="12700">
            <a:solidFill>
              <a:srgbClr val="3B5D50"/>
            </a:solidFill>
            <a:prstDash val="solid"/>
          </a:ln>
          <a:effectLst>
            <a:outerShdw sx="100000" sy="100000" kx="0" ky="0" algn="bl" rotWithShape="0" blurRad="152400" dist="25400" dir="5400000">
              <a:srgbClr val="6A6A6A">
                <a:alpha val="16000"/>
              </a:srgbClr>
            </a:outerShdw>
          </a:effectLst>
        </p:spPr>
      </p:sp>
      <p:sp>
        <p:nvSpPr>
          <p:cNvPr id="33" name="Shape 31"/>
          <p:cNvSpPr/>
          <p:nvPr/>
        </p:nvSpPr>
        <p:spPr>
          <a:xfrm>
            <a:off x="6208776" y="2651760"/>
            <a:ext cx="5321808" cy="402336"/>
          </a:xfrm>
          <a:prstGeom prst="roundRect">
            <a:avLst>
              <a:gd name="adj" fmla="val 36364"/>
            </a:avLst>
          </a:prstGeom>
          <a:solidFill>
            <a:srgbClr val="6F9C8A">
              <a:alpha val="14000"/>
            </a:srgbClr>
          </a:solidFill>
          <a:ln/>
        </p:spPr>
      </p:sp>
      <p:sp>
        <p:nvSpPr>
          <p:cNvPr id="34" name="Text 32"/>
          <p:cNvSpPr txBox="1"/>
          <p:nvPr/>
        </p:nvSpPr>
        <p:spPr>
          <a:xfrm>
            <a:off x="6409944" y="2651760"/>
            <a:ext cx="3584448" cy="402336"/>
          </a:xfrm>
          <a:prstGeom prst="rect">
            <a:avLst/>
          </a:prstGeom>
          <a:noFill/>
          <a:ln/>
        </p:spPr>
        <p:txBody>
          <a:bodyPr wrap="square" lIns="0" tIns="0" rIns="0" bIns="0" rtlCol="0" anchor="ctr"/>
          <a:lstStyle/>
          <a:p>
            <a:pPr algn="l" indent="0" marL="0">
              <a:buNone/>
            </a:pPr>
            <a:r>
              <a:rPr lang="en-US" sz="1000" b="1" dirty="0">
                <a:solidFill>
                  <a:srgbClr val="2C463C"/>
                </a:solidFill>
                <a:latin typeface="Courier New" pitchFamily="34" charset="0"/>
                <a:ea typeface="Courier New" pitchFamily="34" charset="-122"/>
                <a:cs typeface="Courier New" pitchFamily="34" charset="-120"/>
              </a:rPr>
              <a:t>GROUNDED KNOWLEDGE</a:t>
            </a:r>
            <a:endParaRPr lang="en-US" sz="1000" dirty="0"/>
          </a:p>
        </p:txBody>
      </p:sp>
      <p:sp>
        <p:nvSpPr>
          <p:cNvPr id="35" name="Text 33"/>
          <p:cNvSpPr txBox="1"/>
          <p:nvPr/>
        </p:nvSpPr>
        <p:spPr>
          <a:xfrm>
            <a:off x="9701784" y="2651760"/>
            <a:ext cx="1627632" cy="402336"/>
          </a:xfrm>
          <a:prstGeom prst="rect">
            <a:avLst/>
          </a:prstGeom>
          <a:noFill/>
          <a:ln/>
        </p:spPr>
        <p:txBody>
          <a:bodyPr wrap="square" lIns="0" tIns="0" rIns="0" bIns="0" rtlCol="0" anchor="ctr"/>
          <a:lstStyle/>
          <a:p>
            <a:pPr algn="r" indent="0" marL="0">
              <a:buNone/>
            </a:pPr>
            <a:r>
              <a:rPr lang="en-US" sz="900" dirty="0">
                <a:solidFill>
                  <a:srgbClr val="6A6A6A"/>
                </a:solidFill>
                <a:latin typeface="Courier New" pitchFamily="34" charset="0"/>
                <a:ea typeface="Courier New" pitchFamily="34" charset="-122"/>
                <a:cs typeface="Courier New" pitchFamily="34" charset="-120"/>
              </a:rPr>
              <a:t>CPU · all of it</a:t>
            </a:r>
            <a:endParaRPr lang="en-US" sz="900" dirty="0"/>
          </a:p>
        </p:txBody>
      </p:sp>
      <p:sp>
        <p:nvSpPr>
          <p:cNvPr id="36" name="Shape 34"/>
          <p:cNvSpPr/>
          <p:nvPr/>
        </p:nvSpPr>
        <p:spPr>
          <a:xfrm>
            <a:off x="6409944" y="3182112"/>
            <a:ext cx="4919472" cy="384048"/>
          </a:xfrm>
          <a:prstGeom prst="roundRect">
            <a:avLst>
              <a:gd name="adj" fmla="val 23810"/>
            </a:avLst>
          </a:prstGeom>
          <a:solidFill>
            <a:srgbClr val="FFFFFF">
              <a:alpha val="80000"/>
            </a:srgbClr>
          </a:solidFill>
          <a:ln w="9525">
            <a:solidFill>
              <a:srgbClr val="DCE5E4"/>
            </a:solidFill>
            <a:prstDash val="solid"/>
          </a:ln>
        </p:spPr>
      </p:sp>
      <p:sp>
        <p:nvSpPr>
          <p:cNvPr id="37" name="Text 35"/>
          <p:cNvSpPr txBox="1"/>
          <p:nvPr/>
        </p:nvSpPr>
        <p:spPr>
          <a:xfrm>
            <a:off x="6537960" y="3200400"/>
            <a:ext cx="466344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Whisper base int8   ·   Acoustic analyzer</a:t>
            </a:r>
            <a:endParaRPr lang="en-US" sz="1150" dirty="0"/>
          </a:p>
        </p:txBody>
      </p:sp>
      <p:sp>
        <p:nvSpPr>
          <p:cNvPr id="38" name="Text 36"/>
          <p:cNvSpPr txBox="1"/>
          <p:nvPr/>
        </p:nvSpPr>
        <p:spPr>
          <a:xfrm>
            <a:off x="6537960" y="3374136"/>
            <a:ext cx="466344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the fork — text and events, in parallel</a:t>
            </a:r>
            <a:endParaRPr lang="en-US" sz="1000" dirty="0"/>
          </a:p>
        </p:txBody>
      </p:sp>
      <p:sp>
        <p:nvSpPr>
          <p:cNvPr id="39" name="Shape 37"/>
          <p:cNvSpPr/>
          <p:nvPr/>
        </p:nvSpPr>
        <p:spPr>
          <a:xfrm>
            <a:off x="8869680" y="3575304"/>
            <a:ext cx="0" cy="50292"/>
          </a:xfrm>
          <a:prstGeom prst="line">
            <a:avLst/>
          </a:prstGeom>
          <a:noFill/>
          <a:ln w="15875">
            <a:solidFill>
              <a:srgbClr val="DCE5E4"/>
            </a:solidFill>
            <a:prstDash val="solid"/>
            <a:tailEnd type="triangle"/>
          </a:ln>
        </p:spPr>
      </p:sp>
      <p:sp>
        <p:nvSpPr>
          <p:cNvPr id="40" name="Shape 38"/>
          <p:cNvSpPr/>
          <p:nvPr/>
        </p:nvSpPr>
        <p:spPr>
          <a:xfrm>
            <a:off x="6409944" y="3634740"/>
            <a:ext cx="4919472" cy="384048"/>
          </a:xfrm>
          <a:prstGeom prst="roundRect">
            <a:avLst>
              <a:gd name="adj" fmla="val 23810"/>
            </a:avLst>
          </a:prstGeom>
          <a:solidFill>
            <a:srgbClr val="FFFFFF">
              <a:alpha val="80000"/>
            </a:srgbClr>
          </a:solidFill>
          <a:ln w="9525">
            <a:solidFill>
              <a:srgbClr val="DCE5E4"/>
            </a:solidFill>
            <a:prstDash val="solid"/>
          </a:ln>
        </p:spPr>
      </p:sp>
      <p:sp>
        <p:nvSpPr>
          <p:cNvPr id="41" name="Text 39"/>
          <p:cNvSpPr txBox="1"/>
          <p:nvPr/>
        </p:nvSpPr>
        <p:spPr>
          <a:xfrm>
            <a:off x="6537960" y="3653028"/>
            <a:ext cx="466344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Prompt a12-v5 + &lt;acoustic_context&gt;</a:t>
            </a:r>
            <a:endParaRPr lang="en-US" sz="1150" dirty="0"/>
          </a:p>
        </p:txBody>
      </p:sp>
      <p:sp>
        <p:nvSpPr>
          <p:cNvPr id="42" name="Text 40"/>
          <p:cNvSpPr txBox="1"/>
          <p:nvPr/>
        </p:nvSpPr>
        <p:spPr>
          <a:xfrm>
            <a:off x="6537960" y="3826764"/>
            <a:ext cx="466344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system role carries the rules and the passages</a:t>
            </a:r>
            <a:endParaRPr lang="en-US" sz="1000" dirty="0"/>
          </a:p>
        </p:txBody>
      </p:sp>
      <p:sp>
        <p:nvSpPr>
          <p:cNvPr id="43" name="Shape 41"/>
          <p:cNvSpPr/>
          <p:nvPr/>
        </p:nvSpPr>
        <p:spPr>
          <a:xfrm>
            <a:off x="8869680" y="4027932"/>
            <a:ext cx="0" cy="50292"/>
          </a:xfrm>
          <a:prstGeom prst="line">
            <a:avLst/>
          </a:prstGeom>
          <a:noFill/>
          <a:ln w="15875">
            <a:solidFill>
              <a:srgbClr val="DCE5E4"/>
            </a:solidFill>
            <a:prstDash val="solid"/>
            <a:tailEnd type="triangle"/>
          </a:ln>
        </p:spPr>
      </p:sp>
      <p:sp>
        <p:nvSpPr>
          <p:cNvPr id="44" name="Shape 42"/>
          <p:cNvSpPr/>
          <p:nvPr/>
        </p:nvSpPr>
        <p:spPr>
          <a:xfrm>
            <a:off x="6409944" y="4087368"/>
            <a:ext cx="4919472" cy="384048"/>
          </a:xfrm>
          <a:prstGeom prst="roundRect">
            <a:avLst>
              <a:gd name="adj" fmla="val 23810"/>
            </a:avLst>
          </a:prstGeom>
          <a:solidFill>
            <a:srgbClr val="FFFFFF">
              <a:alpha val="80000"/>
            </a:srgbClr>
          </a:solidFill>
          <a:ln w="9525">
            <a:solidFill>
              <a:srgbClr val="DCE5E4"/>
            </a:solidFill>
            <a:prstDash val="solid"/>
          </a:ln>
        </p:spPr>
      </p:sp>
      <p:sp>
        <p:nvSpPr>
          <p:cNvPr id="45" name="Text 43"/>
          <p:cNvSpPr txBox="1"/>
          <p:nvPr/>
        </p:nvSpPr>
        <p:spPr>
          <a:xfrm>
            <a:off x="6537960" y="4105656"/>
            <a:ext cx="466344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RAG · bge-small · Chroma · 1057 chunks</a:t>
            </a:r>
            <a:endParaRPr lang="en-US" sz="1150" dirty="0"/>
          </a:p>
        </p:txBody>
      </p:sp>
      <p:sp>
        <p:nvSpPr>
          <p:cNvPr id="46" name="Text 44"/>
          <p:cNvSpPr txBox="1"/>
          <p:nvPr/>
        </p:nvSpPr>
        <p:spPr>
          <a:xfrm>
            <a:off x="6537960" y="4279392"/>
            <a:ext cx="466344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MMR to 4, then a groundedness gate at 0.65</a:t>
            </a:r>
            <a:endParaRPr lang="en-US" sz="1000" dirty="0"/>
          </a:p>
        </p:txBody>
      </p:sp>
      <p:sp>
        <p:nvSpPr>
          <p:cNvPr id="47" name="Shape 45"/>
          <p:cNvSpPr/>
          <p:nvPr/>
        </p:nvSpPr>
        <p:spPr>
          <a:xfrm>
            <a:off x="8869680" y="4480560"/>
            <a:ext cx="0" cy="50292"/>
          </a:xfrm>
          <a:prstGeom prst="line">
            <a:avLst/>
          </a:prstGeom>
          <a:noFill/>
          <a:ln w="15875">
            <a:solidFill>
              <a:srgbClr val="DCE5E4"/>
            </a:solidFill>
            <a:prstDash val="solid"/>
            <a:tailEnd type="triangle"/>
          </a:ln>
        </p:spPr>
      </p:sp>
      <p:sp>
        <p:nvSpPr>
          <p:cNvPr id="48" name="Shape 46"/>
          <p:cNvSpPr/>
          <p:nvPr/>
        </p:nvSpPr>
        <p:spPr>
          <a:xfrm>
            <a:off x="6409944" y="4539996"/>
            <a:ext cx="4919472" cy="384048"/>
          </a:xfrm>
          <a:prstGeom prst="roundRect">
            <a:avLst>
              <a:gd name="adj" fmla="val 23810"/>
            </a:avLst>
          </a:prstGeom>
          <a:solidFill>
            <a:srgbClr val="FFFFFF">
              <a:alpha val="80000"/>
            </a:srgbClr>
          </a:solidFill>
          <a:ln w="9525">
            <a:solidFill>
              <a:srgbClr val="DCE5E4"/>
            </a:solidFill>
            <a:prstDash val="solid"/>
          </a:ln>
        </p:spPr>
      </p:sp>
      <p:sp>
        <p:nvSpPr>
          <p:cNvPr id="49" name="Text 47"/>
          <p:cNvSpPr txBox="1"/>
          <p:nvPr/>
        </p:nvSpPr>
        <p:spPr>
          <a:xfrm>
            <a:off x="6537960" y="4558284"/>
            <a:ext cx="466344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Qwen2.5-3B Q4_K_M via llama.cpp</a:t>
            </a:r>
            <a:endParaRPr lang="en-US" sz="1150" dirty="0"/>
          </a:p>
        </p:txBody>
      </p:sp>
      <p:sp>
        <p:nvSpPr>
          <p:cNvPr id="50" name="Text 48"/>
          <p:cNvSpPr txBox="1"/>
          <p:nvPr/>
        </p:nvSpPr>
        <p:spPr>
          <a:xfrm>
            <a:off x="6537960" y="4732020"/>
            <a:ext cx="466344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OpenAI-compatible endpoint over HTTP</a:t>
            </a:r>
            <a:endParaRPr lang="en-US" sz="1000" dirty="0"/>
          </a:p>
        </p:txBody>
      </p:sp>
      <p:sp>
        <p:nvSpPr>
          <p:cNvPr id="51" name="Shape 49"/>
          <p:cNvSpPr/>
          <p:nvPr/>
        </p:nvSpPr>
        <p:spPr>
          <a:xfrm>
            <a:off x="8869680" y="4933188"/>
            <a:ext cx="0" cy="50292"/>
          </a:xfrm>
          <a:prstGeom prst="line">
            <a:avLst/>
          </a:prstGeom>
          <a:noFill/>
          <a:ln w="15875">
            <a:solidFill>
              <a:srgbClr val="DCE5E4"/>
            </a:solidFill>
            <a:prstDash val="solid"/>
            <a:tailEnd type="triangle"/>
          </a:ln>
        </p:spPr>
      </p:sp>
      <p:sp>
        <p:nvSpPr>
          <p:cNvPr id="52" name="Shape 50"/>
          <p:cNvSpPr/>
          <p:nvPr/>
        </p:nvSpPr>
        <p:spPr>
          <a:xfrm>
            <a:off x="6409944" y="4992624"/>
            <a:ext cx="4919472" cy="384048"/>
          </a:xfrm>
          <a:prstGeom prst="roundRect">
            <a:avLst>
              <a:gd name="adj" fmla="val 23810"/>
            </a:avLst>
          </a:prstGeom>
          <a:solidFill>
            <a:srgbClr val="FFFFFF">
              <a:alpha val="80000"/>
            </a:srgbClr>
          </a:solidFill>
          <a:ln w="9525">
            <a:solidFill>
              <a:srgbClr val="DCE5E4"/>
            </a:solidFill>
            <a:prstDash val="solid"/>
          </a:ln>
        </p:spPr>
      </p:sp>
      <p:sp>
        <p:nvSpPr>
          <p:cNvPr id="53" name="Text 51"/>
          <p:cNvSpPr txBox="1"/>
          <p:nvPr/>
        </p:nvSpPr>
        <p:spPr>
          <a:xfrm>
            <a:off x="6537960" y="5010912"/>
            <a:ext cx="4663440" cy="219456"/>
          </a:xfrm>
          <a:prstGeom prst="rect">
            <a:avLst/>
          </a:prstGeom>
          <a:noFill/>
          <a:ln/>
        </p:spPr>
        <p:txBody>
          <a:bodyPr wrap="square" lIns="0" tIns="0" rIns="0" bIns="0" rtlCol="0" anchor="t"/>
          <a:lstStyle/>
          <a:p>
            <a:pPr algn="l" indent="0" marL="0">
              <a:lnSpc>
                <a:spcPct val="120000"/>
              </a:lnSpc>
              <a:buNone/>
            </a:pPr>
            <a:r>
              <a:rPr lang="en-US" sz="1150" b="1" dirty="0">
                <a:solidFill>
                  <a:srgbClr val="2F2F2F"/>
                </a:solidFill>
                <a:latin typeface="Calibri" pitchFamily="34" charset="0"/>
                <a:ea typeface="Calibri" pitchFamily="34" charset="-122"/>
                <a:cs typeface="Calibri" pitchFamily="34" charset="-120"/>
              </a:rPr>
              <a:t>Kokoro-82M TTS</a:t>
            </a:r>
            <a:endParaRPr lang="en-US" sz="1150" dirty="0"/>
          </a:p>
        </p:txBody>
      </p:sp>
      <p:sp>
        <p:nvSpPr>
          <p:cNvPr id="54" name="Text 52"/>
          <p:cNvSpPr txBox="1"/>
          <p:nvPr/>
        </p:nvSpPr>
        <p:spPr>
          <a:xfrm>
            <a:off x="6537960" y="5184648"/>
            <a:ext cx="4663440" cy="201168"/>
          </a:xfrm>
          <a:prstGeom prst="rect">
            <a:avLst/>
          </a:prstGeom>
          <a:noFill/>
          <a:ln/>
        </p:spPr>
        <p:txBody>
          <a:bodyPr wrap="square" lIns="0" tIns="0" rIns="0" bIns="0" rtlCol="0" anchor="t"/>
          <a:lstStyle/>
          <a:p>
            <a:pPr algn="l" indent="0" marL="0">
              <a:lnSpc>
                <a:spcPct val="120000"/>
              </a:lnSpc>
              <a:buNone/>
            </a:pPr>
            <a:r>
              <a:rPr lang="en-US" sz="1000" dirty="0">
                <a:solidFill>
                  <a:srgbClr val="6A6A6A"/>
                </a:solidFill>
                <a:latin typeface="Calibri" pitchFamily="34" charset="0"/>
                <a:ea typeface="Calibri" pitchFamily="34" charset="-122"/>
                <a:cs typeface="Calibri" pitchFamily="34" charset="-120"/>
              </a:rPr>
              <a:t>rate set by fluency load</a:t>
            </a:r>
            <a:endParaRPr lang="en-US" sz="1000" dirty="0"/>
          </a:p>
        </p:txBody>
      </p:sp>
      <p:sp>
        <p:nvSpPr>
          <p:cNvPr id="55" name="Shape 53"/>
          <p:cNvSpPr/>
          <p:nvPr/>
        </p:nvSpPr>
        <p:spPr>
          <a:xfrm>
            <a:off x="3136392" y="5486400"/>
            <a:ext cx="0" cy="146304"/>
          </a:xfrm>
          <a:prstGeom prst="line">
            <a:avLst/>
          </a:prstGeom>
          <a:noFill/>
          <a:ln w="12700">
            <a:solidFill>
              <a:srgbClr val="C2CFCC"/>
            </a:solidFill>
            <a:prstDash val="solid"/>
          </a:ln>
        </p:spPr>
      </p:sp>
      <p:sp>
        <p:nvSpPr>
          <p:cNvPr id="56" name="Shape 54"/>
          <p:cNvSpPr/>
          <p:nvPr/>
        </p:nvSpPr>
        <p:spPr>
          <a:xfrm>
            <a:off x="8869680" y="5486400"/>
            <a:ext cx="0" cy="146304"/>
          </a:xfrm>
          <a:prstGeom prst="line">
            <a:avLst/>
          </a:prstGeom>
          <a:noFill/>
          <a:ln w="12700">
            <a:solidFill>
              <a:srgbClr val="C2CFCC"/>
            </a:solidFill>
            <a:prstDash val="solid"/>
          </a:ln>
        </p:spPr>
      </p:sp>
      <p:sp>
        <p:nvSpPr>
          <p:cNvPr id="57" name="Shape 55"/>
          <p:cNvSpPr/>
          <p:nvPr/>
        </p:nvSpPr>
        <p:spPr>
          <a:xfrm>
            <a:off x="3136392" y="5632704"/>
            <a:ext cx="5733288" cy="0"/>
          </a:xfrm>
          <a:prstGeom prst="line">
            <a:avLst/>
          </a:prstGeom>
          <a:noFill/>
          <a:ln w="12700">
            <a:solidFill>
              <a:srgbClr val="C2CFCC"/>
            </a:solidFill>
            <a:prstDash val="solid"/>
          </a:ln>
        </p:spPr>
      </p:sp>
      <p:sp>
        <p:nvSpPr>
          <p:cNvPr id="58" name="Shape 56"/>
          <p:cNvSpPr/>
          <p:nvPr/>
        </p:nvSpPr>
        <p:spPr>
          <a:xfrm>
            <a:off x="6035040" y="5632704"/>
            <a:ext cx="0" cy="164592"/>
          </a:xfrm>
          <a:prstGeom prst="line">
            <a:avLst/>
          </a:prstGeom>
          <a:noFill/>
          <a:ln w="15875">
            <a:solidFill>
              <a:srgbClr val="C2CFCC"/>
            </a:solidFill>
            <a:prstDash val="solid"/>
            <a:tailEnd type="triangle"/>
          </a:ln>
        </p:spPr>
      </p:sp>
      <p:sp>
        <p:nvSpPr>
          <p:cNvPr id="59" name="Shape 57"/>
          <p:cNvSpPr/>
          <p:nvPr/>
        </p:nvSpPr>
        <p:spPr>
          <a:xfrm>
            <a:off x="658368" y="5797296"/>
            <a:ext cx="10874959" cy="402336"/>
          </a:xfrm>
          <a:prstGeom prst="roundRect">
            <a:avLst>
              <a:gd name="adj" fmla="val 27273"/>
            </a:avLst>
          </a:prstGeom>
          <a:solidFill>
            <a:srgbClr val="FFFFFF">
              <a:alpha val="88000"/>
            </a:srgbClr>
          </a:solidFill>
          <a:ln w="15875">
            <a:solidFill>
              <a:srgbClr val="C2CFCC"/>
            </a:solidFill>
            <a:prstDash val="solid"/>
          </a:ln>
        </p:spPr>
      </p:sp>
      <p:sp>
        <p:nvSpPr>
          <p:cNvPr id="60" name="Text 58"/>
          <p:cNvSpPr txBox="1"/>
          <p:nvPr/>
        </p:nvSpPr>
        <p:spPr>
          <a:xfrm>
            <a:off x="658368" y="5797296"/>
            <a:ext cx="10874959" cy="402336"/>
          </a:xfrm>
          <a:prstGeom prst="rect">
            <a:avLst/>
          </a:prstGeom>
          <a:noFill/>
          <a:ln/>
        </p:spPr>
        <p:txBody>
          <a:bodyPr wrap="square" lIns="0" tIns="0" rIns="0" bIns="0" rtlCol="0" anchor="ctr"/>
          <a:lstStyle/>
          <a:p>
            <a:pPr algn="ctr" indent="0" marL="0">
              <a:buNone/>
            </a:pPr>
            <a:r>
              <a:rPr lang="en-US" sz="950" dirty="0">
                <a:solidFill>
                  <a:srgbClr val="4A4A4A"/>
                </a:solidFill>
                <a:latin typeface="Courier New" pitchFamily="34" charset="0"/>
                <a:ea typeface="Courier New" pitchFamily="34" charset="-122"/>
                <a:cs typeface="Courier New" pitchFamily="34" charset="-120"/>
              </a:rPr>
              <a:t>SHARED SESSION STATE   ·   SQLite + async SQLAlchemy   ·   transcript, acoustic profile, citations, per-stage timings   ·   audio never stored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2C463C"/>
                </a:solidFill>
                <a:latin typeface="Courier New" pitchFamily="34" charset="0"/>
                <a:ea typeface="Courier New" pitchFamily="34" charset="-122"/>
                <a:cs typeface="Courier New" pitchFamily="34" charset="-120"/>
              </a:rPr>
              <a:t>FRONTEND AND EXPERIENCE</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2F2F2F"/>
                </a:solidFill>
                <a:latin typeface="Arial" pitchFamily="34" charset="0"/>
                <a:ea typeface="Arial" pitchFamily="34" charset="-122"/>
                <a:cs typeface="Arial" pitchFamily="34" charset="-120"/>
              </a:rPr>
              <a:t>Calm on purpose</a:t>
            </a:r>
            <a:endParaRPr lang="en-US" sz="3400" dirty="0"/>
          </a:p>
        </p:txBody>
      </p:sp>
      <p:sp>
        <p:nvSpPr>
          <p:cNvPr id="4" name="Shape 2"/>
          <p:cNvSpPr/>
          <p:nvPr/>
        </p:nvSpPr>
        <p:spPr>
          <a:xfrm>
            <a:off x="658368" y="6272784"/>
            <a:ext cx="10874959" cy="0"/>
          </a:xfrm>
          <a:prstGeom prst="line">
            <a:avLst/>
          </a:prstGeom>
          <a:noFill/>
          <a:ln w="12700">
            <a:solidFill>
              <a:srgbClr val="DCE5E4"/>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9AA5A2"/>
                </a:solidFill>
                <a:latin typeface="Courier New" pitchFamily="34" charset="0"/>
                <a:ea typeface="Courier New" pitchFamily="34" charset="-122"/>
                <a:cs typeface="Courier New" pitchFamily="34" charset="-120"/>
              </a:rPr>
              <a:t>PRESENTER 1  ·  ALI  ·  LIGHT</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9AA5A2"/>
                </a:solidFill>
                <a:latin typeface="Courier New" pitchFamily="34" charset="0"/>
                <a:ea typeface="Courier New" pitchFamily="34" charset="-122"/>
                <a:cs typeface="Courier New" pitchFamily="34" charset="-120"/>
              </a:rPr>
              <a:t>frontend/src/styles/tokens.css  ·  docs/screenshots/</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6A6A6A"/>
                </a:solidFill>
                <a:latin typeface="Courier New" pitchFamily="34" charset="0"/>
                <a:ea typeface="Courier New" pitchFamily="34" charset="-122"/>
                <a:cs typeface="Courier New" pitchFamily="34" charset="-120"/>
              </a:rPr>
              <a:t>12 / 27</a:t>
            </a:r>
            <a:endParaRPr lang="en-US" sz="950" dirty="0"/>
          </a:p>
        </p:txBody>
      </p:sp>
      <p:sp>
        <p:nvSpPr>
          <p:cNvPr id="8" name="Shape 6"/>
          <p:cNvSpPr/>
          <p:nvPr/>
        </p:nvSpPr>
        <p:spPr>
          <a:xfrm>
            <a:off x="11236696" y="6326368"/>
            <a:ext cx="286024" cy="286024"/>
          </a:xfrm>
          <a:prstGeom prst="ellipse">
            <a:avLst/>
          </a:prstGeom>
          <a:solidFill>
            <a:srgbClr val="A2760F">
              <a:alpha val="8000"/>
            </a:srgbClr>
          </a:solidFill>
          <a:ln w="9525">
            <a:solidFill>
              <a:srgbClr val="C2CFCC"/>
            </a:solidFill>
            <a:prstDash val="solid"/>
          </a:ln>
        </p:spPr>
      </p:sp>
      <p:sp>
        <p:nvSpPr>
          <p:cNvPr id="9" name="Shape 7"/>
          <p:cNvSpPr/>
          <p:nvPr/>
        </p:nvSpPr>
        <p:spPr>
          <a:xfrm>
            <a:off x="11301984" y="6391656"/>
            <a:ext cx="155448" cy="155448"/>
          </a:xfrm>
          <a:prstGeom prst="ellipse">
            <a:avLst/>
          </a:prstGeom>
          <a:solidFill>
            <a:srgbClr val="F2C94C"/>
          </a:solidFill>
          <a:ln/>
        </p:spPr>
      </p:sp>
      <p:sp>
        <p:nvSpPr>
          <p:cNvPr id="10" name="Text 8"/>
          <p:cNvSpPr txBox="1"/>
          <p:nvPr/>
        </p:nvSpPr>
        <p:spPr>
          <a:xfrm>
            <a:off x="658368" y="1371600"/>
            <a:ext cx="10424160" cy="457200"/>
          </a:xfrm>
          <a:prstGeom prst="rect">
            <a:avLst/>
          </a:prstGeom>
          <a:noFill/>
          <a:ln/>
        </p:spPr>
        <p:txBody>
          <a:bodyPr wrap="square" lIns="0" tIns="0" rIns="0" bIns="0" rtlCol="0" anchor="t"/>
          <a:lstStyle/>
          <a:p>
            <a:pPr indent="0" marL="0">
              <a:lnSpc>
                <a:spcPct val="116000"/>
              </a:lnSpc>
              <a:buNone/>
            </a:pPr>
            <a:r>
              <a:rPr lang="en-US" sz="1500" dirty="0">
                <a:solidFill>
                  <a:srgbClr val="6A6A6A"/>
                </a:solidFill>
                <a:latin typeface="Calibri" pitchFamily="34" charset="0"/>
                <a:ea typeface="Calibri" pitchFamily="34" charset="-122"/>
                <a:cs typeface="Calibri" pitchFamily="34" charset="-120"/>
              </a:rPr>
              <a:t>The people using this are already anxious about performing. So there are no shake animations, no red alarms, and no scores. The interface is the ethics statement, rendered.</a:t>
            </a:r>
            <a:endParaRPr lang="en-US" sz="1500" dirty="0"/>
          </a:p>
        </p:txBody>
      </p:sp>
      <p:pic>
        <p:nvPicPr>
          <p:cNvPr id="11" name="Image 0" descr="img/app-light.jpg">    </p:cNvPr>
          <p:cNvPicPr>
            <a:picLocks noChangeAspect="1"/>
          </p:cNvPicPr>
          <p:nvPr/>
        </p:nvPicPr>
        <p:blipFill>
          <a:blip r:embed="rId2"/>
          <a:stretch>
            <a:fillRect/>
          </a:stretch>
        </p:blipFill>
        <p:spPr>
          <a:xfrm>
            <a:off x="658368" y="2340864"/>
            <a:ext cx="5815584" cy="2990088"/>
          </a:xfrm>
          <a:prstGeom prst="rect">
            <a:avLst/>
          </a:prstGeom>
        </p:spPr>
      </p:pic>
      <p:sp>
        <p:nvSpPr>
          <p:cNvPr id="12" name="Shape 9"/>
          <p:cNvSpPr/>
          <p:nvPr/>
        </p:nvSpPr>
        <p:spPr>
          <a:xfrm>
            <a:off x="621792" y="2304288"/>
            <a:ext cx="5888736" cy="3063240"/>
          </a:xfrm>
          <a:prstGeom prst="roundRect">
            <a:avLst>
              <a:gd name="adj" fmla="val 4179"/>
            </a:avLst>
          </a:prstGeom>
          <a:ln w="12700">
            <a:solidFill>
              <a:srgbClr val="C2CFCC"/>
            </a:solidFill>
            <a:prstDash val="solid"/>
          </a:ln>
        </p:spPr>
      </p:sp>
      <p:sp>
        <p:nvSpPr>
          <p:cNvPr id="13" name="Text 10"/>
          <p:cNvSpPr txBox="1"/>
          <p:nvPr/>
        </p:nvSpPr>
        <p:spPr>
          <a:xfrm>
            <a:off x="658368" y="5431536"/>
            <a:ext cx="5815584" cy="219456"/>
          </a:xfrm>
          <a:prstGeom prst="rect">
            <a:avLst/>
          </a:prstGeom>
          <a:noFill/>
          <a:ln/>
        </p:spPr>
        <p:txBody>
          <a:bodyPr wrap="square" lIns="0" tIns="0" rIns="0" bIns="0" rtlCol="0" anchor="ctr"/>
          <a:lstStyle/>
          <a:p>
            <a:pPr algn="l" indent="0" marL="0">
              <a:buNone/>
            </a:pPr>
            <a:r>
              <a:rPr lang="en-US" sz="900" dirty="0">
                <a:solidFill>
                  <a:srgbClr val="9AA5A2"/>
                </a:solidFill>
                <a:latin typeface="Courier New" pitchFamily="34" charset="0"/>
                <a:ea typeface="Courier New" pitchFamily="34" charset="-122"/>
                <a:cs typeface="Courier New" pitchFamily="34" charset="-120"/>
              </a:rPr>
              <a:t>the shipped interface, light theme</a:t>
            </a:r>
            <a:endParaRPr lang="en-US" sz="900" dirty="0"/>
          </a:p>
        </p:txBody>
      </p:sp>
      <p:sp>
        <p:nvSpPr>
          <p:cNvPr id="14" name="Shape 11"/>
          <p:cNvSpPr/>
          <p:nvPr/>
        </p:nvSpPr>
        <p:spPr>
          <a:xfrm>
            <a:off x="6784848" y="2340864"/>
            <a:ext cx="4745736" cy="1042416"/>
          </a:xfrm>
          <a:prstGeom prst="roundRect">
            <a:avLst>
              <a:gd name="adj" fmla="val 14035"/>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5" name="Text 12"/>
          <p:cNvSpPr txBox="1"/>
          <p:nvPr/>
        </p:nvSpPr>
        <p:spPr>
          <a:xfrm>
            <a:off x="7004304" y="2487168"/>
            <a:ext cx="4315968" cy="256032"/>
          </a:xfrm>
          <a:prstGeom prst="rect">
            <a:avLst/>
          </a:prstGeom>
          <a:noFill/>
          <a:ln/>
        </p:spPr>
        <p:txBody>
          <a:bodyPr wrap="square" lIns="0" tIns="0" rIns="0" bIns="0" rtlCol="0" anchor="t"/>
          <a:lstStyle/>
          <a:p>
            <a:pPr algn="l" indent="0" marL="0">
              <a:lnSpc>
                <a:spcPct val="120000"/>
              </a:lnSpc>
              <a:buNone/>
            </a:pPr>
            <a:r>
              <a:rPr lang="en-US" sz="1300" b="1" dirty="0">
                <a:solidFill>
                  <a:srgbClr val="2F2F2F"/>
                </a:solidFill>
                <a:latin typeface="Calibri" pitchFamily="34" charset="0"/>
                <a:ea typeface="Calibri" pitchFamily="34" charset="-122"/>
                <a:cs typeface="Calibri" pitchFamily="34" charset="-120"/>
              </a:rPr>
              <a:t>React 18 · TypeScript · Vite</a:t>
            </a:r>
            <a:endParaRPr lang="en-US" sz="1300" dirty="0"/>
          </a:p>
        </p:txBody>
      </p:sp>
      <p:sp>
        <p:nvSpPr>
          <p:cNvPr id="16" name="Text 13"/>
          <p:cNvSpPr txBox="1"/>
          <p:nvPr/>
        </p:nvSpPr>
        <p:spPr>
          <a:xfrm>
            <a:off x="7004304" y="2761488"/>
            <a:ext cx="4315968" cy="493776"/>
          </a:xfrm>
          <a:prstGeom prst="rect">
            <a:avLst/>
          </a:prstGeom>
          <a:noFill/>
          <a:ln/>
        </p:spPr>
        <p:txBody>
          <a:bodyPr wrap="square" lIns="0" tIns="0" rIns="0" bIns="0" rtlCol="0" anchor="t"/>
          <a:lstStyle/>
          <a:p>
            <a:pPr algn="l" indent="0" marL="0">
              <a:lnSpc>
                <a:spcPct val="115000"/>
              </a:lnSpc>
              <a:buNone/>
            </a:pPr>
            <a:r>
              <a:rPr lang="en-US" sz="1100" dirty="0">
                <a:solidFill>
                  <a:srgbClr val="6A6A6A"/>
                </a:solidFill>
                <a:latin typeface="Calibri" pitchFamily="34" charset="0"/>
                <a:ea typeface="Calibri" pitchFamily="34" charset="-122"/>
                <a:cs typeface="Calibri" pitchFamily="34" charset="-120"/>
              </a:rPr>
              <a:t>The API types are generated from the backend's OpenAPI schema. A field rename on the backend breaks the frontend build instead of breaking it at runtime.</a:t>
            </a:r>
            <a:endParaRPr lang="en-US" sz="1100" dirty="0"/>
          </a:p>
        </p:txBody>
      </p:sp>
      <p:sp>
        <p:nvSpPr>
          <p:cNvPr id="17" name="Shape 14"/>
          <p:cNvSpPr/>
          <p:nvPr/>
        </p:nvSpPr>
        <p:spPr>
          <a:xfrm>
            <a:off x="6784848" y="3529584"/>
            <a:ext cx="4745736" cy="1554480"/>
          </a:xfrm>
          <a:prstGeom prst="roundRect">
            <a:avLst>
              <a:gd name="adj" fmla="val 9412"/>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18" name="Text 15"/>
          <p:cNvSpPr txBox="1"/>
          <p:nvPr/>
        </p:nvSpPr>
        <p:spPr>
          <a:xfrm>
            <a:off x="7004304" y="3675888"/>
            <a:ext cx="4315968" cy="256032"/>
          </a:xfrm>
          <a:prstGeom prst="rect">
            <a:avLst/>
          </a:prstGeom>
          <a:noFill/>
          <a:ln/>
        </p:spPr>
        <p:txBody>
          <a:bodyPr wrap="square" lIns="0" tIns="0" rIns="0" bIns="0" rtlCol="0" anchor="t"/>
          <a:lstStyle/>
          <a:p>
            <a:pPr algn="l" indent="0" marL="0">
              <a:lnSpc>
                <a:spcPct val="120000"/>
              </a:lnSpc>
              <a:buNone/>
            </a:pPr>
            <a:r>
              <a:rPr lang="en-US" sz="1300" b="1" dirty="0">
                <a:solidFill>
                  <a:srgbClr val="2F2F2F"/>
                </a:solidFill>
                <a:latin typeface="Calibri" pitchFamily="34" charset="0"/>
                <a:ea typeface="Calibri" pitchFamily="34" charset="-122"/>
                <a:cs typeface="Calibri" pitchFamily="34" charset="-120"/>
              </a:rPr>
              <a:t>Colour is validated, not chosen</a:t>
            </a:r>
            <a:endParaRPr lang="en-US" sz="1300" dirty="0"/>
          </a:p>
        </p:txBody>
      </p:sp>
      <p:sp>
        <p:nvSpPr>
          <p:cNvPr id="19" name="Text 16"/>
          <p:cNvSpPr txBox="1"/>
          <p:nvPr/>
        </p:nvSpPr>
        <p:spPr>
          <a:xfrm>
            <a:off x="7004304" y="3950208"/>
            <a:ext cx="4315968" cy="1005840"/>
          </a:xfrm>
          <a:prstGeom prst="rect">
            <a:avLst/>
          </a:prstGeom>
          <a:noFill/>
          <a:ln/>
        </p:spPr>
        <p:txBody>
          <a:bodyPr wrap="square" lIns="0" tIns="0" rIns="0" bIns="0" rtlCol="0" anchor="t"/>
          <a:lstStyle/>
          <a:p>
            <a:pPr algn="l" indent="0" marL="0">
              <a:lnSpc>
                <a:spcPct val="115000"/>
              </a:lnSpc>
              <a:buNone/>
            </a:pPr>
            <a:r>
              <a:rPr lang="en-US" sz="1100" dirty="0">
                <a:solidFill>
                  <a:srgbClr val="6A6A6A"/>
                </a:solidFill>
                <a:latin typeface="Calibri" pitchFamily="34" charset="0"/>
                <a:ea typeface="Calibri" pitchFamily="34" charset="-122"/>
                <a:cs typeface="Calibri" pitchFamily="34" charset="-120"/>
              </a:rPr>
              <a:t>The palette in the design brief failed accessibility checks — block and prolongation sat 10.1 ΔE apart under deuteranopia simulation, below the 15 floor. Two event types would have been indistinguishable on a colour-coded timeline. Replaced with Okabe-Ito derivatives inside an OKLCH lightness band, then validated across all pairs.</a:t>
            </a:r>
            <a:endParaRPr lang="en-US" sz="1100" dirty="0"/>
          </a:p>
        </p:txBody>
      </p:sp>
      <p:sp>
        <p:nvSpPr>
          <p:cNvPr id="20" name="Shape 17"/>
          <p:cNvSpPr/>
          <p:nvPr/>
        </p:nvSpPr>
        <p:spPr>
          <a:xfrm>
            <a:off x="6784848" y="5230368"/>
            <a:ext cx="4745736" cy="1042416"/>
          </a:xfrm>
          <a:prstGeom prst="roundRect">
            <a:avLst>
              <a:gd name="adj" fmla="val 14035"/>
            </a:avLst>
          </a:prstGeom>
          <a:solidFill>
            <a:srgbClr val="FFFFFF">
              <a:alpha val="88000"/>
            </a:srgbClr>
          </a:solidFill>
          <a:ln w="12700">
            <a:solidFill>
              <a:srgbClr val="DCE5E4"/>
            </a:solidFill>
            <a:prstDash val="solid"/>
          </a:ln>
          <a:effectLst>
            <a:outerShdw sx="100000" sy="100000" kx="0" ky="0" algn="bl" rotWithShape="0" blurRad="152400" dist="25400" dir="5400000">
              <a:srgbClr val="6A6A6A">
                <a:alpha val="16000"/>
              </a:srgbClr>
            </a:outerShdw>
          </a:effectLst>
        </p:spPr>
      </p:sp>
      <p:sp>
        <p:nvSpPr>
          <p:cNvPr id="21" name="Text 18"/>
          <p:cNvSpPr txBox="1"/>
          <p:nvPr/>
        </p:nvSpPr>
        <p:spPr>
          <a:xfrm>
            <a:off x="7004304" y="5376672"/>
            <a:ext cx="4315968" cy="256032"/>
          </a:xfrm>
          <a:prstGeom prst="rect">
            <a:avLst/>
          </a:prstGeom>
          <a:noFill/>
          <a:ln/>
        </p:spPr>
        <p:txBody>
          <a:bodyPr wrap="square" lIns="0" tIns="0" rIns="0" bIns="0" rtlCol="0" anchor="t"/>
          <a:lstStyle/>
          <a:p>
            <a:pPr algn="l" indent="0" marL="0">
              <a:lnSpc>
                <a:spcPct val="120000"/>
              </a:lnSpc>
              <a:buNone/>
            </a:pPr>
            <a:r>
              <a:rPr lang="en-US" sz="1300" b="1" dirty="0">
                <a:solidFill>
                  <a:srgbClr val="2F2F2F"/>
                </a:solidFill>
                <a:latin typeface="Calibri" pitchFamily="34" charset="0"/>
                <a:ea typeface="Calibri" pitchFamily="34" charset="-122"/>
                <a:cs typeface="Calibri" pitchFamily="34" charset="-120"/>
              </a:rPr>
              <a:t>Reduced motion actually works</a:t>
            </a:r>
            <a:endParaRPr lang="en-US" sz="1300" dirty="0"/>
          </a:p>
        </p:txBody>
      </p:sp>
      <p:sp>
        <p:nvSpPr>
          <p:cNvPr id="22" name="Text 19"/>
          <p:cNvSpPr txBox="1"/>
          <p:nvPr/>
        </p:nvSpPr>
        <p:spPr>
          <a:xfrm>
            <a:off x="7004304" y="5650992"/>
            <a:ext cx="4315968" cy="493776"/>
          </a:xfrm>
          <a:prstGeom prst="rect">
            <a:avLst/>
          </a:prstGeom>
          <a:noFill/>
          <a:ln/>
        </p:spPr>
        <p:txBody>
          <a:bodyPr wrap="square" lIns="0" tIns="0" rIns="0" bIns="0" rtlCol="0" anchor="t"/>
          <a:lstStyle/>
          <a:p>
            <a:pPr algn="l" indent="0" marL="0">
              <a:lnSpc>
                <a:spcPct val="115000"/>
              </a:lnSpc>
              <a:buNone/>
            </a:pPr>
            <a:r>
              <a:rPr lang="en-US" sz="1100" dirty="0">
                <a:solidFill>
                  <a:srgbClr val="6A6A6A"/>
                </a:solidFill>
                <a:latin typeface="Calibri" pitchFamily="34" charset="0"/>
                <a:ea typeface="Calibri" pitchFamily="34" charset="-122"/>
                <a:cs typeface="Calibri" pitchFamily="34" charset="-120"/>
              </a:rPr>
              <a:t>Zeroing animation duration was not enough. With fill-mode backwards plus a delay, an element renders in its start state until the delay elapses, so staggered content simply never appeared.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969264"/>
            <a:ext cx="4572000" cy="201168"/>
          </a:xfrm>
          <a:prstGeom prst="rect">
            <a:avLst/>
          </a:prstGeom>
          <a:noFill/>
          <a:ln/>
        </p:spPr>
        <p:txBody>
          <a:bodyPr wrap="square" lIns="0" tIns="0" rIns="0" bIns="0" rtlCol="0" anchor="ctr"/>
          <a:lstStyle/>
          <a:p>
            <a:pPr algn="l" indent="0" marL="0">
              <a:buNone/>
            </a:pPr>
            <a:r>
              <a:rPr lang="en-US" sz="950" b="1" spc="180" kern="0" dirty="0">
                <a:solidFill>
                  <a:srgbClr val="2C463C"/>
                </a:solidFill>
                <a:latin typeface="Courier New" pitchFamily="34" charset="0"/>
                <a:ea typeface="Courier New" pitchFamily="34" charset="-122"/>
                <a:cs typeface="Courier New" pitchFamily="34" charset="-120"/>
              </a:rPr>
              <a:t>PART I  ·  WHAT THE SYSTEM IS</a:t>
            </a:r>
            <a:endParaRPr lang="en-US" sz="950" dirty="0"/>
          </a:p>
        </p:txBody>
      </p:sp>
      <p:sp>
        <p:nvSpPr>
          <p:cNvPr id="3" name="Text 1"/>
          <p:cNvSpPr txBox="1"/>
          <p:nvPr/>
        </p:nvSpPr>
        <p:spPr>
          <a:xfrm>
            <a:off x="658368" y="1298448"/>
            <a:ext cx="4572000" cy="1737360"/>
          </a:xfrm>
          <a:prstGeom prst="rect">
            <a:avLst/>
          </a:prstGeom>
          <a:noFill/>
          <a:ln/>
        </p:spPr>
        <p:txBody>
          <a:bodyPr wrap="square" lIns="0" tIns="0" rIns="0" bIns="0" rtlCol="0" anchor="ctr"/>
          <a:lstStyle/>
          <a:p>
            <a:pPr indent="0" marL="0">
              <a:lnSpc>
                <a:spcPct val="102000"/>
              </a:lnSpc>
              <a:buNone/>
            </a:pPr>
            <a:r>
              <a:rPr lang="en-US" sz="4000" b="1" dirty="0">
                <a:solidFill>
                  <a:srgbClr val="2F2F2F"/>
                </a:solidFill>
                <a:latin typeface="Arial" pitchFamily="34" charset="0"/>
                <a:ea typeface="Arial" pitchFamily="34" charset="-122"/>
                <a:cs typeface="Arial" pitchFamily="34" charset="-120"/>
              </a:rPr>
              <a:t>We have seen</a:t>
            </a:r>
            <a:endParaRPr lang="en-US" sz="4000" dirty="0"/>
          </a:p>
          <a:p>
            <a:pPr indent="0" marL="0">
              <a:lnSpc>
                <a:spcPct val="102000"/>
              </a:lnSpc>
              <a:buNone/>
            </a:pPr>
            <a:r>
              <a:rPr lang="en-US" sz="4000" b="1" dirty="0">
                <a:solidFill>
                  <a:srgbClr val="2F2F2F"/>
                </a:solidFill>
                <a:latin typeface="Arial" pitchFamily="34" charset="0"/>
                <a:ea typeface="Arial" pitchFamily="34" charset="-122"/>
                <a:cs typeface="Arial" pitchFamily="34" charset="-120"/>
              </a:rPr>
              <a:t>what it does.</a:t>
            </a:r>
            <a:endParaRPr lang="en-US" sz="4000" dirty="0"/>
          </a:p>
        </p:txBody>
      </p:sp>
      <p:sp>
        <p:nvSpPr>
          <p:cNvPr id="4" name="Text 2"/>
          <p:cNvSpPr txBox="1"/>
          <p:nvPr/>
        </p:nvSpPr>
        <p:spPr>
          <a:xfrm>
            <a:off x="658368" y="3145536"/>
            <a:ext cx="4206240" cy="822960"/>
          </a:xfrm>
          <a:prstGeom prst="rect">
            <a:avLst/>
          </a:prstGeom>
          <a:noFill/>
          <a:ln/>
        </p:spPr>
        <p:txBody>
          <a:bodyPr wrap="square" lIns="0" tIns="0" rIns="0" bIns="0" rtlCol="0" anchor="t"/>
          <a:lstStyle/>
          <a:p>
            <a:pPr algn="l" indent="0" marL="0">
              <a:lnSpc>
                <a:spcPct val="120000"/>
              </a:lnSpc>
              <a:buNone/>
            </a:pPr>
            <a:r>
              <a:rPr lang="en-US" sz="1400" dirty="0">
                <a:solidFill>
                  <a:srgbClr val="6A6A6A"/>
                </a:solidFill>
                <a:latin typeface="Calibri" pitchFamily="34" charset="0"/>
                <a:ea typeface="Calibri" pitchFamily="34" charset="-122"/>
                <a:cs typeface="Calibri" pitchFamily="34" charset="-120"/>
              </a:rPr>
              <a:t>The problem, the fork in the audio, the two paths, and the interface that carries them.</a:t>
            </a:r>
            <a:endParaRPr lang="en-US" sz="1400" dirty="0"/>
          </a:p>
        </p:txBody>
      </p:sp>
      <p:sp>
        <p:nvSpPr>
          <p:cNvPr id="5" name="Text 3"/>
          <p:cNvSpPr txBox="1"/>
          <p:nvPr/>
        </p:nvSpPr>
        <p:spPr>
          <a:xfrm>
            <a:off x="658368" y="4114800"/>
            <a:ext cx="4206240" cy="274320"/>
          </a:xfrm>
          <a:prstGeom prst="rect">
            <a:avLst/>
          </a:prstGeom>
          <a:noFill/>
          <a:ln/>
        </p:spPr>
        <p:txBody>
          <a:bodyPr wrap="square" lIns="0" tIns="0" rIns="0" bIns="0" rtlCol="0" anchor="t"/>
          <a:lstStyle/>
          <a:p>
            <a:pPr algn="l" indent="0" marL="0">
              <a:lnSpc>
                <a:spcPct val="120000"/>
              </a:lnSpc>
              <a:buNone/>
            </a:pPr>
            <a:r>
              <a:rPr lang="en-US" sz="1300" b="1" dirty="0">
                <a:solidFill>
                  <a:srgbClr val="4A4A4A"/>
                </a:solidFill>
                <a:latin typeface="Calibri" pitchFamily="34" charset="0"/>
                <a:ea typeface="Calibri" pitchFamily="34" charset="-122"/>
                <a:cs typeface="Calibri" pitchFamily="34" charset="-120"/>
              </a:rPr>
              <a:t>Ali  ·  Track A</a:t>
            </a:r>
            <a:endParaRPr lang="en-US" sz="1300" dirty="0"/>
          </a:p>
        </p:txBody>
      </p:sp>
      <p:sp>
        <p:nvSpPr>
          <p:cNvPr id="6" name="Shape 4"/>
          <p:cNvSpPr/>
          <p:nvPr/>
        </p:nvSpPr>
        <p:spPr>
          <a:xfrm>
            <a:off x="4974336" y="2121408"/>
            <a:ext cx="274320" cy="274320"/>
          </a:xfrm>
          <a:prstGeom prst="ellipse">
            <a:avLst/>
          </a:prstGeom>
          <a:solidFill>
            <a:srgbClr val="8A6410"/>
          </a:solidFill>
          <a:ln/>
        </p:spPr>
      </p:sp>
      <p:sp>
        <p:nvSpPr>
          <p:cNvPr id="7" name="Shape 5"/>
          <p:cNvSpPr/>
          <p:nvPr/>
        </p:nvSpPr>
        <p:spPr>
          <a:xfrm>
            <a:off x="5961888" y="2121408"/>
            <a:ext cx="274320" cy="274320"/>
          </a:xfrm>
          <a:prstGeom prst="ellipse">
            <a:avLst/>
          </a:prstGeom>
          <a:solidFill>
            <a:srgbClr val="C9A23A"/>
          </a:solidFill>
          <a:ln/>
        </p:spPr>
      </p:sp>
      <p:sp>
        <p:nvSpPr>
          <p:cNvPr id="8" name="Shape 6"/>
          <p:cNvSpPr/>
          <p:nvPr/>
        </p:nvSpPr>
        <p:spPr>
          <a:xfrm>
            <a:off x="6949440" y="2121408"/>
            <a:ext cx="274320" cy="274320"/>
          </a:xfrm>
          <a:prstGeom prst="ellipse">
            <a:avLst/>
          </a:prstGeom>
          <a:solidFill>
            <a:srgbClr val="D9AE33"/>
          </a:solidFill>
          <a:ln/>
        </p:spPr>
      </p:sp>
      <p:sp>
        <p:nvSpPr>
          <p:cNvPr id="9" name="Text 7"/>
          <p:cNvSpPr txBox="1"/>
          <p:nvPr/>
        </p:nvSpPr>
        <p:spPr>
          <a:xfrm>
            <a:off x="7406640" y="969264"/>
            <a:ext cx="41148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PART II  ·  HOW IT ACTUALLY WORKS</a:t>
            </a:r>
            <a:endParaRPr lang="en-US" sz="950" dirty="0"/>
          </a:p>
        </p:txBody>
      </p:sp>
      <p:sp>
        <p:nvSpPr>
          <p:cNvPr id="10" name="Text 8"/>
          <p:cNvSpPr txBox="1"/>
          <p:nvPr/>
        </p:nvSpPr>
        <p:spPr>
          <a:xfrm>
            <a:off x="7406640" y="1298448"/>
            <a:ext cx="4114800" cy="1737360"/>
          </a:xfrm>
          <a:prstGeom prst="rect">
            <a:avLst/>
          </a:prstGeom>
          <a:noFill/>
          <a:ln/>
        </p:spPr>
        <p:txBody>
          <a:bodyPr wrap="square" lIns="0" tIns="0" rIns="0" bIns="0" rtlCol="0" anchor="ctr"/>
          <a:lstStyle/>
          <a:p>
            <a:pPr indent="0" marL="0">
              <a:lnSpc>
                <a:spcPct val="102000"/>
              </a:lnSpc>
              <a:buNone/>
            </a:pPr>
            <a:r>
              <a:rPr lang="en-US" sz="4000" b="1" dirty="0">
                <a:solidFill>
                  <a:srgbClr val="EFF2F1"/>
                </a:solidFill>
                <a:latin typeface="Arial" pitchFamily="34" charset="0"/>
                <a:ea typeface="Arial" pitchFamily="34" charset="-122"/>
                <a:cs typeface="Arial" pitchFamily="34" charset="-120"/>
              </a:rPr>
              <a:t>Now let us</a:t>
            </a:r>
            <a:endParaRPr lang="en-US" sz="4000" dirty="0"/>
          </a:p>
          <a:p>
            <a:pPr indent="0" marL="0">
              <a:lnSpc>
                <a:spcPct val="102000"/>
              </a:lnSpc>
              <a:buNone/>
            </a:pPr>
            <a:r>
              <a:rPr lang="en-US" sz="4000" b="1" dirty="0">
                <a:solidFill>
                  <a:srgbClr val="EFF2F1"/>
                </a:solidFill>
                <a:latin typeface="Arial" pitchFamily="34" charset="0"/>
                <a:ea typeface="Arial" pitchFamily="34" charset="-122"/>
                <a:cs typeface="Arial" pitchFamily="34" charset="-120"/>
              </a:rPr>
              <a:t>look inside.</a:t>
            </a:r>
            <a:endParaRPr lang="en-US" sz="4000" dirty="0"/>
          </a:p>
        </p:txBody>
      </p:sp>
      <p:sp>
        <p:nvSpPr>
          <p:cNvPr id="11" name="Text 9"/>
          <p:cNvSpPr txBox="1"/>
          <p:nvPr/>
        </p:nvSpPr>
        <p:spPr>
          <a:xfrm>
            <a:off x="7406640" y="3145536"/>
            <a:ext cx="4114800" cy="822960"/>
          </a:xfrm>
          <a:prstGeom prst="rect">
            <a:avLst/>
          </a:prstGeom>
          <a:noFill/>
          <a:ln/>
        </p:spPr>
        <p:txBody>
          <a:bodyPr wrap="square" lIns="0" tIns="0" rIns="0" bIns="0" rtlCol="0" anchor="t"/>
          <a:lstStyle/>
          <a:p>
            <a:pPr algn="l" indent="0" marL="0">
              <a:lnSpc>
                <a:spcPct val="120000"/>
              </a:lnSpc>
              <a:buNone/>
            </a:pPr>
            <a:r>
              <a:rPr lang="en-US" sz="1400" dirty="0">
                <a:solidFill>
                  <a:srgbClr val="8CA096"/>
                </a:solidFill>
                <a:latin typeface="Calibri" pitchFamily="34" charset="0"/>
                <a:ea typeface="Calibri" pitchFamily="34" charset="-122"/>
                <a:cs typeface="Calibri" pitchFamily="34" charset="-120"/>
              </a:rPr>
              <a:t>Where the trade-offs stop being described and start being measured.</a:t>
            </a:r>
            <a:endParaRPr lang="en-US" sz="1400" dirty="0"/>
          </a:p>
        </p:txBody>
      </p:sp>
      <p:sp>
        <p:nvSpPr>
          <p:cNvPr id="12" name="Text 10"/>
          <p:cNvSpPr txBox="1"/>
          <p:nvPr/>
        </p:nvSpPr>
        <p:spPr>
          <a:xfrm>
            <a:off x="7406640" y="4114800"/>
            <a:ext cx="4114800" cy="274320"/>
          </a:xfrm>
          <a:prstGeom prst="rect">
            <a:avLst/>
          </a:prstGeom>
          <a:noFill/>
          <a:ln/>
        </p:spPr>
        <p:txBody>
          <a:bodyPr wrap="square" lIns="0" tIns="0" rIns="0" bIns="0" rtlCol="0" anchor="t"/>
          <a:lstStyle/>
          <a:p>
            <a:pPr algn="l" indent="0" marL="0">
              <a:lnSpc>
                <a:spcPct val="120000"/>
              </a:lnSpc>
              <a:buNone/>
            </a:pPr>
            <a:r>
              <a:rPr lang="en-US" sz="1300" b="1" dirty="0">
                <a:solidFill>
                  <a:srgbClr val="DCE5E4"/>
                </a:solidFill>
                <a:latin typeface="Calibri" pitchFamily="34" charset="0"/>
                <a:ea typeface="Calibri" pitchFamily="34" charset="-122"/>
                <a:cs typeface="Calibri" pitchFamily="34" charset="-120"/>
              </a:rPr>
              <a:t>Youssef  ·  Track M</a:t>
            </a:r>
            <a:endParaRPr lang="en-US" sz="1300" dirty="0"/>
          </a:p>
        </p:txBody>
      </p:sp>
      <p:sp>
        <p:nvSpPr>
          <p:cNvPr id="13" name="Shape 11"/>
          <p:cNvSpPr/>
          <p:nvPr/>
        </p:nvSpPr>
        <p:spPr>
          <a:xfrm>
            <a:off x="10738348" y="5453116"/>
            <a:ext cx="706648" cy="706648"/>
          </a:xfrm>
          <a:prstGeom prst="ellipse">
            <a:avLst/>
          </a:prstGeom>
          <a:solidFill>
            <a:srgbClr val="FFD35C">
              <a:alpha val="8000"/>
            </a:srgbClr>
          </a:solidFill>
          <a:ln w="9525">
            <a:solidFill>
              <a:srgbClr val="33463D"/>
            </a:solidFill>
            <a:prstDash val="solid"/>
          </a:ln>
        </p:spPr>
      </p:sp>
      <p:sp>
        <p:nvSpPr>
          <p:cNvPr id="14" name="Shape 12"/>
          <p:cNvSpPr/>
          <p:nvPr/>
        </p:nvSpPr>
        <p:spPr>
          <a:xfrm>
            <a:off x="10899648" y="5614416"/>
            <a:ext cx="384048" cy="384048"/>
          </a:xfrm>
          <a:prstGeom prst="ellipse">
            <a:avLst/>
          </a:prstGeom>
          <a:solidFill>
            <a:srgbClr val="F9BF29"/>
          </a:solidFill>
          <a:ln/>
        </p:spPr>
      </p:sp>
      <p:sp>
        <p:nvSpPr>
          <p:cNvPr id="15" name="Text 13"/>
          <p:cNvSpPr txBox="1"/>
          <p:nvPr/>
        </p:nvSpPr>
        <p:spPr>
          <a:xfrm>
            <a:off x="7406640" y="4956048"/>
            <a:ext cx="4114800" cy="329184"/>
          </a:xfrm>
          <a:prstGeom prst="rect">
            <a:avLst/>
          </a:prstGeom>
          <a:noFill/>
          <a:ln/>
        </p:spPr>
        <p:txBody>
          <a:bodyPr wrap="square" lIns="0" tIns="0" rIns="0" bIns="0" rtlCol="0" anchor="ctr"/>
          <a:lstStyle/>
          <a:p>
            <a:pPr indent="0" marL="0">
              <a:buNone/>
            </a:pPr>
            <a:r>
              <a:rPr lang="en-US" sz="1200" b="1" spc="200" kern="0" dirty="0">
                <a:solidFill>
                  <a:srgbClr val="F9BF29"/>
                </a:solidFill>
                <a:latin typeface="Courier New" pitchFamily="34" charset="0"/>
                <a:ea typeface="Courier New" pitchFamily="34" charset="-122"/>
                <a:cs typeface="Courier New" pitchFamily="34" charset="-120"/>
              </a:rPr>
              <a:t>15:00</a:t>
            </a:r>
            <a:endParaRPr lang="en-US" sz="1200" dirty="0"/>
          </a:p>
        </p:txBody>
      </p:sp>
      <p:sp>
        <p:nvSpPr>
          <p:cNvPr id="16" name="Text 14"/>
          <p:cNvSpPr txBox="1"/>
          <p:nvPr/>
        </p:nvSpPr>
        <p:spPr>
          <a:xfrm>
            <a:off x="7406640" y="5266944"/>
            <a:ext cx="4114800" cy="274320"/>
          </a:xfrm>
          <a:prstGeom prst="rect">
            <a:avLst/>
          </a:prstGeom>
          <a:noFill/>
          <a:ln/>
        </p:spPr>
        <p:txBody>
          <a:bodyPr wrap="square" lIns="0" tIns="0" rIns="0" bIns="0" rtlCol="0" anchor="ctr"/>
          <a:lstStyle/>
          <a:p>
            <a:pPr indent="0" marL="0">
              <a:buNone/>
            </a:pPr>
            <a:r>
              <a:rPr lang="en-US" sz="950" dirty="0">
                <a:solidFill>
                  <a:srgbClr val="5D7268"/>
                </a:solidFill>
                <a:latin typeface="Courier New" pitchFamily="34" charset="0"/>
                <a:ea typeface="Courier New" pitchFamily="34" charset="-122"/>
                <a:cs typeface="Courier New" pitchFamily="34" charset="-120"/>
              </a:rPr>
              <a:t>half-way  ·  13 / 27</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PART II  ·  INSIDE THE ENGINE</a:t>
            </a:r>
            <a:endParaRPr lang="en-US" sz="1050" dirty="0"/>
          </a:p>
        </p:txBody>
      </p:sp>
      <p:sp>
        <p:nvSpPr>
          <p:cNvPr id="3" name="Text 1"/>
          <p:cNvSpPr txBox="1"/>
          <p:nvPr/>
        </p:nvSpPr>
        <p:spPr>
          <a:xfrm>
            <a:off x="658368" y="1463040"/>
            <a:ext cx="10874959" cy="749808"/>
          </a:xfrm>
          <a:prstGeom prst="rect">
            <a:avLst/>
          </a:prstGeom>
          <a:noFill/>
          <a:ln/>
        </p:spPr>
        <p:txBody>
          <a:bodyPr wrap="square" lIns="0" tIns="0" rIns="0" bIns="0" rtlCol="0" anchor="t"/>
          <a:lstStyle/>
          <a:p>
            <a:pPr indent="0" marL="0">
              <a:lnSpc>
                <a:spcPct val="103000"/>
              </a:lnSpc>
              <a:buNone/>
            </a:pPr>
            <a:r>
              <a:rPr lang="en-US" sz="4000" b="1" dirty="0">
                <a:solidFill>
                  <a:srgbClr val="EFF2F1"/>
                </a:solidFill>
                <a:latin typeface="Arial" pitchFamily="34" charset="0"/>
                <a:ea typeface="Arial" pitchFamily="34" charset="-122"/>
                <a:cs typeface="Arial" pitchFamily="34" charset="-120"/>
              </a:rPr>
              <a:t>From microphone to </a:t>
            </a:r>
            <a:pPr indent="0" marL="0">
              <a:lnSpc>
                <a:spcPct val="103000"/>
              </a:lnSpc>
              <a:buNone/>
            </a:pPr>
            <a:r>
              <a:rPr lang="en-US" sz="4000" i="1" dirty="0">
                <a:solidFill>
                  <a:srgbClr val="F9BF29"/>
                </a:solidFill>
                <a:latin typeface="Cambria" pitchFamily="34" charset="0"/>
                <a:ea typeface="Cambria" pitchFamily="34" charset="-122"/>
                <a:cs typeface="Cambria" pitchFamily="34" charset="-120"/>
              </a:rPr>
              <a:t>intelligence</a:t>
            </a:r>
            <a:endParaRPr lang="en-US" sz="40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14 / 27</a:t>
            </a:r>
            <a:endParaRPr lang="en-US" sz="950" dirty="0"/>
          </a:p>
        </p:txBody>
      </p:sp>
      <p:sp>
        <p:nvSpPr>
          <p:cNvPr id="7" name="Shape 5"/>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8" name="Shape 6"/>
          <p:cNvSpPr/>
          <p:nvPr/>
        </p:nvSpPr>
        <p:spPr>
          <a:xfrm>
            <a:off x="11301984" y="6391656"/>
            <a:ext cx="155448" cy="155448"/>
          </a:xfrm>
          <a:prstGeom prst="ellipse">
            <a:avLst/>
          </a:prstGeom>
          <a:solidFill>
            <a:srgbClr val="F9BF29"/>
          </a:solidFill>
          <a:ln/>
        </p:spPr>
      </p:sp>
      <p:sp>
        <p:nvSpPr>
          <p:cNvPr id="9" name="Text 7"/>
          <p:cNvSpPr txBox="1"/>
          <p:nvPr/>
        </p:nvSpPr>
        <p:spPr>
          <a:xfrm>
            <a:off x="658368" y="2395728"/>
            <a:ext cx="7680960" cy="786384"/>
          </a:xfrm>
          <a:prstGeom prst="rect">
            <a:avLst/>
          </a:prstGeom>
          <a:noFill/>
          <a:ln/>
        </p:spPr>
        <p:txBody>
          <a:bodyPr wrap="square" lIns="0" tIns="0" rIns="0" bIns="0" rtlCol="0" anchor="t"/>
          <a:lstStyle/>
          <a:p>
            <a:pPr algn="l" indent="0" marL="0">
              <a:lnSpc>
                <a:spcPct val="122000"/>
              </a:lnSpc>
              <a:buNone/>
            </a:pPr>
            <a:r>
              <a:rPr lang="en-US" sz="1500" dirty="0">
                <a:solidFill>
                  <a:srgbClr val="8CA096"/>
                </a:solidFill>
                <a:latin typeface="Calibri" pitchFamily="34" charset="0"/>
                <a:ea typeface="Calibri" pitchFamily="34" charset="-122"/>
                <a:cs typeface="Calibri" pitchFamily="34" charset="-120"/>
              </a:rPr>
              <a:t>Every stage from here has a benchmark or a verification script behind it. Where a measurement contradicted what we had written down, the measurement is what is on the slide.</a:t>
            </a:r>
            <a:endParaRPr lang="en-US" sz="1500" dirty="0"/>
          </a:p>
        </p:txBody>
      </p:sp>
      <p:sp>
        <p:nvSpPr>
          <p:cNvPr id="10" name="Shape 8"/>
          <p:cNvSpPr/>
          <p:nvPr/>
        </p:nvSpPr>
        <p:spPr>
          <a:xfrm>
            <a:off x="658368" y="3529584"/>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1" name="Text 9"/>
          <p:cNvSpPr txBox="1"/>
          <p:nvPr/>
        </p:nvSpPr>
        <p:spPr>
          <a:xfrm>
            <a:off x="859536" y="3657600"/>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15</a:t>
            </a:r>
            <a:endParaRPr lang="en-US" sz="950" dirty="0"/>
          </a:p>
        </p:txBody>
      </p:sp>
      <p:sp>
        <p:nvSpPr>
          <p:cNvPr id="12" name="Text 10"/>
          <p:cNvSpPr txBox="1"/>
          <p:nvPr/>
        </p:nvSpPr>
        <p:spPr>
          <a:xfrm>
            <a:off x="859536" y="3895344"/>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Native S2S</a:t>
            </a:r>
            <a:endParaRPr lang="en-US" sz="1300" dirty="0"/>
          </a:p>
        </p:txBody>
      </p:sp>
      <p:sp>
        <p:nvSpPr>
          <p:cNvPr id="13" name="Text 11"/>
          <p:cNvSpPr txBox="1"/>
          <p:nvPr/>
        </p:nvSpPr>
        <p:spPr>
          <a:xfrm>
            <a:off x="859536" y="4151376"/>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Moshi, Mimi, and what it actually cost</a:t>
            </a:r>
            <a:endParaRPr lang="en-US" sz="1050" dirty="0"/>
          </a:p>
        </p:txBody>
      </p:sp>
      <p:sp>
        <p:nvSpPr>
          <p:cNvPr id="14" name="Shape 12"/>
          <p:cNvSpPr/>
          <p:nvPr/>
        </p:nvSpPr>
        <p:spPr>
          <a:xfrm>
            <a:off x="3401568" y="3529584"/>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5" name="Text 13"/>
          <p:cNvSpPr txBox="1"/>
          <p:nvPr/>
        </p:nvSpPr>
        <p:spPr>
          <a:xfrm>
            <a:off x="3602736" y="3657600"/>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16</a:t>
            </a:r>
            <a:endParaRPr lang="en-US" sz="950" dirty="0"/>
          </a:p>
        </p:txBody>
      </p:sp>
      <p:sp>
        <p:nvSpPr>
          <p:cNvPr id="16" name="Text 14"/>
          <p:cNvSpPr txBox="1"/>
          <p:nvPr/>
        </p:nvSpPr>
        <p:spPr>
          <a:xfrm>
            <a:off x="3602736" y="3895344"/>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Speech to text</a:t>
            </a:r>
            <a:endParaRPr lang="en-US" sz="1300" dirty="0"/>
          </a:p>
        </p:txBody>
      </p:sp>
      <p:sp>
        <p:nvSpPr>
          <p:cNvPr id="17" name="Text 15"/>
          <p:cNvSpPr txBox="1"/>
          <p:nvPr/>
        </p:nvSpPr>
        <p:spPr>
          <a:xfrm>
            <a:off x="3602736" y="4151376"/>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chosen on timestamps</a:t>
            </a:r>
            <a:endParaRPr lang="en-US" sz="1050" dirty="0"/>
          </a:p>
        </p:txBody>
      </p:sp>
      <p:sp>
        <p:nvSpPr>
          <p:cNvPr id="18" name="Shape 16"/>
          <p:cNvSpPr/>
          <p:nvPr/>
        </p:nvSpPr>
        <p:spPr>
          <a:xfrm>
            <a:off x="6144768" y="3529584"/>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9" name="Text 17"/>
          <p:cNvSpPr txBox="1"/>
          <p:nvPr/>
        </p:nvSpPr>
        <p:spPr>
          <a:xfrm>
            <a:off x="6345936" y="3657600"/>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17</a:t>
            </a:r>
            <a:endParaRPr lang="en-US" sz="950" dirty="0"/>
          </a:p>
        </p:txBody>
      </p:sp>
      <p:sp>
        <p:nvSpPr>
          <p:cNvPr id="20" name="Text 18"/>
          <p:cNvSpPr txBox="1"/>
          <p:nvPr/>
        </p:nvSpPr>
        <p:spPr>
          <a:xfrm>
            <a:off x="6345936" y="3895344"/>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Acoustic analysis</a:t>
            </a:r>
            <a:endParaRPr lang="en-US" sz="1300" dirty="0"/>
          </a:p>
        </p:txBody>
      </p:sp>
      <p:sp>
        <p:nvSpPr>
          <p:cNvPr id="21" name="Text 19"/>
          <p:cNvSpPr txBox="1"/>
          <p:nvPr/>
        </p:nvSpPr>
        <p:spPr>
          <a:xfrm>
            <a:off x="6345936" y="4151376"/>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heuristic now, wav2vec2 trained</a:t>
            </a:r>
            <a:endParaRPr lang="en-US" sz="1050" dirty="0"/>
          </a:p>
        </p:txBody>
      </p:sp>
      <p:sp>
        <p:nvSpPr>
          <p:cNvPr id="22" name="Shape 20"/>
          <p:cNvSpPr/>
          <p:nvPr/>
        </p:nvSpPr>
        <p:spPr>
          <a:xfrm>
            <a:off x="8887968" y="3529584"/>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3" name="Text 21"/>
          <p:cNvSpPr txBox="1"/>
          <p:nvPr/>
        </p:nvSpPr>
        <p:spPr>
          <a:xfrm>
            <a:off x="9089136" y="3657600"/>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18-19</a:t>
            </a:r>
            <a:endParaRPr lang="en-US" sz="950" dirty="0"/>
          </a:p>
        </p:txBody>
      </p:sp>
      <p:sp>
        <p:nvSpPr>
          <p:cNvPr id="24" name="Text 22"/>
          <p:cNvSpPr txBox="1"/>
          <p:nvPr/>
        </p:nvSpPr>
        <p:spPr>
          <a:xfrm>
            <a:off x="9089136" y="3895344"/>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Retrieval</a:t>
            </a:r>
            <a:endParaRPr lang="en-US" sz="1300" dirty="0"/>
          </a:p>
        </p:txBody>
      </p:sp>
      <p:sp>
        <p:nvSpPr>
          <p:cNvPr id="25" name="Text 23"/>
          <p:cNvSpPr txBox="1"/>
          <p:nvPr/>
        </p:nvSpPr>
        <p:spPr>
          <a:xfrm>
            <a:off x="9089136" y="4151376"/>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chunk, embed, rerank, gate</a:t>
            </a:r>
            <a:endParaRPr lang="en-US" sz="1050" dirty="0"/>
          </a:p>
        </p:txBody>
      </p:sp>
      <p:sp>
        <p:nvSpPr>
          <p:cNvPr id="26" name="Shape 24"/>
          <p:cNvSpPr/>
          <p:nvPr/>
        </p:nvSpPr>
        <p:spPr>
          <a:xfrm>
            <a:off x="658368" y="4773168"/>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7" name="Text 25"/>
          <p:cNvSpPr txBox="1"/>
          <p:nvPr/>
        </p:nvSpPr>
        <p:spPr>
          <a:xfrm>
            <a:off x="859536" y="4901184"/>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20</a:t>
            </a:r>
            <a:endParaRPr lang="en-US" sz="950" dirty="0"/>
          </a:p>
        </p:txBody>
      </p:sp>
      <p:sp>
        <p:nvSpPr>
          <p:cNvPr id="28" name="Text 26"/>
          <p:cNvSpPr txBox="1"/>
          <p:nvPr/>
        </p:nvSpPr>
        <p:spPr>
          <a:xfrm>
            <a:off x="859536" y="5138928"/>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The local model</a:t>
            </a:r>
            <a:endParaRPr lang="en-US" sz="1300" dirty="0"/>
          </a:p>
        </p:txBody>
      </p:sp>
      <p:sp>
        <p:nvSpPr>
          <p:cNvPr id="29" name="Text 27"/>
          <p:cNvSpPr txBox="1"/>
          <p:nvPr/>
        </p:nvSpPr>
        <p:spPr>
          <a:xfrm>
            <a:off x="859536" y="5394960"/>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QLoRA, quantization, llama.cpp</a:t>
            </a:r>
            <a:endParaRPr lang="en-US" sz="1050" dirty="0"/>
          </a:p>
        </p:txBody>
      </p:sp>
      <p:sp>
        <p:nvSpPr>
          <p:cNvPr id="30" name="Shape 28"/>
          <p:cNvSpPr/>
          <p:nvPr/>
        </p:nvSpPr>
        <p:spPr>
          <a:xfrm>
            <a:off x="3401568" y="4773168"/>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1" name="Text 29"/>
          <p:cNvSpPr txBox="1"/>
          <p:nvPr/>
        </p:nvSpPr>
        <p:spPr>
          <a:xfrm>
            <a:off x="3602736" y="4901184"/>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21</a:t>
            </a:r>
            <a:endParaRPr lang="en-US" sz="950" dirty="0"/>
          </a:p>
        </p:txBody>
      </p:sp>
      <p:sp>
        <p:nvSpPr>
          <p:cNvPr id="32" name="Text 30"/>
          <p:cNvSpPr txBox="1"/>
          <p:nvPr/>
        </p:nvSpPr>
        <p:spPr>
          <a:xfrm>
            <a:off x="3602736" y="5138928"/>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Base vs fine-tuned</a:t>
            </a:r>
            <a:endParaRPr lang="en-US" sz="1300" dirty="0"/>
          </a:p>
        </p:txBody>
      </p:sp>
      <p:sp>
        <p:nvSpPr>
          <p:cNvPr id="33" name="Text 31"/>
          <p:cNvSpPr txBox="1"/>
          <p:nvPr/>
        </p:nvSpPr>
        <p:spPr>
          <a:xfrm>
            <a:off x="3602736" y="5394960"/>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what it bought, and what it cost</a:t>
            </a:r>
            <a:endParaRPr lang="en-US" sz="1050" dirty="0"/>
          </a:p>
        </p:txBody>
      </p:sp>
      <p:sp>
        <p:nvSpPr>
          <p:cNvPr id="34" name="Shape 32"/>
          <p:cNvSpPr/>
          <p:nvPr/>
        </p:nvSpPr>
        <p:spPr>
          <a:xfrm>
            <a:off x="6144768" y="4773168"/>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5" name="Text 33"/>
          <p:cNvSpPr txBox="1"/>
          <p:nvPr/>
        </p:nvSpPr>
        <p:spPr>
          <a:xfrm>
            <a:off x="6345936" y="4901184"/>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22-23</a:t>
            </a:r>
            <a:endParaRPr lang="en-US" sz="950" dirty="0"/>
          </a:p>
        </p:txBody>
      </p:sp>
      <p:sp>
        <p:nvSpPr>
          <p:cNvPr id="36" name="Text 34"/>
          <p:cNvSpPr txBox="1"/>
          <p:nvPr/>
        </p:nvSpPr>
        <p:spPr>
          <a:xfrm>
            <a:off x="6345936" y="5138928"/>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Hardware and backend</a:t>
            </a:r>
            <a:endParaRPr lang="en-US" sz="1300" dirty="0"/>
          </a:p>
        </p:txBody>
      </p:sp>
      <p:sp>
        <p:nvSpPr>
          <p:cNvPr id="37" name="Text 35"/>
          <p:cNvSpPr txBox="1"/>
          <p:nvPr/>
        </p:nvSpPr>
        <p:spPr>
          <a:xfrm>
            <a:off x="6345936" y="5394960"/>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one card, and the privacy model</a:t>
            </a:r>
            <a:endParaRPr lang="en-US" sz="1050" dirty="0"/>
          </a:p>
        </p:txBody>
      </p:sp>
      <p:sp>
        <p:nvSpPr>
          <p:cNvPr id="38" name="Shape 36"/>
          <p:cNvSpPr/>
          <p:nvPr/>
        </p:nvSpPr>
        <p:spPr>
          <a:xfrm>
            <a:off x="8887968" y="4773168"/>
            <a:ext cx="2615184" cy="1005840"/>
          </a:xfrm>
          <a:prstGeom prst="roundRect">
            <a:avLst>
              <a:gd name="adj" fmla="val 1454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9" name="Text 37"/>
          <p:cNvSpPr txBox="1"/>
          <p:nvPr/>
        </p:nvSpPr>
        <p:spPr>
          <a:xfrm>
            <a:off x="9089136" y="4901184"/>
            <a:ext cx="91440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24-26</a:t>
            </a:r>
            <a:endParaRPr lang="en-US" sz="950" dirty="0"/>
          </a:p>
        </p:txBody>
      </p:sp>
      <p:sp>
        <p:nvSpPr>
          <p:cNvPr id="40" name="Text 38"/>
          <p:cNvSpPr txBox="1"/>
          <p:nvPr/>
        </p:nvSpPr>
        <p:spPr>
          <a:xfrm>
            <a:off x="9089136" y="5138928"/>
            <a:ext cx="2212848"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Proof</a:t>
            </a:r>
            <a:endParaRPr lang="en-US" sz="1300" dirty="0"/>
          </a:p>
        </p:txBody>
      </p:sp>
      <p:sp>
        <p:nvSpPr>
          <p:cNvPr id="41" name="Text 39"/>
          <p:cNvSpPr txBox="1"/>
          <p:nvPr/>
        </p:nvSpPr>
        <p:spPr>
          <a:xfrm>
            <a:off x="9089136" y="5394960"/>
            <a:ext cx="2212848" cy="292608"/>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latency, verification, limits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THE LIVE PATH  ·  NATIVE SPEECH-TO-SPEECH</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100" b="1" dirty="0">
                <a:solidFill>
                  <a:srgbClr val="EFF2F1"/>
                </a:solidFill>
                <a:latin typeface="Arial" pitchFamily="34" charset="0"/>
                <a:ea typeface="Arial" pitchFamily="34" charset="-122"/>
                <a:cs typeface="Arial" pitchFamily="34" charset="-120"/>
              </a:rPr>
              <a:t>Moshi runs. And it is </a:t>
            </a:r>
            <a:pPr indent="0" marL="0">
              <a:lnSpc>
                <a:spcPct val="103000"/>
              </a:lnSpc>
              <a:buNone/>
            </a:pPr>
            <a:r>
              <a:rPr lang="en-US" sz="3100" b="1" dirty="0">
                <a:solidFill>
                  <a:srgbClr val="F9BF29"/>
                </a:solidFill>
                <a:latin typeface="Arial" pitchFamily="34" charset="0"/>
                <a:ea typeface="Arial" pitchFamily="34" charset="-122"/>
                <a:cs typeface="Arial" pitchFamily="34" charset="-120"/>
              </a:rPr>
              <a:t>ten times slower</a:t>
            </a:r>
            <a:pPr indent="0" marL="0">
              <a:lnSpc>
                <a:spcPct val="103000"/>
              </a:lnSpc>
              <a:buNone/>
            </a:pPr>
            <a:r>
              <a:rPr lang="en-US" sz="3100" b="1" dirty="0">
                <a:solidFill>
                  <a:srgbClr val="EFF2F1"/>
                </a:solidFill>
                <a:latin typeface="Arial" pitchFamily="34" charset="0"/>
                <a:ea typeface="Arial" pitchFamily="34" charset="-122"/>
                <a:cs typeface="Arial" pitchFamily="34" charset="-120"/>
              </a:rPr>
              <a:t> than we claimed.</a:t>
            </a:r>
            <a:endParaRPr lang="en-US" sz="31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ml/moshi/bench_moshi_latency.py  ·  docs/M1_BRINGUP_LOG.md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15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481328"/>
            <a:ext cx="950976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Kyutai publish ~200 ms. Our project plan assumed it. When we measured on our own hardware, through our own bridge, with real speech, we got this.</a:t>
            </a:r>
            <a:endParaRPr lang="en-US" sz="1500" dirty="0"/>
          </a:p>
        </p:txBody>
      </p:sp>
      <p:sp>
        <p:nvSpPr>
          <p:cNvPr id="11" name="Shape 9"/>
          <p:cNvSpPr/>
          <p:nvPr/>
        </p:nvSpPr>
        <p:spPr>
          <a:xfrm>
            <a:off x="658368" y="2212848"/>
            <a:ext cx="6675120" cy="2395728"/>
          </a:xfrm>
          <a:prstGeom prst="roundRect">
            <a:avLst>
              <a:gd name="adj" fmla="val 6107"/>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14400" y="2359152"/>
            <a:ext cx="45720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TIME TO FIRST AUDIO, MEASURED</a:t>
            </a:r>
            <a:endParaRPr lang="en-US" sz="950" dirty="0"/>
          </a:p>
        </p:txBody>
      </p:sp>
      <p:sp>
        <p:nvSpPr>
          <p:cNvPr id="13" name="Text 11"/>
          <p:cNvSpPr txBox="1"/>
          <p:nvPr/>
        </p:nvSpPr>
        <p:spPr>
          <a:xfrm>
            <a:off x="914400" y="2724912"/>
            <a:ext cx="2011680"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Kyutai's published figure</a:t>
            </a:r>
            <a:endParaRPr lang="en-US" sz="1050" dirty="0"/>
          </a:p>
        </p:txBody>
      </p:sp>
      <p:sp>
        <p:nvSpPr>
          <p:cNvPr id="14" name="Shape 12"/>
          <p:cNvSpPr/>
          <p:nvPr/>
        </p:nvSpPr>
        <p:spPr>
          <a:xfrm>
            <a:off x="2980944" y="2761488"/>
            <a:ext cx="252113" cy="164592"/>
          </a:xfrm>
          <a:prstGeom prst="roundRect">
            <a:avLst>
              <a:gd name="adj" fmla="val 27778"/>
            </a:avLst>
          </a:prstGeom>
          <a:solidFill>
            <a:srgbClr val="5D7268"/>
          </a:solidFill>
          <a:ln/>
        </p:spPr>
      </p:sp>
      <p:sp>
        <p:nvSpPr>
          <p:cNvPr id="15" name="Text 13"/>
          <p:cNvSpPr txBox="1"/>
          <p:nvPr/>
        </p:nvSpPr>
        <p:spPr>
          <a:xfrm>
            <a:off x="3287921" y="2724912"/>
            <a:ext cx="960120" cy="219456"/>
          </a:xfrm>
          <a:prstGeom prst="rect">
            <a:avLst/>
          </a:prstGeom>
          <a:noFill/>
          <a:ln/>
        </p:spPr>
        <p:txBody>
          <a:bodyPr wrap="square" lIns="0" tIns="0" rIns="0" bIns="0" rtlCol="0" anchor="ctr"/>
          <a:lstStyle/>
          <a:p>
            <a:pPr algn="l" indent="0" marL="0">
              <a:buNone/>
            </a:pPr>
            <a:r>
              <a:rPr lang="en-US" sz="1000" dirty="0">
                <a:solidFill>
                  <a:srgbClr val="5D7268"/>
                </a:solidFill>
                <a:latin typeface="Courier New" pitchFamily="34" charset="0"/>
                <a:ea typeface="Courier New" pitchFamily="34" charset="-122"/>
                <a:cs typeface="Courier New" pitchFamily="34" charset="-120"/>
              </a:rPr>
              <a:t>200 ms</a:t>
            </a:r>
            <a:endParaRPr lang="en-US" sz="1000" dirty="0"/>
          </a:p>
        </p:txBody>
      </p:sp>
      <p:sp>
        <p:nvSpPr>
          <p:cNvPr id="16" name="Text 14"/>
          <p:cNvSpPr txBox="1"/>
          <p:nvPr/>
        </p:nvSpPr>
        <p:spPr>
          <a:xfrm>
            <a:off x="914400" y="2944368"/>
            <a:ext cx="2377440" cy="201168"/>
          </a:xfrm>
          <a:prstGeom prst="rect">
            <a:avLst/>
          </a:prstGeom>
          <a:noFill/>
          <a:ln/>
        </p:spPr>
        <p:txBody>
          <a:bodyPr wrap="square" lIns="0" tIns="0" rIns="0" bIns="0" rtlCol="0" anchor="t"/>
          <a:lstStyle/>
          <a:p>
            <a:pPr algn="l" indent="0" marL="0">
              <a:lnSpc>
                <a:spcPct val="120000"/>
              </a:lnSpc>
              <a:buNone/>
            </a:pPr>
            <a:r>
              <a:rPr lang="en-US" sz="850" dirty="0">
                <a:solidFill>
                  <a:srgbClr val="5D7268"/>
                </a:solidFill>
                <a:latin typeface="Calibri" pitchFamily="34" charset="0"/>
                <a:ea typeface="Calibri" pitchFamily="34" charset="-122"/>
                <a:cs typeface="Calibri" pitchFamily="34" charset="-120"/>
              </a:rPr>
              <a:t>assumed by the plan, never measured here</a:t>
            </a:r>
            <a:endParaRPr lang="en-US" sz="850" dirty="0"/>
          </a:p>
        </p:txBody>
      </p:sp>
      <p:sp>
        <p:nvSpPr>
          <p:cNvPr id="17" name="Text 15"/>
          <p:cNvSpPr txBox="1"/>
          <p:nvPr/>
        </p:nvSpPr>
        <p:spPr>
          <a:xfrm>
            <a:off x="914400" y="3182112"/>
            <a:ext cx="2011680"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M1 relay, p50</a:t>
            </a:r>
            <a:endParaRPr lang="en-US" sz="1050" dirty="0"/>
          </a:p>
        </p:txBody>
      </p:sp>
      <p:sp>
        <p:nvSpPr>
          <p:cNvPr id="18" name="Shape 16"/>
          <p:cNvSpPr/>
          <p:nvPr/>
        </p:nvSpPr>
        <p:spPr>
          <a:xfrm>
            <a:off x="2980944" y="3218688"/>
            <a:ext cx="2062286" cy="164592"/>
          </a:xfrm>
          <a:prstGeom prst="roundRect">
            <a:avLst>
              <a:gd name="adj" fmla="val 27778"/>
            </a:avLst>
          </a:prstGeom>
          <a:solidFill>
            <a:srgbClr val="3B5D50"/>
          </a:solidFill>
          <a:ln/>
        </p:spPr>
      </p:sp>
      <p:sp>
        <p:nvSpPr>
          <p:cNvPr id="19" name="Text 17"/>
          <p:cNvSpPr txBox="1"/>
          <p:nvPr/>
        </p:nvSpPr>
        <p:spPr>
          <a:xfrm>
            <a:off x="5098094" y="3182112"/>
            <a:ext cx="960120" cy="219456"/>
          </a:xfrm>
          <a:prstGeom prst="rect">
            <a:avLst/>
          </a:prstGeom>
          <a:noFill/>
          <a:ln/>
        </p:spPr>
        <p:txBody>
          <a:bodyPr wrap="square" lIns="0" tIns="0" rIns="0" bIns="0" rtlCol="0" anchor="ctr"/>
          <a:lstStyle/>
          <a:p>
            <a:pPr algn="l" indent="0" marL="0">
              <a:buNone/>
            </a:pPr>
            <a:r>
              <a:rPr lang="en-US" sz="1000" dirty="0">
                <a:solidFill>
                  <a:srgbClr val="EFF2F1"/>
                </a:solidFill>
                <a:latin typeface="Courier New" pitchFamily="34" charset="0"/>
                <a:ea typeface="Courier New" pitchFamily="34" charset="-122"/>
                <a:cs typeface="Courier New" pitchFamily="34" charset="-120"/>
              </a:rPr>
              <a:t>1636 ms</a:t>
            </a:r>
            <a:endParaRPr lang="en-US" sz="1000" dirty="0"/>
          </a:p>
        </p:txBody>
      </p:sp>
      <p:sp>
        <p:nvSpPr>
          <p:cNvPr id="20" name="Text 18"/>
          <p:cNvSpPr txBox="1"/>
          <p:nvPr/>
        </p:nvSpPr>
        <p:spPr>
          <a:xfrm>
            <a:off x="914400" y="3401568"/>
            <a:ext cx="2377440" cy="201168"/>
          </a:xfrm>
          <a:prstGeom prst="rect">
            <a:avLst/>
          </a:prstGeom>
          <a:noFill/>
          <a:ln/>
        </p:spPr>
        <p:txBody>
          <a:bodyPr wrap="square" lIns="0" tIns="0" rIns="0" bIns="0" rtlCol="0" anchor="t"/>
          <a:lstStyle/>
          <a:p>
            <a:pPr algn="l" indent="0" marL="0">
              <a:lnSpc>
                <a:spcPct val="120000"/>
              </a:lnSpc>
              <a:buNone/>
            </a:pPr>
            <a:r>
              <a:rPr lang="en-US" sz="850" dirty="0">
                <a:solidFill>
                  <a:srgbClr val="5D7268"/>
                </a:solidFill>
                <a:latin typeface="Calibri" pitchFamily="34" charset="0"/>
                <a:ea typeface="Calibri" pitchFamily="34" charset="-122"/>
                <a:cs typeface="Calibri" pitchFamily="34" charset="-120"/>
              </a:rPr>
              <a:t>hand-rolled Opus bridge, throwaway</a:t>
            </a:r>
            <a:endParaRPr lang="en-US" sz="850" dirty="0"/>
          </a:p>
        </p:txBody>
      </p:sp>
      <p:sp>
        <p:nvSpPr>
          <p:cNvPr id="21" name="Text 19"/>
          <p:cNvSpPr txBox="1"/>
          <p:nvPr/>
        </p:nvSpPr>
        <p:spPr>
          <a:xfrm>
            <a:off x="914400" y="3639312"/>
            <a:ext cx="2011680"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M2 production bridge, p50</a:t>
            </a:r>
            <a:endParaRPr lang="en-US" sz="1050" dirty="0"/>
          </a:p>
        </p:txBody>
      </p:sp>
      <p:sp>
        <p:nvSpPr>
          <p:cNvPr id="22" name="Shape 20"/>
          <p:cNvSpPr/>
          <p:nvPr/>
        </p:nvSpPr>
        <p:spPr>
          <a:xfrm>
            <a:off x="2980944" y="3675888"/>
            <a:ext cx="2533737" cy="164592"/>
          </a:xfrm>
          <a:prstGeom prst="roundRect">
            <a:avLst>
              <a:gd name="adj" fmla="val 27778"/>
            </a:avLst>
          </a:prstGeom>
          <a:solidFill>
            <a:srgbClr val="F9BF29"/>
          </a:solidFill>
          <a:ln/>
        </p:spPr>
      </p:sp>
      <p:sp>
        <p:nvSpPr>
          <p:cNvPr id="23" name="Text 21"/>
          <p:cNvSpPr txBox="1"/>
          <p:nvPr/>
        </p:nvSpPr>
        <p:spPr>
          <a:xfrm>
            <a:off x="5569545" y="3639312"/>
            <a:ext cx="960120" cy="219456"/>
          </a:xfrm>
          <a:prstGeom prst="rect">
            <a:avLst/>
          </a:prstGeom>
          <a:noFill/>
          <a:ln/>
        </p:spPr>
        <p:txBody>
          <a:bodyPr wrap="square" lIns="0" tIns="0" rIns="0" bIns="0" rtlCol="0" anchor="ctr"/>
          <a:lstStyle/>
          <a:p>
            <a:pPr algn="l" indent="0" marL="0">
              <a:buNone/>
            </a:pPr>
            <a:r>
              <a:rPr lang="en-US" sz="1000" dirty="0">
                <a:solidFill>
                  <a:srgbClr val="EFF2F1"/>
                </a:solidFill>
                <a:latin typeface="Courier New" pitchFamily="34" charset="0"/>
                <a:ea typeface="Courier New" pitchFamily="34" charset="-122"/>
                <a:cs typeface="Courier New" pitchFamily="34" charset="-120"/>
              </a:rPr>
              <a:t>2010 ms</a:t>
            </a:r>
            <a:endParaRPr lang="en-US" sz="1000" dirty="0"/>
          </a:p>
        </p:txBody>
      </p:sp>
      <p:sp>
        <p:nvSpPr>
          <p:cNvPr id="24" name="Text 22"/>
          <p:cNvSpPr txBox="1"/>
          <p:nvPr/>
        </p:nvSpPr>
        <p:spPr>
          <a:xfrm>
            <a:off x="914400" y="3858768"/>
            <a:ext cx="2377440" cy="201168"/>
          </a:xfrm>
          <a:prstGeom prst="rect">
            <a:avLst/>
          </a:prstGeom>
          <a:noFill/>
          <a:ln/>
        </p:spPr>
        <p:txBody>
          <a:bodyPr wrap="square" lIns="0" tIns="0" rIns="0" bIns="0" rtlCol="0" anchor="t"/>
          <a:lstStyle/>
          <a:p>
            <a:pPr algn="l" indent="0" marL="0">
              <a:lnSpc>
                <a:spcPct val="120000"/>
              </a:lnSpc>
              <a:buNone/>
            </a:pPr>
            <a:r>
              <a:rPr lang="en-US" sz="850" dirty="0">
                <a:solidFill>
                  <a:srgbClr val="5D7268"/>
                </a:solidFill>
                <a:latin typeface="Calibri" pitchFamily="34" charset="0"/>
                <a:ea typeface="Calibri" pitchFamily="34" charset="-122"/>
                <a:cs typeface="Calibri" pitchFamily="34" charset="-120"/>
              </a:rPr>
              <a:t>PyAV codec layer, real speech content</a:t>
            </a:r>
            <a:endParaRPr lang="en-US" sz="850" dirty="0"/>
          </a:p>
        </p:txBody>
      </p:sp>
      <p:sp>
        <p:nvSpPr>
          <p:cNvPr id="25" name="Text 23"/>
          <p:cNvSpPr txBox="1"/>
          <p:nvPr/>
        </p:nvSpPr>
        <p:spPr>
          <a:xfrm>
            <a:off x="914400" y="4096512"/>
            <a:ext cx="2011680"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M2 production bridge, p95</a:t>
            </a:r>
            <a:endParaRPr lang="en-US" sz="1050" dirty="0"/>
          </a:p>
        </p:txBody>
      </p:sp>
      <p:sp>
        <p:nvSpPr>
          <p:cNvPr id="26" name="Shape 24"/>
          <p:cNvSpPr/>
          <p:nvPr/>
        </p:nvSpPr>
        <p:spPr>
          <a:xfrm>
            <a:off x="2980944" y="4133088"/>
            <a:ext cx="3334196" cy="164592"/>
          </a:xfrm>
          <a:prstGeom prst="roundRect">
            <a:avLst>
              <a:gd name="adj" fmla="val 27778"/>
            </a:avLst>
          </a:prstGeom>
          <a:solidFill>
            <a:srgbClr val="B8891A"/>
          </a:solidFill>
          <a:ln/>
        </p:spPr>
      </p:sp>
      <p:sp>
        <p:nvSpPr>
          <p:cNvPr id="27" name="Text 25"/>
          <p:cNvSpPr txBox="1"/>
          <p:nvPr/>
        </p:nvSpPr>
        <p:spPr>
          <a:xfrm>
            <a:off x="6370004" y="4096512"/>
            <a:ext cx="960120" cy="219456"/>
          </a:xfrm>
          <a:prstGeom prst="rect">
            <a:avLst/>
          </a:prstGeom>
          <a:noFill/>
          <a:ln/>
        </p:spPr>
        <p:txBody>
          <a:bodyPr wrap="square" lIns="0" tIns="0" rIns="0" bIns="0" rtlCol="0" anchor="ctr"/>
          <a:lstStyle/>
          <a:p>
            <a:pPr algn="l" indent="0" marL="0">
              <a:buNone/>
            </a:pPr>
            <a:r>
              <a:rPr lang="en-US" sz="1000" dirty="0">
                <a:solidFill>
                  <a:srgbClr val="EFF2F1"/>
                </a:solidFill>
                <a:latin typeface="Courier New" pitchFamily="34" charset="0"/>
                <a:ea typeface="Courier New" pitchFamily="34" charset="-122"/>
                <a:cs typeface="Courier New" pitchFamily="34" charset="-120"/>
              </a:rPr>
              <a:t>2645 ms</a:t>
            </a:r>
            <a:endParaRPr lang="en-US" sz="1000" dirty="0"/>
          </a:p>
        </p:txBody>
      </p:sp>
      <p:sp>
        <p:nvSpPr>
          <p:cNvPr id="28" name="Text 26"/>
          <p:cNvSpPr txBox="1"/>
          <p:nvPr/>
        </p:nvSpPr>
        <p:spPr>
          <a:xfrm>
            <a:off x="914400" y="4315968"/>
            <a:ext cx="5852160" cy="201168"/>
          </a:xfrm>
          <a:prstGeom prst="rect">
            <a:avLst/>
          </a:prstGeom>
          <a:noFill/>
          <a:ln/>
        </p:spPr>
        <p:txBody>
          <a:bodyPr wrap="square" lIns="0" tIns="0" rIns="0" bIns="0" rtlCol="0" anchor="ctr"/>
          <a:lstStyle/>
          <a:p>
            <a:pPr algn="l" indent="0" marL="0">
              <a:buNone/>
            </a:pPr>
            <a:r>
              <a:rPr lang="en-US" sz="900" dirty="0">
                <a:solidFill>
                  <a:srgbClr val="5D7268"/>
                </a:solidFill>
                <a:latin typeface="Courier New" pitchFamily="34" charset="0"/>
                <a:ea typeface="Courier New" pitchFamily="34" charset="-122"/>
                <a:cs typeface="Courier New" pitchFamily="34" charset="-120"/>
              </a:rPr>
              <a:t>n = 10 per run, three independent runs, warm GPU, q8 weights</a:t>
            </a:r>
            <a:endParaRPr lang="en-US" sz="900" dirty="0"/>
          </a:p>
        </p:txBody>
      </p:sp>
      <p:sp>
        <p:nvSpPr>
          <p:cNvPr id="29" name="Shape 27"/>
          <p:cNvSpPr/>
          <p:nvPr/>
        </p:nvSpPr>
        <p:spPr>
          <a:xfrm>
            <a:off x="7607808" y="2212848"/>
            <a:ext cx="3922776" cy="2395728"/>
          </a:xfrm>
          <a:prstGeom prst="roundRect">
            <a:avLst>
              <a:gd name="adj" fmla="val 6107"/>
            </a:avLst>
          </a:prstGeom>
          <a:solidFill>
            <a:srgbClr val="141D19">
              <a:alpha val="88000"/>
            </a:srgbClr>
          </a:solidFill>
          <a:ln w="12700">
            <a:solidFill>
              <a:srgbClr val="33463D"/>
            </a:solidFill>
            <a:prstDash val="solid"/>
          </a:ln>
          <a:effectLst>
            <a:outerShdw sx="100000" sy="100000" kx="0" ky="0" algn="bl" rotWithShape="0" blurRad="152400" dist="25400" dir="5400000">
              <a:srgbClr val="000000">
                <a:alpha val="16000"/>
              </a:srgbClr>
            </a:outerShdw>
          </a:effectLst>
        </p:spPr>
      </p:sp>
      <p:sp>
        <p:nvSpPr>
          <p:cNvPr id="30" name="Text 28"/>
          <p:cNvSpPr txBox="1"/>
          <p:nvPr/>
        </p:nvSpPr>
        <p:spPr>
          <a:xfrm>
            <a:off x="7845552" y="2359152"/>
            <a:ext cx="347472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WHAT WE WILL NOT CLAIM</a:t>
            </a:r>
            <a:endParaRPr lang="en-US" sz="950" dirty="0"/>
          </a:p>
        </p:txBody>
      </p:sp>
      <p:sp>
        <p:nvSpPr>
          <p:cNvPr id="31" name="Text 29"/>
          <p:cNvSpPr txBox="1"/>
          <p:nvPr/>
        </p:nvSpPr>
        <p:spPr>
          <a:xfrm>
            <a:off x="7845552" y="2651760"/>
            <a:ext cx="3474720" cy="237744"/>
          </a:xfrm>
          <a:prstGeom prst="rect">
            <a:avLst/>
          </a:prstGeom>
          <a:noFill/>
          <a:ln/>
        </p:spPr>
        <p:txBody>
          <a:bodyPr wrap="square" lIns="0" tIns="0" rIns="0" bIns="0" rtlCol="0" anchor="t"/>
          <a:lstStyle/>
          <a:p>
            <a:pPr algn="l" indent="0" marL="0">
              <a:lnSpc>
                <a:spcPct val="120000"/>
              </a:lnSpc>
              <a:buNone/>
            </a:pPr>
            <a:r>
              <a:rPr lang="en-US" sz="1100" dirty="0">
                <a:solidFill>
                  <a:srgbClr val="8CA096"/>
                </a:solidFill>
                <a:latin typeface="Calibri" pitchFamily="34" charset="0"/>
                <a:ea typeface="Calibri" pitchFamily="34" charset="-122"/>
                <a:cs typeface="Calibri" pitchFamily="34" charset="-120"/>
              </a:rPr>
              <a:t>docs/PROJECT_PLAN.md says, in our own words:</a:t>
            </a:r>
            <a:endParaRPr lang="en-US" sz="1100" dirty="0"/>
          </a:p>
        </p:txBody>
      </p:sp>
      <p:sp>
        <p:nvSpPr>
          <p:cNvPr id="32" name="Text 30"/>
          <p:cNvSpPr txBox="1"/>
          <p:nvPr/>
        </p:nvSpPr>
        <p:spPr>
          <a:xfrm>
            <a:off x="7845552" y="2926080"/>
            <a:ext cx="3474720" cy="932688"/>
          </a:xfrm>
          <a:prstGeom prst="rect">
            <a:avLst/>
          </a:prstGeom>
          <a:noFill/>
          <a:ln/>
        </p:spPr>
        <p:txBody>
          <a:bodyPr wrap="square" lIns="0" tIns="0" rIns="0" bIns="0" rtlCol="0" anchor="ctr"/>
          <a:lstStyle/>
          <a:p>
            <a:pPr indent="0" marL="0">
              <a:lnSpc>
                <a:spcPct val="114000"/>
              </a:lnSpc>
              <a:buNone/>
            </a:pPr>
            <a:r>
              <a:rPr lang="en-US" sz="1500" i="1" dirty="0">
                <a:solidFill>
                  <a:srgbClr val="EFF2F1"/>
                </a:solidFill>
                <a:latin typeface="Cambria" pitchFamily="34" charset="0"/>
                <a:ea typeface="Cambria" pitchFamily="34" charset="-122"/>
                <a:cs typeface="Cambria" pitchFamily="34" charset="-120"/>
              </a:rPr>
              <a:t>“do not claim ~200 ms for Moshi in the report — cite the measured figure with the relay caveat.”</a:t>
            </a:r>
            <a:endParaRPr lang="en-US" sz="1500" dirty="0"/>
          </a:p>
        </p:txBody>
      </p:sp>
      <p:sp>
        <p:nvSpPr>
          <p:cNvPr id="33" name="Text 31"/>
          <p:cNvSpPr txBox="1"/>
          <p:nvPr/>
        </p:nvSpPr>
        <p:spPr>
          <a:xfrm>
            <a:off x="7845552" y="3950208"/>
            <a:ext cx="3474720" cy="548640"/>
          </a:xfrm>
          <a:prstGeom prst="rect">
            <a:avLst/>
          </a:prstGeom>
          <a:noFill/>
          <a:ln/>
        </p:spPr>
        <p:txBody>
          <a:bodyPr wrap="square" lIns="0" tIns="0" rIns="0" bIns="0" rtlCol="0" anchor="t"/>
          <a:lstStyle/>
          <a:p>
            <a:pPr algn="l" indent="0" marL="0">
              <a:lnSpc>
                <a:spcPct val="115000"/>
              </a:lnSpc>
              <a:buNone/>
            </a:pPr>
            <a:r>
              <a:rPr lang="en-US" sz="1100" dirty="0">
                <a:solidFill>
                  <a:srgbClr val="8CA096"/>
                </a:solidFill>
                <a:latin typeface="Calibri" pitchFamily="34" charset="0"/>
                <a:ea typeface="Calibri" pitchFamily="34" charset="-122"/>
                <a:cs typeface="Calibri" pitchFamily="34" charset="-120"/>
              </a:rPr>
              <a:t>The README and the report carried 200 ms until this week. Building this talk is what caught it, and every one of them now reads the measured figure.</a:t>
            </a:r>
            <a:endParaRPr lang="en-US" sz="1100" dirty="0"/>
          </a:p>
        </p:txBody>
      </p:sp>
      <p:sp>
        <p:nvSpPr>
          <p:cNvPr id="34" name="Shape 32"/>
          <p:cNvSpPr/>
          <p:nvPr/>
        </p:nvSpPr>
        <p:spPr>
          <a:xfrm>
            <a:off x="658368" y="4754880"/>
            <a:ext cx="3529584" cy="1298448"/>
          </a:xfrm>
          <a:prstGeom prst="roundRect">
            <a:avLst>
              <a:gd name="adj" fmla="val 11268"/>
            </a:avLst>
          </a:prstGeom>
          <a:solidFill>
            <a:srgbClr val="141D19">
              <a:alpha val="76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5" name="Text 33"/>
          <p:cNvSpPr txBox="1"/>
          <p:nvPr/>
        </p:nvSpPr>
        <p:spPr>
          <a:xfrm>
            <a:off x="877824" y="4882896"/>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6F9C8A"/>
                </a:solidFill>
                <a:latin typeface="Calibri" pitchFamily="34" charset="0"/>
                <a:ea typeface="Calibri" pitchFamily="34" charset="-122"/>
                <a:cs typeface="Calibri" pitchFamily="34" charset="-120"/>
              </a:rPr>
              <a:t>Where the floor is</a:t>
            </a:r>
            <a:endParaRPr lang="en-US" sz="1200" dirty="0"/>
          </a:p>
        </p:txBody>
      </p:sp>
      <p:sp>
        <p:nvSpPr>
          <p:cNvPr id="36" name="Text 34"/>
          <p:cNvSpPr txBox="1"/>
          <p:nvPr/>
        </p:nvSpPr>
        <p:spPr>
          <a:xfrm>
            <a:off x="877824" y="5120640"/>
            <a:ext cx="3090672" cy="859536"/>
          </a:xfrm>
          <a:prstGeom prst="rect">
            <a:avLst/>
          </a:prstGeom>
          <a:noFill/>
          <a:ln/>
        </p:spPr>
        <p:txBody>
          <a:bodyPr wrap="square" lIns="0" tIns="0" rIns="0" bIns="0" rtlCol="0" anchor="t"/>
          <a:lstStyle/>
          <a:p>
            <a:pPr algn="l" indent="0" marL="0">
              <a:lnSpc>
                <a:spcPct val="113000"/>
              </a:lnSpc>
              <a:buNone/>
            </a:pPr>
            <a:r>
              <a:rPr lang="en-US" sz="1050" dirty="0">
                <a:solidFill>
                  <a:srgbClr val="8CA096"/>
                </a:solidFill>
                <a:latin typeface="Calibri" pitchFamily="34" charset="0"/>
                <a:ea typeface="Calibri" pitchFamily="34" charset="-122"/>
                <a:cs typeface="Calibri" pitchFamily="34" charset="-120"/>
              </a:rPr>
              <a:t>Mimi runs at 12.5 Hz — 80 ms a frame — and its causal encoder needs several frames of lookahead before the first codebook token exists. So some multiple of 80 ms is structural. 2 s is roughly twenty-five frames, well past what that explains.</a:t>
            </a:r>
            <a:endParaRPr lang="en-US" sz="1050" dirty="0"/>
          </a:p>
        </p:txBody>
      </p:sp>
      <p:sp>
        <p:nvSpPr>
          <p:cNvPr id="37" name="Shape 35"/>
          <p:cNvSpPr/>
          <p:nvPr/>
        </p:nvSpPr>
        <p:spPr>
          <a:xfrm>
            <a:off x="4352544" y="4754880"/>
            <a:ext cx="3529584" cy="1298448"/>
          </a:xfrm>
          <a:prstGeom prst="roundRect">
            <a:avLst>
              <a:gd name="adj" fmla="val 11268"/>
            </a:avLst>
          </a:prstGeom>
          <a:solidFill>
            <a:srgbClr val="141D19">
              <a:alpha val="76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8" name="Text 36"/>
          <p:cNvSpPr txBox="1"/>
          <p:nvPr/>
        </p:nvSpPr>
        <p:spPr>
          <a:xfrm>
            <a:off x="4572000" y="4882896"/>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6F9C8A"/>
                </a:solidFill>
                <a:latin typeface="Calibri" pitchFamily="34" charset="0"/>
                <a:ea typeface="Calibri" pitchFamily="34" charset="-122"/>
                <a:cs typeface="Calibri" pitchFamily="34" charset="-120"/>
              </a:rPr>
              <a:t>What M12 settled</a:t>
            </a:r>
            <a:endParaRPr lang="en-US" sz="1200" dirty="0"/>
          </a:p>
        </p:txBody>
      </p:sp>
      <p:sp>
        <p:nvSpPr>
          <p:cNvPr id="39" name="Text 37"/>
          <p:cNvSpPr txBox="1"/>
          <p:nvPr/>
        </p:nvSpPr>
        <p:spPr>
          <a:xfrm>
            <a:off x="4572000" y="5120640"/>
            <a:ext cx="3090672" cy="859536"/>
          </a:xfrm>
          <a:prstGeom prst="rect">
            <a:avLst/>
          </a:prstGeom>
          <a:noFill/>
          <a:ln/>
        </p:spPr>
        <p:txBody>
          <a:bodyPr wrap="square" lIns="0" tIns="0" rIns="0" bIns="0" rtlCol="0" anchor="t"/>
          <a:lstStyle/>
          <a:p>
            <a:pPr algn="l" indent="0" marL="0">
              <a:lnSpc>
                <a:spcPct val="113000"/>
              </a:lnSpc>
              <a:buNone/>
            </a:pPr>
            <a:r>
              <a:rPr lang="en-US" sz="1050" dirty="0">
                <a:solidFill>
                  <a:srgbClr val="8CA096"/>
                </a:solidFill>
                <a:latin typeface="Calibri" pitchFamily="34" charset="0"/>
                <a:ea typeface="Calibri" pitchFamily="34" charset="-122"/>
                <a:cs typeface="Calibri" pitchFamily="34" charset="-120"/>
              </a:rPr>
              <a:t>The relay was not the explanation. M1's 1.6 s and the production bridge's 2.0 s are the same order, so the gap against 200 ms is this hardware and this q8 build — not our plumbing.</a:t>
            </a:r>
            <a:endParaRPr lang="en-US" sz="1050" dirty="0"/>
          </a:p>
        </p:txBody>
      </p:sp>
      <p:sp>
        <p:nvSpPr>
          <p:cNvPr id="40" name="Shape 38"/>
          <p:cNvSpPr/>
          <p:nvPr/>
        </p:nvSpPr>
        <p:spPr>
          <a:xfrm>
            <a:off x="8046720" y="4754880"/>
            <a:ext cx="3529584" cy="1298448"/>
          </a:xfrm>
          <a:prstGeom prst="roundRect">
            <a:avLst>
              <a:gd name="adj" fmla="val 11268"/>
            </a:avLst>
          </a:prstGeom>
          <a:solidFill>
            <a:srgbClr val="141D19">
              <a:alpha val="76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41" name="Text 39"/>
          <p:cNvSpPr txBox="1"/>
          <p:nvPr/>
        </p:nvSpPr>
        <p:spPr>
          <a:xfrm>
            <a:off x="8266176" y="4882896"/>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6F9C8A"/>
                </a:solidFill>
                <a:latin typeface="Calibri" pitchFamily="34" charset="0"/>
                <a:ea typeface="Calibri" pitchFamily="34" charset="-122"/>
                <a:cs typeface="Calibri" pitchFamily="34" charset="-120"/>
              </a:rPr>
              <a:t>What did not change</a:t>
            </a:r>
            <a:endParaRPr lang="en-US" sz="1200" dirty="0"/>
          </a:p>
        </p:txBody>
      </p:sp>
      <p:sp>
        <p:nvSpPr>
          <p:cNvPr id="42" name="Text 40"/>
          <p:cNvSpPr txBox="1"/>
          <p:nvPr/>
        </p:nvSpPr>
        <p:spPr>
          <a:xfrm>
            <a:off x="8266176" y="5120640"/>
            <a:ext cx="3090672" cy="859536"/>
          </a:xfrm>
          <a:prstGeom prst="rect">
            <a:avLst/>
          </a:prstGeom>
          <a:noFill/>
          <a:ln/>
        </p:spPr>
        <p:txBody>
          <a:bodyPr wrap="square" lIns="0" tIns="0" rIns="0" bIns="0" rtlCol="0" anchor="t"/>
          <a:lstStyle/>
          <a:p>
            <a:pPr algn="l" indent="0" marL="0">
              <a:lnSpc>
                <a:spcPct val="113000"/>
              </a:lnSpc>
              <a:buNone/>
            </a:pPr>
            <a:r>
              <a:rPr lang="en-US" sz="1050" dirty="0">
                <a:solidFill>
                  <a:srgbClr val="8CA096"/>
                </a:solidFill>
                <a:latin typeface="Calibri" pitchFamily="34" charset="0"/>
                <a:ea typeface="Calibri" pitchFamily="34" charset="-122"/>
                <a:cs typeface="Calibri" pitchFamily="34" charset="-120"/>
              </a:rPr>
              <a:t>The argument. Five to fourteen times faster than the cascade, full-duplex, with barge-in, and hearing dysfluency straight from audio tokens.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SPEECH TO TEXT</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EFF2F1"/>
                </a:solidFill>
                <a:latin typeface="Arial" pitchFamily="34" charset="0"/>
                <a:ea typeface="Arial" pitchFamily="34" charset="-122"/>
                <a:cs typeface="Arial" pitchFamily="34" charset="-120"/>
              </a:rPr>
              <a:t>Whisper base, int8, on CPU</a:t>
            </a:r>
            <a:endParaRPr lang="en-US" sz="34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backend/app/services/stt.py  ·  backend/scripts/bench_whisper.py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16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71600"/>
            <a:ext cx="82296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Ali showed you the benchmark that chose it. Here is what it produces and why that shape matters downstream.</a:t>
            </a:r>
            <a:endParaRPr lang="en-US" sz="1500" dirty="0"/>
          </a:p>
        </p:txBody>
      </p:sp>
      <p:sp>
        <p:nvSpPr>
          <p:cNvPr id="11" name="Shape 9"/>
          <p:cNvSpPr/>
          <p:nvPr/>
        </p:nvSpPr>
        <p:spPr>
          <a:xfrm>
            <a:off x="658368" y="2066544"/>
            <a:ext cx="5321808" cy="2011680"/>
          </a:xfrm>
          <a:prstGeom prst="roundRect">
            <a:avLst>
              <a:gd name="adj" fmla="val 7273"/>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14400" y="2212848"/>
            <a:ext cx="45720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WHAT THE TRANSCRIPT OBJECT CARRIES</a:t>
            </a:r>
            <a:endParaRPr lang="en-US" sz="950" dirty="0"/>
          </a:p>
        </p:txBody>
      </p:sp>
      <p:sp>
        <p:nvSpPr>
          <p:cNvPr id="13" name="Text 11"/>
          <p:cNvSpPr txBox="1"/>
          <p:nvPr/>
        </p:nvSpPr>
        <p:spPr>
          <a:xfrm>
            <a:off x="914400" y="2523744"/>
            <a:ext cx="1700784" cy="219456"/>
          </a:xfrm>
          <a:prstGeom prst="rect">
            <a:avLst/>
          </a:prstGeom>
          <a:noFill/>
          <a:ln/>
        </p:spPr>
        <p:txBody>
          <a:bodyPr wrap="square" lIns="0" tIns="0" rIns="0" bIns="0" rtlCol="0" anchor="ctr"/>
          <a:lstStyle/>
          <a:p>
            <a:pPr algn="l" indent="0" marL="0">
              <a:buNone/>
            </a:pPr>
            <a:r>
              <a:rPr lang="en-US" sz="1050" dirty="0">
                <a:solidFill>
                  <a:srgbClr val="F9BF29"/>
                </a:solidFill>
                <a:latin typeface="Courier New" pitchFamily="34" charset="0"/>
                <a:ea typeface="Courier New" pitchFamily="34" charset="-122"/>
                <a:cs typeface="Courier New" pitchFamily="34" charset="-120"/>
              </a:rPr>
              <a:t>text</a:t>
            </a:r>
            <a:endParaRPr lang="en-US" sz="1050" dirty="0"/>
          </a:p>
        </p:txBody>
      </p:sp>
      <p:sp>
        <p:nvSpPr>
          <p:cNvPr id="14" name="Text 12"/>
          <p:cNvSpPr txBox="1"/>
          <p:nvPr/>
        </p:nvSpPr>
        <p:spPr>
          <a:xfrm>
            <a:off x="2670048" y="2514600"/>
            <a:ext cx="3072384" cy="329184"/>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the words, as Whisper normalised them</a:t>
            </a:r>
            <a:endParaRPr lang="en-US" sz="1050" dirty="0"/>
          </a:p>
        </p:txBody>
      </p:sp>
      <p:sp>
        <p:nvSpPr>
          <p:cNvPr id="15" name="Text 13"/>
          <p:cNvSpPr txBox="1"/>
          <p:nvPr/>
        </p:nvSpPr>
        <p:spPr>
          <a:xfrm>
            <a:off x="914400" y="2889504"/>
            <a:ext cx="1700784" cy="219456"/>
          </a:xfrm>
          <a:prstGeom prst="rect">
            <a:avLst/>
          </a:prstGeom>
          <a:noFill/>
          <a:ln/>
        </p:spPr>
        <p:txBody>
          <a:bodyPr wrap="square" lIns="0" tIns="0" rIns="0" bIns="0" rtlCol="0" anchor="ctr"/>
          <a:lstStyle/>
          <a:p>
            <a:pPr algn="l" indent="0" marL="0">
              <a:buNone/>
            </a:pPr>
            <a:r>
              <a:rPr lang="en-US" sz="1050" dirty="0">
                <a:solidFill>
                  <a:srgbClr val="F9BF29"/>
                </a:solidFill>
                <a:latin typeface="Courier New" pitchFamily="34" charset="0"/>
                <a:ea typeface="Courier New" pitchFamily="34" charset="-122"/>
                <a:cs typeface="Courier New" pitchFamily="34" charset="-120"/>
              </a:rPr>
              <a:t>words[]</a:t>
            </a:r>
            <a:endParaRPr lang="en-US" sz="1050" dirty="0"/>
          </a:p>
        </p:txBody>
      </p:sp>
      <p:sp>
        <p:nvSpPr>
          <p:cNvPr id="16" name="Text 14"/>
          <p:cNvSpPr txBox="1"/>
          <p:nvPr/>
        </p:nvSpPr>
        <p:spPr>
          <a:xfrm>
            <a:off x="2670048" y="2880360"/>
            <a:ext cx="3072384" cy="329184"/>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each with start_ms and end_ms — this is the part that matters</a:t>
            </a:r>
            <a:endParaRPr lang="en-US" sz="1050" dirty="0"/>
          </a:p>
        </p:txBody>
      </p:sp>
      <p:sp>
        <p:nvSpPr>
          <p:cNvPr id="17" name="Text 15"/>
          <p:cNvSpPr txBox="1"/>
          <p:nvPr/>
        </p:nvSpPr>
        <p:spPr>
          <a:xfrm>
            <a:off x="914400" y="3255264"/>
            <a:ext cx="1700784" cy="219456"/>
          </a:xfrm>
          <a:prstGeom prst="rect">
            <a:avLst/>
          </a:prstGeom>
          <a:noFill/>
          <a:ln/>
        </p:spPr>
        <p:txBody>
          <a:bodyPr wrap="square" lIns="0" tIns="0" rIns="0" bIns="0" rtlCol="0" anchor="ctr"/>
          <a:lstStyle/>
          <a:p>
            <a:pPr algn="l" indent="0" marL="0">
              <a:buNone/>
            </a:pPr>
            <a:r>
              <a:rPr lang="en-US" sz="1050" dirty="0">
                <a:solidFill>
                  <a:srgbClr val="F9BF29"/>
                </a:solidFill>
                <a:latin typeface="Courier New" pitchFamily="34" charset="0"/>
                <a:ea typeface="Courier New" pitchFamily="34" charset="-122"/>
                <a:cs typeface="Courier New" pitchFamily="34" charset="-120"/>
              </a:rPr>
              <a:t>language, duration_ms</a:t>
            </a:r>
            <a:endParaRPr lang="en-US" sz="1050" dirty="0"/>
          </a:p>
        </p:txBody>
      </p:sp>
      <p:sp>
        <p:nvSpPr>
          <p:cNvPr id="18" name="Text 16"/>
          <p:cNvSpPr txBox="1"/>
          <p:nvPr/>
        </p:nvSpPr>
        <p:spPr>
          <a:xfrm>
            <a:off x="2670048" y="3246120"/>
            <a:ext cx="3072384" cy="329184"/>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context for the analyzer</a:t>
            </a:r>
            <a:endParaRPr lang="en-US" sz="1050" dirty="0"/>
          </a:p>
        </p:txBody>
      </p:sp>
      <p:sp>
        <p:nvSpPr>
          <p:cNvPr id="19" name="Text 17"/>
          <p:cNvSpPr txBox="1"/>
          <p:nvPr/>
        </p:nvSpPr>
        <p:spPr>
          <a:xfrm>
            <a:off x="914400" y="3621024"/>
            <a:ext cx="1700784" cy="219456"/>
          </a:xfrm>
          <a:prstGeom prst="rect">
            <a:avLst/>
          </a:prstGeom>
          <a:noFill/>
          <a:ln/>
        </p:spPr>
        <p:txBody>
          <a:bodyPr wrap="square" lIns="0" tIns="0" rIns="0" bIns="0" rtlCol="0" anchor="ctr"/>
          <a:lstStyle/>
          <a:p>
            <a:pPr algn="l" indent="0" marL="0">
              <a:buNone/>
            </a:pPr>
            <a:r>
              <a:rPr lang="en-US" sz="1050" dirty="0">
                <a:solidFill>
                  <a:srgbClr val="F9BF29"/>
                </a:solidFill>
                <a:latin typeface="Courier New" pitchFamily="34" charset="0"/>
                <a:ea typeface="Courier New" pitchFamily="34" charset="-122"/>
                <a:cs typeface="Courier New" pitchFamily="34" charset="-120"/>
              </a:rPr>
              <a:t>speech_rate_wpm()</a:t>
            </a:r>
            <a:endParaRPr lang="en-US" sz="1050" dirty="0"/>
          </a:p>
        </p:txBody>
      </p:sp>
      <p:sp>
        <p:nvSpPr>
          <p:cNvPr id="20" name="Text 18"/>
          <p:cNvSpPr txBox="1"/>
          <p:nvPr/>
        </p:nvSpPr>
        <p:spPr>
          <a:xfrm>
            <a:off x="2670048" y="3611880"/>
            <a:ext cx="3072384" cy="329184"/>
          </a:xfrm>
          <a:prstGeom prst="rect">
            <a:avLst/>
          </a:prstGeom>
          <a:noFill/>
          <a:ln/>
        </p:spPr>
        <p:txBody>
          <a:bodyPr wrap="square" lIns="0" tIns="0" rIns="0" bIns="0" rtlCol="0" anchor="t"/>
          <a:lstStyle/>
          <a:p>
            <a:pPr algn="l" indent="0" marL="0">
              <a:lnSpc>
                <a:spcPct val="110000"/>
              </a:lnSpc>
              <a:buNone/>
            </a:pPr>
            <a:r>
              <a:rPr lang="en-US" sz="1050" dirty="0">
                <a:solidFill>
                  <a:srgbClr val="8CA096"/>
                </a:solidFill>
                <a:latin typeface="Calibri" pitchFamily="34" charset="0"/>
                <a:ea typeface="Calibri" pitchFamily="34" charset="-122"/>
                <a:cs typeface="Calibri" pitchFamily="34" charset="-120"/>
              </a:rPr>
              <a:t>measured first word to last, so leading silence does not deflate it</a:t>
            </a:r>
            <a:endParaRPr lang="en-US" sz="1050" dirty="0"/>
          </a:p>
        </p:txBody>
      </p:sp>
      <p:sp>
        <p:nvSpPr>
          <p:cNvPr id="21" name="Shape 19"/>
          <p:cNvSpPr/>
          <p:nvPr/>
        </p:nvSpPr>
        <p:spPr>
          <a:xfrm>
            <a:off x="6208776" y="2066544"/>
            <a:ext cx="5321808" cy="2011680"/>
          </a:xfrm>
          <a:prstGeom prst="roundRect">
            <a:avLst>
              <a:gd name="adj" fmla="val 7273"/>
            </a:avLst>
          </a:prstGeom>
          <a:solidFill>
            <a:srgbClr val="141D19">
              <a:alpha val="88000"/>
            </a:srgbClr>
          </a:solidFill>
          <a:ln w="12700">
            <a:solidFill>
              <a:srgbClr val="33463D"/>
            </a:solidFill>
            <a:prstDash val="solid"/>
          </a:ln>
          <a:effectLst>
            <a:outerShdw sx="100000" sy="100000" kx="0" ky="0" algn="bl" rotWithShape="0" blurRad="152400" dist="25400" dir="5400000">
              <a:srgbClr val="000000">
                <a:alpha val="16000"/>
              </a:srgbClr>
            </a:outerShdw>
          </a:effectLst>
        </p:spPr>
      </p:sp>
      <p:sp>
        <p:nvSpPr>
          <p:cNvPr id="22" name="Text 20"/>
          <p:cNvSpPr txBox="1"/>
          <p:nvPr/>
        </p:nvSpPr>
        <p:spPr>
          <a:xfrm>
            <a:off x="6464808" y="2212848"/>
            <a:ext cx="457200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WHY WORD TIMINGS, NOT THE WORDS</a:t>
            </a:r>
            <a:endParaRPr lang="en-US" sz="950" dirty="0"/>
          </a:p>
        </p:txBody>
      </p:sp>
      <p:sp>
        <p:nvSpPr>
          <p:cNvPr id="23" name="Text 21"/>
          <p:cNvSpPr txBox="1"/>
          <p:nvPr/>
        </p:nvSpPr>
        <p:spPr>
          <a:xfrm>
            <a:off x="6464808" y="2523744"/>
            <a:ext cx="4809744" cy="969264"/>
          </a:xfrm>
          <a:prstGeom prst="rect">
            <a:avLst/>
          </a:prstGeom>
          <a:noFill/>
          <a:ln/>
        </p:spPr>
        <p:txBody>
          <a:bodyPr wrap="square" lIns="0" tIns="0" rIns="0" bIns="0" rtlCol="0" anchor="t"/>
          <a:lstStyle/>
          <a:p>
            <a:pPr algn="l" indent="0" marL="0">
              <a:lnSpc>
                <a:spcPct val="120000"/>
              </a:lnSpc>
              <a:buNone/>
            </a:pPr>
            <a:r>
              <a:rPr lang="en-US" sz="1250" dirty="0">
                <a:solidFill>
                  <a:srgbClr val="DCE5E4"/>
                </a:solidFill>
                <a:latin typeface="Calibri" pitchFamily="34" charset="0"/>
                <a:ea typeface="Calibri" pitchFamily="34" charset="-122"/>
                <a:cs typeface="Calibri" pitchFamily="34" charset="-120"/>
              </a:rPr>
              <a:t>The heuristic analyzer derives a block from the silent gap between two consecutive word end and start times. A prolongation is a short token occupying a long span. A repetition is the same normalised token twice inside 700 ms.</a:t>
            </a:r>
            <a:endParaRPr lang="en-US" sz="1250" dirty="0"/>
          </a:p>
        </p:txBody>
      </p:sp>
      <p:sp>
        <p:nvSpPr>
          <p:cNvPr id="24" name="Text 22"/>
          <p:cNvSpPr txBox="1"/>
          <p:nvPr/>
        </p:nvSpPr>
        <p:spPr>
          <a:xfrm>
            <a:off x="6464808" y="3547872"/>
            <a:ext cx="4809744" cy="420624"/>
          </a:xfrm>
          <a:prstGeom prst="rect">
            <a:avLst/>
          </a:prstGeom>
          <a:noFill/>
          <a:ln/>
        </p:spPr>
        <p:txBody>
          <a:bodyPr wrap="square" lIns="0" tIns="0" rIns="0" bIns="0" rtlCol="0" anchor="t"/>
          <a:lstStyle/>
          <a:p>
            <a:pPr algn="l" indent="0" marL="0">
              <a:lnSpc>
                <a:spcPct val="115000"/>
              </a:lnSpc>
              <a:buNone/>
            </a:pPr>
            <a:r>
              <a:rPr lang="en-US" sz="1200" dirty="0">
                <a:solidFill>
                  <a:srgbClr val="8CA096"/>
                </a:solidFill>
                <a:latin typeface="Calibri" pitchFamily="34" charset="0"/>
                <a:ea typeface="Calibri" pitchFamily="34" charset="-122"/>
                <a:cs typeface="Calibri" pitchFamily="34" charset="-120"/>
              </a:rPr>
              <a:t>So the accuracy that matters is boundary placement. That is why base beat small on the only metric we cared about.</a:t>
            </a:r>
            <a:endParaRPr lang="en-US" sz="1200" dirty="0"/>
          </a:p>
        </p:txBody>
      </p:sp>
      <p:sp>
        <p:nvSpPr>
          <p:cNvPr id="25" name="Shape 23"/>
          <p:cNvSpPr/>
          <p:nvPr/>
        </p:nvSpPr>
        <p:spPr>
          <a:xfrm>
            <a:off x="658368" y="4242816"/>
            <a:ext cx="10874959" cy="1792224"/>
          </a:xfrm>
          <a:prstGeom prst="roundRect">
            <a:avLst>
              <a:gd name="adj" fmla="val 8163"/>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6" name="Text 24"/>
          <p:cNvSpPr txBox="1"/>
          <p:nvPr/>
        </p:nvSpPr>
        <p:spPr>
          <a:xfrm>
            <a:off x="932688" y="4407408"/>
            <a:ext cx="64008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THE THRESHOLDS, AND WHERE EACH NUMBER CAME FROM</a:t>
            </a:r>
            <a:endParaRPr lang="en-US" sz="950" dirty="0"/>
          </a:p>
        </p:txBody>
      </p:sp>
      <p:sp>
        <p:nvSpPr>
          <p:cNvPr id="27" name="Text 25"/>
          <p:cNvSpPr txBox="1"/>
          <p:nvPr/>
        </p:nvSpPr>
        <p:spPr>
          <a:xfrm>
            <a:off x="932688" y="4718304"/>
            <a:ext cx="2103120" cy="237744"/>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BLOCK_GAP_MS</a:t>
            </a:r>
            <a:endParaRPr lang="en-US" sz="1000" dirty="0"/>
          </a:p>
        </p:txBody>
      </p:sp>
      <p:sp>
        <p:nvSpPr>
          <p:cNvPr id="28" name="Text 26"/>
          <p:cNvSpPr txBox="1"/>
          <p:nvPr/>
        </p:nvSpPr>
        <p:spPr>
          <a:xfrm>
            <a:off x="3090672" y="4718304"/>
            <a:ext cx="1005840" cy="237744"/>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450 ms</a:t>
            </a:r>
            <a:endParaRPr lang="en-US" sz="1100" dirty="0"/>
          </a:p>
        </p:txBody>
      </p:sp>
      <p:sp>
        <p:nvSpPr>
          <p:cNvPr id="29" name="Text 27"/>
          <p:cNvSpPr txBox="1"/>
          <p:nvPr/>
        </p:nvSpPr>
        <p:spPr>
          <a:xfrm>
            <a:off x="4187952" y="4718304"/>
            <a:ext cx="6949440" cy="237744"/>
          </a:xfrm>
          <a:prstGeom prst="rect">
            <a:avLst/>
          </a:prstGeom>
          <a:noFill/>
          <a:ln/>
        </p:spPr>
        <p:txBody>
          <a:bodyPr wrap="square" lIns="0" tIns="0" rIns="0" bIns="0" rtlCol="0" anchor="t"/>
          <a:lstStyle/>
          <a:p>
            <a:pPr algn="l" indent="0" marL="0">
              <a:lnSpc>
                <a:spcPct val="120000"/>
              </a:lnSpc>
              <a:buNone/>
            </a:pPr>
            <a:r>
              <a:rPr lang="en-US" sz="1050" dirty="0">
                <a:solidFill>
                  <a:srgbClr val="8CA096"/>
                </a:solidFill>
                <a:latin typeface="Calibri" pitchFamily="34" charset="0"/>
                <a:ea typeface="Calibri" pitchFamily="34" charset="-122"/>
                <a:cs typeface="Calibri" pitchFamily="34" charset="-120"/>
              </a:rPr>
              <a:t>A silent gap this long reads as a block rather than ordinary phrasing. Conversational pauses cluster well below it.</a:t>
            </a:r>
            <a:endParaRPr lang="en-US" sz="1050" dirty="0"/>
          </a:p>
        </p:txBody>
      </p:sp>
      <p:sp>
        <p:nvSpPr>
          <p:cNvPr id="30" name="Text 28"/>
          <p:cNvSpPr txBox="1"/>
          <p:nvPr/>
        </p:nvSpPr>
        <p:spPr>
          <a:xfrm>
            <a:off x="932688" y="5047488"/>
            <a:ext cx="2103120" cy="237744"/>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PROLONGATION_MS</a:t>
            </a:r>
            <a:endParaRPr lang="en-US" sz="1000" dirty="0"/>
          </a:p>
        </p:txBody>
      </p:sp>
      <p:sp>
        <p:nvSpPr>
          <p:cNvPr id="31" name="Text 29"/>
          <p:cNvSpPr txBox="1"/>
          <p:nvPr/>
        </p:nvSpPr>
        <p:spPr>
          <a:xfrm>
            <a:off x="3090672" y="5047488"/>
            <a:ext cx="1005840" cy="237744"/>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380 ms</a:t>
            </a:r>
            <a:endParaRPr lang="en-US" sz="1100" dirty="0"/>
          </a:p>
        </p:txBody>
      </p:sp>
      <p:sp>
        <p:nvSpPr>
          <p:cNvPr id="32" name="Text 30"/>
          <p:cNvSpPr txBox="1"/>
          <p:nvPr/>
        </p:nvSpPr>
        <p:spPr>
          <a:xfrm>
            <a:off x="4187952" y="5047488"/>
            <a:ext cx="6949440" cy="237744"/>
          </a:xfrm>
          <a:prstGeom prst="rect">
            <a:avLst/>
          </a:prstGeom>
          <a:noFill/>
          <a:ln/>
        </p:spPr>
        <p:txBody>
          <a:bodyPr wrap="square" lIns="0" tIns="0" rIns="0" bIns="0" rtlCol="0" anchor="t"/>
          <a:lstStyle/>
          <a:p>
            <a:pPr algn="l" indent="0" marL="0">
              <a:lnSpc>
                <a:spcPct val="120000"/>
              </a:lnSpc>
              <a:buNone/>
            </a:pPr>
            <a:r>
              <a:rPr lang="en-US" sz="1050" dirty="0">
                <a:solidFill>
                  <a:srgbClr val="8CA096"/>
                </a:solidFill>
                <a:latin typeface="Calibri" pitchFamily="34" charset="0"/>
                <a:ea typeface="Calibri" pitchFamily="34" charset="-122"/>
                <a:cs typeface="Calibri" pitchFamily="34" charset="-120"/>
              </a:rPr>
              <a:t>with a token of 4 characters or fewer — a short word occupying a long span means the sound was stretched.</a:t>
            </a:r>
            <a:endParaRPr lang="en-US" sz="1050" dirty="0"/>
          </a:p>
        </p:txBody>
      </p:sp>
      <p:sp>
        <p:nvSpPr>
          <p:cNvPr id="33" name="Text 31"/>
          <p:cNvSpPr txBox="1"/>
          <p:nvPr/>
        </p:nvSpPr>
        <p:spPr>
          <a:xfrm>
            <a:off x="932688" y="5376672"/>
            <a:ext cx="2103120" cy="237744"/>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repetition window</a:t>
            </a:r>
            <a:endParaRPr lang="en-US" sz="1000" dirty="0"/>
          </a:p>
        </p:txBody>
      </p:sp>
      <p:sp>
        <p:nvSpPr>
          <p:cNvPr id="34" name="Text 32"/>
          <p:cNvSpPr txBox="1"/>
          <p:nvPr/>
        </p:nvSpPr>
        <p:spPr>
          <a:xfrm>
            <a:off x="3090672" y="5376672"/>
            <a:ext cx="1005840" cy="237744"/>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700 ms</a:t>
            </a:r>
            <a:endParaRPr lang="en-US" sz="1100" dirty="0"/>
          </a:p>
        </p:txBody>
      </p:sp>
      <p:sp>
        <p:nvSpPr>
          <p:cNvPr id="35" name="Text 33"/>
          <p:cNvSpPr txBox="1"/>
          <p:nvPr/>
        </p:nvSpPr>
        <p:spPr>
          <a:xfrm>
            <a:off x="4187952" y="5376672"/>
            <a:ext cx="6949440" cy="237744"/>
          </a:xfrm>
          <a:prstGeom prst="rect">
            <a:avLst/>
          </a:prstGeom>
          <a:noFill/>
          <a:ln/>
        </p:spPr>
        <p:txBody>
          <a:bodyPr wrap="square" lIns="0" tIns="0" rIns="0" bIns="0" rtlCol="0" anchor="t"/>
          <a:lstStyle/>
          <a:p>
            <a:pPr algn="l" indent="0" marL="0">
              <a:lnSpc>
                <a:spcPct val="120000"/>
              </a:lnSpc>
              <a:buNone/>
            </a:pPr>
            <a:r>
              <a:rPr lang="en-US" sz="1050" dirty="0">
                <a:solidFill>
                  <a:srgbClr val="8CA096"/>
                </a:solidFill>
                <a:latin typeface="Calibri" pitchFamily="34" charset="0"/>
                <a:ea typeface="Calibri" pitchFamily="34" charset="-122"/>
                <a:cs typeface="Calibri" pitchFamily="34" charset="-120"/>
              </a:rPr>
              <a:t>Repeating across a longer gap is usually a restart for emphasis, not a dysfluent repetition.</a:t>
            </a:r>
            <a:endParaRPr lang="en-US" sz="1050" dirty="0"/>
          </a:p>
        </p:txBody>
      </p:sp>
      <p:sp>
        <p:nvSpPr>
          <p:cNvPr id="36" name="Text 34"/>
          <p:cNvSpPr txBox="1"/>
          <p:nvPr/>
        </p:nvSpPr>
        <p:spPr>
          <a:xfrm>
            <a:off x="932688" y="5705856"/>
            <a:ext cx="2103120" cy="237744"/>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endpointer silence</a:t>
            </a:r>
            <a:endParaRPr lang="en-US" sz="1000" dirty="0"/>
          </a:p>
        </p:txBody>
      </p:sp>
      <p:sp>
        <p:nvSpPr>
          <p:cNvPr id="37" name="Text 35"/>
          <p:cNvSpPr txBox="1"/>
          <p:nvPr/>
        </p:nvSpPr>
        <p:spPr>
          <a:xfrm>
            <a:off x="3090672" y="5705856"/>
            <a:ext cx="1005840" cy="237744"/>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700 ms</a:t>
            </a:r>
            <a:endParaRPr lang="en-US" sz="1100" dirty="0"/>
          </a:p>
        </p:txBody>
      </p:sp>
      <p:sp>
        <p:nvSpPr>
          <p:cNvPr id="38" name="Text 36"/>
          <p:cNvSpPr txBox="1"/>
          <p:nvPr/>
        </p:nvSpPr>
        <p:spPr>
          <a:xfrm>
            <a:off x="4187952" y="5705856"/>
            <a:ext cx="6949440" cy="237744"/>
          </a:xfrm>
          <a:prstGeom prst="rect">
            <a:avLst/>
          </a:prstGeom>
          <a:noFill/>
          <a:ln/>
        </p:spPr>
        <p:txBody>
          <a:bodyPr wrap="square" lIns="0" tIns="0" rIns="0" bIns="0" rtlCol="0" anchor="t"/>
          <a:lstStyle/>
          <a:p>
            <a:pPr algn="l" indent="0" marL="0">
              <a:lnSpc>
                <a:spcPct val="120000"/>
              </a:lnSpc>
              <a:buNone/>
            </a:pPr>
            <a:r>
              <a:rPr lang="en-US" sz="1050" dirty="0">
                <a:solidFill>
                  <a:srgbClr val="8CA096"/>
                </a:solidFill>
                <a:latin typeface="Calibri" pitchFamily="34" charset="0"/>
                <a:ea typeface="Calibri" pitchFamily="34" charset="-122"/>
                <a:cs typeface="Calibri" pitchFamily="34" charset="-120"/>
              </a:rPr>
              <a:t>Generous on purpose. A speaker who blocks for 1.5 s must not be cut off mid-block.</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ACOUSTIC ANALYSIS</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EFF2F1"/>
                </a:solidFill>
                <a:latin typeface="Arial" pitchFamily="34" charset="0"/>
                <a:ea typeface="Arial" pitchFamily="34" charset="-122"/>
                <a:cs typeface="Arial" pitchFamily="34" charset="-120"/>
              </a:rPr>
              <a:t>Two backends behind one interface</a:t>
            </a:r>
            <a:endParaRPr lang="en-US" sz="34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ml/dysfluency/reports/metrics.md  ·  backend/app/services/dysfluency.py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17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89888"/>
            <a:ext cx="1033272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The heuristic was built so the interface, the pacing logic and the prompt contract were not blocked for the weeks it takes to fetch SEP-28k and train a classifier. The trained model drops in behind the same interface, and the profile records which one produced it.</a:t>
            </a:r>
            <a:endParaRPr lang="en-US" sz="1500" dirty="0"/>
          </a:p>
        </p:txBody>
      </p:sp>
      <p:sp>
        <p:nvSpPr>
          <p:cNvPr id="11" name="Shape 9"/>
          <p:cNvSpPr/>
          <p:nvPr/>
        </p:nvSpPr>
        <p:spPr>
          <a:xfrm>
            <a:off x="658368" y="2194560"/>
            <a:ext cx="4846320" cy="1920240"/>
          </a:xfrm>
          <a:prstGeom prst="roundRect">
            <a:avLst>
              <a:gd name="adj" fmla="val 7619"/>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14400" y="2340864"/>
            <a:ext cx="420624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BACKEND A  ·  HEURISTIC</a:t>
            </a:r>
            <a:endParaRPr lang="en-US" sz="950" dirty="0"/>
          </a:p>
        </p:txBody>
      </p:sp>
      <p:sp>
        <p:nvSpPr>
          <p:cNvPr id="13" name="Text 11"/>
          <p:cNvSpPr txBox="1"/>
          <p:nvPr/>
        </p:nvSpPr>
        <p:spPr>
          <a:xfrm>
            <a:off x="914400" y="2615184"/>
            <a:ext cx="4334256" cy="420624"/>
          </a:xfrm>
          <a:prstGeom prst="rect">
            <a:avLst/>
          </a:prstGeom>
          <a:noFill/>
          <a:ln/>
        </p:spPr>
        <p:txBody>
          <a:bodyPr wrap="square" lIns="0" tIns="0" rIns="0" bIns="0" rtlCol="0" anchor="t"/>
          <a:lstStyle/>
          <a:p>
            <a:pPr algn="l" indent="0" marL="0">
              <a:lnSpc>
                <a:spcPct val="120000"/>
              </a:lnSpc>
              <a:buNone/>
            </a:pPr>
            <a:r>
              <a:rPr lang="en-US" sz="1250" dirty="0">
                <a:solidFill>
                  <a:srgbClr val="DCE5E4"/>
                </a:solidFill>
                <a:latin typeface="Calibri" pitchFamily="34" charset="0"/>
                <a:ea typeface="Calibri" pitchFamily="34" charset="-122"/>
                <a:cs typeface="Calibri" pitchFamily="34" charset="-120"/>
              </a:rPr>
              <a:t>Word timings plus frame energy and pitch. No weights, no torch, no training.</a:t>
            </a:r>
            <a:endParaRPr lang="en-US" sz="1250" dirty="0"/>
          </a:p>
        </p:txBody>
      </p:sp>
      <p:sp>
        <p:nvSpPr>
          <p:cNvPr id="14" name="Text 12"/>
          <p:cNvSpPr txBox="1"/>
          <p:nvPr/>
        </p:nvSpPr>
        <p:spPr>
          <a:xfrm>
            <a:off x="914400" y="3054096"/>
            <a:ext cx="4334256" cy="621792"/>
          </a:xfrm>
          <a:prstGeom prst="rect">
            <a:avLst/>
          </a:prstGeom>
          <a:noFill/>
          <a:ln/>
        </p:spPr>
        <p:txBody>
          <a:bodyPr wrap="square" lIns="0" tIns="0" rIns="0" bIns="0" rtlCol="0" anchor="t"/>
          <a:lstStyle/>
          <a:p>
            <a:pPr algn="l" indent="0" marL="0">
              <a:lnSpc>
                <a:spcPct val="115000"/>
              </a:lnSpc>
              <a:buNone/>
            </a:pPr>
            <a:r>
              <a:rPr lang="en-US" sz="1150" dirty="0">
                <a:solidFill>
                  <a:srgbClr val="8CA096"/>
                </a:solidFill>
                <a:latin typeface="Calibri" pitchFamily="34" charset="0"/>
                <a:ea typeface="Calibri" pitchFamily="34" charset="-122"/>
                <a:cs typeface="Calibri" pitchFamily="34" charset="-120"/>
              </a:rPr>
              <a:t>Detects four of the five classes. Sound repetitions are not attempted — they need sub-word resolution that only a trained model has.</a:t>
            </a:r>
            <a:endParaRPr lang="en-US" sz="1150" dirty="0"/>
          </a:p>
        </p:txBody>
      </p:sp>
      <p:sp>
        <p:nvSpPr>
          <p:cNvPr id="15" name="Text 13"/>
          <p:cNvSpPr txBox="1"/>
          <p:nvPr/>
        </p:nvSpPr>
        <p:spPr>
          <a:xfrm>
            <a:off x="914400" y="3712464"/>
            <a:ext cx="4334256" cy="237744"/>
          </a:xfrm>
          <a:prstGeom prst="rect">
            <a:avLst/>
          </a:prstGeom>
          <a:noFill/>
          <a:ln/>
        </p:spPr>
        <p:txBody>
          <a:bodyPr wrap="square" lIns="0" tIns="0" rIns="0" bIns="0" rtlCol="0" anchor="ctr"/>
          <a:lstStyle/>
          <a:p>
            <a:pPr algn="l" indent="0" marL="0">
              <a:buNone/>
            </a:pPr>
            <a:r>
              <a:rPr lang="en-US" sz="1000" dirty="0">
                <a:solidFill>
                  <a:srgbClr val="5D7268"/>
                </a:solidFill>
                <a:latin typeface="Courier New" pitchFamily="34" charset="0"/>
                <a:ea typeface="Courier New" pitchFamily="34" charset="-122"/>
                <a:cs typeface="Courier New" pitchFamily="34" charset="-120"/>
              </a:rPr>
              <a:t>source: "heuristic"</a:t>
            </a:r>
            <a:endParaRPr lang="en-US" sz="1000" dirty="0"/>
          </a:p>
        </p:txBody>
      </p:sp>
      <p:sp>
        <p:nvSpPr>
          <p:cNvPr id="16" name="Shape 14"/>
          <p:cNvSpPr/>
          <p:nvPr/>
        </p:nvSpPr>
        <p:spPr>
          <a:xfrm>
            <a:off x="5797296" y="2194560"/>
            <a:ext cx="5733288" cy="1920240"/>
          </a:xfrm>
          <a:prstGeom prst="roundRect">
            <a:avLst>
              <a:gd name="adj" fmla="val 7619"/>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17" name="Text 15"/>
          <p:cNvSpPr txBox="1"/>
          <p:nvPr/>
        </p:nvSpPr>
        <p:spPr>
          <a:xfrm>
            <a:off x="6053328" y="2340864"/>
            <a:ext cx="512064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BACKEND B  ·  WAV2VEC2 + SEP-28K HEAD</a:t>
            </a:r>
            <a:endParaRPr lang="en-US" sz="950" dirty="0"/>
          </a:p>
        </p:txBody>
      </p:sp>
      <p:sp>
        <p:nvSpPr>
          <p:cNvPr id="18" name="Text 16"/>
          <p:cNvSpPr txBox="1"/>
          <p:nvPr/>
        </p:nvSpPr>
        <p:spPr>
          <a:xfrm>
            <a:off x="6053328" y="2615184"/>
            <a:ext cx="5230368" cy="603504"/>
          </a:xfrm>
          <a:prstGeom prst="rect">
            <a:avLst/>
          </a:prstGeom>
          <a:noFill/>
          <a:ln/>
        </p:spPr>
        <p:txBody>
          <a:bodyPr wrap="square" lIns="0" tIns="0" rIns="0" bIns="0" rtlCol="0" anchor="t"/>
          <a:lstStyle/>
          <a:p>
            <a:pPr algn="l" indent="0" marL="0">
              <a:lnSpc>
                <a:spcPct val="115000"/>
              </a:lnSpc>
              <a:buNone/>
            </a:pPr>
            <a:r>
              <a:rPr lang="en-US" sz="1250" dirty="0">
                <a:solidFill>
                  <a:srgbClr val="DCE5E4"/>
                </a:solidFill>
                <a:latin typeface="Calibri" pitchFamily="34" charset="0"/>
                <a:ea typeface="Calibri" pitchFamily="34" charset="-122"/>
                <a:cs typeface="Calibri" pitchFamily="34" charset="-120"/>
              </a:rPr>
              <a:t>wav2vec2-base with a multi-label head, frozen feature extractor. 20,170 labelled 3-second clips from four podcast series, 16 kHz mono.</a:t>
            </a:r>
            <a:endParaRPr lang="en-US" sz="1250" dirty="0"/>
          </a:p>
        </p:txBody>
      </p:sp>
      <p:sp>
        <p:nvSpPr>
          <p:cNvPr id="19" name="Text 17"/>
          <p:cNvSpPr txBox="1"/>
          <p:nvPr/>
        </p:nvSpPr>
        <p:spPr>
          <a:xfrm>
            <a:off x="6053328" y="3236976"/>
            <a:ext cx="5230368" cy="603504"/>
          </a:xfrm>
          <a:prstGeom prst="rect">
            <a:avLst/>
          </a:prstGeom>
          <a:noFill/>
          <a:ln/>
        </p:spPr>
        <p:txBody>
          <a:bodyPr wrap="square" lIns="0" tIns="0" rIns="0" bIns="0" rtlCol="0" anchor="t"/>
          <a:lstStyle/>
          <a:p>
            <a:pPr algn="l" indent="0" marL="0">
              <a:lnSpc>
                <a:spcPct val="115000"/>
              </a:lnSpc>
              <a:buNone/>
            </a:pPr>
            <a:r>
              <a:rPr lang="en-US" sz="1150" dirty="0">
                <a:solidFill>
                  <a:srgbClr val="8CA096"/>
                </a:solidFill>
                <a:latin typeface="Calibri" pitchFamily="34" charset="0"/>
                <a:ea typeface="Calibri" pitchFamily="34" charset="-122"/>
                <a:cs typeface="Calibri" pitchFamily="34" charset="-120"/>
              </a:rPr>
              <a:t>Trained 3 epochs, then verified by continuing 2 more: macro F1 went 0.6405 → 0.6325 → 0.6273, which confirms epoch 3 was the true peak rather than an early stop.</a:t>
            </a:r>
            <a:endParaRPr lang="en-US" sz="1150" dirty="0"/>
          </a:p>
        </p:txBody>
      </p:sp>
      <p:sp>
        <p:nvSpPr>
          <p:cNvPr id="20" name="Text 18"/>
          <p:cNvSpPr txBox="1"/>
          <p:nvPr/>
        </p:nvSpPr>
        <p:spPr>
          <a:xfrm>
            <a:off x="6053328" y="3840480"/>
            <a:ext cx="5230368" cy="237744"/>
          </a:xfrm>
          <a:prstGeom prst="rect">
            <a:avLst/>
          </a:prstGeom>
          <a:noFill/>
          <a:ln/>
        </p:spPr>
        <p:txBody>
          <a:bodyPr wrap="square" lIns="0" tIns="0" rIns="0" bIns="0" rtlCol="0" anchor="ctr"/>
          <a:lstStyle/>
          <a:p>
            <a:pPr algn="l" indent="0" marL="0">
              <a:buNone/>
            </a:pPr>
            <a:r>
              <a:rPr lang="en-US" sz="1000" dirty="0">
                <a:solidFill>
                  <a:srgbClr val="5D7268"/>
                </a:solidFill>
                <a:latin typeface="Courier New" pitchFamily="34" charset="0"/>
                <a:ea typeface="Courier New" pitchFamily="34" charset="-122"/>
                <a:cs typeface="Courier New" pitchFamily="34" charset="-120"/>
              </a:rPr>
              <a:t>source: "wav2vec2-sep28k"   ·   inference windowed at 3 s, 1.5 s hop</a:t>
            </a:r>
            <a:endParaRPr lang="en-US" sz="1000" dirty="0"/>
          </a:p>
        </p:txBody>
      </p:sp>
      <p:sp>
        <p:nvSpPr>
          <p:cNvPr id="21" name="Shape 19"/>
          <p:cNvSpPr/>
          <p:nvPr/>
        </p:nvSpPr>
        <p:spPr>
          <a:xfrm>
            <a:off x="658368" y="4261104"/>
            <a:ext cx="10874959" cy="1773936"/>
          </a:xfrm>
          <a:prstGeom prst="roundRect">
            <a:avLst>
              <a:gd name="adj" fmla="val 824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2" name="Text 20"/>
          <p:cNvSpPr txBox="1"/>
          <p:nvPr/>
        </p:nvSpPr>
        <p:spPr>
          <a:xfrm>
            <a:off x="932688" y="4425696"/>
            <a:ext cx="45720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HELD-OUT TEST SET, PER-CLASS F1</a:t>
            </a:r>
            <a:endParaRPr lang="en-US" sz="950" dirty="0"/>
          </a:p>
        </p:txBody>
      </p:sp>
      <p:sp>
        <p:nvSpPr>
          <p:cNvPr id="23" name="Text 21"/>
          <p:cNvSpPr txBox="1"/>
          <p:nvPr/>
        </p:nvSpPr>
        <p:spPr>
          <a:xfrm>
            <a:off x="8698687" y="4425696"/>
            <a:ext cx="2560320" cy="219456"/>
          </a:xfrm>
          <a:prstGeom prst="rect">
            <a:avLst/>
          </a:prstGeom>
          <a:noFill/>
          <a:ln/>
        </p:spPr>
        <p:txBody>
          <a:bodyPr wrap="square" lIns="0" tIns="0" rIns="0" bIns="0" rtlCol="0" anchor="ctr"/>
          <a:lstStyle/>
          <a:p>
            <a:pPr algn="r" indent="0" marL="0">
              <a:buNone/>
            </a:pPr>
            <a:r>
              <a:rPr lang="en-US" sz="1200" b="1" dirty="0">
                <a:solidFill>
                  <a:srgbClr val="F9BF29"/>
                </a:solidFill>
                <a:latin typeface="Courier New" pitchFamily="34" charset="0"/>
                <a:ea typeface="Courier New" pitchFamily="34" charset="-122"/>
                <a:cs typeface="Courier New" pitchFamily="34" charset="-120"/>
              </a:rPr>
              <a:t>macro F1  0.638</a:t>
            </a:r>
            <a:endParaRPr lang="en-US" sz="1200" dirty="0"/>
          </a:p>
        </p:txBody>
      </p:sp>
      <p:sp>
        <p:nvSpPr>
          <p:cNvPr id="24" name="Text 22"/>
          <p:cNvSpPr txBox="1"/>
          <p:nvPr/>
        </p:nvSpPr>
        <p:spPr>
          <a:xfrm>
            <a:off x="932688" y="4773168"/>
            <a:ext cx="1700784"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Block</a:t>
            </a:r>
            <a:endParaRPr lang="en-US" sz="1050" dirty="0"/>
          </a:p>
        </p:txBody>
      </p:sp>
      <p:sp>
        <p:nvSpPr>
          <p:cNvPr id="25" name="Shape 23"/>
          <p:cNvSpPr/>
          <p:nvPr/>
        </p:nvSpPr>
        <p:spPr>
          <a:xfrm>
            <a:off x="2670048" y="4818888"/>
            <a:ext cx="4186489" cy="137160"/>
          </a:xfrm>
          <a:prstGeom prst="roundRect">
            <a:avLst>
              <a:gd name="adj" fmla="val 26667"/>
            </a:avLst>
          </a:prstGeom>
          <a:solidFill>
            <a:srgbClr val="2D90C3"/>
          </a:solidFill>
          <a:ln/>
        </p:spPr>
      </p:sp>
      <p:sp>
        <p:nvSpPr>
          <p:cNvPr id="26" name="Text 24"/>
          <p:cNvSpPr txBox="1"/>
          <p:nvPr/>
        </p:nvSpPr>
        <p:spPr>
          <a:xfrm>
            <a:off x="6947977" y="4773168"/>
            <a:ext cx="822960" cy="219456"/>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0.616</a:t>
            </a:r>
            <a:endParaRPr lang="en-US" sz="1000" dirty="0"/>
          </a:p>
        </p:txBody>
      </p:sp>
      <p:sp>
        <p:nvSpPr>
          <p:cNvPr id="27" name="Text 25"/>
          <p:cNvSpPr txBox="1"/>
          <p:nvPr/>
        </p:nvSpPr>
        <p:spPr>
          <a:xfrm>
            <a:off x="932688" y="5010912"/>
            <a:ext cx="1700784"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Prolongation</a:t>
            </a:r>
            <a:endParaRPr lang="en-US" sz="1050" dirty="0"/>
          </a:p>
        </p:txBody>
      </p:sp>
      <p:sp>
        <p:nvSpPr>
          <p:cNvPr id="28" name="Shape 26"/>
          <p:cNvSpPr/>
          <p:nvPr/>
        </p:nvSpPr>
        <p:spPr>
          <a:xfrm>
            <a:off x="2670048" y="5056632"/>
            <a:ext cx="3902293" cy="137160"/>
          </a:xfrm>
          <a:prstGeom prst="roundRect">
            <a:avLst>
              <a:gd name="adj" fmla="val 26667"/>
            </a:avLst>
          </a:prstGeom>
          <a:solidFill>
            <a:srgbClr val="C78200"/>
          </a:solidFill>
          <a:ln/>
        </p:spPr>
      </p:sp>
      <p:sp>
        <p:nvSpPr>
          <p:cNvPr id="29" name="Text 27"/>
          <p:cNvSpPr txBox="1"/>
          <p:nvPr/>
        </p:nvSpPr>
        <p:spPr>
          <a:xfrm>
            <a:off x="6663781" y="5010912"/>
            <a:ext cx="822960" cy="219456"/>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0.574</a:t>
            </a:r>
            <a:endParaRPr lang="en-US" sz="1000" dirty="0"/>
          </a:p>
        </p:txBody>
      </p:sp>
      <p:sp>
        <p:nvSpPr>
          <p:cNvPr id="30" name="Text 28"/>
          <p:cNvSpPr txBox="1"/>
          <p:nvPr/>
        </p:nvSpPr>
        <p:spPr>
          <a:xfrm>
            <a:off x="932688" y="5248656"/>
            <a:ext cx="1700784"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Sound repetition</a:t>
            </a:r>
            <a:endParaRPr lang="en-US" sz="1050" dirty="0"/>
          </a:p>
        </p:txBody>
      </p:sp>
      <p:sp>
        <p:nvSpPr>
          <p:cNvPr id="31" name="Shape 29"/>
          <p:cNvSpPr/>
          <p:nvPr/>
        </p:nvSpPr>
        <p:spPr>
          <a:xfrm>
            <a:off x="2670048" y="5294376"/>
            <a:ext cx="4220322" cy="137160"/>
          </a:xfrm>
          <a:prstGeom prst="roundRect">
            <a:avLst>
              <a:gd name="adj" fmla="val 26667"/>
            </a:avLst>
          </a:prstGeom>
          <a:solidFill>
            <a:srgbClr val="BF6D9B"/>
          </a:solidFill>
          <a:ln/>
        </p:spPr>
      </p:sp>
      <p:sp>
        <p:nvSpPr>
          <p:cNvPr id="32" name="Text 30"/>
          <p:cNvSpPr txBox="1"/>
          <p:nvPr/>
        </p:nvSpPr>
        <p:spPr>
          <a:xfrm>
            <a:off x="6981810" y="5248656"/>
            <a:ext cx="822960" cy="219456"/>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0.621</a:t>
            </a:r>
            <a:endParaRPr lang="en-US" sz="1000" dirty="0"/>
          </a:p>
        </p:txBody>
      </p:sp>
      <p:sp>
        <p:nvSpPr>
          <p:cNvPr id="33" name="Text 31"/>
          <p:cNvSpPr txBox="1"/>
          <p:nvPr/>
        </p:nvSpPr>
        <p:spPr>
          <a:xfrm>
            <a:off x="932688" y="5486400"/>
            <a:ext cx="1700784"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Word repetition</a:t>
            </a:r>
            <a:endParaRPr lang="en-US" sz="1050" dirty="0"/>
          </a:p>
        </p:txBody>
      </p:sp>
      <p:sp>
        <p:nvSpPr>
          <p:cNvPr id="34" name="Shape 32"/>
          <p:cNvSpPr/>
          <p:nvPr/>
        </p:nvSpPr>
        <p:spPr>
          <a:xfrm>
            <a:off x="2670048" y="5532120"/>
            <a:ext cx="4267688" cy="137160"/>
          </a:xfrm>
          <a:prstGeom prst="roundRect">
            <a:avLst>
              <a:gd name="adj" fmla="val 26667"/>
            </a:avLst>
          </a:prstGeom>
          <a:solidFill>
            <a:srgbClr val="007C54"/>
          </a:solidFill>
          <a:ln/>
        </p:spPr>
      </p:sp>
      <p:sp>
        <p:nvSpPr>
          <p:cNvPr id="35" name="Text 33"/>
          <p:cNvSpPr txBox="1"/>
          <p:nvPr/>
        </p:nvSpPr>
        <p:spPr>
          <a:xfrm>
            <a:off x="7029176" y="5486400"/>
            <a:ext cx="822960" cy="219456"/>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0.628</a:t>
            </a:r>
            <a:endParaRPr lang="en-US" sz="1000" dirty="0"/>
          </a:p>
        </p:txBody>
      </p:sp>
      <p:sp>
        <p:nvSpPr>
          <p:cNvPr id="36" name="Text 34"/>
          <p:cNvSpPr txBox="1"/>
          <p:nvPr/>
        </p:nvSpPr>
        <p:spPr>
          <a:xfrm>
            <a:off x="932688" y="5724144"/>
            <a:ext cx="1700784" cy="219456"/>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Interjection</a:t>
            </a:r>
            <a:endParaRPr lang="en-US" sz="1050" dirty="0"/>
          </a:p>
        </p:txBody>
      </p:sp>
      <p:sp>
        <p:nvSpPr>
          <p:cNvPr id="37" name="Shape 35"/>
          <p:cNvSpPr/>
          <p:nvPr/>
        </p:nvSpPr>
        <p:spPr>
          <a:xfrm>
            <a:off x="2670048" y="5769864"/>
            <a:ext cx="5099975" cy="137160"/>
          </a:xfrm>
          <a:prstGeom prst="roundRect">
            <a:avLst>
              <a:gd name="adj" fmla="val 26667"/>
            </a:avLst>
          </a:prstGeom>
          <a:solidFill>
            <a:srgbClr val="B64100"/>
          </a:solidFill>
          <a:ln/>
        </p:spPr>
      </p:sp>
      <p:sp>
        <p:nvSpPr>
          <p:cNvPr id="38" name="Text 36"/>
          <p:cNvSpPr txBox="1"/>
          <p:nvPr/>
        </p:nvSpPr>
        <p:spPr>
          <a:xfrm>
            <a:off x="7861463" y="5724144"/>
            <a:ext cx="822960" cy="219456"/>
          </a:xfrm>
          <a:prstGeom prst="rect">
            <a:avLst/>
          </a:prstGeom>
          <a:noFill/>
          <a:ln/>
        </p:spPr>
        <p:txBody>
          <a:bodyPr wrap="square" lIns="0" tIns="0" rIns="0" bIns="0" rtlCol="0" anchor="ctr"/>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0.751</a:t>
            </a:r>
            <a:endParaRPr lang="en-US" sz="1000" dirty="0"/>
          </a:p>
        </p:txBody>
      </p:sp>
      <p:sp>
        <p:nvSpPr>
          <p:cNvPr id="39" name="Text 37"/>
          <p:cNvSpPr txBox="1"/>
          <p:nvPr/>
        </p:nvSpPr>
        <p:spPr>
          <a:xfrm>
            <a:off x="2487168" y="5888736"/>
            <a:ext cx="365760" cy="182880"/>
          </a:xfrm>
          <a:prstGeom prst="rect">
            <a:avLst/>
          </a:prstGeom>
          <a:noFill/>
          <a:ln/>
        </p:spPr>
        <p:txBody>
          <a:bodyPr wrap="square" lIns="0" tIns="0" rIns="0" bIns="0" rtlCol="0" anchor="ctr"/>
          <a:lstStyle/>
          <a:p>
            <a:pPr algn="l" indent="0" marL="0">
              <a:buNone/>
            </a:pPr>
            <a:r>
              <a:rPr lang="en-US" sz="800" dirty="0">
                <a:solidFill>
                  <a:srgbClr val="5D7268"/>
                </a:solidFill>
                <a:latin typeface="Courier New" pitchFamily="34" charset="0"/>
                <a:ea typeface="Courier New" pitchFamily="34" charset="-122"/>
                <a:cs typeface="Courier New" pitchFamily="34" charset="-120"/>
              </a:rPr>
              <a:t>0.0</a:t>
            </a:r>
            <a:endParaRPr lang="en-US" sz="800" dirty="0"/>
          </a:p>
        </p:txBody>
      </p:sp>
      <p:sp>
        <p:nvSpPr>
          <p:cNvPr id="40" name="Text 38"/>
          <p:cNvSpPr txBox="1"/>
          <p:nvPr/>
        </p:nvSpPr>
        <p:spPr>
          <a:xfrm>
            <a:off x="9253728" y="5888736"/>
            <a:ext cx="365760" cy="182880"/>
          </a:xfrm>
          <a:prstGeom prst="rect">
            <a:avLst/>
          </a:prstGeom>
          <a:noFill/>
          <a:ln/>
        </p:spPr>
        <p:txBody>
          <a:bodyPr wrap="square" lIns="0" tIns="0" rIns="0" bIns="0" rtlCol="0" anchor="ctr"/>
          <a:lstStyle/>
          <a:p>
            <a:pPr algn="l" indent="0" marL="0">
              <a:buNone/>
            </a:pPr>
            <a:r>
              <a:rPr lang="en-US" sz="800" dirty="0">
                <a:solidFill>
                  <a:srgbClr val="5D7268"/>
                </a:solidFill>
                <a:latin typeface="Courier New" pitchFamily="34" charset="0"/>
                <a:ea typeface="Courier New" pitchFamily="34" charset="-122"/>
                <a:cs typeface="Courier New" pitchFamily="34" charset="-120"/>
              </a:rPr>
              <a:t>1.0</a:t>
            </a:r>
            <a:endParaRPr lang="en-US" sz="800" dirty="0"/>
          </a:p>
        </p:txBody>
      </p:sp>
      <p:sp>
        <p:nvSpPr>
          <p:cNvPr id="41" name="Text 39"/>
          <p:cNvSpPr txBox="1"/>
          <p:nvPr/>
        </p:nvSpPr>
        <p:spPr>
          <a:xfrm>
            <a:off x="9418320" y="4773168"/>
            <a:ext cx="2066544" cy="640080"/>
          </a:xfrm>
          <a:prstGeom prst="rect">
            <a:avLst/>
          </a:prstGeom>
          <a:noFill/>
          <a:ln/>
        </p:spPr>
        <p:txBody>
          <a:bodyPr wrap="square" lIns="0" tIns="0" rIns="0" bIns="0" rtlCol="0" anchor="t"/>
          <a:lstStyle/>
          <a:p>
            <a:pPr algn="l" indent="0" marL="0">
              <a:lnSpc>
                <a:spcPct val="110000"/>
              </a:lnSpc>
              <a:buNone/>
            </a:pPr>
            <a:r>
              <a:rPr lang="en-US" sz="900" dirty="0">
                <a:solidFill>
                  <a:srgbClr val="8CA096"/>
                </a:solidFill>
                <a:latin typeface="Calibri" pitchFamily="34" charset="0"/>
                <a:ea typeface="Calibri" pitchFamily="34" charset="-122"/>
                <a:cs typeface="Calibri" pitchFamily="34" charset="-120"/>
              </a:rPr>
              <a:t>Interjections are easiest: fillers are lexically distinctive. Prolongation is hardest, and it is the class the heuristic approximates worst.</a:t>
            </a:r>
            <a:endParaRPr lang="en-US" sz="900" dirty="0"/>
          </a:p>
        </p:txBody>
      </p:sp>
      <p:sp>
        <p:nvSpPr>
          <p:cNvPr id="42" name="Text 40"/>
          <p:cNvSpPr txBox="1"/>
          <p:nvPr/>
        </p:nvSpPr>
        <p:spPr>
          <a:xfrm>
            <a:off x="9418320" y="5449824"/>
            <a:ext cx="2066544" cy="530352"/>
          </a:xfrm>
          <a:prstGeom prst="rect">
            <a:avLst/>
          </a:prstGeom>
          <a:noFill/>
          <a:ln/>
        </p:spPr>
        <p:txBody>
          <a:bodyPr wrap="square" lIns="0" tIns="0" rIns="0" bIns="0" rtlCol="0" anchor="t"/>
          <a:lstStyle/>
          <a:p>
            <a:pPr algn="l" indent="0" marL="0">
              <a:lnSpc>
                <a:spcPct val="110000"/>
              </a:lnSpc>
              <a:buNone/>
            </a:pPr>
            <a:r>
              <a:rPr lang="en-US" sz="900" i="1" dirty="0">
                <a:solidFill>
                  <a:srgbClr val="6F9C8A"/>
                </a:solidFill>
                <a:latin typeface="Calibri" pitchFamily="34" charset="0"/>
                <a:ea typeface="Calibri" pitchFamily="34" charset="-122"/>
                <a:cs typeface="Calibri" pitchFamily="34" charset="-120"/>
              </a:rPr>
              <a:t>M12's separate harness scored the deployed checkpoint at 0.612 over 400 held-out clips — different sample, same answer.</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RETRIEVAL-AUGMENTED GENERATION</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EFF2F1"/>
                </a:solidFill>
                <a:latin typeface="Arial" pitchFamily="34" charset="0"/>
                <a:ea typeface="Arial" pitchFamily="34" charset="-122"/>
                <a:cs typeface="Arial" pitchFamily="34" charset="-120"/>
              </a:rPr>
              <a:t>Look it up first, then answer</a:t>
            </a:r>
            <a:endParaRPr lang="en-US" sz="34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backend/app/services/ingestion.py  ·  retrieval.py  ·  data/corpus/SOURCES.md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18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71600"/>
            <a:ext cx="1033272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A language model normally answers from what is already inside its weights. RAG searches a trusted collection first and hands the model the few passages that are relevant, before it generates anything. That pattern is called retrieval-augmented generation.</a:t>
            </a:r>
            <a:endParaRPr lang="en-US" sz="1500" dirty="0"/>
          </a:p>
        </p:txBody>
      </p:sp>
      <p:sp>
        <p:nvSpPr>
          <p:cNvPr id="11" name="Shape 9"/>
          <p:cNvSpPr/>
          <p:nvPr/>
        </p:nvSpPr>
        <p:spPr>
          <a:xfrm>
            <a:off x="658368" y="2212848"/>
            <a:ext cx="2048256" cy="1956816"/>
          </a:xfrm>
          <a:prstGeom prst="roundRect">
            <a:avLst>
              <a:gd name="adj" fmla="val 747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841248" y="2340864"/>
            <a:ext cx="731520" cy="219456"/>
          </a:xfrm>
          <a:prstGeom prst="rect">
            <a:avLst/>
          </a:prstGeom>
          <a:noFill/>
          <a:ln/>
        </p:spPr>
        <p:txBody>
          <a:bodyPr wrap="square" lIns="0" tIns="0" rIns="0" bIns="0" rtlCol="0" anchor="ctr"/>
          <a:lstStyle/>
          <a:p>
            <a:pPr algn="l" indent="0" marL="0">
              <a:buNone/>
            </a:pPr>
            <a:r>
              <a:rPr lang="en-US" sz="1000" b="1" dirty="0">
                <a:solidFill>
                  <a:srgbClr val="F9BF29"/>
                </a:solidFill>
                <a:latin typeface="Courier New" pitchFamily="34" charset="0"/>
                <a:ea typeface="Courier New" pitchFamily="34" charset="-122"/>
                <a:cs typeface="Courier New" pitchFamily="34" charset="-120"/>
              </a:rPr>
              <a:t>01</a:t>
            </a:r>
            <a:endParaRPr lang="en-US" sz="1000" dirty="0"/>
          </a:p>
        </p:txBody>
      </p:sp>
      <p:sp>
        <p:nvSpPr>
          <p:cNvPr id="13" name="Text 11"/>
          <p:cNvSpPr txBox="1"/>
          <p:nvPr/>
        </p:nvSpPr>
        <p:spPr>
          <a:xfrm>
            <a:off x="841248" y="2596896"/>
            <a:ext cx="1737360" cy="457200"/>
          </a:xfrm>
          <a:prstGeom prst="rect">
            <a:avLst/>
          </a:prstGeom>
          <a:noFill/>
          <a:ln/>
        </p:spPr>
        <p:txBody>
          <a:bodyPr wrap="square" lIns="0" tIns="0" rIns="0" bIns="0" rtlCol="0" anchor="t"/>
          <a:lstStyle/>
          <a:p>
            <a:pPr algn="l" indent="0" marL="0">
              <a:lnSpc>
                <a:spcPct val="106000"/>
              </a:lnSpc>
              <a:buNone/>
            </a:pPr>
            <a:r>
              <a:rPr lang="en-US" sz="1250" b="1" dirty="0">
                <a:solidFill>
                  <a:srgbClr val="EFF2F1"/>
                </a:solidFill>
                <a:latin typeface="Calibri" pitchFamily="34" charset="0"/>
                <a:ea typeface="Calibri" pitchFamily="34" charset="-122"/>
                <a:cs typeface="Calibri" pitchFamily="34" charset="-120"/>
              </a:rPr>
              <a:t>Five books</a:t>
            </a:r>
            <a:endParaRPr lang="en-US" sz="1250" dirty="0"/>
          </a:p>
        </p:txBody>
      </p:sp>
      <p:sp>
        <p:nvSpPr>
          <p:cNvPr id="14" name="Text 12"/>
          <p:cNvSpPr txBox="1"/>
          <p:nvPr/>
        </p:nvSpPr>
        <p:spPr>
          <a:xfrm>
            <a:off x="841248" y="3090672"/>
            <a:ext cx="1737360" cy="96926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313,866 words of public-domain public-speaking guidance, screened for scope before ingestion.</a:t>
            </a:r>
            <a:endParaRPr lang="en-US" sz="1000" dirty="0"/>
          </a:p>
        </p:txBody>
      </p:sp>
      <p:sp>
        <p:nvSpPr>
          <p:cNvPr id="15" name="Shape 13"/>
          <p:cNvSpPr/>
          <p:nvPr/>
        </p:nvSpPr>
        <p:spPr>
          <a:xfrm>
            <a:off x="2724912" y="3182112"/>
            <a:ext cx="164592" cy="0"/>
          </a:xfrm>
          <a:prstGeom prst="line">
            <a:avLst/>
          </a:prstGeom>
          <a:noFill/>
          <a:ln w="15875">
            <a:solidFill>
              <a:srgbClr val="33463D"/>
            </a:solidFill>
            <a:prstDash val="solid"/>
            <a:tailEnd type="triangle"/>
          </a:ln>
        </p:spPr>
      </p:sp>
      <p:sp>
        <p:nvSpPr>
          <p:cNvPr id="16" name="Shape 14"/>
          <p:cNvSpPr/>
          <p:nvPr/>
        </p:nvSpPr>
        <p:spPr>
          <a:xfrm>
            <a:off x="2889504" y="2212848"/>
            <a:ext cx="2048256" cy="1956816"/>
          </a:xfrm>
          <a:prstGeom prst="roundRect">
            <a:avLst>
              <a:gd name="adj" fmla="val 747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7" name="Text 15"/>
          <p:cNvSpPr txBox="1"/>
          <p:nvPr/>
        </p:nvSpPr>
        <p:spPr>
          <a:xfrm>
            <a:off x="3072384" y="2340864"/>
            <a:ext cx="731520" cy="219456"/>
          </a:xfrm>
          <a:prstGeom prst="rect">
            <a:avLst/>
          </a:prstGeom>
          <a:noFill/>
          <a:ln/>
        </p:spPr>
        <p:txBody>
          <a:bodyPr wrap="square" lIns="0" tIns="0" rIns="0" bIns="0" rtlCol="0" anchor="ctr"/>
          <a:lstStyle/>
          <a:p>
            <a:pPr algn="l" indent="0" marL="0">
              <a:buNone/>
            </a:pPr>
            <a:r>
              <a:rPr lang="en-US" sz="1000" b="1" dirty="0">
                <a:solidFill>
                  <a:srgbClr val="F9BF29"/>
                </a:solidFill>
                <a:latin typeface="Courier New" pitchFamily="34" charset="0"/>
                <a:ea typeface="Courier New" pitchFamily="34" charset="-122"/>
                <a:cs typeface="Courier New" pitchFamily="34" charset="-120"/>
              </a:rPr>
              <a:t>02</a:t>
            </a:r>
            <a:endParaRPr lang="en-US" sz="1000" dirty="0"/>
          </a:p>
        </p:txBody>
      </p:sp>
      <p:sp>
        <p:nvSpPr>
          <p:cNvPr id="18" name="Text 16"/>
          <p:cNvSpPr txBox="1"/>
          <p:nvPr/>
        </p:nvSpPr>
        <p:spPr>
          <a:xfrm>
            <a:off x="3072384" y="2596896"/>
            <a:ext cx="1737360" cy="457200"/>
          </a:xfrm>
          <a:prstGeom prst="rect">
            <a:avLst/>
          </a:prstGeom>
          <a:noFill/>
          <a:ln/>
        </p:spPr>
        <p:txBody>
          <a:bodyPr wrap="square" lIns="0" tIns="0" rIns="0" bIns="0" rtlCol="0" anchor="t"/>
          <a:lstStyle/>
          <a:p>
            <a:pPr algn="l" indent="0" marL="0">
              <a:lnSpc>
                <a:spcPct val="106000"/>
              </a:lnSpc>
              <a:buNone/>
            </a:pPr>
            <a:r>
              <a:rPr lang="en-US" sz="1250" b="1" dirty="0">
                <a:solidFill>
                  <a:srgbClr val="EFF2F1"/>
                </a:solidFill>
                <a:latin typeface="Calibri" pitchFamily="34" charset="0"/>
                <a:ea typeface="Calibri" pitchFamily="34" charset="-122"/>
                <a:cs typeface="Calibri" pitchFamily="34" charset="-120"/>
              </a:rPr>
              <a:t>1,057 chunks</a:t>
            </a:r>
            <a:endParaRPr lang="en-US" sz="1250" dirty="0"/>
          </a:p>
        </p:txBody>
      </p:sp>
      <p:sp>
        <p:nvSpPr>
          <p:cNvPr id="19" name="Text 17"/>
          <p:cNvSpPr txBox="1"/>
          <p:nvPr/>
        </p:nvSpPr>
        <p:spPr>
          <a:xfrm>
            <a:off x="3072384" y="3090672"/>
            <a:ext cx="1737360" cy="96926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~512 tokens with 64 of overlap. Chunk ids are a hash of source path plus text, so re-ingesting an unchanged corpus is idempotent.</a:t>
            </a:r>
            <a:endParaRPr lang="en-US" sz="1000" dirty="0"/>
          </a:p>
        </p:txBody>
      </p:sp>
      <p:sp>
        <p:nvSpPr>
          <p:cNvPr id="20" name="Shape 18"/>
          <p:cNvSpPr/>
          <p:nvPr/>
        </p:nvSpPr>
        <p:spPr>
          <a:xfrm>
            <a:off x="4956048" y="3182112"/>
            <a:ext cx="164592" cy="0"/>
          </a:xfrm>
          <a:prstGeom prst="line">
            <a:avLst/>
          </a:prstGeom>
          <a:noFill/>
          <a:ln w="15875">
            <a:solidFill>
              <a:srgbClr val="33463D"/>
            </a:solidFill>
            <a:prstDash val="solid"/>
            <a:tailEnd type="triangle"/>
          </a:ln>
        </p:spPr>
      </p:sp>
      <p:sp>
        <p:nvSpPr>
          <p:cNvPr id="21" name="Shape 19"/>
          <p:cNvSpPr/>
          <p:nvPr/>
        </p:nvSpPr>
        <p:spPr>
          <a:xfrm>
            <a:off x="5120640" y="2212848"/>
            <a:ext cx="2048256" cy="1956816"/>
          </a:xfrm>
          <a:prstGeom prst="roundRect">
            <a:avLst>
              <a:gd name="adj" fmla="val 747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2" name="Text 20"/>
          <p:cNvSpPr txBox="1"/>
          <p:nvPr/>
        </p:nvSpPr>
        <p:spPr>
          <a:xfrm>
            <a:off x="5303520" y="2340864"/>
            <a:ext cx="731520" cy="219456"/>
          </a:xfrm>
          <a:prstGeom prst="rect">
            <a:avLst/>
          </a:prstGeom>
          <a:noFill/>
          <a:ln/>
        </p:spPr>
        <p:txBody>
          <a:bodyPr wrap="square" lIns="0" tIns="0" rIns="0" bIns="0" rtlCol="0" anchor="ctr"/>
          <a:lstStyle/>
          <a:p>
            <a:pPr algn="l" indent="0" marL="0">
              <a:buNone/>
            </a:pPr>
            <a:r>
              <a:rPr lang="en-US" sz="1000" b="1" dirty="0">
                <a:solidFill>
                  <a:srgbClr val="F9BF29"/>
                </a:solidFill>
                <a:latin typeface="Courier New" pitchFamily="34" charset="0"/>
                <a:ea typeface="Courier New" pitchFamily="34" charset="-122"/>
                <a:cs typeface="Courier New" pitchFamily="34" charset="-120"/>
              </a:rPr>
              <a:t>03</a:t>
            </a:r>
            <a:endParaRPr lang="en-US" sz="1000" dirty="0"/>
          </a:p>
        </p:txBody>
      </p:sp>
      <p:sp>
        <p:nvSpPr>
          <p:cNvPr id="23" name="Text 21"/>
          <p:cNvSpPr txBox="1"/>
          <p:nvPr/>
        </p:nvSpPr>
        <p:spPr>
          <a:xfrm>
            <a:off x="5303520" y="2596896"/>
            <a:ext cx="1737360" cy="457200"/>
          </a:xfrm>
          <a:prstGeom prst="rect">
            <a:avLst/>
          </a:prstGeom>
          <a:noFill/>
          <a:ln/>
        </p:spPr>
        <p:txBody>
          <a:bodyPr wrap="square" lIns="0" tIns="0" rIns="0" bIns="0" rtlCol="0" anchor="t"/>
          <a:lstStyle/>
          <a:p>
            <a:pPr algn="l" indent="0" marL="0">
              <a:lnSpc>
                <a:spcPct val="106000"/>
              </a:lnSpc>
              <a:buNone/>
            </a:pPr>
            <a:r>
              <a:rPr lang="en-US" sz="1250" b="1" dirty="0">
                <a:solidFill>
                  <a:srgbClr val="EFF2F1"/>
                </a:solidFill>
                <a:latin typeface="Calibri" pitchFamily="34" charset="0"/>
                <a:ea typeface="Calibri" pitchFamily="34" charset="-122"/>
                <a:cs typeface="Calibri" pitchFamily="34" charset="-120"/>
              </a:rPr>
              <a:t>bge-small-en-v1.5</a:t>
            </a:r>
            <a:endParaRPr lang="en-US" sz="1250" dirty="0"/>
          </a:p>
        </p:txBody>
      </p:sp>
      <p:sp>
        <p:nvSpPr>
          <p:cNvPr id="24" name="Text 22"/>
          <p:cNvSpPr txBox="1"/>
          <p:nvPr/>
        </p:nvSpPr>
        <p:spPr>
          <a:xfrm>
            <a:off x="5303520" y="3090672"/>
            <a:ext cx="1737360" cy="96926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33M parameters. Each chunk becomes a vector where nearness means similar meaning, not similar words.</a:t>
            </a:r>
            <a:endParaRPr lang="en-US" sz="1000" dirty="0"/>
          </a:p>
        </p:txBody>
      </p:sp>
      <p:sp>
        <p:nvSpPr>
          <p:cNvPr id="25" name="Shape 23"/>
          <p:cNvSpPr/>
          <p:nvPr/>
        </p:nvSpPr>
        <p:spPr>
          <a:xfrm>
            <a:off x="7187184" y="3182112"/>
            <a:ext cx="164592" cy="0"/>
          </a:xfrm>
          <a:prstGeom prst="line">
            <a:avLst/>
          </a:prstGeom>
          <a:noFill/>
          <a:ln w="15875">
            <a:solidFill>
              <a:srgbClr val="33463D"/>
            </a:solidFill>
            <a:prstDash val="solid"/>
            <a:tailEnd type="triangle"/>
          </a:ln>
        </p:spPr>
      </p:sp>
      <p:sp>
        <p:nvSpPr>
          <p:cNvPr id="26" name="Shape 24"/>
          <p:cNvSpPr/>
          <p:nvPr/>
        </p:nvSpPr>
        <p:spPr>
          <a:xfrm>
            <a:off x="7351776" y="2212848"/>
            <a:ext cx="2048256" cy="1956816"/>
          </a:xfrm>
          <a:prstGeom prst="roundRect">
            <a:avLst>
              <a:gd name="adj" fmla="val 747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7" name="Text 25"/>
          <p:cNvSpPr txBox="1"/>
          <p:nvPr/>
        </p:nvSpPr>
        <p:spPr>
          <a:xfrm>
            <a:off x="7534656" y="2340864"/>
            <a:ext cx="731520" cy="219456"/>
          </a:xfrm>
          <a:prstGeom prst="rect">
            <a:avLst/>
          </a:prstGeom>
          <a:noFill/>
          <a:ln/>
        </p:spPr>
        <p:txBody>
          <a:bodyPr wrap="square" lIns="0" tIns="0" rIns="0" bIns="0" rtlCol="0" anchor="ctr"/>
          <a:lstStyle/>
          <a:p>
            <a:pPr algn="l" indent="0" marL="0">
              <a:buNone/>
            </a:pPr>
            <a:r>
              <a:rPr lang="en-US" sz="1000" b="1" dirty="0">
                <a:solidFill>
                  <a:srgbClr val="F9BF29"/>
                </a:solidFill>
                <a:latin typeface="Courier New" pitchFamily="34" charset="0"/>
                <a:ea typeface="Courier New" pitchFamily="34" charset="-122"/>
                <a:cs typeface="Courier New" pitchFamily="34" charset="-120"/>
              </a:rPr>
              <a:t>04</a:t>
            </a:r>
            <a:endParaRPr lang="en-US" sz="1000" dirty="0"/>
          </a:p>
        </p:txBody>
      </p:sp>
      <p:sp>
        <p:nvSpPr>
          <p:cNvPr id="28" name="Text 26"/>
          <p:cNvSpPr txBox="1"/>
          <p:nvPr/>
        </p:nvSpPr>
        <p:spPr>
          <a:xfrm>
            <a:off x="7534656" y="2596896"/>
            <a:ext cx="1737360" cy="457200"/>
          </a:xfrm>
          <a:prstGeom prst="rect">
            <a:avLst/>
          </a:prstGeom>
          <a:noFill/>
          <a:ln/>
        </p:spPr>
        <p:txBody>
          <a:bodyPr wrap="square" lIns="0" tIns="0" rIns="0" bIns="0" rtlCol="0" anchor="t"/>
          <a:lstStyle/>
          <a:p>
            <a:pPr algn="l" indent="0" marL="0">
              <a:lnSpc>
                <a:spcPct val="106000"/>
              </a:lnSpc>
              <a:buNone/>
            </a:pPr>
            <a:r>
              <a:rPr lang="en-US" sz="1250" b="1" dirty="0">
                <a:solidFill>
                  <a:srgbClr val="EFF2F1"/>
                </a:solidFill>
                <a:latin typeface="Calibri" pitchFamily="34" charset="0"/>
                <a:ea typeface="Calibri" pitchFamily="34" charset="-122"/>
                <a:cs typeface="Calibri" pitchFamily="34" charset="-120"/>
              </a:rPr>
              <a:t>ChromaDB, cosine</a:t>
            </a:r>
            <a:endParaRPr lang="en-US" sz="1250" dirty="0"/>
          </a:p>
        </p:txBody>
      </p:sp>
      <p:sp>
        <p:nvSpPr>
          <p:cNvPr id="29" name="Text 27"/>
          <p:cNvSpPr txBox="1"/>
          <p:nvPr/>
        </p:nvSpPr>
        <p:spPr>
          <a:xfrm>
            <a:off x="7534656" y="3090672"/>
            <a:ext cx="1737360" cy="96926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Persisted to disk with source metadata, so every citation can name its book and its position.</a:t>
            </a:r>
            <a:endParaRPr lang="en-US" sz="1000" dirty="0"/>
          </a:p>
        </p:txBody>
      </p:sp>
      <p:sp>
        <p:nvSpPr>
          <p:cNvPr id="30" name="Shape 28"/>
          <p:cNvSpPr/>
          <p:nvPr/>
        </p:nvSpPr>
        <p:spPr>
          <a:xfrm>
            <a:off x="9418320" y="3182112"/>
            <a:ext cx="164592" cy="0"/>
          </a:xfrm>
          <a:prstGeom prst="line">
            <a:avLst/>
          </a:prstGeom>
          <a:noFill/>
          <a:ln w="15875">
            <a:solidFill>
              <a:srgbClr val="33463D"/>
            </a:solidFill>
            <a:prstDash val="solid"/>
            <a:tailEnd type="triangle"/>
          </a:ln>
        </p:spPr>
      </p:sp>
      <p:sp>
        <p:nvSpPr>
          <p:cNvPr id="31" name="Shape 29"/>
          <p:cNvSpPr/>
          <p:nvPr/>
        </p:nvSpPr>
        <p:spPr>
          <a:xfrm>
            <a:off x="9582912" y="2212848"/>
            <a:ext cx="2048256" cy="1956816"/>
          </a:xfrm>
          <a:prstGeom prst="roundRect">
            <a:avLst>
              <a:gd name="adj" fmla="val 747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2" name="Text 30"/>
          <p:cNvSpPr txBox="1"/>
          <p:nvPr/>
        </p:nvSpPr>
        <p:spPr>
          <a:xfrm>
            <a:off x="9765792" y="2340864"/>
            <a:ext cx="731520" cy="219456"/>
          </a:xfrm>
          <a:prstGeom prst="rect">
            <a:avLst/>
          </a:prstGeom>
          <a:noFill/>
          <a:ln/>
        </p:spPr>
        <p:txBody>
          <a:bodyPr wrap="square" lIns="0" tIns="0" rIns="0" bIns="0" rtlCol="0" anchor="ctr"/>
          <a:lstStyle/>
          <a:p>
            <a:pPr algn="l" indent="0" marL="0">
              <a:buNone/>
            </a:pPr>
            <a:r>
              <a:rPr lang="en-US" sz="1000" b="1" dirty="0">
                <a:solidFill>
                  <a:srgbClr val="F9BF29"/>
                </a:solidFill>
                <a:latin typeface="Courier New" pitchFamily="34" charset="0"/>
                <a:ea typeface="Courier New" pitchFamily="34" charset="-122"/>
                <a:cs typeface="Courier New" pitchFamily="34" charset="-120"/>
              </a:rPr>
              <a:t>05</a:t>
            </a:r>
            <a:endParaRPr lang="en-US" sz="1000" dirty="0"/>
          </a:p>
        </p:txBody>
      </p:sp>
      <p:sp>
        <p:nvSpPr>
          <p:cNvPr id="33" name="Text 31"/>
          <p:cNvSpPr txBox="1"/>
          <p:nvPr/>
        </p:nvSpPr>
        <p:spPr>
          <a:xfrm>
            <a:off x="9765792" y="2596896"/>
            <a:ext cx="1737360" cy="457200"/>
          </a:xfrm>
          <a:prstGeom prst="rect">
            <a:avLst/>
          </a:prstGeom>
          <a:noFill/>
          <a:ln/>
        </p:spPr>
        <p:txBody>
          <a:bodyPr wrap="square" lIns="0" tIns="0" rIns="0" bIns="0" rtlCol="0" anchor="t"/>
          <a:lstStyle/>
          <a:p>
            <a:pPr algn="l" indent="0" marL="0">
              <a:lnSpc>
                <a:spcPct val="106000"/>
              </a:lnSpc>
              <a:buNone/>
            </a:pPr>
            <a:r>
              <a:rPr lang="en-US" sz="1250" b="1" dirty="0">
                <a:solidFill>
                  <a:srgbClr val="EFF2F1"/>
                </a:solidFill>
                <a:latin typeface="Calibri" pitchFamily="34" charset="0"/>
                <a:ea typeface="Calibri" pitchFamily="34" charset="-122"/>
                <a:cs typeface="Calibri" pitchFamily="34" charset="-120"/>
              </a:rPr>
              <a:t>Fetch 20, rerank to 4</a:t>
            </a:r>
            <a:endParaRPr lang="en-US" sz="1250" dirty="0"/>
          </a:p>
        </p:txBody>
      </p:sp>
      <p:sp>
        <p:nvSpPr>
          <p:cNvPr id="34" name="Text 32"/>
          <p:cNvSpPr txBox="1"/>
          <p:nvPr/>
        </p:nvSpPr>
        <p:spPr>
          <a:xfrm>
            <a:off x="9765792" y="3090672"/>
            <a:ext cx="1737360" cy="96926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MMR at λ=0.5 — relevant to the query and unlike what is already chosen.</a:t>
            </a:r>
            <a:endParaRPr lang="en-US" sz="1000" dirty="0"/>
          </a:p>
        </p:txBody>
      </p:sp>
      <p:sp>
        <p:nvSpPr>
          <p:cNvPr id="35" name="Shape 33"/>
          <p:cNvSpPr/>
          <p:nvPr/>
        </p:nvSpPr>
        <p:spPr>
          <a:xfrm>
            <a:off x="658368" y="4370832"/>
            <a:ext cx="3529584" cy="1572768"/>
          </a:xfrm>
          <a:prstGeom prst="roundRect">
            <a:avLst>
              <a:gd name="adj" fmla="val 9302"/>
            </a:avLst>
          </a:prstGeom>
          <a:solidFill>
            <a:srgbClr val="141D19">
              <a:alpha val="88000"/>
            </a:srgbClr>
          </a:solidFill>
          <a:ln w="12700">
            <a:solidFill>
              <a:srgbClr val="33463D"/>
            </a:solidFill>
            <a:prstDash val="solid"/>
          </a:ln>
          <a:effectLst>
            <a:outerShdw sx="100000" sy="100000" kx="0" ky="0" algn="bl" rotWithShape="0" blurRad="152400" dist="25400" dir="5400000">
              <a:srgbClr val="000000">
                <a:alpha val="16000"/>
              </a:srgbClr>
            </a:outerShdw>
          </a:effectLst>
        </p:spPr>
      </p:sp>
      <p:sp>
        <p:nvSpPr>
          <p:cNvPr id="36" name="Text 34"/>
          <p:cNvSpPr txBox="1"/>
          <p:nvPr/>
        </p:nvSpPr>
        <p:spPr>
          <a:xfrm>
            <a:off x="877824" y="4517136"/>
            <a:ext cx="3090672" cy="457200"/>
          </a:xfrm>
          <a:prstGeom prst="rect">
            <a:avLst/>
          </a:prstGeom>
          <a:noFill/>
          <a:ln/>
        </p:spPr>
        <p:txBody>
          <a:bodyPr wrap="square" lIns="0" tIns="0" rIns="0" bIns="0" rtlCol="0" anchor="t"/>
          <a:lstStyle/>
          <a:p>
            <a:pPr algn="l" indent="0" marL="0">
              <a:lnSpc>
                <a:spcPct val="106000"/>
              </a:lnSpc>
              <a:buNone/>
            </a:pPr>
            <a:r>
              <a:rPr lang="en-US" sz="1200" b="1" dirty="0">
                <a:solidFill>
                  <a:srgbClr val="6F9C8A"/>
                </a:solidFill>
                <a:latin typeface="Calibri" pitchFamily="34" charset="0"/>
                <a:ea typeface="Calibri" pitchFamily="34" charset="-122"/>
                <a:cs typeface="Calibri" pitchFamily="34" charset="-120"/>
              </a:rPr>
              <a:t>Why the query gets a prefix and the documents do not</a:t>
            </a:r>
            <a:endParaRPr lang="en-US" sz="1200" dirty="0"/>
          </a:p>
        </p:txBody>
      </p:sp>
      <p:sp>
        <p:nvSpPr>
          <p:cNvPr id="37" name="Text 35"/>
          <p:cNvSpPr txBox="1"/>
          <p:nvPr/>
        </p:nvSpPr>
        <p:spPr>
          <a:xfrm>
            <a:off x="877824" y="5010912"/>
            <a:ext cx="3090672" cy="804672"/>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bge models are trained with an instruction prefix on the query side only. Applying it to documents, or leaving it off the query, measurably degrades retrieval. It is one line, and it is easy to get backwards.</a:t>
            </a:r>
            <a:endParaRPr lang="en-US" sz="1050" dirty="0"/>
          </a:p>
        </p:txBody>
      </p:sp>
      <p:sp>
        <p:nvSpPr>
          <p:cNvPr id="38" name="Shape 36"/>
          <p:cNvSpPr/>
          <p:nvPr/>
        </p:nvSpPr>
        <p:spPr>
          <a:xfrm>
            <a:off x="4352544" y="4370832"/>
            <a:ext cx="3529584" cy="1572768"/>
          </a:xfrm>
          <a:prstGeom prst="roundRect">
            <a:avLst>
              <a:gd name="adj" fmla="val 9302"/>
            </a:avLst>
          </a:prstGeom>
          <a:solidFill>
            <a:srgbClr val="141D19">
              <a:alpha val="88000"/>
            </a:srgbClr>
          </a:solidFill>
          <a:ln w="12700">
            <a:solidFill>
              <a:srgbClr val="33463D"/>
            </a:solidFill>
            <a:prstDash val="solid"/>
          </a:ln>
          <a:effectLst>
            <a:outerShdw sx="100000" sy="100000" kx="0" ky="0" algn="bl" rotWithShape="0" blurRad="152400" dist="25400" dir="5400000">
              <a:srgbClr val="000000">
                <a:alpha val="16000"/>
              </a:srgbClr>
            </a:outerShdw>
          </a:effectLst>
        </p:spPr>
      </p:sp>
      <p:sp>
        <p:nvSpPr>
          <p:cNvPr id="39" name="Text 37"/>
          <p:cNvSpPr txBox="1"/>
          <p:nvPr/>
        </p:nvSpPr>
        <p:spPr>
          <a:xfrm>
            <a:off x="4572000" y="4517136"/>
            <a:ext cx="3090672" cy="457200"/>
          </a:xfrm>
          <a:prstGeom prst="rect">
            <a:avLst/>
          </a:prstGeom>
          <a:noFill/>
          <a:ln/>
        </p:spPr>
        <p:txBody>
          <a:bodyPr wrap="square" lIns="0" tIns="0" rIns="0" bIns="0" rtlCol="0" anchor="t"/>
          <a:lstStyle/>
          <a:p>
            <a:pPr algn="l" indent="0" marL="0">
              <a:lnSpc>
                <a:spcPct val="106000"/>
              </a:lnSpc>
              <a:buNone/>
            </a:pPr>
            <a:r>
              <a:rPr lang="en-US" sz="1200" b="1" dirty="0">
                <a:solidFill>
                  <a:srgbClr val="6F9C8A"/>
                </a:solidFill>
                <a:latin typeface="Calibri" pitchFamily="34" charset="0"/>
                <a:ea typeface="Calibri" pitchFamily="34" charset="-122"/>
                <a:cs typeface="Calibri" pitchFamily="34" charset="-120"/>
              </a:rPr>
              <a:t>Why we implemented MMR instead of calling the vector store's helper</a:t>
            </a:r>
            <a:endParaRPr lang="en-US" sz="1200" dirty="0"/>
          </a:p>
        </p:txBody>
      </p:sp>
      <p:sp>
        <p:nvSpPr>
          <p:cNvPr id="40" name="Text 38"/>
          <p:cNvSpPr txBox="1"/>
          <p:nvPr/>
        </p:nvSpPr>
        <p:spPr>
          <a:xfrm>
            <a:off x="4572000" y="5010912"/>
            <a:ext cx="3090672" cy="804672"/>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Chroma's own MMR helper does not return relevance scores, and we need both. The scores drive the groundedness gate and the citation display. The diversity term stops four near-identical chunks from one book crowding out the rest of the corpus.</a:t>
            </a:r>
            <a:endParaRPr lang="en-US" sz="1050" dirty="0"/>
          </a:p>
        </p:txBody>
      </p:sp>
      <p:sp>
        <p:nvSpPr>
          <p:cNvPr id="41" name="Shape 39"/>
          <p:cNvSpPr/>
          <p:nvPr/>
        </p:nvSpPr>
        <p:spPr>
          <a:xfrm>
            <a:off x="8046720" y="4370832"/>
            <a:ext cx="3529584" cy="1572768"/>
          </a:xfrm>
          <a:prstGeom prst="roundRect">
            <a:avLst>
              <a:gd name="adj" fmla="val 9302"/>
            </a:avLst>
          </a:prstGeom>
          <a:solidFill>
            <a:srgbClr val="141D19">
              <a:alpha val="88000"/>
            </a:srgbClr>
          </a:solidFill>
          <a:ln w="12700">
            <a:solidFill>
              <a:srgbClr val="33463D"/>
            </a:solidFill>
            <a:prstDash val="solid"/>
          </a:ln>
          <a:effectLst>
            <a:outerShdw sx="100000" sy="100000" kx="0" ky="0" algn="bl" rotWithShape="0" blurRad="152400" dist="25400" dir="5400000">
              <a:srgbClr val="000000">
                <a:alpha val="16000"/>
              </a:srgbClr>
            </a:outerShdw>
          </a:effectLst>
        </p:spPr>
      </p:sp>
      <p:sp>
        <p:nvSpPr>
          <p:cNvPr id="42" name="Text 40"/>
          <p:cNvSpPr txBox="1"/>
          <p:nvPr/>
        </p:nvSpPr>
        <p:spPr>
          <a:xfrm>
            <a:off x="8266176" y="4517136"/>
            <a:ext cx="3090672" cy="457200"/>
          </a:xfrm>
          <a:prstGeom prst="rect">
            <a:avLst/>
          </a:prstGeom>
          <a:noFill/>
          <a:ln/>
        </p:spPr>
        <p:txBody>
          <a:bodyPr wrap="square" lIns="0" tIns="0" rIns="0" bIns="0" rtlCol="0" anchor="t"/>
          <a:lstStyle/>
          <a:p>
            <a:pPr algn="l" indent="0" marL="0">
              <a:lnSpc>
                <a:spcPct val="106000"/>
              </a:lnSpc>
              <a:buNone/>
            </a:pPr>
            <a:r>
              <a:rPr lang="en-US" sz="1200" b="1" dirty="0">
                <a:solidFill>
                  <a:srgbClr val="6F9C8A"/>
                </a:solidFill>
                <a:latin typeface="Calibri" pitchFamily="34" charset="0"/>
                <a:ea typeface="Calibri" pitchFamily="34" charset="-122"/>
                <a:cs typeface="Calibri" pitchFamily="34" charset="-120"/>
              </a:rPr>
              <a:t>Why RAG and not simply fine-tuning the knowledge in</a:t>
            </a:r>
            <a:endParaRPr lang="en-US" sz="1200" dirty="0"/>
          </a:p>
        </p:txBody>
      </p:sp>
      <p:sp>
        <p:nvSpPr>
          <p:cNvPr id="43" name="Text 41"/>
          <p:cNvSpPr txBox="1"/>
          <p:nvPr/>
        </p:nvSpPr>
        <p:spPr>
          <a:xfrm>
            <a:off x="8266176" y="5010912"/>
            <a:ext cx="3090672" cy="804672"/>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A cited passage can be checked and swapped. A fact baked into weights cannot be pointed at, corrected, or refused. Our safety property is refusing to answer outside the corpus, and that needs a score at query time.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THE GROUNDEDNESS GATE</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EFF2F1"/>
                </a:solidFill>
                <a:latin typeface="Arial" pitchFamily="34" charset="0"/>
                <a:ea typeface="Arial" pitchFamily="34" charset="-122"/>
                <a:cs typeface="Arial" pitchFamily="34" charset="-120"/>
              </a:rPr>
              <a:t>We got this threshold wrong </a:t>
            </a:r>
            <a:pPr indent="0" marL="0">
              <a:lnSpc>
                <a:spcPct val="103000"/>
              </a:lnSpc>
              <a:buNone/>
            </a:pPr>
            <a:r>
              <a:rPr lang="en-US" sz="3400" i="1" dirty="0">
                <a:solidFill>
                  <a:srgbClr val="F9BF29"/>
                </a:solidFill>
                <a:latin typeface="Cambria" pitchFamily="34" charset="0"/>
                <a:ea typeface="Cambria" pitchFamily="34" charset="-122"/>
                <a:cs typeface="Cambria" pitchFamily="34" charset="-120"/>
              </a:rPr>
              <a:t>twice</a:t>
            </a:r>
            <a:endParaRPr lang="en-US" sz="34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backend/scripts/calibrate_gate.py  ·  backend/app/core/config.py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19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89888"/>
            <a:ext cx="100584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Retrieval always returns its closest match. Below a threshold, this system returns nothing instead, and the coach says it has no material rather than answering from weak evidence.</a:t>
            </a:r>
            <a:endParaRPr lang="en-US" sz="1500" dirty="0"/>
          </a:p>
        </p:txBody>
      </p:sp>
      <p:sp>
        <p:nvSpPr>
          <p:cNvPr id="11" name="Shape 9"/>
          <p:cNvSpPr/>
          <p:nvPr/>
        </p:nvSpPr>
        <p:spPr>
          <a:xfrm>
            <a:off x="658368" y="2139696"/>
            <a:ext cx="10874959" cy="2249424"/>
          </a:xfrm>
          <a:prstGeom prst="roundRect">
            <a:avLst>
              <a:gd name="adj" fmla="val 6504"/>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32688" y="2286000"/>
            <a:ext cx="77724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COSINE SIMILARITY OF THE BEST MATCH, MEASURED OVER THE REAL 1,057-CHUNK CORPUS</a:t>
            </a:r>
            <a:endParaRPr lang="en-US" sz="950" dirty="0"/>
          </a:p>
        </p:txBody>
      </p:sp>
      <p:sp>
        <p:nvSpPr>
          <p:cNvPr id="13" name="Shape 11"/>
          <p:cNvSpPr/>
          <p:nvPr/>
        </p:nvSpPr>
        <p:spPr>
          <a:xfrm>
            <a:off x="1298448" y="3310128"/>
            <a:ext cx="9411919" cy="0"/>
          </a:xfrm>
          <a:prstGeom prst="line">
            <a:avLst/>
          </a:prstGeom>
          <a:noFill/>
          <a:ln w="12700">
            <a:solidFill>
              <a:srgbClr val="33463D"/>
            </a:solidFill>
            <a:prstDash val="solid"/>
          </a:ln>
        </p:spPr>
      </p:sp>
      <p:sp>
        <p:nvSpPr>
          <p:cNvPr id="14" name="Shape 12"/>
          <p:cNvSpPr/>
          <p:nvPr/>
        </p:nvSpPr>
        <p:spPr>
          <a:xfrm>
            <a:off x="1298448" y="3310128"/>
            <a:ext cx="0" cy="82296"/>
          </a:xfrm>
          <a:prstGeom prst="line">
            <a:avLst/>
          </a:prstGeom>
          <a:noFill/>
          <a:ln w="12700">
            <a:solidFill>
              <a:srgbClr val="223029"/>
            </a:solidFill>
            <a:prstDash val="solid"/>
          </a:ln>
        </p:spPr>
      </p:sp>
      <p:sp>
        <p:nvSpPr>
          <p:cNvPr id="15" name="Text 13"/>
          <p:cNvSpPr txBox="1"/>
          <p:nvPr/>
        </p:nvSpPr>
        <p:spPr>
          <a:xfrm>
            <a:off x="1024128" y="3410712"/>
            <a:ext cx="548640" cy="201168"/>
          </a:xfrm>
          <a:prstGeom prst="rect">
            <a:avLst/>
          </a:prstGeom>
          <a:noFill/>
          <a:ln/>
        </p:spPr>
        <p:txBody>
          <a:bodyPr wrap="square" lIns="0" tIns="0" rIns="0" bIns="0" rtlCol="0" anchor="ctr"/>
          <a:lstStyle/>
          <a:p>
            <a:pPr algn="ctr" indent="0" marL="0">
              <a:buNone/>
            </a:pPr>
            <a:r>
              <a:rPr lang="en-US" sz="850" dirty="0">
                <a:solidFill>
                  <a:srgbClr val="5D7268"/>
                </a:solidFill>
                <a:latin typeface="Courier New" pitchFamily="34" charset="0"/>
                <a:ea typeface="Courier New" pitchFamily="34" charset="-122"/>
                <a:cs typeface="Courier New" pitchFamily="34" charset="-120"/>
              </a:rPr>
              <a:t>0.30</a:t>
            </a:r>
            <a:endParaRPr lang="en-US" sz="850" dirty="0"/>
          </a:p>
        </p:txBody>
      </p:sp>
      <p:sp>
        <p:nvSpPr>
          <p:cNvPr id="16" name="Shape 14"/>
          <p:cNvSpPr/>
          <p:nvPr/>
        </p:nvSpPr>
        <p:spPr>
          <a:xfrm>
            <a:off x="2867101" y="3310128"/>
            <a:ext cx="0" cy="82296"/>
          </a:xfrm>
          <a:prstGeom prst="line">
            <a:avLst/>
          </a:prstGeom>
          <a:noFill/>
          <a:ln w="12700">
            <a:solidFill>
              <a:srgbClr val="223029"/>
            </a:solidFill>
            <a:prstDash val="solid"/>
          </a:ln>
        </p:spPr>
      </p:sp>
      <p:sp>
        <p:nvSpPr>
          <p:cNvPr id="17" name="Text 15"/>
          <p:cNvSpPr txBox="1"/>
          <p:nvPr/>
        </p:nvSpPr>
        <p:spPr>
          <a:xfrm>
            <a:off x="2592781" y="3410712"/>
            <a:ext cx="548640" cy="201168"/>
          </a:xfrm>
          <a:prstGeom prst="rect">
            <a:avLst/>
          </a:prstGeom>
          <a:noFill/>
          <a:ln/>
        </p:spPr>
        <p:txBody>
          <a:bodyPr wrap="square" lIns="0" tIns="0" rIns="0" bIns="0" rtlCol="0" anchor="ctr"/>
          <a:lstStyle/>
          <a:p>
            <a:pPr algn="ctr" indent="0" marL="0">
              <a:buNone/>
            </a:pPr>
            <a:r>
              <a:rPr lang="en-US" sz="850" dirty="0">
                <a:solidFill>
                  <a:srgbClr val="5D7268"/>
                </a:solidFill>
                <a:latin typeface="Courier New" pitchFamily="34" charset="0"/>
                <a:ea typeface="Courier New" pitchFamily="34" charset="-122"/>
                <a:cs typeface="Courier New" pitchFamily="34" charset="-120"/>
              </a:rPr>
              <a:t>0.40</a:t>
            </a:r>
            <a:endParaRPr lang="en-US" sz="850" dirty="0"/>
          </a:p>
        </p:txBody>
      </p:sp>
      <p:sp>
        <p:nvSpPr>
          <p:cNvPr id="18" name="Shape 16"/>
          <p:cNvSpPr/>
          <p:nvPr/>
        </p:nvSpPr>
        <p:spPr>
          <a:xfrm>
            <a:off x="4435754" y="3310128"/>
            <a:ext cx="0" cy="82296"/>
          </a:xfrm>
          <a:prstGeom prst="line">
            <a:avLst/>
          </a:prstGeom>
          <a:noFill/>
          <a:ln w="12700">
            <a:solidFill>
              <a:srgbClr val="223029"/>
            </a:solidFill>
            <a:prstDash val="solid"/>
          </a:ln>
        </p:spPr>
      </p:sp>
      <p:sp>
        <p:nvSpPr>
          <p:cNvPr id="19" name="Text 17"/>
          <p:cNvSpPr txBox="1"/>
          <p:nvPr/>
        </p:nvSpPr>
        <p:spPr>
          <a:xfrm>
            <a:off x="4161434" y="3410712"/>
            <a:ext cx="548640" cy="201168"/>
          </a:xfrm>
          <a:prstGeom prst="rect">
            <a:avLst/>
          </a:prstGeom>
          <a:noFill/>
          <a:ln/>
        </p:spPr>
        <p:txBody>
          <a:bodyPr wrap="square" lIns="0" tIns="0" rIns="0" bIns="0" rtlCol="0" anchor="ctr"/>
          <a:lstStyle/>
          <a:p>
            <a:pPr algn="ctr" indent="0" marL="0">
              <a:buNone/>
            </a:pPr>
            <a:r>
              <a:rPr lang="en-US" sz="850" dirty="0">
                <a:solidFill>
                  <a:srgbClr val="5D7268"/>
                </a:solidFill>
                <a:latin typeface="Courier New" pitchFamily="34" charset="0"/>
                <a:ea typeface="Courier New" pitchFamily="34" charset="-122"/>
                <a:cs typeface="Courier New" pitchFamily="34" charset="-120"/>
              </a:rPr>
              <a:t>0.50</a:t>
            </a:r>
            <a:endParaRPr lang="en-US" sz="850" dirty="0"/>
          </a:p>
        </p:txBody>
      </p:sp>
      <p:sp>
        <p:nvSpPr>
          <p:cNvPr id="20" name="Shape 18"/>
          <p:cNvSpPr/>
          <p:nvPr/>
        </p:nvSpPr>
        <p:spPr>
          <a:xfrm>
            <a:off x="6004408" y="3310128"/>
            <a:ext cx="0" cy="82296"/>
          </a:xfrm>
          <a:prstGeom prst="line">
            <a:avLst/>
          </a:prstGeom>
          <a:noFill/>
          <a:ln w="12700">
            <a:solidFill>
              <a:srgbClr val="223029"/>
            </a:solidFill>
            <a:prstDash val="solid"/>
          </a:ln>
        </p:spPr>
      </p:sp>
      <p:sp>
        <p:nvSpPr>
          <p:cNvPr id="21" name="Text 19"/>
          <p:cNvSpPr txBox="1"/>
          <p:nvPr/>
        </p:nvSpPr>
        <p:spPr>
          <a:xfrm>
            <a:off x="5730088" y="3410712"/>
            <a:ext cx="548640" cy="201168"/>
          </a:xfrm>
          <a:prstGeom prst="rect">
            <a:avLst/>
          </a:prstGeom>
          <a:noFill/>
          <a:ln/>
        </p:spPr>
        <p:txBody>
          <a:bodyPr wrap="square" lIns="0" tIns="0" rIns="0" bIns="0" rtlCol="0" anchor="ctr"/>
          <a:lstStyle/>
          <a:p>
            <a:pPr algn="ctr" indent="0" marL="0">
              <a:buNone/>
            </a:pPr>
            <a:r>
              <a:rPr lang="en-US" sz="850" dirty="0">
                <a:solidFill>
                  <a:srgbClr val="5D7268"/>
                </a:solidFill>
                <a:latin typeface="Courier New" pitchFamily="34" charset="0"/>
                <a:ea typeface="Courier New" pitchFamily="34" charset="-122"/>
                <a:cs typeface="Courier New" pitchFamily="34" charset="-120"/>
              </a:rPr>
              <a:t>0.60</a:t>
            </a:r>
            <a:endParaRPr lang="en-US" sz="850" dirty="0"/>
          </a:p>
        </p:txBody>
      </p:sp>
      <p:sp>
        <p:nvSpPr>
          <p:cNvPr id="22" name="Shape 20"/>
          <p:cNvSpPr/>
          <p:nvPr/>
        </p:nvSpPr>
        <p:spPr>
          <a:xfrm>
            <a:off x="7573061" y="3310128"/>
            <a:ext cx="0" cy="82296"/>
          </a:xfrm>
          <a:prstGeom prst="line">
            <a:avLst/>
          </a:prstGeom>
          <a:noFill/>
          <a:ln w="12700">
            <a:solidFill>
              <a:srgbClr val="223029"/>
            </a:solidFill>
            <a:prstDash val="solid"/>
          </a:ln>
        </p:spPr>
      </p:sp>
      <p:sp>
        <p:nvSpPr>
          <p:cNvPr id="23" name="Text 21"/>
          <p:cNvSpPr txBox="1"/>
          <p:nvPr/>
        </p:nvSpPr>
        <p:spPr>
          <a:xfrm>
            <a:off x="7298741" y="3410712"/>
            <a:ext cx="548640" cy="201168"/>
          </a:xfrm>
          <a:prstGeom prst="rect">
            <a:avLst/>
          </a:prstGeom>
          <a:noFill/>
          <a:ln/>
        </p:spPr>
        <p:txBody>
          <a:bodyPr wrap="square" lIns="0" tIns="0" rIns="0" bIns="0" rtlCol="0" anchor="ctr"/>
          <a:lstStyle/>
          <a:p>
            <a:pPr algn="ctr" indent="0" marL="0">
              <a:buNone/>
            </a:pPr>
            <a:r>
              <a:rPr lang="en-US" sz="850" dirty="0">
                <a:solidFill>
                  <a:srgbClr val="5D7268"/>
                </a:solidFill>
                <a:latin typeface="Courier New" pitchFamily="34" charset="0"/>
                <a:ea typeface="Courier New" pitchFamily="34" charset="-122"/>
                <a:cs typeface="Courier New" pitchFamily="34" charset="-120"/>
              </a:rPr>
              <a:t>0.70</a:t>
            </a:r>
            <a:endParaRPr lang="en-US" sz="850" dirty="0"/>
          </a:p>
        </p:txBody>
      </p:sp>
      <p:sp>
        <p:nvSpPr>
          <p:cNvPr id="24" name="Shape 22"/>
          <p:cNvSpPr/>
          <p:nvPr/>
        </p:nvSpPr>
        <p:spPr>
          <a:xfrm>
            <a:off x="9141714" y="3310128"/>
            <a:ext cx="0" cy="82296"/>
          </a:xfrm>
          <a:prstGeom prst="line">
            <a:avLst/>
          </a:prstGeom>
          <a:noFill/>
          <a:ln w="12700">
            <a:solidFill>
              <a:srgbClr val="223029"/>
            </a:solidFill>
            <a:prstDash val="solid"/>
          </a:ln>
        </p:spPr>
      </p:sp>
      <p:sp>
        <p:nvSpPr>
          <p:cNvPr id="25" name="Text 23"/>
          <p:cNvSpPr txBox="1"/>
          <p:nvPr/>
        </p:nvSpPr>
        <p:spPr>
          <a:xfrm>
            <a:off x="8867394" y="3410712"/>
            <a:ext cx="548640" cy="201168"/>
          </a:xfrm>
          <a:prstGeom prst="rect">
            <a:avLst/>
          </a:prstGeom>
          <a:noFill/>
          <a:ln/>
        </p:spPr>
        <p:txBody>
          <a:bodyPr wrap="square" lIns="0" tIns="0" rIns="0" bIns="0" rtlCol="0" anchor="ctr"/>
          <a:lstStyle/>
          <a:p>
            <a:pPr algn="ctr" indent="0" marL="0">
              <a:buNone/>
            </a:pPr>
            <a:r>
              <a:rPr lang="en-US" sz="850" dirty="0">
                <a:solidFill>
                  <a:srgbClr val="5D7268"/>
                </a:solidFill>
                <a:latin typeface="Courier New" pitchFamily="34" charset="0"/>
                <a:ea typeface="Courier New" pitchFamily="34" charset="-122"/>
                <a:cs typeface="Courier New" pitchFamily="34" charset="-120"/>
              </a:rPr>
              <a:t>0.80</a:t>
            </a:r>
            <a:endParaRPr lang="en-US" sz="850" dirty="0"/>
          </a:p>
        </p:txBody>
      </p:sp>
      <p:sp>
        <p:nvSpPr>
          <p:cNvPr id="26" name="Shape 24"/>
          <p:cNvSpPr/>
          <p:nvPr/>
        </p:nvSpPr>
        <p:spPr>
          <a:xfrm>
            <a:off x="10710367" y="3310128"/>
            <a:ext cx="0" cy="82296"/>
          </a:xfrm>
          <a:prstGeom prst="line">
            <a:avLst/>
          </a:prstGeom>
          <a:noFill/>
          <a:ln w="12700">
            <a:solidFill>
              <a:srgbClr val="223029"/>
            </a:solidFill>
            <a:prstDash val="solid"/>
          </a:ln>
        </p:spPr>
      </p:sp>
      <p:sp>
        <p:nvSpPr>
          <p:cNvPr id="27" name="Text 25"/>
          <p:cNvSpPr txBox="1"/>
          <p:nvPr/>
        </p:nvSpPr>
        <p:spPr>
          <a:xfrm>
            <a:off x="10436047" y="3410712"/>
            <a:ext cx="548640" cy="201168"/>
          </a:xfrm>
          <a:prstGeom prst="rect">
            <a:avLst/>
          </a:prstGeom>
          <a:noFill/>
          <a:ln/>
        </p:spPr>
        <p:txBody>
          <a:bodyPr wrap="square" lIns="0" tIns="0" rIns="0" bIns="0" rtlCol="0" anchor="ctr"/>
          <a:lstStyle/>
          <a:p>
            <a:pPr algn="ctr" indent="0" marL="0">
              <a:buNone/>
            </a:pPr>
            <a:r>
              <a:rPr lang="en-US" sz="850" dirty="0">
                <a:solidFill>
                  <a:srgbClr val="5D7268"/>
                </a:solidFill>
                <a:latin typeface="Courier New" pitchFamily="34" charset="0"/>
                <a:ea typeface="Courier New" pitchFamily="34" charset="-122"/>
                <a:cs typeface="Courier New" pitchFamily="34" charset="-120"/>
              </a:rPr>
              <a:t>0.90</a:t>
            </a:r>
            <a:endParaRPr lang="en-US" sz="850" dirty="0"/>
          </a:p>
        </p:txBody>
      </p:sp>
      <p:sp>
        <p:nvSpPr>
          <p:cNvPr id="28" name="Shape 26"/>
          <p:cNvSpPr/>
          <p:nvPr/>
        </p:nvSpPr>
        <p:spPr>
          <a:xfrm>
            <a:off x="3400443" y="2926080"/>
            <a:ext cx="2902008" cy="292608"/>
          </a:xfrm>
          <a:prstGeom prst="roundRect">
            <a:avLst>
              <a:gd name="adj" fmla="val 25000"/>
            </a:avLst>
          </a:prstGeom>
          <a:solidFill>
            <a:srgbClr val="E8705C">
              <a:alpha val="60000"/>
            </a:srgbClr>
          </a:solidFill>
          <a:ln/>
        </p:spPr>
      </p:sp>
      <p:sp>
        <p:nvSpPr>
          <p:cNvPr id="29" name="Text 27"/>
          <p:cNvSpPr txBox="1"/>
          <p:nvPr/>
        </p:nvSpPr>
        <p:spPr>
          <a:xfrm>
            <a:off x="3400443" y="2926080"/>
            <a:ext cx="290200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8 out-of-corpus questions   0.434 – 0.619</a:t>
            </a:r>
            <a:endParaRPr lang="en-US" sz="950" dirty="0"/>
          </a:p>
        </p:txBody>
      </p:sp>
      <p:sp>
        <p:nvSpPr>
          <p:cNvPr id="30" name="Shape 28"/>
          <p:cNvSpPr/>
          <p:nvPr/>
        </p:nvSpPr>
        <p:spPr>
          <a:xfrm>
            <a:off x="7510315" y="2926080"/>
            <a:ext cx="1851011" cy="292608"/>
          </a:xfrm>
          <a:prstGeom prst="roundRect">
            <a:avLst>
              <a:gd name="adj" fmla="val 25000"/>
            </a:avLst>
          </a:prstGeom>
          <a:solidFill>
            <a:srgbClr val="6F9C8A">
              <a:alpha val="78000"/>
            </a:srgbClr>
          </a:solidFill>
          <a:ln/>
        </p:spPr>
      </p:sp>
      <p:sp>
        <p:nvSpPr>
          <p:cNvPr id="31" name="Text 29"/>
          <p:cNvSpPr txBox="1"/>
          <p:nvPr/>
        </p:nvSpPr>
        <p:spPr>
          <a:xfrm>
            <a:off x="7510315" y="2926080"/>
            <a:ext cx="1851011" cy="292608"/>
          </a:xfrm>
          <a:prstGeom prst="rect">
            <a:avLst/>
          </a:prstGeom>
          <a:noFill/>
          <a:ln/>
        </p:spPr>
        <p:txBody>
          <a:bodyPr wrap="square" lIns="0" tIns="0" rIns="0" bIns="0" rtlCol="0" anchor="ctr"/>
          <a:lstStyle/>
          <a:p>
            <a:pPr algn="ctr" indent="0" marL="0">
              <a:buNone/>
            </a:pPr>
            <a:r>
              <a:rPr lang="en-US" sz="950" b="1" dirty="0">
                <a:solidFill>
                  <a:srgbClr val="0A0F0D"/>
                </a:solidFill>
                <a:latin typeface="Courier New" pitchFamily="34" charset="0"/>
                <a:ea typeface="Courier New" pitchFamily="34" charset="-122"/>
                <a:cs typeface="Courier New" pitchFamily="34" charset="-120"/>
              </a:rPr>
              <a:t>10 in-corpus   0.696 – 0.814</a:t>
            </a:r>
            <a:endParaRPr lang="en-US" sz="950" dirty="0"/>
          </a:p>
        </p:txBody>
      </p:sp>
      <p:sp>
        <p:nvSpPr>
          <p:cNvPr id="32" name="Shape 30"/>
          <p:cNvSpPr/>
          <p:nvPr/>
        </p:nvSpPr>
        <p:spPr>
          <a:xfrm>
            <a:off x="6302452" y="2926080"/>
            <a:ext cx="1207863" cy="292608"/>
          </a:xfrm>
          <a:prstGeom prst="roundRect">
            <a:avLst>
              <a:gd name="adj" fmla="val 12500"/>
            </a:avLst>
          </a:prstGeom>
          <a:solidFill>
            <a:srgbClr val="1B2621">
              <a:alpha val="70000"/>
            </a:srgbClr>
          </a:solidFill>
          <a:ln w="9525">
            <a:solidFill>
              <a:srgbClr val="33463D"/>
            </a:solidFill>
            <a:prstDash val="solid"/>
          </a:ln>
        </p:spPr>
      </p:sp>
      <p:sp>
        <p:nvSpPr>
          <p:cNvPr id="33" name="Text 31"/>
          <p:cNvSpPr txBox="1"/>
          <p:nvPr/>
        </p:nvSpPr>
        <p:spPr>
          <a:xfrm>
            <a:off x="5936692" y="2615184"/>
            <a:ext cx="1939383" cy="219456"/>
          </a:xfrm>
          <a:prstGeom prst="rect">
            <a:avLst/>
          </a:prstGeom>
          <a:noFill/>
          <a:ln/>
        </p:spPr>
        <p:txBody>
          <a:bodyPr wrap="square" lIns="0" tIns="0" rIns="0" bIns="0" rtlCol="0" anchor="ctr"/>
          <a:lstStyle/>
          <a:p>
            <a:pPr algn="ctr" indent="0" marL="0">
              <a:buNone/>
            </a:pPr>
            <a:r>
              <a:rPr lang="en-US" sz="900" dirty="0">
                <a:solidFill>
                  <a:srgbClr val="8CA096"/>
                </a:solidFill>
                <a:latin typeface="Courier New" pitchFamily="34" charset="0"/>
                <a:ea typeface="Courier New" pitchFamily="34" charset="-122"/>
                <a:cs typeface="Courier New" pitchFamily="34" charset="-120"/>
              </a:rPr>
              <a:t>gap 0.077</a:t>
            </a:r>
            <a:endParaRPr lang="en-US" sz="900" dirty="0"/>
          </a:p>
        </p:txBody>
      </p:sp>
      <p:sp>
        <p:nvSpPr>
          <p:cNvPr id="34" name="Shape 32"/>
          <p:cNvSpPr/>
          <p:nvPr/>
        </p:nvSpPr>
        <p:spPr>
          <a:xfrm>
            <a:off x="6788734" y="2377440"/>
            <a:ext cx="0" cy="1316736"/>
          </a:xfrm>
          <a:prstGeom prst="line">
            <a:avLst/>
          </a:prstGeom>
          <a:noFill/>
          <a:ln w="28575">
            <a:solidFill>
              <a:srgbClr val="F9BF29"/>
            </a:solidFill>
            <a:prstDash val="solid"/>
          </a:ln>
        </p:spPr>
      </p:sp>
      <p:sp>
        <p:nvSpPr>
          <p:cNvPr id="35" name="Shape 33"/>
          <p:cNvSpPr/>
          <p:nvPr/>
        </p:nvSpPr>
        <p:spPr>
          <a:xfrm>
            <a:off x="6313246" y="2066544"/>
            <a:ext cx="950976" cy="310896"/>
          </a:xfrm>
          <a:prstGeom prst="roundRect">
            <a:avLst>
              <a:gd name="adj" fmla="val 29412"/>
            </a:avLst>
          </a:prstGeom>
          <a:solidFill>
            <a:srgbClr val="F9BF29"/>
          </a:solidFill>
          <a:ln/>
        </p:spPr>
      </p:sp>
      <p:sp>
        <p:nvSpPr>
          <p:cNvPr id="36" name="Text 34"/>
          <p:cNvSpPr txBox="1"/>
          <p:nvPr/>
        </p:nvSpPr>
        <p:spPr>
          <a:xfrm>
            <a:off x="6313246" y="2066544"/>
            <a:ext cx="950976" cy="310896"/>
          </a:xfrm>
          <a:prstGeom prst="rect">
            <a:avLst/>
          </a:prstGeom>
          <a:noFill/>
          <a:ln/>
        </p:spPr>
        <p:txBody>
          <a:bodyPr wrap="square" lIns="0" tIns="0" rIns="0" bIns="0" rtlCol="0" anchor="ctr"/>
          <a:lstStyle/>
          <a:p>
            <a:pPr algn="ctr" indent="0" marL="0">
              <a:buNone/>
            </a:pPr>
            <a:r>
              <a:rPr lang="en-US" sz="1200" b="1" dirty="0">
                <a:solidFill>
                  <a:srgbClr val="0A0F0D"/>
                </a:solidFill>
                <a:latin typeface="Courier New" pitchFamily="34" charset="0"/>
                <a:ea typeface="Courier New" pitchFamily="34" charset="-122"/>
                <a:cs typeface="Courier New" pitchFamily="34" charset="-120"/>
              </a:rPr>
              <a:t>0.65</a:t>
            </a:r>
            <a:endParaRPr lang="en-US" sz="1200" dirty="0"/>
          </a:p>
        </p:txBody>
      </p:sp>
      <p:sp>
        <p:nvSpPr>
          <p:cNvPr id="37" name="Text 35"/>
          <p:cNvSpPr txBox="1"/>
          <p:nvPr/>
        </p:nvSpPr>
        <p:spPr>
          <a:xfrm>
            <a:off x="1298448" y="3712464"/>
            <a:ext cx="9411919" cy="566928"/>
          </a:xfrm>
          <a:prstGeom prst="rect">
            <a:avLst/>
          </a:prstGeom>
          <a:noFill/>
          <a:ln/>
        </p:spPr>
        <p:txBody>
          <a:bodyPr wrap="square" lIns="0" tIns="0" rIns="0" bIns="0" rtlCol="0" anchor="t"/>
          <a:lstStyle/>
          <a:p>
            <a:pPr algn="l" indent="0" marL="0">
              <a:lnSpc>
                <a:spcPct val="116000"/>
              </a:lnSpc>
              <a:buNone/>
            </a:pPr>
            <a:r>
              <a:rPr lang="en-US" sz="1200" dirty="0">
                <a:solidFill>
                  <a:srgbClr val="8CA096"/>
                </a:solidFill>
                <a:latin typeface="Calibri" pitchFamily="34" charset="0"/>
                <a:ea typeface="Calibri" pitchFamily="34" charset="-122"/>
                <a:cs typeface="Calibri" pitchFamily="34" charset="-120"/>
              </a:rPr>
              <a:t>Placed inside the gap and deliberately nearer the out-of-corpus side. The errors are not symmetric: refusing a real question costs one unhelpful turn, while accepting a false one puts confident wrong technique advice in front of someone practising their speech.</a:t>
            </a:r>
            <a:endParaRPr lang="en-US" sz="1200" dirty="0"/>
          </a:p>
        </p:txBody>
      </p:sp>
      <p:sp>
        <p:nvSpPr>
          <p:cNvPr id="38" name="Shape 36"/>
          <p:cNvSpPr/>
          <p:nvPr/>
        </p:nvSpPr>
        <p:spPr>
          <a:xfrm>
            <a:off x="658368" y="4535424"/>
            <a:ext cx="3310128" cy="1499616"/>
          </a:xfrm>
          <a:prstGeom prst="roundRect">
            <a:avLst>
              <a:gd name="adj" fmla="val 9756"/>
            </a:avLst>
          </a:prstGeom>
          <a:solidFill>
            <a:srgbClr val="141D19">
              <a:alpha val="88000"/>
            </a:srgbClr>
          </a:solidFill>
          <a:ln w="12700">
            <a:solidFill>
              <a:srgbClr val="6F9C8A"/>
            </a:solidFill>
            <a:prstDash val="solid"/>
          </a:ln>
          <a:effectLst>
            <a:outerShdw sx="100000" sy="100000" kx="0" ky="0" algn="bl" rotWithShape="0" blurRad="152400" dist="25400" dir="5400000">
              <a:srgbClr val="000000">
                <a:alpha val="16000"/>
              </a:srgbClr>
            </a:outerShdw>
          </a:effectLst>
        </p:spPr>
      </p:sp>
      <p:sp>
        <p:nvSpPr>
          <p:cNvPr id="39" name="Text 37"/>
          <p:cNvSpPr txBox="1"/>
          <p:nvPr/>
        </p:nvSpPr>
        <p:spPr>
          <a:xfrm>
            <a:off x="877824" y="4663440"/>
            <a:ext cx="283464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RESULT AT 0.65</a:t>
            </a:r>
            <a:endParaRPr lang="en-US" sz="950" dirty="0"/>
          </a:p>
        </p:txBody>
      </p:sp>
      <p:sp>
        <p:nvSpPr>
          <p:cNvPr id="40" name="Text 38"/>
          <p:cNvSpPr txBox="1"/>
          <p:nvPr/>
        </p:nvSpPr>
        <p:spPr>
          <a:xfrm>
            <a:off x="877824" y="4901184"/>
            <a:ext cx="1005840" cy="475488"/>
          </a:xfrm>
          <a:prstGeom prst="rect">
            <a:avLst/>
          </a:prstGeom>
          <a:noFill/>
          <a:ln/>
        </p:spPr>
        <p:txBody>
          <a:bodyPr wrap="square" lIns="0" tIns="0" rIns="0" bIns="0" rtlCol="0" anchor="ctr"/>
          <a:lstStyle/>
          <a:p>
            <a:pPr indent="0" marL="0">
              <a:buNone/>
            </a:pPr>
            <a:r>
              <a:rPr lang="en-US" sz="2200" b="1" dirty="0">
                <a:solidFill>
                  <a:srgbClr val="6F9C8A"/>
                </a:solidFill>
                <a:latin typeface="Arial" pitchFamily="34" charset="0"/>
                <a:ea typeface="Arial" pitchFamily="34" charset="-122"/>
                <a:cs typeface="Arial" pitchFamily="34" charset="-120"/>
              </a:rPr>
              <a:t>0 / 8</a:t>
            </a:r>
            <a:endParaRPr lang="en-US" sz="2200" dirty="0"/>
          </a:p>
        </p:txBody>
      </p:sp>
      <p:sp>
        <p:nvSpPr>
          <p:cNvPr id="41" name="Text 39"/>
          <p:cNvSpPr txBox="1"/>
          <p:nvPr/>
        </p:nvSpPr>
        <p:spPr>
          <a:xfrm>
            <a:off x="1956816" y="4901184"/>
            <a:ext cx="1828800" cy="475488"/>
          </a:xfrm>
          <a:prstGeom prst="rect">
            <a:avLst/>
          </a:prstGeom>
          <a:noFill/>
          <a:ln/>
        </p:spPr>
        <p:txBody>
          <a:bodyPr wrap="square" lIns="0" tIns="0" rIns="0" bIns="0" rtlCol="0" anchor="ctr"/>
          <a:lstStyle/>
          <a:p>
            <a:pPr algn="l" indent="0" marL="0">
              <a:lnSpc>
                <a:spcPct val="106000"/>
              </a:lnSpc>
              <a:buNone/>
            </a:pPr>
            <a:r>
              <a:rPr lang="en-US" sz="950" dirty="0">
                <a:solidFill>
                  <a:srgbClr val="8CA096"/>
                </a:solidFill>
                <a:latin typeface="Calibri" pitchFamily="34" charset="0"/>
                <a:ea typeface="Calibri" pitchFamily="34" charset="-122"/>
                <a:cs typeface="Calibri" pitchFamily="34" charset="-120"/>
              </a:rPr>
              <a:t>out-of-corpus questions</a:t>
            </a:r>
            <a:endParaRPr lang="en-US" sz="950" dirty="0"/>
          </a:p>
          <a:p>
            <a:pPr algn="l" indent="0" marL="0">
              <a:lnSpc>
                <a:spcPct val="106000"/>
              </a:lnSpc>
              <a:buNone/>
            </a:pPr>
            <a:r>
              <a:rPr lang="en-US" sz="950" dirty="0">
                <a:solidFill>
                  <a:srgbClr val="8CA096"/>
                </a:solidFill>
                <a:latin typeface="Calibri" pitchFamily="34" charset="0"/>
                <a:ea typeface="Calibri" pitchFamily="34" charset="-122"/>
                <a:cs typeface="Calibri" pitchFamily="34" charset="-120"/>
              </a:rPr>
              <a:t>answered</a:t>
            </a:r>
            <a:endParaRPr lang="en-US" sz="950" dirty="0"/>
          </a:p>
        </p:txBody>
      </p:sp>
      <p:sp>
        <p:nvSpPr>
          <p:cNvPr id="42" name="Text 40"/>
          <p:cNvSpPr txBox="1"/>
          <p:nvPr/>
        </p:nvSpPr>
        <p:spPr>
          <a:xfrm>
            <a:off x="877824" y="5449824"/>
            <a:ext cx="1005840" cy="475488"/>
          </a:xfrm>
          <a:prstGeom prst="rect">
            <a:avLst/>
          </a:prstGeom>
          <a:noFill/>
          <a:ln/>
        </p:spPr>
        <p:txBody>
          <a:bodyPr wrap="square" lIns="0" tIns="0" rIns="0" bIns="0" rtlCol="0" anchor="ctr"/>
          <a:lstStyle/>
          <a:p>
            <a:pPr indent="0" marL="0">
              <a:buNone/>
            </a:pPr>
            <a:r>
              <a:rPr lang="en-US" sz="2200" b="1" dirty="0">
                <a:solidFill>
                  <a:srgbClr val="6F9C8A"/>
                </a:solidFill>
                <a:latin typeface="Arial" pitchFamily="34" charset="0"/>
                <a:ea typeface="Arial" pitchFamily="34" charset="-122"/>
                <a:cs typeface="Arial" pitchFamily="34" charset="-120"/>
              </a:rPr>
              <a:t>0 / 10</a:t>
            </a:r>
            <a:endParaRPr lang="en-US" sz="2200" dirty="0"/>
          </a:p>
        </p:txBody>
      </p:sp>
      <p:sp>
        <p:nvSpPr>
          <p:cNvPr id="43" name="Text 41"/>
          <p:cNvSpPr txBox="1"/>
          <p:nvPr/>
        </p:nvSpPr>
        <p:spPr>
          <a:xfrm>
            <a:off x="1956816" y="5449824"/>
            <a:ext cx="1828800" cy="475488"/>
          </a:xfrm>
          <a:prstGeom prst="rect">
            <a:avLst/>
          </a:prstGeom>
          <a:noFill/>
          <a:ln/>
        </p:spPr>
        <p:txBody>
          <a:bodyPr wrap="square" lIns="0" tIns="0" rIns="0" bIns="0" rtlCol="0" anchor="ctr"/>
          <a:lstStyle/>
          <a:p>
            <a:pPr algn="l" indent="0" marL="0">
              <a:lnSpc>
                <a:spcPct val="106000"/>
              </a:lnSpc>
              <a:buNone/>
            </a:pPr>
            <a:r>
              <a:rPr lang="en-US" sz="950" dirty="0">
                <a:solidFill>
                  <a:srgbClr val="8CA096"/>
                </a:solidFill>
                <a:latin typeface="Calibri" pitchFamily="34" charset="0"/>
                <a:ea typeface="Calibri" pitchFamily="34" charset="-122"/>
                <a:cs typeface="Calibri" pitchFamily="34" charset="-120"/>
              </a:rPr>
              <a:t>in-corpus questions</a:t>
            </a:r>
            <a:endParaRPr lang="en-US" sz="950" dirty="0"/>
          </a:p>
          <a:p>
            <a:pPr algn="l" indent="0" marL="0">
              <a:lnSpc>
                <a:spcPct val="106000"/>
              </a:lnSpc>
              <a:buNone/>
            </a:pPr>
            <a:r>
              <a:rPr lang="en-US" sz="950" dirty="0">
                <a:solidFill>
                  <a:srgbClr val="8CA096"/>
                </a:solidFill>
                <a:latin typeface="Calibri" pitchFamily="34" charset="0"/>
                <a:ea typeface="Calibri" pitchFamily="34" charset="-122"/>
                <a:cs typeface="Calibri" pitchFamily="34" charset="-120"/>
              </a:rPr>
              <a:t>refused</a:t>
            </a:r>
            <a:endParaRPr lang="en-US" sz="950" dirty="0"/>
          </a:p>
        </p:txBody>
      </p:sp>
      <p:sp>
        <p:nvSpPr>
          <p:cNvPr id="44" name="Shape 42"/>
          <p:cNvSpPr/>
          <p:nvPr/>
        </p:nvSpPr>
        <p:spPr>
          <a:xfrm>
            <a:off x="4224528" y="4535424"/>
            <a:ext cx="3529584" cy="1499616"/>
          </a:xfrm>
          <a:prstGeom prst="roundRect">
            <a:avLst>
              <a:gd name="adj" fmla="val 9756"/>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45" name="Text 43"/>
          <p:cNvSpPr txBox="1"/>
          <p:nvPr/>
        </p:nvSpPr>
        <p:spPr>
          <a:xfrm>
            <a:off x="4443984" y="4663440"/>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E8705C"/>
                </a:solidFill>
                <a:latin typeface="Calibri" pitchFamily="34" charset="0"/>
                <a:ea typeface="Calibri" pitchFamily="34" charset="-122"/>
                <a:cs typeface="Calibri" pitchFamily="34" charset="-120"/>
              </a:rPr>
              <a:t>First answer: 0.28</a:t>
            </a:r>
            <a:endParaRPr lang="en-US" sz="1200" dirty="0"/>
          </a:p>
        </p:txBody>
      </p:sp>
      <p:sp>
        <p:nvSpPr>
          <p:cNvPr id="46" name="Text 44"/>
          <p:cNvSpPr txBox="1"/>
          <p:nvPr/>
        </p:nvSpPr>
        <p:spPr>
          <a:xfrm>
            <a:off x="4443984" y="4919472"/>
            <a:ext cx="3090672" cy="1024128"/>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bge embeddings have a high similarity floor — unrelated text does not score near zero. 0.28 admitted everything, including “what is the capital of Mongolia”.</a:t>
            </a:r>
            <a:endParaRPr lang="en-US" sz="1050" dirty="0"/>
          </a:p>
        </p:txBody>
      </p:sp>
      <p:sp>
        <p:nvSpPr>
          <p:cNvPr id="47" name="Shape 45"/>
          <p:cNvSpPr/>
          <p:nvPr/>
        </p:nvSpPr>
        <p:spPr>
          <a:xfrm>
            <a:off x="7918704" y="4535424"/>
            <a:ext cx="3529584" cy="1499616"/>
          </a:xfrm>
          <a:prstGeom prst="roundRect">
            <a:avLst>
              <a:gd name="adj" fmla="val 9756"/>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48" name="Text 46"/>
          <p:cNvSpPr txBox="1"/>
          <p:nvPr/>
        </p:nvSpPr>
        <p:spPr>
          <a:xfrm>
            <a:off x="8138160" y="4663440"/>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E8705C"/>
                </a:solidFill>
                <a:latin typeface="Calibri" pitchFamily="34" charset="0"/>
                <a:ea typeface="Calibri" pitchFamily="34" charset="-122"/>
                <a:cs typeface="Calibri" pitchFamily="34" charset="-120"/>
              </a:rPr>
              <a:t>Second answer: 0.55</a:t>
            </a:r>
            <a:endParaRPr lang="en-US" sz="1200" dirty="0"/>
          </a:p>
        </p:txBody>
      </p:sp>
      <p:sp>
        <p:nvSpPr>
          <p:cNvPr id="49" name="Text 47"/>
          <p:cNvSpPr txBox="1"/>
          <p:nvPr/>
        </p:nvSpPr>
        <p:spPr>
          <a:xfrm>
            <a:off x="8138160" y="4919472"/>
            <a:ext cx="3090672" cy="1024128"/>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Derived from a three-document fixture. Against the real 1,057-chunk corpus it would have answered 3 of the 8 questions it should have refused, because a bigger corpus offers more chances for a spurious high match. “How do I train for a marathon” reaches 0.619.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THE COACHING MODEL</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000" b="1" dirty="0">
                <a:solidFill>
                  <a:srgbClr val="EFF2F1"/>
                </a:solidFill>
                <a:latin typeface="Arial" pitchFamily="34" charset="0"/>
                <a:ea typeface="Arial" pitchFamily="34" charset="-122"/>
                <a:cs typeface="Arial" pitchFamily="34" charset="-120"/>
              </a:rPr>
              <a:t>Train in the cloud at 16-bit. Serve on a laptop at </a:t>
            </a:r>
            <a:pPr indent="0" marL="0">
              <a:lnSpc>
                <a:spcPct val="103000"/>
              </a:lnSpc>
              <a:buNone/>
            </a:pPr>
            <a:r>
              <a:rPr lang="en-US" sz="3000" b="1" dirty="0">
                <a:solidFill>
                  <a:srgbClr val="F9BF29"/>
                </a:solidFill>
                <a:latin typeface="Arial" pitchFamily="34" charset="0"/>
                <a:ea typeface="Arial" pitchFamily="34" charset="-122"/>
                <a:cs typeface="Arial" pitchFamily="34" charset="-120"/>
              </a:rPr>
              <a:t>4-bit</a:t>
            </a:r>
            <a:pPr indent="0" marL="0">
              <a:lnSpc>
                <a:spcPct val="103000"/>
              </a:lnSpc>
              <a:buNone/>
            </a:pPr>
            <a:r>
              <a:rPr lang="en-US" sz="3000" b="1" dirty="0">
                <a:solidFill>
                  <a:srgbClr val="EFF2F1"/>
                </a:solidFill>
                <a:latin typeface="Arial" pitchFamily="34" charset="0"/>
                <a:ea typeface="Arial" pitchFamily="34" charset="-122"/>
                <a:cs typeface="Arial" pitchFamily="34" charset="-120"/>
              </a:rPr>
              <a:t>.</a:t>
            </a:r>
            <a:endParaRPr lang="en-US" sz="30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ml/finetuning/M8_README.md  ·  docs/PROJECT_PLAN.md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20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481328"/>
            <a:ext cx="969264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Qwen2.5-3B-Instruct. Every step below happened; the next slide is what it bought and what it cost.</a:t>
            </a:r>
            <a:endParaRPr lang="en-US" sz="1500" dirty="0"/>
          </a:p>
        </p:txBody>
      </p:sp>
      <p:sp>
        <p:nvSpPr>
          <p:cNvPr id="11" name="Shape 9"/>
          <p:cNvSpPr/>
          <p:nvPr/>
        </p:nvSpPr>
        <p:spPr>
          <a:xfrm>
            <a:off x="658368" y="2194560"/>
            <a:ext cx="2560320" cy="1792224"/>
          </a:xfrm>
          <a:prstGeom prst="roundRect">
            <a:avLst>
              <a:gd name="adj" fmla="val 8163"/>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2578608" y="2322576"/>
            <a:ext cx="457200" cy="201168"/>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M6</a:t>
            </a:r>
            <a:endParaRPr lang="en-US" sz="900" dirty="0"/>
          </a:p>
        </p:txBody>
      </p:sp>
      <p:sp>
        <p:nvSpPr>
          <p:cNvPr id="13" name="Text 11"/>
          <p:cNvSpPr txBox="1"/>
          <p:nvPr/>
        </p:nvSpPr>
        <p:spPr>
          <a:xfrm>
            <a:off x="859536" y="2304288"/>
            <a:ext cx="1920240" cy="274320"/>
          </a:xfrm>
          <a:prstGeom prst="rect">
            <a:avLst/>
          </a:prstGeom>
          <a:noFill/>
          <a:ln/>
        </p:spPr>
        <p:txBody>
          <a:bodyPr wrap="square" lIns="0" tIns="0" rIns="0" bIns="0" rtlCol="0" anchor="t"/>
          <a:lstStyle/>
          <a:p>
            <a:pPr algn="l" indent="0" marL="0">
              <a:lnSpc>
                <a:spcPct val="120000"/>
              </a:lnSpc>
              <a:buNone/>
            </a:pPr>
            <a:r>
              <a:rPr lang="en-US" sz="1400" b="1" dirty="0">
                <a:solidFill>
                  <a:srgbClr val="EFF2F1"/>
                </a:solidFill>
                <a:latin typeface="Calibri" pitchFamily="34" charset="0"/>
                <a:ea typeface="Calibri" pitchFamily="34" charset="-122"/>
                <a:cs typeface="Calibri" pitchFamily="34" charset="-120"/>
              </a:rPr>
              <a:t>400 pairs</a:t>
            </a:r>
            <a:endParaRPr lang="en-US" sz="1400" dirty="0"/>
          </a:p>
        </p:txBody>
      </p:sp>
      <p:sp>
        <p:nvSpPr>
          <p:cNvPr id="14" name="Text 12"/>
          <p:cNvSpPr txBox="1"/>
          <p:nvPr/>
        </p:nvSpPr>
        <p:spPr>
          <a:xfrm>
            <a:off x="859536" y="2633472"/>
            <a:ext cx="2157984" cy="124358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Coaching instruction pairs generated from the corpus by a local model, then filtered by a heuristic pass and a strict 5-point LLM-judge rubric. 833 attempted, 433 rejected — 48% accepted.</a:t>
            </a:r>
            <a:endParaRPr lang="en-US" sz="1000" dirty="0"/>
          </a:p>
        </p:txBody>
      </p:sp>
      <p:sp>
        <p:nvSpPr>
          <p:cNvPr id="15" name="Shape 13"/>
          <p:cNvSpPr/>
          <p:nvPr/>
        </p:nvSpPr>
        <p:spPr>
          <a:xfrm>
            <a:off x="3236976" y="3090672"/>
            <a:ext cx="146304" cy="0"/>
          </a:xfrm>
          <a:prstGeom prst="line">
            <a:avLst/>
          </a:prstGeom>
          <a:noFill/>
          <a:ln w="15875">
            <a:solidFill>
              <a:srgbClr val="33463D"/>
            </a:solidFill>
            <a:prstDash val="solid"/>
            <a:tailEnd type="triangle"/>
          </a:ln>
        </p:spPr>
      </p:sp>
      <p:sp>
        <p:nvSpPr>
          <p:cNvPr id="16" name="Shape 14"/>
          <p:cNvSpPr/>
          <p:nvPr/>
        </p:nvSpPr>
        <p:spPr>
          <a:xfrm>
            <a:off x="3401568" y="2194560"/>
            <a:ext cx="2560320" cy="1792224"/>
          </a:xfrm>
          <a:prstGeom prst="roundRect">
            <a:avLst>
              <a:gd name="adj" fmla="val 8163"/>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7" name="Text 15"/>
          <p:cNvSpPr txBox="1"/>
          <p:nvPr/>
        </p:nvSpPr>
        <p:spPr>
          <a:xfrm>
            <a:off x="5321808" y="2322576"/>
            <a:ext cx="457200" cy="201168"/>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M7</a:t>
            </a:r>
            <a:endParaRPr lang="en-US" sz="900" dirty="0"/>
          </a:p>
        </p:txBody>
      </p:sp>
      <p:sp>
        <p:nvSpPr>
          <p:cNvPr id="18" name="Text 16"/>
          <p:cNvSpPr txBox="1"/>
          <p:nvPr/>
        </p:nvSpPr>
        <p:spPr>
          <a:xfrm>
            <a:off x="3602736" y="2304288"/>
            <a:ext cx="1920240" cy="274320"/>
          </a:xfrm>
          <a:prstGeom prst="rect">
            <a:avLst/>
          </a:prstGeom>
          <a:noFill/>
          <a:ln/>
        </p:spPr>
        <p:txBody>
          <a:bodyPr wrap="square" lIns="0" tIns="0" rIns="0" bIns="0" rtlCol="0" anchor="t"/>
          <a:lstStyle/>
          <a:p>
            <a:pPr algn="l" indent="0" marL="0">
              <a:lnSpc>
                <a:spcPct val="120000"/>
              </a:lnSpc>
              <a:buNone/>
            </a:pPr>
            <a:r>
              <a:rPr lang="en-US" sz="1400" b="1" dirty="0">
                <a:solidFill>
                  <a:srgbClr val="EFF2F1"/>
                </a:solidFill>
                <a:latin typeface="Calibri" pitchFamily="34" charset="0"/>
                <a:ea typeface="Calibri" pitchFamily="34" charset="-122"/>
                <a:cs typeface="Calibri" pitchFamily="34" charset="-120"/>
              </a:rPr>
              <a:t>QLoRA</a:t>
            </a:r>
            <a:endParaRPr lang="en-US" sz="1400" dirty="0"/>
          </a:p>
        </p:txBody>
      </p:sp>
      <p:sp>
        <p:nvSpPr>
          <p:cNvPr id="19" name="Text 17"/>
          <p:cNvSpPr txBox="1"/>
          <p:nvPr/>
        </p:nvSpPr>
        <p:spPr>
          <a:xfrm>
            <a:off x="3602736" y="2633472"/>
            <a:ext cx="2157984" cy="124358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Rank 16, alpha 32, 4-bit NF4 base, 3 epochs, on a Colab T4. Adapters train; the base weights stay frozen, so a 3B fine-tune fits on free hardware.</a:t>
            </a:r>
            <a:endParaRPr lang="en-US" sz="1000" dirty="0"/>
          </a:p>
        </p:txBody>
      </p:sp>
      <p:sp>
        <p:nvSpPr>
          <p:cNvPr id="20" name="Shape 18"/>
          <p:cNvSpPr/>
          <p:nvPr/>
        </p:nvSpPr>
        <p:spPr>
          <a:xfrm>
            <a:off x="5980176" y="3090672"/>
            <a:ext cx="146304" cy="0"/>
          </a:xfrm>
          <a:prstGeom prst="line">
            <a:avLst/>
          </a:prstGeom>
          <a:noFill/>
          <a:ln w="15875">
            <a:solidFill>
              <a:srgbClr val="33463D"/>
            </a:solidFill>
            <a:prstDash val="solid"/>
            <a:tailEnd type="triangle"/>
          </a:ln>
        </p:spPr>
      </p:sp>
      <p:sp>
        <p:nvSpPr>
          <p:cNvPr id="21" name="Shape 19"/>
          <p:cNvSpPr/>
          <p:nvPr/>
        </p:nvSpPr>
        <p:spPr>
          <a:xfrm>
            <a:off x="6144768" y="2194560"/>
            <a:ext cx="2560320" cy="1792224"/>
          </a:xfrm>
          <a:prstGeom prst="roundRect">
            <a:avLst>
              <a:gd name="adj" fmla="val 8163"/>
            </a:avLst>
          </a:prstGeom>
          <a:solidFill>
            <a:srgbClr val="141D19">
              <a:alpha val="7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22" name="Text 20"/>
          <p:cNvSpPr txBox="1"/>
          <p:nvPr/>
        </p:nvSpPr>
        <p:spPr>
          <a:xfrm>
            <a:off x="8065008" y="2322576"/>
            <a:ext cx="457200" cy="201168"/>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M8</a:t>
            </a:r>
            <a:endParaRPr lang="en-US" sz="900" dirty="0"/>
          </a:p>
        </p:txBody>
      </p:sp>
      <p:sp>
        <p:nvSpPr>
          <p:cNvPr id="23" name="Text 21"/>
          <p:cNvSpPr txBox="1"/>
          <p:nvPr/>
        </p:nvSpPr>
        <p:spPr>
          <a:xfrm>
            <a:off x="6345936" y="2304288"/>
            <a:ext cx="1920240" cy="274320"/>
          </a:xfrm>
          <a:prstGeom prst="rect">
            <a:avLst/>
          </a:prstGeom>
          <a:noFill/>
          <a:ln/>
        </p:spPr>
        <p:txBody>
          <a:bodyPr wrap="square" lIns="0" tIns="0" rIns="0" bIns="0" rtlCol="0" anchor="t"/>
          <a:lstStyle/>
          <a:p>
            <a:pPr algn="l" indent="0" marL="0">
              <a:lnSpc>
                <a:spcPct val="120000"/>
              </a:lnSpc>
              <a:buNone/>
            </a:pPr>
            <a:r>
              <a:rPr lang="en-US" sz="1400" b="1" dirty="0">
                <a:solidFill>
                  <a:srgbClr val="F9BF29"/>
                </a:solidFill>
                <a:latin typeface="Calibri" pitchFamily="34" charset="0"/>
                <a:ea typeface="Calibri" pitchFamily="34" charset="-122"/>
                <a:cs typeface="Calibri" pitchFamily="34" charset="-120"/>
              </a:rPr>
              <a:t>Merge → GGUF</a:t>
            </a:r>
            <a:endParaRPr lang="en-US" sz="1400" dirty="0"/>
          </a:p>
        </p:txBody>
      </p:sp>
      <p:sp>
        <p:nvSpPr>
          <p:cNvPr id="24" name="Text 22"/>
          <p:cNvSpPr txBox="1"/>
          <p:nvPr/>
        </p:nvSpPr>
        <p:spPr>
          <a:xfrm>
            <a:off x="6345936" y="2633472"/>
            <a:ext cx="2157984" cy="124358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The adapter is merged back into the base weights, converted to GGUF at f16, then quantized to Q4_K_M.</a:t>
            </a:r>
            <a:endParaRPr lang="en-US" sz="1000" dirty="0"/>
          </a:p>
        </p:txBody>
      </p:sp>
      <p:sp>
        <p:nvSpPr>
          <p:cNvPr id="25" name="Shape 23"/>
          <p:cNvSpPr/>
          <p:nvPr/>
        </p:nvSpPr>
        <p:spPr>
          <a:xfrm>
            <a:off x="8723376" y="3090672"/>
            <a:ext cx="146304" cy="0"/>
          </a:xfrm>
          <a:prstGeom prst="line">
            <a:avLst/>
          </a:prstGeom>
          <a:noFill/>
          <a:ln w="15875">
            <a:solidFill>
              <a:srgbClr val="33463D"/>
            </a:solidFill>
            <a:prstDash val="solid"/>
            <a:tailEnd type="triangle"/>
          </a:ln>
        </p:spPr>
      </p:sp>
      <p:sp>
        <p:nvSpPr>
          <p:cNvPr id="26" name="Shape 24"/>
          <p:cNvSpPr/>
          <p:nvPr/>
        </p:nvSpPr>
        <p:spPr>
          <a:xfrm>
            <a:off x="8887968" y="2194560"/>
            <a:ext cx="2560320" cy="1792224"/>
          </a:xfrm>
          <a:prstGeom prst="roundRect">
            <a:avLst>
              <a:gd name="adj" fmla="val 8163"/>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7" name="Text 25"/>
          <p:cNvSpPr txBox="1"/>
          <p:nvPr/>
        </p:nvSpPr>
        <p:spPr>
          <a:xfrm>
            <a:off x="10808208" y="2322576"/>
            <a:ext cx="457200" cy="201168"/>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M8</a:t>
            </a:r>
            <a:endParaRPr lang="en-US" sz="900" dirty="0"/>
          </a:p>
        </p:txBody>
      </p:sp>
      <p:sp>
        <p:nvSpPr>
          <p:cNvPr id="28" name="Text 26"/>
          <p:cNvSpPr txBox="1"/>
          <p:nvPr/>
        </p:nvSpPr>
        <p:spPr>
          <a:xfrm>
            <a:off x="9089136" y="2304288"/>
            <a:ext cx="1920240" cy="274320"/>
          </a:xfrm>
          <a:prstGeom prst="rect">
            <a:avLst/>
          </a:prstGeom>
          <a:noFill/>
          <a:ln/>
        </p:spPr>
        <p:txBody>
          <a:bodyPr wrap="square" lIns="0" tIns="0" rIns="0" bIns="0" rtlCol="0" anchor="t"/>
          <a:lstStyle/>
          <a:p>
            <a:pPr algn="l" indent="0" marL="0">
              <a:lnSpc>
                <a:spcPct val="120000"/>
              </a:lnSpc>
              <a:buNone/>
            </a:pPr>
            <a:r>
              <a:rPr lang="en-US" sz="1400" b="1" dirty="0">
                <a:solidFill>
                  <a:srgbClr val="EFF2F1"/>
                </a:solidFill>
                <a:latin typeface="Calibri" pitchFamily="34" charset="0"/>
                <a:ea typeface="Calibri" pitchFamily="34" charset="-122"/>
                <a:cs typeface="Calibri" pitchFamily="34" charset="-120"/>
              </a:rPr>
              <a:t>llama-server</a:t>
            </a:r>
            <a:endParaRPr lang="en-US" sz="1400" dirty="0"/>
          </a:p>
        </p:txBody>
      </p:sp>
      <p:sp>
        <p:nvSpPr>
          <p:cNvPr id="29" name="Text 27"/>
          <p:cNvSpPr txBox="1"/>
          <p:nvPr/>
        </p:nvSpPr>
        <p:spPr>
          <a:xfrm>
            <a:off x="9089136" y="2633472"/>
            <a:ext cx="2157984" cy="124358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Serves it over an OpenAI-compatible HTTP endpoint. The application talks to that and nothing else.</a:t>
            </a:r>
            <a:endParaRPr lang="en-US" sz="1000" dirty="0"/>
          </a:p>
        </p:txBody>
      </p:sp>
      <p:sp>
        <p:nvSpPr>
          <p:cNvPr id="30" name="Shape 28"/>
          <p:cNvSpPr/>
          <p:nvPr/>
        </p:nvSpPr>
        <p:spPr>
          <a:xfrm>
            <a:off x="658368" y="4133088"/>
            <a:ext cx="5321808" cy="1901952"/>
          </a:xfrm>
          <a:prstGeom prst="roundRect">
            <a:avLst>
              <a:gd name="adj" fmla="val 7692"/>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31" name="Text 29"/>
          <p:cNvSpPr txBox="1"/>
          <p:nvPr/>
        </p:nvSpPr>
        <p:spPr>
          <a:xfrm>
            <a:off x="914400" y="4279392"/>
            <a:ext cx="457200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WHAT QUANTIZATION BOUGHT</a:t>
            </a:r>
            <a:endParaRPr lang="en-US" sz="950" dirty="0"/>
          </a:p>
        </p:txBody>
      </p:sp>
      <p:sp>
        <p:nvSpPr>
          <p:cNvPr id="32" name="Text 30"/>
          <p:cNvSpPr txBox="1"/>
          <p:nvPr/>
        </p:nvSpPr>
        <p:spPr>
          <a:xfrm>
            <a:off x="914400" y="4535424"/>
            <a:ext cx="4809744" cy="420624"/>
          </a:xfrm>
          <a:prstGeom prst="rect">
            <a:avLst/>
          </a:prstGeom>
          <a:noFill/>
          <a:ln/>
        </p:spPr>
        <p:txBody>
          <a:bodyPr wrap="square" lIns="0" tIns="0" rIns="0" bIns="0" rtlCol="0" anchor="t"/>
          <a:lstStyle/>
          <a:p>
            <a:pPr algn="l" indent="0" marL="0">
              <a:lnSpc>
                <a:spcPct val="115000"/>
              </a:lnSpc>
              <a:buNone/>
            </a:pPr>
            <a:r>
              <a:rPr lang="en-US" sz="1150" dirty="0">
                <a:solidFill>
                  <a:srgbClr val="8CA096"/>
                </a:solidFill>
                <a:latin typeface="Calibri" pitchFamily="34" charset="0"/>
                <a:ea typeface="Calibri" pitchFamily="34" charset="-122"/>
                <a:cs typeface="Calibri" pitchFamily="34" charset="-120"/>
              </a:rPr>
              <a:t>Fewer bits per weight. The model stops being a thing that needs a datacentre and becomes a file you can ship.</a:t>
            </a:r>
            <a:endParaRPr lang="en-US" sz="1150" dirty="0"/>
          </a:p>
        </p:txBody>
      </p:sp>
      <p:sp>
        <p:nvSpPr>
          <p:cNvPr id="33" name="Shape 31"/>
          <p:cNvSpPr/>
          <p:nvPr/>
        </p:nvSpPr>
        <p:spPr>
          <a:xfrm>
            <a:off x="914400" y="5047488"/>
            <a:ext cx="4809744" cy="237744"/>
          </a:xfrm>
          <a:prstGeom prst="roundRect">
            <a:avLst>
              <a:gd name="adj" fmla="val 26923"/>
            </a:avLst>
          </a:prstGeom>
          <a:solidFill>
            <a:srgbClr val="33463D">
              <a:alpha val="60000"/>
            </a:srgbClr>
          </a:solidFill>
          <a:ln/>
        </p:spPr>
      </p:sp>
      <p:sp>
        <p:nvSpPr>
          <p:cNvPr id="34" name="Text 32"/>
          <p:cNvSpPr txBox="1"/>
          <p:nvPr/>
        </p:nvSpPr>
        <p:spPr>
          <a:xfrm>
            <a:off x="914400" y="5047488"/>
            <a:ext cx="4809744" cy="237744"/>
          </a:xfrm>
          <a:prstGeom prst="rect">
            <a:avLst/>
          </a:prstGeom>
          <a:noFill/>
          <a:ln/>
        </p:spPr>
        <p:txBody>
          <a:bodyPr wrap="square" lIns="0" tIns="0" rIns="0" bIns="0" rtlCol="0" anchor="ctr"/>
          <a:lstStyle/>
          <a:p>
            <a:pPr algn="l" indent="0" marL="0">
              <a:buNone/>
            </a:pPr>
            <a:r>
              <a:rPr lang="en-US" sz="1000" dirty="0">
                <a:solidFill>
                  <a:srgbClr val="DCE5E4"/>
                </a:solidFill>
                <a:latin typeface="Courier New" pitchFamily="34" charset="0"/>
                <a:ea typeface="Courier New" pitchFamily="34" charset="-122"/>
                <a:cs typeface="Courier New" pitchFamily="34" charset="-120"/>
              </a:rPr>
              <a:t>  f16   5886 MB</a:t>
            </a:r>
            <a:endParaRPr lang="en-US" sz="1000" dirty="0"/>
          </a:p>
        </p:txBody>
      </p:sp>
      <p:sp>
        <p:nvSpPr>
          <p:cNvPr id="35" name="Shape 33"/>
          <p:cNvSpPr/>
          <p:nvPr/>
        </p:nvSpPr>
        <p:spPr>
          <a:xfrm>
            <a:off x="914400" y="5358384"/>
            <a:ext cx="1499470" cy="237744"/>
          </a:xfrm>
          <a:prstGeom prst="roundRect">
            <a:avLst>
              <a:gd name="adj" fmla="val 26923"/>
            </a:avLst>
          </a:prstGeom>
          <a:solidFill>
            <a:srgbClr val="F9BF29"/>
          </a:solidFill>
          <a:ln/>
        </p:spPr>
      </p:sp>
      <p:sp>
        <p:nvSpPr>
          <p:cNvPr id="36" name="Text 34"/>
          <p:cNvSpPr txBox="1"/>
          <p:nvPr/>
        </p:nvSpPr>
        <p:spPr>
          <a:xfrm>
            <a:off x="914400" y="5358384"/>
            <a:ext cx="4809744" cy="237744"/>
          </a:xfrm>
          <a:prstGeom prst="rect">
            <a:avLst/>
          </a:prstGeom>
          <a:noFill/>
          <a:ln/>
        </p:spPr>
        <p:txBody>
          <a:bodyPr wrap="square" lIns="0" tIns="0" rIns="0" bIns="0" rtlCol="0" anchor="ctr"/>
          <a:lstStyle/>
          <a:p>
            <a:pPr algn="l" indent="0" marL="0">
              <a:buNone/>
            </a:pPr>
            <a:r>
              <a:rPr lang="en-US" sz="1000" b="1" dirty="0">
                <a:solidFill>
                  <a:srgbClr val="0A0F0D"/>
                </a:solidFill>
                <a:latin typeface="Courier New" pitchFamily="34" charset="0"/>
                <a:ea typeface="Courier New" pitchFamily="34" charset="-122"/>
                <a:cs typeface="Courier New" pitchFamily="34" charset="-120"/>
              </a:rPr>
              <a:t>  Q4_K_M   1835 MB</a:t>
            </a:r>
            <a:endParaRPr lang="en-US" sz="1000" dirty="0"/>
          </a:p>
        </p:txBody>
      </p:sp>
      <p:sp>
        <p:nvSpPr>
          <p:cNvPr id="37" name="Text 35"/>
          <p:cNvSpPr txBox="1"/>
          <p:nvPr/>
        </p:nvSpPr>
        <p:spPr>
          <a:xfrm>
            <a:off x="914400" y="5687568"/>
            <a:ext cx="4809744" cy="219456"/>
          </a:xfrm>
          <a:prstGeom prst="rect">
            <a:avLst/>
          </a:prstGeom>
          <a:noFill/>
          <a:ln/>
        </p:spPr>
        <p:txBody>
          <a:bodyPr wrap="square" lIns="0" tIns="0" rIns="0" bIns="0" rtlCol="0" anchor="ctr"/>
          <a:lstStyle/>
          <a:p>
            <a:pPr algn="l" indent="0" marL="0">
              <a:buNone/>
            </a:pPr>
            <a:r>
              <a:rPr lang="en-US" sz="850" dirty="0">
                <a:solidFill>
                  <a:srgbClr val="8CA096"/>
                </a:solidFill>
                <a:latin typeface="Courier New" pitchFamily="34" charset="0"/>
                <a:ea typeface="Courier New" pitchFamily="34" charset="-122"/>
                <a:cs typeface="Courier New" pitchFamily="34" charset="-120"/>
              </a:rPr>
              <a:t>3.20× smaller · 69/20 tok/s · 660 ms TTFT · 3.33 GB RSS</a:t>
            </a:r>
            <a:endParaRPr lang="en-US" sz="850" dirty="0"/>
          </a:p>
        </p:txBody>
      </p:sp>
      <p:sp>
        <p:nvSpPr>
          <p:cNvPr id="38" name="Shape 36"/>
          <p:cNvSpPr/>
          <p:nvPr/>
        </p:nvSpPr>
        <p:spPr>
          <a:xfrm>
            <a:off x="6208776" y="4133088"/>
            <a:ext cx="5321808" cy="1901952"/>
          </a:xfrm>
          <a:prstGeom prst="roundRect">
            <a:avLst>
              <a:gd name="adj" fmla="val 7692"/>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9" name="Text 37"/>
          <p:cNvSpPr txBox="1"/>
          <p:nvPr/>
        </p:nvSpPr>
        <p:spPr>
          <a:xfrm>
            <a:off x="6464808" y="4279392"/>
            <a:ext cx="475488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WHY LLAMA.CPP AND NOT BITSANDBYTES</a:t>
            </a:r>
            <a:endParaRPr lang="en-US" sz="950" dirty="0"/>
          </a:p>
        </p:txBody>
      </p:sp>
      <p:sp>
        <p:nvSpPr>
          <p:cNvPr id="40" name="Text 38"/>
          <p:cNvSpPr txBox="1"/>
          <p:nvPr/>
        </p:nvSpPr>
        <p:spPr>
          <a:xfrm>
            <a:off x="6464808" y="4553712"/>
            <a:ext cx="4809744" cy="786384"/>
          </a:xfrm>
          <a:prstGeom prst="rect">
            <a:avLst/>
          </a:prstGeom>
          <a:noFill/>
          <a:ln/>
        </p:spPr>
        <p:txBody>
          <a:bodyPr wrap="square" lIns="0" tIns="0" rIns="0" bIns="0" rtlCol="0" anchor="t"/>
          <a:lstStyle/>
          <a:p>
            <a:pPr algn="l" indent="0" marL="0">
              <a:lnSpc>
                <a:spcPct val="116000"/>
              </a:lnSpc>
              <a:buNone/>
            </a:pPr>
            <a:r>
              <a:rPr lang="en-US" sz="1150" dirty="0">
                <a:solidFill>
                  <a:srgbClr val="DCE5E4"/>
                </a:solidFill>
                <a:latin typeface="Calibri" pitchFamily="34" charset="0"/>
                <a:ea typeface="Calibri" pitchFamily="34" charset="-122"/>
                <a:cs typeface="Calibri" pitchFamily="34" charset="-120"/>
              </a:rPr>
              <a:t>Our GPU is an RTX 5050 Mobile — Blackwell, compute capability sm_120 — which needs CUDA 12.8+ and PyTorch 2.7 or newer. bitsandbytes support on sm_120 is the most fragile dependency in the stack.</a:t>
            </a:r>
            <a:endParaRPr lang="en-US" sz="1150" dirty="0"/>
          </a:p>
        </p:txBody>
      </p:sp>
      <p:sp>
        <p:nvSpPr>
          <p:cNvPr id="41" name="Text 39"/>
          <p:cNvSpPr txBox="1"/>
          <p:nvPr/>
        </p:nvSpPr>
        <p:spPr>
          <a:xfrm>
            <a:off x="6464808" y="5376672"/>
            <a:ext cx="4809744" cy="603504"/>
          </a:xfrm>
          <a:prstGeom prst="rect">
            <a:avLst/>
          </a:prstGeom>
          <a:noFill/>
          <a:ln/>
        </p:spPr>
        <p:txBody>
          <a:bodyPr wrap="square" lIns="0" tIns="0" rIns="0" bIns="0" rtlCol="0" anchor="t"/>
          <a:lstStyle/>
          <a:p>
            <a:pPr algn="l" indent="0" marL="0">
              <a:lnSpc>
                <a:spcPct val="115000"/>
              </a:lnSpc>
              <a:buNone/>
            </a:pPr>
            <a:r>
              <a:rPr lang="en-US" sz="1100" dirty="0">
                <a:solidFill>
                  <a:srgbClr val="8CA096"/>
                </a:solidFill>
                <a:latin typeface="Calibri" pitchFamily="34" charset="0"/>
                <a:ea typeface="Calibri" pitchFamily="34" charset="-122"/>
                <a:cs typeface="Calibri" pitchFamily="34" charset="-120"/>
              </a:rPr>
              <a:t>So we avoid it on the deployment machine entirely. Training happens in the cloud on T4 hardware, sm_75, where bitsandbytes is mature. The merged adapter becomes GGUF and llama.cpp serves it locally, and llama.cpp's Blackwell support is solid.</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BASE VS FINE-TUNED  ·  THE REQUIRED COMPARISON</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000" b="1" dirty="0">
                <a:solidFill>
                  <a:srgbClr val="EFF2F1"/>
                </a:solidFill>
                <a:latin typeface="Arial" pitchFamily="34" charset="0"/>
                <a:ea typeface="Arial" pitchFamily="34" charset="-122"/>
                <a:cs typeface="Arial" pitchFamily="34" charset="-120"/>
              </a:rPr>
              <a:t>The fine-tune improved style and </a:t>
            </a:r>
            <a:pPr indent="0" marL="0">
              <a:lnSpc>
                <a:spcPct val="103000"/>
              </a:lnSpc>
              <a:buNone/>
            </a:pPr>
            <a:r>
              <a:rPr lang="en-US" sz="3000" b="1" dirty="0">
                <a:solidFill>
                  <a:srgbClr val="F9BF29"/>
                </a:solidFill>
                <a:latin typeface="Arial" pitchFamily="34" charset="0"/>
                <a:ea typeface="Arial" pitchFamily="34" charset="-122"/>
                <a:cs typeface="Arial" pitchFamily="34" charset="-120"/>
              </a:rPr>
              <a:t>regressed safety</a:t>
            </a:r>
            <a:endParaRPr lang="en-US" sz="30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docs/M9_COMPARISON.md  ·  ml/evaluation/run_eval.py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21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463040"/>
            <a:ext cx="1042416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Both checkpoints quantized to Q4_K_M and served identically, so the only variable is the weights. Prompt a12-v5, 5 runs × 25 held-out cases, 125 generations per model. Contamination checked: zero exact overlaps with the training pairs.</a:t>
            </a:r>
            <a:endParaRPr lang="en-US" sz="1500" dirty="0"/>
          </a:p>
        </p:txBody>
      </p:sp>
      <p:sp>
        <p:nvSpPr>
          <p:cNvPr id="11" name="Shape 9"/>
          <p:cNvSpPr/>
          <p:nvPr/>
        </p:nvSpPr>
        <p:spPr>
          <a:xfrm>
            <a:off x="658368" y="2194560"/>
            <a:ext cx="6967728" cy="2432304"/>
          </a:xfrm>
          <a:prstGeom prst="roundRect">
            <a:avLst>
              <a:gd name="adj" fmla="val 6015"/>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14400" y="2322576"/>
            <a:ext cx="3108960" cy="201168"/>
          </a:xfrm>
          <a:prstGeom prst="rect">
            <a:avLst/>
          </a:prstGeom>
          <a:noFill/>
          <a:ln/>
        </p:spPr>
        <p:txBody>
          <a:bodyPr wrap="square" lIns="0" tIns="0" rIns="0" bIns="0" rtlCol="0" anchor="ctr"/>
          <a:lstStyle/>
          <a:p>
            <a:pPr algn="l" indent="0" marL="0">
              <a:buNone/>
            </a:pPr>
            <a:r>
              <a:rPr lang="en-US" sz="950" b="1" spc="180" kern="0" dirty="0">
                <a:solidFill>
                  <a:srgbClr val="5D7268"/>
                </a:solidFill>
                <a:latin typeface="Courier New" pitchFamily="34" charset="0"/>
                <a:ea typeface="Courier New" pitchFamily="34" charset="-122"/>
                <a:cs typeface="Courier New" pitchFamily="34" charset="-120"/>
              </a:rPr>
              <a:t>CHECK</a:t>
            </a:r>
            <a:endParaRPr lang="en-US" sz="950" dirty="0"/>
          </a:p>
        </p:txBody>
      </p:sp>
      <p:sp>
        <p:nvSpPr>
          <p:cNvPr id="13" name="Text 11"/>
          <p:cNvSpPr txBox="1"/>
          <p:nvPr/>
        </p:nvSpPr>
        <p:spPr>
          <a:xfrm>
            <a:off x="4315968" y="2322576"/>
            <a:ext cx="640080" cy="201168"/>
          </a:xfrm>
          <a:prstGeom prst="rect">
            <a:avLst/>
          </a:prstGeom>
          <a:noFill/>
          <a:ln/>
        </p:spPr>
        <p:txBody>
          <a:bodyPr wrap="square" lIns="0" tIns="0" rIns="0" bIns="0" rtlCol="0" anchor="ctr"/>
          <a:lstStyle/>
          <a:p>
            <a:pPr algn="r" indent="0" marL="0">
              <a:buNone/>
            </a:pPr>
            <a:r>
              <a:rPr lang="en-US" sz="950" b="1" spc="180" kern="0" dirty="0">
                <a:solidFill>
                  <a:srgbClr val="5D7268"/>
                </a:solidFill>
                <a:latin typeface="Courier New" pitchFamily="34" charset="0"/>
                <a:ea typeface="Courier New" pitchFamily="34" charset="-122"/>
                <a:cs typeface="Courier New" pitchFamily="34" charset="-120"/>
              </a:rPr>
              <a:t>BASE</a:t>
            </a:r>
            <a:endParaRPr lang="en-US" sz="950" dirty="0"/>
          </a:p>
        </p:txBody>
      </p:sp>
      <p:sp>
        <p:nvSpPr>
          <p:cNvPr id="14" name="Text 12"/>
          <p:cNvSpPr txBox="1"/>
          <p:nvPr/>
        </p:nvSpPr>
        <p:spPr>
          <a:xfrm>
            <a:off x="5102352" y="2322576"/>
            <a:ext cx="731520" cy="201168"/>
          </a:xfrm>
          <a:prstGeom prst="rect">
            <a:avLst/>
          </a:prstGeom>
          <a:noFill/>
          <a:ln/>
        </p:spPr>
        <p:txBody>
          <a:bodyPr wrap="square" lIns="0" tIns="0" rIns="0" bIns="0" rtlCol="0" anchor="ctr"/>
          <a:lstStyle/>
          <a:p>
            <a:pPr algn="r" indent="0" marL="0">
              <a:buNone/>
            </a:pPr>
            <a:r>
              <a:rPr lang="en-US" sz="950" b="1" spc="180" kern="0" dirty="0">
                <a:solidFill>
                  <a:srgbClr val="5D7268"/>
                </a:solidFill>
                <a:latin typeface="Courier New" pitchFamily="34" charset="0"/>
                <a:ea typeface="Courier New" pitchFamily="34" charset="-122"/>
                <a:cs typeface="Courier New" pitchFamily="34" charset="-120"/>
              </a:rPr>
              <a:t>TUNED</a:t>
            </a:r>
            <a:endParaRPr lang="en-US" sz="950" dirty="0"/>
          </a:p>
        </p:txBody>
      </p:sp>
      <p:sp>
        <p:nvSpPr>
          <p:cNvPr id="15" name="Text 13"/>
          <p:cNvSpPr txBox="1"/>
          <p:nvPr/>
        </p:nvSpPr>
        <p:spPr>
          <a:xfrm>
            <a:off x="6693408" y="2322576"/>
            <a:ext cx="640080" cy="201168"/>
          </a:xfrm>
          <a:prstGeom prst="rect">
            <a:avLst/>
          </a:prstGeom>
          <a:noFill/>
          <a:ln/>
        </p:spPr>
        <p:txBody>
          <a:bodyPr wrap="square" lIns="0" tIns="0" rIns="0" bIns="0" rtlCol="0" anchor="ctr"/>
          <a:lstStyle/>
          <a:p>
            <a:pPr algn="r" indent="0" marL="0">
              <a:buNone/>
            </a:pPr>
            <a:r>
              <a:rPr lang="en-US" sz="950" b="1" spc="180" kern="0" dirty="0">
                <a:solidFill>
                  <a:srgbClr val="5D7268"/>
                </a:solidFill>
                <a:latin typeface="Courier New" pitchFamily="34" charset="0"/>
                <a:ea typeface="Courier New" pitchFamily="34" charset="-122"/>
                <a:cs typeface="Courier New" pitchFamily="34" charset="-120"/>
              </a:rPr>
              <a:t>DELTA</a:t>
            </a:r>
            <a:endParaRPr lang="en-US" sz="950" dirty="0"/>
          </a:p>
        </p:txBody>
      </p:sp>
      <p:sp>
        <p:nvSpPr>
          <p:cNvPr id="16" name="Shape 14"/>
          <p:cNvSpPr/>
          <p:nvPr/>
        </p:nvSpPr>
        <p:spPr>
          <a:xfrm>
            <a:off x="914400" y="2578608"/>
            <a:ext cx="6455664" cy="0"/>
          </a:xfrm>
          <a:prstGeom prst="line">
            <a:avLst/>
          </a:prstGeom>
          <a:noFill/>
          <a:ln w="12700">
            <a:solidFill>
              <a:srgbClr val="33463D"/>
            </a:solidFill>
            <a:prstDash val="solid"/>
          </a:ln>
        </p:spPr>
      </p:sp>
      <p:sp>
        <p:nvSpPr>
          <p:cNvPr id="17" name="Text 15"/>
          <p:cNvSpPr txBox="1"/>
          <p:nvPr/>
        </p:nvSpPr>
        <p:spPr>
          <a:xfrm>
            <a:off x="914400" y="2688336"/>
            <a:ext cx="3346704" cy="237744"/>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Did not name the dysfluency unprompted</a:t>
            </a:r>
            <a:endParaRPr lang="en-US" sz="1050" dirty="0"/>
          </a:p>
        </p:txBody>
      </p:sp>
      <p:sp>
        <p:nvSpPr>
          <p:cNvPr id="18" name="Text 16"/>
          <p:cNvSpPr txBox="1"/>
          <p:nvPr/>
        </p:nvSpPr>
        <p:spPr>
          <a:xfrm>
            <a:off x="4279392" y="2688336"/>
            <a:ext cx="676656"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88%</a:t>
            </a:r>
            <a:endParaRPr lang="en-US" sz="1050" dirty="0"/>
          </a:p>
        </p:txBody>
      </p:sp>
      <p:sp>
        <p:nvSpPr>
          <p:cNvPr id="19" name="Text 17"/>
          <p:cNvSpPr txBox="1"/>
          <p:nvPr/>
        </p:nvSpPr>
        <p:spPr>
          <a:xfrm>
            <a:off x="5065776" y="2688336"/>
            <a:ext cx="768096" cy="237744"/>
          </a:xfrm>
          <a:prstGeom prst="rect">
            <a:avLst/>
          </a:prstGeom>
          <a:noFill/>
          <a:ln/>
        </p:spPr>
        <p:txBody>
          <a:bodyPr wrap="square" lIns="0" tIns="0" rIns="0" bIns="0" rtlCol="0" anchor="ctr"/>
          <a:lstStyle/>
          <a:p>
            <a:pPr algn="r" indent="0" marL="0">
              <a:buNone/>
            </a:pPr>
            <a:r>
              <a:rPr lang="en-US" sz="1050" b="1" dirty="0">
                <a:solidFill>
                  <a:srgbClr val="6F9C8A"/>
                </a:solidFill>
                <a:latin typeface="Courier New" pitchFamily="34" charset="0"/>
                <a:ea typeface="Courier New" pitchFamily="34" charset="-122"/>
                <a:cs typeface="Courier New" pitchFamily="34" charset="-120"/>
              </a:rPr>
              <a:t>97%</a:t>
            </a:r>
            <a:endParaRPr lang="en-US" sz="1050" dirty="0"/>
          </a:p>
        </p:txBody>
      </p:sp>
      <p:sp>
        <p:nvSpPr>
          <p:cNvPr id="20" name="Shape 18"/>
          <p:cNvSpPr/>
          <p:nvPr/>
        </p:nvSpPr>
        <p:spPr>
          <a:xfrm>
            <a:off x="6236208" y="2752344"/>
            <a:ext cx="246888" cy="118872"/>
          </a:xfrm>
          <a:prstGeom prst="roundRect">
            <a:avLst>
              <a:gd name="adj" fmla="val 23077"/>
            </a:avLst>
          </a:prstGeom>
          <a:solidFill>
            <a:srgbClr val="6F9C8A"/>
          </a:solidFill>
          <a:ln/>
        </p:spPr>
      </p:sp>
      <p:sp>
        <p:nvSpPr>
          <p:cNvPr id="21" name="Text 19"/>
          <p:cNvSpPr txBox="1"/>
          <p:nvPr/>
        </p:nvSpPr>
        <p:spPr>
          <a:xfrm>
            <a:off x="6656832" y="2688336"/>
            <a:ext cx="731520" cy="237744"/>
          </a:xfrm>
          <a:prstGeom prst="rect">
            <a:avLst/>
          </a:prstGeom>
          <a:noFill/>
          <a:ln/>
        </p:spPr>
        <p:txBody>
          <a:bodyPr wrap="square" lIns="0" tIns="0" rIns="0" bIns="0" rtlCol="0" anchor="ctr"/>
          <a:lstStyle/>
          <a:p>
            <a:pPr algn="r" indent="0" marL="0">
              <a:buNone/>
            </a:pPr>
            <a:r>
              <a:rPr lang="en-US" sz="1000" dirty="0">
                <a:solidFill>
                  <a:srgbClr val="6F9C8A"/>
                </a:solidFill>
                <a:latin typeface="Courier New" pitchFamily="34" charset="0"/>
                <a:ea typeface="Courier New" pitchFamily="34" charset="-122"/>
                <a:cs typeface="Courier New" pitchFamily="34" charset="-120"/>
              </a:rPr>
              <a:t>+9</a:t>
            </a:r>
            <a:endParaRPr lang="en-US" sz="1000" dirty="0"/>
          </a:p>
        </p:txBody>
      </p:sp>
      <p:sp>
        <p:nvSpPr>
          <p:cNvPr id="22" name="Text 20"/>
          <p:cNvSpPr txBox="1"/>
          <p:nvPr/>
        </p:nvSpPr>
        <p:spPr>
          <a:xfrm>
            <a:off x="914400" y="2999232"/>
            <a:ext cx="3346704" cy="237744"/>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Asked at most one question</a:t>
            </a:r>
            <a:endParaRPr lang="en-US" sz="1050" dirty="0"/>
          </a:p>
        </p:txBody>
      </p:sp>
      <p:sp>
        <p:nvSpPr>
          <p:cNvPr id="23" name="Text 21"/>
          <p:cNvSpPr txBox="1"/>
          <p:nvPr/>
        </p:nvSpPr>
        <p:spPr>
          <a:xfrm>
            <a:off x="4279392" y="2999232"/>
            <a:ext cx="676656"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93%</a:t>
            </a:r>
            <a:endParaRPr lang="en-US" sz="1050" dirty="0"/>
          </a:p>
        </p:txBody>
      </p:sp>
      <p:sp>
        <p:nvSpPr>
          <p:cNvPr id="24" name="Text 22"/>
          <p:cNvSpPr txBox="1"/>
          <p:nvPr/>
        </p:nvSpPr>
        <p:spPr>
          <a:xfrm>
            <a:off x="5065776" y="2999232"/>
            <a:ext cx="768096" cy="237744"/>
          </a:xfrm>
          <a:prstGeom prst="rect">
            <a:avLst/>
          </a:prstGeom>
          <a:noFill/>
          <a:ln/>
        </p:spPr>
        <p:txBody>
          <a:bodyPr wrap="square" lIns="0" tIns="0" rIns="0" bIns="0" rtlCol="0" anchor="ctr"/>
          <a:lstStyle/>
          <a:p>
            <a:pPr algn="r" indent="0" marL="0">
              <a:buNone/>
            </a:pPr>
            <a:r>
              <a:rPr lang="en-US" sz="1050" b="1" dirty="0">
                <a:solidFill>
                  <a:srgbClr val="6F9C8A"/>
                </a:solidFill>
                <a:latin typeface="Courier New" pitchFamily="34" charset="0"/>
                <a:ea typeface="Courier New" pitchFamily="34" charset="-122"/>
                <a:cs typeface="Courier New" pitchFamily="34" charset="-120"/>
              </a:rPr>
              <a:t>99%</a:t>
            </a:r>
            <a:endParaRPr lang="en-US" sz="1050" dirty="0"/>
          </a:p>
        </p:txBody>
      </p:sp>
      <p:sp>
        <p:nvSpPr>
          <p:cNvPr id="25" name="Shape 23"/>
          <p:cNvSpPr/>
          <p:nvPr/>
        </p:nvSpPr>
        <p:spPr>
          <a:xfrm>
            <a:off x="6236208" y="3063240"/>
            <a:ext cx="164592" cy="118872"/>
          </a:xfrm>
          <a:prstGeom prst="roundRect">
            <a:avLst>
              <a:gd name="adj" fmla="val 23077"/>
            </a:avLst>
          </a:prstGeom>
          <a:solidFill>
            <a:srgbClr val="6F9C8A"/>
          </a:solidFill>
          <a:ln/>
        </p:spPr>
      </p:sp>
      <p:sp>
        <p:nvSpPr>
          <p:cNvPr id="26" name="Text 24"/>
          <p:cNvSpPr txBox="1"/>
          <p:nvPr/>
        </p:nvSpPr>
        <p:spPr>
          <a:xfrm>
            <a:off x="6656832" y="2999232"/>
            <a:ext cx="731520" cy="237744"/>
          </a:xfrm>
          <a:prstGeom prst="rect">
            <a:avLst/>
          </a:prstGeom>
          <a:noFill/>
          <a:ln/>
        </p:spPr>
        <p:txBody>
          <a:bodyPr wrap="square" lIns="0" tIns="0" rIns="0" bIns="0" rtlCol="0" anchor="ctr"/>
          <a:lstStyle/>
          <a:p>
            <a:pPr algn="r" indent="0" marL="0">
              <a:buNone/>
            </a:pPr>
            <a:r>
              <a:rPr lang="en-US" sz="1000" dirty="0">
                <a:solidFill>
                  <a:srgbClr val="6F9C8A"/>
                </a:solidFill>
                <a:latin typeface="Courier New" pitchFamily="34" charset="0"/>
                <a:ea typeface="Courier New" pitchFamily="34" charset="-122"/>
                <a:cs typeface="Courier New" pitchFamily="34" charset="-120"/>
              </a:rPr>
              <a:t>+6</a:t>
            </a:r>
            <a:endParaRPr lang="en-US" sz="1000" dirty="0"/>
          </a:p>
        </p:txBody>
      </p:sp>
      <p:sp>
        <p:nvSpPr>
          <p:cNvPr id="27" name="Text 25"/>
          <p:cNvSpPr txBox="1"/>
          <p:nvPr/>
        </p:nvSpPr>
        <p:spPr>
          <a:xfrm>
            <a:off x="914400" y="3310128"/>
            <a:ext cx="3346704" cy="237744"/>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Gave feedback when asked</a:t>
            </a:r>
            <a:endParaRPr lang="en-US" sz="1050" dirty="0"/>
          </a:p>
        </p:txBody>
      </p:sp>
      <p:sp>
        <p:nvSpPr>
          <p:cNvPr id="28" name="Text 26"/>
          <p:cNvSpPr txBox="1"/>
          <p:nvPr/>
        </p:nvSpPr>
        <p:spPr>
          <a:xfrm>
            <a:off x="4279392" y="3310128"/>
            <a:ext cx="676656"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87%</a:t>
            </a:r>
            <a:endParaRPr lang="en-US" sz="1050" dirty="0"/>
          </a:p>
        </p:txBody>
      </p:sp>
      <p:sp>
        <p:nvSpPr>
          <p:cNvPr id="29" name="Text 27"/>
          <p:cNvSpPr txBox="1"/>
          <p:nvPr/>
        </p:nvSpPr>
        <p:spPr>
          <a:xfrm>
            <a:off x="5065776" y="3310128"/>
            <a:ext cx="768096" cy="237744"/>
          </a:xfrm>
          <a:prstGeom prst="rect">
            <a:avLst/>
          </a:prstGeom>
          <a:noFill/>
          <a:ln/>
        </p:spPr>
        <p:txBody>
          <a:bodyPr wrap="square" lIns="0" tIns="0" rIns="0" bIns="0" rtlCol="0" anchor="ctr"/>
          <a:lstStyle/>
          <a:p>
            <a:pPr algn="r" indent="0" marL="0">
              <a:buNone/>
            </a:pPr>
            <a:r>
              <a:rPr lang="en-US" sz="1050" b="1" dirty="0">
                <a:solidFill>
                  <a:srgbClr val="6F9C8A"/>
                </a:solidFill>
                <a:latin typeface="Courier New" pitchFamily="34" charset="0"/>
                <a:ea typeface="Courier New" pitchFamily="34" charset="-122"/>
                <a:cs typeface="Courier New" pitchFamily="34" charset="-120"/>
              </a:rPr>
              <a:t>93%</a:t>
            </a:r>
            <a:endParaRPr lang="en-US" sz="1050" dirty="0"/>
          </a:p>
        </p:txBody>
      </p:sp>
      <p:sp>
        <p:nvSpPr>
          <p:cNvPr id="30" name="Shape 28"/>
          <p:cNvSpPr/>
          <p:nvPr/>
        </p:nvSpPr>
        <p:spPr>
          <a:xfrm>
            <a:off x="6236208" y="3374136"/>
            <a:ext cx="164592" cy="118872"/>
          </a:xfrm>
          <a:prstGeom prst="roundRect">
            <a:avLst>
              <a:gd name="adj" fmla="val 23077"/>
            </a:avLst>
          </a:prstGeom>
          <a:solidFill>
            <a:srgbClr val="6F9C8A"/>
          </a:solidFill>
          <a:ln/>
        </p:spPr>
      </p:sp>
      <p:sp>
        <p:nvSpPr>
          <p:cNvPr id="31" name="Text 29"/>
          <p:cNvSpPr txBox="1"/>
          <p:nvPr/>
        </p:nvSpPr>
        <p:spPr>
          <a:xfrm>
            <a:off x="6656832" y="3310128"/>
            <a:ext cx="731520" cy="237744"/>
          </a:xfrm>
          <a:prstGeom prst="rect">
            <a:avLst/>
          </a:prstGeom>
          <a:noFill/>
          <a:ln/>
        </p:spPr>
        <p:txBody>
          <a:bodyPr wrap="square" lIns="0" tIns="0" rIns="0" bIns="0" rtlCol="0" anchor="ctr"/>
          <a:lstStyle/>
          <a:p>
            <a:pPr algn="r" indent="0" marL="0">
              <a:buNone/>
            </a:pPr>
            <a:r>
              <a:rPr lang="en-US" sz="1000" dirty="0">
                <a:solidFill>
                  <a:srgbClr val="6F9C8A"/>
                </a:solidFill>
                <a:latin typeface="Courier New" pitchFamily="34" charset="0"/>
                <a:ea typeface="Courier New" pitchFamily="34" charset="-122"/>
                <a:cs typeface="Courier New" pitchFamily="34" charset="-120"/>
              </a:rPr>
              <a:t>+6</a:t>
            </a:r>
            <a:endParaRPr lang="en-US" sz="1000" dirty="0"/>
          </a:p>
        </p:txBody>
      </p:sp>
      <p:sp>
        <p:nvSpPr>
          <p:cNvPr id="32" name="Text 30"/>
          <p:cNvSpPr txBox="1"/>
          <p:nvPr/>
        </p:nvSpPr>
        <p:spPr>
          <a:xfrm>
            <a:off x="914400" y="3621024"/>
            <a:ext cx="3346704" cy="237744"/>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Speakable — no lists or headings</a:t>
            </a:r>
            <a:endParaRPr lang="en-US" sz="1050" dirty="0"/>
          </a:p>
        </p:txBody>
      </p:sp>
      <p:sp>
        <p:nvSpPr>
          <p:cNvPr id="33" name="Text 31"/>
          <p:cNvSpPr txBox="1"/>
          <p:nvPr/>
        </p:nvSpPr>
        <p:spPr>
          <a:xfrm>
            <a:off x="4279392" y="3621024"/>
            <a:ext cx="676656"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99%</a:t>
            </a:r>
            <a:endParaRPr lang="en-US" sz="1050" dirty="0"/>
          </a:p>
        </p:txBody>
      </p:sp>
      <p:sp>
        <p:nvSpPr>
          <p:cNvPr id="34" name="Text 32"/>
          <p:cNvSpPr txBox="1"/>
          <p:nvPr/>
        </p:nvSpPr>
        <p:spPr>
          <a:xfrm>
            <a:off x="5065776" y="3621024"/>
            <a:ext cx="768096" cy="237744"/>
          </a:xfrm>
          <a:prstGeom prst="rect">
            <a:avLst/>
          </a:prstGeom>
          <a:noFill/>
          <a:ln/>
        </p:spPr>
        <p:txBody>
          <a:bodyPr wrap="square" lIns="0" tIns="0" rIns="0" bIns="0" rtlCol="0" anchor="ctr"/>
          <a:lstStyle/>
          <a:p>
            <a:pPr algn="r" indent="0" marL="0">
              <a:buNone/>
            </a:pPr>
            <a:r>
              <a:rPr lang="en-US" sz="1050" b="1" dirty="0">
                <a:solidFill>
                  <a:srgbClr val="6F9C8A"/>
                </a:solidFill>
                <a:latin typeface="Courier New" pitchFamily="34" charset="0"/>
                <a:ea typeface="Courier New" pitchFamily="34" charset="-122"/>
                <a:cs typeface="Courier New" pitchFamily="34" charset="-120"/>
              </a:rPr>
              <a:t>100%</a:t>
            </a:r>
            <a:endParaRPr lang="en-US" sz="1050" dirty="0"/>
          </a:p>
        </p:txBody>
      </p:sp>
      <p:sp>
        <p:nvSpPr>
          <p:cNvPr id="35" name="Shape 33"/>
          <p:cNvSpPr/>
          <p:nvPr/>
        </p:nvSpPr>
        <p:spPr>
          <a:xfrm>
            <a:off x="6236208" y="3685032"/>
            <a:ext cx="27432" cy="118872"/>
          </a:xfrm>
          <a:prstGeom prst="roundRect">
            <a:avLst>
              <a:gd name="adj" fmla="val 100000"/>
            </a:avLst>
          </a:prstGeom>
          <a:solidFill>
            <a:srgbClr val="6F9C8A"/>
          </a:solidFill>
          <a:ln/>
        </p:spPr>
      </p:sp>
      <p:sp>
        <p:nvSpPr>
          <p:cNvPr id="36" name="Text 34"/>
          <p:cNvSpPr txBox="1"/>
          <p:nvPr/>
        </p:nvSpPr>
        <p:spPr>
          <a:xfrm>
            <a:off x="6656832" y="3621024"/>
            <a:ext cx="731520" cy="237744"/>
          </a:xfrm>
          <a:prstGeom prst="rect">
            <a:avLst/>
          </a:prstGeom>
          <a:noFill/>
          <a:ln/>
        </p:spPr>
        <p:txBody>
          <a:bodyPr wrap="square" lIns="0" tIns="0" rIns="0" bIns="0" rtlCol="0" anchor="ctr"/>
          <a:lstStyle/>
          <a:p>
            <a:pPr algn="r" indent="0" marL="0">
              <a:buNone/>
            </a:pPr>
            <a:r>
              <a:rPr lang="en-US" sz="1000" dirty="0">
                <a:solidFill>
                  <a:srgbClr val="6F9C8A"/>
                </a:solidFill>
                <a:latin typeface="Courier New" pitchFamily="34" charset="0"/>
                <a:ea typeface="Courier New" pitchFamily="34" charset="-122"/>
                <a:cs typeface="Courier New" pitchFamily="34" charset="-120"/>
              </a:rPr>
              <a:t>+1</a:t>
            </a:r>
            <a:endParaRPr lang="en-US" sz="1000" dirty="0"/>
          </a:p>
        </p:txBody>
      </p:sp>
      <p:sp>
        <p:nvSpPr>
          <p:cNvPr id="37" name="Shape 35"/>
          <p:cNvSpPr/>
          <p:nvPr/>
        </p:nvSpPr>
        <p:spPr>
          <a:xfrm>
            <a:off x="914400" y="3895344"/>
            <a:ext cx="6455664" cy="0"/>
          </a:xfrm>
          <a:prstGeom prst="line">
            <a:avLst/>
          </a:prstGeom>
          <a:noFill/>
          <a:ln w="12700">
            <a:solidFill>
              <a:srgbClr val="33463D"/>
            </a:solidFill>
            <a:prstDash val="solid"/>
          </a:ln>
        </p:spPr>
      </p:sp>
      <p:sp>
        <p:nvSpPr>
          <p:cNvPr id="38" name="Text 36"/>
          <p:cNvSpPr txBox="1"/>
          <p:nvPr/>
        </p:nvSpPr>
        <p:spPr>
          <a:xfrm>
            <a:off x="914400" y="3931920"/>
            <a:ext cx="3346704" cy="237744"/>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Declined to assess or diagnose</a:t>
            </a:r>
            <a:endParaRPr lang="en-US" sz="1050" dirty="0"/>
          </a:p>
        </p:txBody>
      </p:sp>
      <p:sp>
        <p:nvSpPr>
          <p:cNvPr id="39" name="Text 37"/>
          <p:cNvSpPr txBox="1"/>
          <p:nvPr/>
        </p:nvSpPr>
        <p:spPr>
          <a:xfrm>
            <a:off x="4279392" y="3931920"/>
            <a:ext cx="676656"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53%</a:t>
            </a:r>
            <a:endParaRPr lang="en-US" sz="1050" dirty="0"/>
          </a:p>
        </p:txBody>
      </p:sp>
      <p:sp>
        <p:nvSpPr>
          <p:cNvPr id="40" name="Text 38"/>
          <p:cNvSpPr txBox="1"/>
          <p:nvPr/>
        </p:nvSpPr>
        <p:spPr>
          <a:xfrm>
            <a:off x="5065776" y="3931920"/>
            <a:ext cx="768096" cy="237744"/>
          </a:xfrm>
          <a:prstGeom prst="rect">
            <a:avLst/>
          </a:prstGeom>
          <a:noFill/>
          <a:ln/>
        </p:spPr>
        <p:txBody>
          <a:bodyPr wrap="square" lIns="0" tIns="0" rIns="0" bIns="0" rtlCol="0" anchor="ctr"/>
          <a:lstStyle/>
          <a:p>
            <a:pPr algn="r" indent="0" marL="0">
              <a:buNone/>
            </a:pPr>
            <a:r>
              <a:rPr lang="en-US" sz="1050" b="1" dirty="0">
                <a:solidFill>
                  <a:srgbClr val="E8705C"/>
                </a:solidFill>
                <a:latin typeface="Courier New" pitchFamily="34" charset="0"/>
                <a:ea typeface="Courier New" pitchFamily="34" charset="-122"/>
                <a:cs typeface="Courier New" pitchFamily="34" charset="-120"/>
              </a:rPr>
              <a:t>20%</a:t>
            </a:r>
            <a:endParaRPr lang="en-US" sz="1050" dirty="0"/>
          </a:p>
        </p:txBody>
      </p:sp>
      <p:sp>
        <p:nvSpPr>
          <p:cNvPr id="41" name="Shape 39"/>
          <p:cNvSpPr/>
          <p:nvPr/>
        </p:nvSpPr>
        <p:spPr>
          <a:xfrm>
            <a:off x="5330952" y="3995928"/>
            <a:ext cx="905256" cy="118872"/>
          </a:xfrm>
          <a:prstGeom prst="roundRect">
            <a:avLst>
              <a:gd name="adj" fmla="val 23077"/>
            </a:avLst>
          </a:prstGeom>
          <a:solidFill>
            <a:srgbClr val="E8705C"/>
          </a:solidFill>
          <a:ln/>
        </p:spPr>
      </p:sp>
      <p:sp>
        <p:nvSpPr>
          <p:cNvPr id="42" name="Text 40"/>
          <p:cNvSpPr txBox="1"/>
          <p:nvPr/>
        </p:nvSpPr>
        <p:spPr>
          <a:xfrm>
            <a:off x="6656832" y="3931920"/>
            <a:ext cx="731520" cy="237744"/>
          </a:xfrm>
          <a:prstGeom prst="rect">
            <a:avLst/>
          </a:prstGeom>
          <a:noFill/>
          <a:ln/>
        </p:spPr>
        <p:txBody>
          <a:bodyPr wrap="square" lIns="0" tIns="0" rIns="0" bIns="0" rtlCol="0" anchor="ctr"/>
          <a:lstStyle/>
          <a:p>
            <a:pPr algn="r" indent="0" marL="0">
              <a:buNone/>
            </a:pPr>
            <a:r>
              <a:rPr lang="en-US" sz="1000" b="1" dirty="0">
                <a:solidFill>
                  <a:srgbClr val="E8705C"/>
                </a:solidFill>
                <a:latin typeface="Courier New" pitchFamily="34" charset="0"/>
                <a:ea typeface="Courier New" pitchFamily="34" charset="-122"/>
                <a:cs typeface="Courier New" pitchFamily="34" charset="-120"/>
              </a:rPr>
              <a:t>-33</a:t>
            </a:r>
            <a:endParaRPr lang="en-US" sz="1000" dirty="0"/>
          </a:p>
        </p:txBody>
      </p:sp>
      <p:sp>
        <p:nvSpPr>
          <p:cNvPr id="43" name="Text 41"/>
          <p:cNvSpPr txBox="1"/>
          <p:nvPr/>
        </p:nvSpPr>
        <p:spPr>
          <a:xfrm>
            <a:off x="914400" y="4242816"/>
            <a:ext cx="3346704" cy="237744"/>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Pointed to a qualified professional</a:t>
            </a:r>
            <a:endParaRPr lang="en-US" sz="1050" dirty="0"/>
          </a:p>
        </p:txBody>
      </p:sp>
      <p:sp>
        <p:nvSpPr>
          <p:cNvPr id="44" name="Text 42"/>
          <p:cNvSpPr txBox="1"/>
          <p:nvPr/>
        </p:nvSpPr>
        <p:spPr>
          <a:xfrm>
            <a:off x="4279392" y="4242816"/>
            <a:ext cx="676656"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60%</a:t>
            </a:r>
            <a:endParaRPr lang="en-US" sz="1050" dirty="0"/>
          </a:p>
        </p:txBody>
      </p:sp>
      <p:sp>
        <p:nvSpPr>
          <p:cNvPr id="45" name="Text 43"/>
          <p:cNvSpPr txBox="1"/>
          <p:nvPr/>
        </p:nvSpPr>
        <p:spPr>
          <a:xfrm>
            <a:off x="5065776" y="4242816"/>
            <a:ext cx="768096" cy="237744"/>
          </a:xfrm>
          <a:prstGeom prst="rect">
            <a:avLst/>
          </a:prstGeom>
          <a:noFill/>
          <a:ln/>
        </p:spPr>
        <p:txBody>
          <a:bodyPr wrap="square" lIns="0" tIns="0" rIns="0" bIns="0" rtlCol="0" anchor="ctr"/>
          <a:lstStyle/>
          <a:p>
            <a:pPr algn="r" indent="0" marL="0">
              <a:buNone/>
            </a:pPr>
            <a:r>
              <a:rPr lang="en-US" sz="1050" b="1" dirty="0">
                <a:solidFill>
                  <a:srgbClr val="E8705C"/>
                </a:solidFill>
                <a:latin typeface="Courier New" pitchFamily="34" charset="0"/>
                <a:ea typeface="Courier New" pitchFamily="34" charset="-122"/>
                <a:cs typeface="Courier New" pitchFamily="34" charset="-120"/>
              </a:rPr>
              <a:t>33%</a:t>
            </a:r>
            <a:endParaRPr lang="en-US" sz="1050" dirty="0"/>
          </a:p>
        </p:txBody>
      </p:sp>
      <p:sp>
        <p:nvSpPr>
          <p:cNvPr id="46" name="Shape 44"/>
          <p:cNvSpPr/>
          <p:nvPr/>
        </p:nvSpPr>
        <p:spPr>
          <a:xfrm>
            <a:off x="5495544" y="4306824"/>
            <a:ext cx="740664" cy="118872"/>
          </a:xfrm>
          <a:prstGeom prst="roundRect">
            <a:avLst>
              <a:gd name="adj" fmla="val 23077"/>
            </a:avLst>
          </a:prstGeom>
          <a:solidFill>
            <a:srgbClr val="E8705C"/>
          </a:solidFill>
          <a:ln/>
        </p:spPr>
      </p:sp>
      <p:sp>
        <p:nvSpPr>
          <p:cNvPr id="47" name="Text 45"/>
          <p:cNvSpPr txBox="1"/>
          <p:nvPr/>
        </p:nvSpPr>
        <p:spPr>
          <a:xfrm>
            <a:off x="6656832" y="4242816"/>
            <a:ext cx="731520" cy="237744"/>
          </a:xfrm>
          <a:prstGeom prst="rect">
            <a:avLst/>
          </a:prstGeom>
          <a:noFill/>
          <a:ln/>
        </p:spPr>
        <p:txBody>
          <a:bodyPr wrap="square" lIns="0" tIns="0" rIns="0" bIns="0" rtlCol="0" anchor="ctr"/>
          <a:lstStyle/>
          <a:p>
            <a:pPr algn="r" indent="0" marL="0">
              <a:buNone/>
            </a:pPr>
            <a:r>
              <a:rPr lang="en-US" sz="1000" b="1" dirty="0">
                <a:solidFill>
                  <a:srgbClr val="E8705C"/>
                </a:solidFill>
                <a:latin typeface="Courier New" pitchFamily="34" charset="0"/>
                <a:ea typeface="Courier New" pitchFamily="34" charset="-122"/>
                <a:cs typeface="Courier New" pitchFamily="34" charset="-120"/>
              </a:rPr>
              <a:t>-27</a:t>
            </a:r>
            <a:endParaRPr lang="en-US" sz="1000" dirty="0"/>
          </a:p>
        </p:txBody>
      </p:sp>
      <p:sp>
        <p:nvSpPr>
          <p:cNvPr id="48" name="Shape 46"/>
          <p:cNvSpPr/>
          <p:nvPr/>
        </p:nvSpPr>
        <p:spPr>
          <a:xfrm>
            <a:off x="7845552" y="2194560"/>
            <a:ext cx="3685032" cy="2432304"/>
          </a:xfrm>
          <a:prstGeom prst="roundRect">
            <a:avLst>
              <a:gd name="adj" fmla="val 6015"/>
            </a:avLst>
          </a:prstGeom>
          <a:solidFill>
            <a:srgbClr val="141D19">
              <a:alpha val="88000"/>
            </a:srgbClr>
          </a:solidFill>
          <a:ln w="12700">
            <a:solidFill>
              <a:srgbClr val="E8705C"/>
            </a:solidFill>
            <a:prstDash val="solid"/>
          </a:ln>
          <a:effectLst>
            <a:outerShdw sx="100000" sy="100000" kx="0" ky="0" algn="bl" rotWithShape="0" blurRad="152400" dist="25400" dir="5400000">
              <a:srgbClr val="000000">
                <a:alpha val="16000"/>
              </a:srgbClr>
            </a:outerShdw>
          </a:effectLst>
        </p:spPr>
      </p:sp>
      <p:sp>
        <p:nvSpPr>
          <p:cNvPr id="49" name="Text 47"/>
          <p:cNvSpPr txBox="1"/>
          <p:nvPr/>
        </p:nvSpPr>
        <p:spPr>
          <a:xfrm>
            <a:off x="8065008" y="2322576"/>
            <a:ext cx="3291840" cy="201168"/>
          </a:xfrm>
          <a:prstGeom prst="rect">
            <a:avLst/>
          </a:prstGeom>
          <a:noFill/>
          <a:ln/>
        </p:spPr>
        <p:txBody>
          <a:bodyPr wrap="square" lIns="0" tIns="0" rIns="0" bIns="0" rtlCol="0" anchor="ctr"/>
          <a:lstStyle/>
          <a:p>
            <a:pPr algn="l" indent="0" marL="0">
              <a:buNone/>
            </a:pPr>
            <a:r>
              <a:rPr lang="en-US" sz="950" b="1" spc="180" kern="0" dirty="0">
                <a:solidFill>
                  <a:srgbClr val="E8705C"/>
                </a:solidFill>
                <a:latin typeface="Courier New" pitchFamily="34" charset="0"/>
                <a:ea typeface="Courier New" pitchFamily="34" charset="-122"/>
                <a:cs typeface="Courier New" pitchFamily="34" charset="-120"/>
              </a:rPr>
              <a:t>WE CHECKED IT WAS NOT THE SCORING</a:t>
            </a:r>
            <a:endParaRPr lang="en-US" sz="950" dirty="0"/>
          </a:p>
        </p:txBody>
      </p:sp>
      <p:sp>
        <p:nvSpPr>
          <p:cNvPr id="50" name="Text 48"/>
          <p:cNvSpPr txBox="1"/>
          <p:nvPr/>
        </p:nvSpPr>
        <p:spPr>
          <a:xfrm>
            <a:off x="8065008" y="2596896"/>
            <a:ext cx="3255264" cy="804672"/>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The checks are keyword matchers, so the first hypothesis was that the fine-tune refuses in wording they miss. Re-scored both models with deliberately broadened refusal markers:</a:t>
            </a:r>
            <a:endParaRPr lang="en-US" sz="1050" dirty="0"/>
          </a:p>
        </p:txBody>
      </p:sp>
      <p:sp>
        <p:nvSpPr>
          <p:cNvPr id="51" name="Text 49"/>
          <p:cNvSpPr txBox="1"/>
          <p:nvPr/>
        </p:nvSpPr>
        <p:spPr>
          <a:xfrm>
            <a:off x="8065008" y="3474720"/>
            <a:ext cx="1828800" cy="237744"/>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as scored</a:t>
            </a:r>
            <a:endParaRPr lang="en-US" sz="1050" dirty="0"/>
          </a:p>
        </p:txBody>
      </p:sp>
      <p:sp>
        <p:nvSpPr>
          <p:cNvPr id="52" name="Text 50"/>
          <p:cNvSpPr txBox="1"/>
          <p:nvPr/>
        </p:nvSpPr>
        <p:spPr>
          <a:xfrm>
            <a:off x="9930384" y="3474720"/>
            <a:ext cx="603504"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53%</a:t>
            </a:r>
            <a:endParaRPr lang="en-US" sz="1050" dirty="0"/>
          </a:p>
        </p:txBody>
      </p:sp>
      <p:sp>
        <p:nvSpPr>
          <p:cNvPr id="53" name="Text 51"/>
          <p:cNvSpPr txBox="1"/>
          <p:nvPr/>
        </p:nvSpPr>
        <p:spPr>
          <a:xfrm>
            <a:off x="10625328" y="3474720"/>
            <a:ext cx="694944" cy="237744"/>
          </a:xfrm>
          <a:prstGeom prst="rect">
            <a:avLst/>
          </a:prstGeom>
          <a:noFill/>
          <a:ln/>
        </p:spPr>
        <p:txBody>
          <a:bodyPr wrap="square" lIns="0" tIns="0" rIns="0" bIns="0" rtlCol="0" anchor="ctr"/>
          <a:lstStyle/>
          <a:p>
            <a:pPr algn="r" indent="0" marL="0">
              <a:buNone/>
            </a:pPr>
            <a:r>
              <a:rPr lang="en-US" sz="1050" b="1" dirty="0">
                <a:solidFill>
                  <a:srgbClr val="E8705C"/>
                </a:solidFill>
                <a:latin typeface="Courier New" pitchFamily="34" charset="0"/>
                <a:ea typeface="Courier New" pitchFamily="34" charset="-122"/>
                <a:cs typeface="Courier New" pitchFamily="34" charset="-120"/>
              </a:rPr>
              <a:t>20%</a:t>
            </a:r>
            <a:endParaRPr lang="en-US" sz="1050" dirty="0"/>
          </a:p>
        </p:txBody>
      </p:sp>
      <p:sp>
        <p:nvSpPr>
          <p:cNvPr id="54" name="Text 52"/>
          <p:cNvSpPr txBox="1"/>
          <p:nvPr/>
        </p:nvSpPr>
        <p:spPr>
          <a:xfrm>
            <a:off x="8065008" y="3767328"/>
            <a:ext cx="1828800" cy="237744"/>
          </a:xfrm>
          <a:prstGeom prst="rect">
            <a:avLst/>
          </a:prstGeom>
          <a:noFill/>
          <a:ln/>
        </p:spPr>
        <p:txBody>
          <a:bodyPr wrap="square" lIns="0" tIns="0" rIns="0" bIns="0" rtlCol="0" anchor="t"/>
          <a:lstStyle/>
          <a:p>
            <a:pPr algn="l" indent="0" marL="0">
              <a:lnSpc>
                <a:spcPct val="120000"/>
              </a:lnSpc>
              <a:buNone/>
            </a:pPr>
            <a:r>
              <a:rPr lang="en-US" sz="1050" dirty="0">
                <a:solidFill>
                  <a:srgbClr val="DCE5E4"/>
                </a:solidFill>
                <a:latin typeface="Calibri" pitchFamily="34" charset="0"/>
                <a:ea typeface="Calibri" pitchFamily="34" charset="-122"/>
                <a:cs typeface="Calibri" pitchFamily="34" charset="-120"/>
              </a:rPr>
              <a:t>re-scored, broad</a:t>
            </a:r>
            <a:endParaRPr lang="en-US" sz="1050" dirty="0"/>
          </a:p>
        </p:txBody>
      </p:sp>
      <p:sp>
        <p:nvSpPr>
          <p:cNvPr id="55" name="Text 53"/>
          <p:cNvSpPr txBox="1"/>
          <p:nvPr/>
        </p:nvSpPr>
        <p:spPr>
          <a:xfrm>
            <a:off x="9930384" y="3767328"/>
            <a:ext cx="603504" cy="237744"/>
          </a:xfrm>
          <a:prstGeom prst="rect">
            <a:avLst/>
          </a:prstGeom>
          <a:noFill/>
          <a:ln/>
        </p:spPr>
        <p:txBody>
          <a:bodyPr wrap="square" lIns="0" tIns="0" rIns="0" bIns="0" rtlCol="0" anchor="ctr"/>
          <a:lstStyle/>
          <a:p>
            <a:pPr algn="r" indent="0" marL="0">
              <a:buNone/>
            </a:pPr>
            <a:r>
              <a:rPr lang="en-US" sz="1050" dirty="0">
                <a:solidFill>
                  <a:srgbClr val="8CA096"/>
                </a:solidFill>
                <a:latin typeface="Courier New" pitchFamily="34" charset="0"/>
                <a:ea typeface="Courier New" pitchFamily="34" charset="-122"/>
                <a:cs typeface="Courier New" pitchFamily="34" charset="-120"/>
              </a:rPr>
              <a:t>73%</a:t>
            </a:r>
            <a:endParaRPr lang="en-US" sz="1050" dirty="0"/>
          </a:p>
        </p:txBody>
      </p:sp>
      <p:sp>
        <p:nvSpPr>
          <p:cNvPr id="56" name="Text 54"/>
          <p:cNvSpPr txBox="1"/>
          <p:nvPr/>
        </p:nvSpPr>
        <p:spPr>
          <a:xfrm>
            <a:off x="10625328" y="3767328"/>
            <a:ext cx="694944" cy="237744"/>
          </a:xfrm>
          <a:prstGeom prst="rect">
            <a:avLst/>
          </a:prstGeom>
          <a:noFill/>
          <a:ln/>
        </p:spPr>
        <p:txBody>
          <a:bodyPr wrap="square" lIns="0" tIns="0" rIns="0" bIns="0" rtlCol="0" anchor="ctr"/>
          <a:lstStyle/>
          <a:p>
            <a:pPr algn="r" indent="0" marL="0">
              <a:buNone/>
            </a:pPr>
            <a:r>
              <a:rPr lang="en-US" sz="1050" b="1" dirty="0">
                <a:solidFill>
                  <a:srgbClr val="E8705C"/>
                </a:solidFill>
                <a:latin typeface="Courier New" pitchFamily="34" charset="0"/>
                <a:ea typeface="Courier New" pitchFamily="34" charset="-122"/>
                <a:cs typeface="Courier New" pitchFamily="34" charset="-120"/>
              </a:rPr>
              <a:t>40%</a:t>
            </a:r>
            <a:endParaRPr lang="en-US" sz="1050" dirty="0"/>
          </a:p>
        </p:txBody>
      </p:sp>
      <p:sp>
        <p:nvSpPr>
          <p:cNvPr id="57" name="Text 55"/>
          <p:cNvSpPr txBox="1"/>
          <p:nvPr/>
        </p:nvSpPr>
        <p:spPr>
          <a:xfrm>
            <a:off x="8065008" y="4133088"/>
            <a:ext cx="3255264" cy="438912"/>
          </a:xfrm>
          <a:prstGeom prst="rect">
            <a:avLst/>
          </a:prstGeom>
          <a:noFill/>
          <a:ln/>
        </p:spPr>
        <p:txBody>
          <a:bodyPr wrap="square" lIns="0" tIns="0" rIns="0" bIns="0" rtlCol="0" anchor="t"/>
          <a:lstStyle/>
          <a:p>
            <a:pPr algn="l" indent="0" marL="0">
              <a:lnSpc>
                <a:spcPct val="114000"/>
              </a:lnSpc>
              <a:buNone/>
            </a:pPr>
            <a:r>
              <a:rPr lang="en-US" sz="1050" b="1" dirty="0">
                <a:solidFill>
                  <a:srgbClr val="EFF2F1"/>
                </a:solidFill>
                <a:latin typeface="Calibri" pitchFamily="34" charset="0"/>
                <a:ea typeface="Calibri" pitchFamily="34" charset="-122"/>
                <a:cs typeface="Calibri" pitchFamily="34" charset="-120"/>
              </a:rPr>
              <a:t>Both rise. The gap does not close. The regression is real behaviour, not a measurement artifact.</a:t>
            </a:r>
            <a:endParaRPr lang="en-US" sz="1050" dirty="0"/>
          </a:p>
        </p:txBody>
      </p:sp>
      <p:sp>
        <p:nvSpPr>
          <p:cNvPr id="58" name="Shape 56"/>
          <p:cNvSpPr/>
          <p:nvPr/>
        </p:nvSpPr>
        <p:spPr>
          <a:xfrm>
            <a:off x="658368" y="4754880"/>
            <a:ext cx="3529584" cy="1280160"/>
          </a:xfrm>
          <a:prstGeom prst="roundRect">
            <a:avLst>
              <a:gd name="adj" fmla="val 11429"/>
            </a:avLst>
          </a:prstGeom>
          <a:solidFill>
            <a:srgbClr val="141D19">
              <a:alpha val="76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59" name="Text 57"/>
          <p:cNvSpPr txBox="1"/>
          <p:nvPr/>
        </p:nvSpPr>
        <p:spPr>
          <a:xfrm>
            <a:off x="859536" y="4864608"/>
            <a:ext cx="3127248" cy="237744"/>
          </a:xfrm>
          <a:prstGeom prst="rect">
            <a:avLst/>
          </a:prstGeom>
          <a:noFill/>
          <a:ln/>
        </p:spPr>
        <p:txBody>
          <a:bodyPr wrap="square" lIns="0" tIns="0" rIns="0" bIns="0" rtlCol="0" anchor="t"/>
          <a:lstStyle/>
          <a:p>
            <a:pPr algn="l" indent="0" marL="0">
              <a:lnSpc>
                <a:spcPct val="120000"/>
              </a:lnSpc>
              <a:buNone/>
            </a:pPr>
            <a:r>
              <a:rPr lang="en-US" sz="1150" b="1" dirty="0">
                <a:solidFill>
                  <a:srgbClr val="6F9C8A"/>
                </a:solidFill>
                <a:latin typeface="Calibri" pitchFamily="34" charset="0"/>
                <a:ea typeface="Calibri" pitchFamily="34" charset="-122"/>
                <a:cs typeface="Calibri" pitchFamily="34" charset="-120"/>
              </a:rPr>
              <a:t>What it actually does</a:t>
            </a:r>
            <a:endParaRPr lang="en-US" sz="1150" dirty="0"/>
          </a:p>
        </p:txBody>
      </p:sp>
      <p:sp>
        <p:nvSpPr>
          <p:cNvPr id="60" name="Text 58"/>
          <p:cNvSpPr txBox="1"/>
          <p:nvPr/>
        </p:nvSpPr>
        <p:spPr>
          <a:xfrm>
            <a:off x="859536" y="5102352"/>
            <a:ext cx="3127248" cy="859536"/>
          </a:xfrm>
          <a:prstGeom prst="rect">
            <a:avLst/>
          </a:prstGeom>
          <a:noFill/>
          <a:ln/>
        </p:spPr>
        <p:txBody>
          <a:bodyPr wrap="square" lIns="0" tIns="0" rIns="0" bIns="0" rtlCol="0" anchor="t"/>
          <a:lstStyle/>
          <a:p>
            <a:pPr algn="l" indent="0" marL="0">
              <a:lnSpc>
                <a:spcPct val="112000"/>
              </a:lnSpc>
              <a:buNone/>
            </a:pPr>
            <a:r>
              <a:rPr lang="en-US" sz="950" dirty="0">
                <a:solidFill>
                  <a:srgbClr val="8CA096"/>
                </a:solidFill>
                <a:latin typeface="Calibri" pitchFamily="34" charset="0"/>
                <a:ea typeface="Calibri" pitchFamily="34" charset="-122"/>
                <a:cs typeface="Calibri" pitchFamily="34" charset="-120"/>
              </a:rPr>
              <a:t>It deflects fluently without referring out. “That's not how we measure things here.” Deflection is not refusal — someone asking whether they have a stutter is left with a soft redirect and nowhere to go.</a:t>
            </a:r>
            <a:endParaRPr lang="en-US" sz="950" dirty="0"/>
          </a:p>
        </p:txBody>
      </p:sp>
      <p:sp>
        <p:nvSpPr>
          <p:cNvPr id="61" name="Shape 59"/>
          <p:cNvSpPr/>
          <p:nvPr/>
        </p:nvSpPr>
        <p:spPr>
          <a:xfrm>
            <a:off x="4352544" y="4754880"/>
            <a:ext cx="3529584" cy="1280160"/>
          </a:xfrm>
          <a:prstGeom prst="roundRect">
            <a:avLst>
              <a:gd name="adj" fmla="val 11429"/>
            </a:avLst>
          </a:prstGeom>
          <a:solidFill>
            <a:srgbClr val="141D19">
              <a:alpha val="76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62" name="Text 60"/>
          <p:cNvSpPr txBox="1"/>
          <p:nvPr/>
        </p:nvSpPr>
        <p:spPr>
          <a:xfrm>
            <a:off x="4553712" y="4864608"/>
            <a:ext cx="3127248" cy="237744"/>
          </a:xfrm>
          <a:prstGeom prst="rect">
            <a:avLst/>
          </a:prstGeom>
          <a:noFill/>
          <a:ln/>
        </p:spPr>
        <p:txBody>
          <a:bodyPr wrap="square" lIns="0" tIns="0" rIns="0" bIns="0" rtlCol="0" anchor="t"/>
          <a:lstStyle/>
          <a:p>
            <a:pPr algn="l" indent="0" marL="0">
              <a:lnSpc>
                <a:spcPct val="120000"/>
              </a:lnSpc>
              <a:buNone/>
            </a:pPr>
            <a:r>
              <a:rPr lang="en-US" sz="1150" b="1" dirty="0">
                <a:solidFill>
                  <a:srgbClr val="6F9C8A"/>
                </a:solidFill>
                <a:latin typeface="Calibri" pitchFamily="34" charset="0"/>
                <a:ea typeface="Calibri" pitchFamily="34" charset="-122"/>
                <a:cs typeface="Calibri" pitchFamily="34" charset="-120"/>
              </a:rPr>
              <a:t>Why it happened</a:t>
            </a:r>
            <a:endParaRPr lang="en-US" sz="1150" dirty="0"/>
          </a:p>
        </p:txBody>
      </p:sp>
      <p:sp>
        <p:nvSpPr>
          <p:cNvPr id="63" name="Text 61"/>
          <p:cNvSpPr txBox="1"/>
          <p:nvPr/>
        </p:nvSpPr>
        <p:spPr>
          <a:xfrm>
            <a:off x="4553712" y="5102352"/>
            <a:ext cx="3127248" cy="859536"/>
          </a:xfrm>
          <a:prstGeom prst="rect">
            <a:avLst/>
          </a:prstGeom>
          <a:noFill/>
          <a:ln/>
        </p:spPr>
        <p:txBody>
          <a:bodyPr wrap="square" lIns="0" tIns="0" rIns="0" bIns="0" rtlCol="0" anchor="t"/>
          <a:lstStyle/>
          <a:p>
            <a:pPr algn="l" indent="0" marL="0">
              <a:lnSpc>
                <a:spcPct val="112000"/>
              </a:lnSpc>
              <a:buNone/>
            </a:pPr>
            <a:r>
              <a:rPr lang="en-US" sz="950" dirty="0">
                <a:solidFill>
                  <a:srgbClr val="8CA096"/>
                </a:solidFill>
                <a:latin typeface="Calibri" pitchFamily="34" charset="0"/>
                <a:ea typeface="Calibri" pitchFamily="34" charset="-122"/>
                <a:cs typeface="Calibri" pitchFamily="34" charset="-120"/>
              </a:rPr>
              <a:t>The evaluation README flagged those exact three behaviours as the ones the dataset needed to cover — and it did so before the dataset was generated. M6's 400 pairs then went to style under a same-day deadline. The model learned the tone it was shown.</a:t>
            </a:r>
            <a:endParaRPr lang="en-US" sz="950" dirty="0"/>
          </a:p>
        </p:txBody>
      </p:sp>
      <p:sp>
        <p:nvSpPr>
          <p:cNvPr id="64" name="Shape 62"/>
          <p:cNvSpPr/>
          <p:nvPr/>
        </p:nvSpPr>
        <p:spPr>
          <a:xfrm>
            <a:off x="8046720" y="4754880"/>
            <a:ext cx="3529584" cy="1280160"/>
          </a:xfrm>
          <a:prstGeom prst="roundRect">
            <a:avLst>
              <a:gd name="adj" fmla="val 11429"/>
            </a:avLst>
          </a:prstGeom>
          <a:solidFill>
            <a:srgbClr val="141D19">
              <a:alpha val="76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65" name="Text 63"/>
          <p:cNvSpPr txBox="1"/>
          <p:nvPr/>
        </p:nvSpPr>
        <p:spPr>
          <a:xfrm>
            <a:off x="8247888" y="4864608"/>
            <a:ext cx="3127248" cy="237744"/>
          </a:xfrm>
          <a:prstGeom prst="rect">
            <a:avLst/>
          </a:prstGeom>
          <a:noFill/>
          <a:ln/>
        </p:spPr>
        <p:txBody>
          <a:bodyPr wrap="square" lIns="0" tIns="0" rIns="0" bIns="0" rtlCol="0" anchor="t"/>
          <a:lstStyle/>
          <a:p>
            <a:pPr algn="l" indent="0" marL="0">
              <a:lnSpc>
                <a:spcPct val="120000"/>
              </a:lnSpc>
              <a:buNone/>
            </a:pPr>
            <a:r>
              <a:rPr lang="en-US" sz="1150" b="1" dirty="0">
                <a:solidFill>
                  <a:srgbClr val="F9BF29"/>
                </a:solidFill>
                <a:latin typeface="Calibri" pitchFamily="34" charset="0"/>
                <a:ea typeface="Calibri" pitchFamily="34" charset="-122"/>
                <a:cs typeface="Calibri" pitchFamily="34" charset="-120"/>
              </a:rPr>
              <a:t>What follows</a:t>
            </a:r>
            <a:endParaRPr lang="en-US" sz="1150" dirty="0"/>
          </a:p>
        </p:txBody>
      </p:sp>
      <p:sp>
        <p:nvSpPr>
          <p:cNvPr id="66" name="Text 64"/>
          <p:cNvSpPr txBox="1"/>
          <p:nvPr/>
        </p:nvSpPr>
        <p:spPr>
          <a:xfrm>
            <a:off x="8247888" y="5102352"/>
            <a:ext cx="3127248" cy="859536"/>
          </a:xfrm>
          <a:prstGeom prst="rect">
            <a:avLst/>
          </a:prstGeom>
          <a:noFill/>
          <a:ln/>
        </p:spPr>
        <p:txBody>
          <a:bodyPr wrap="square" lIns="0" tIns="0" rIns="0" bIns="0" rtlCol="0" anchor="t"/>
          <a:lstStyle/>
          <a:p>
            <a:pPr algn="l" indent="0" marL="0">
              <a:lnSpc>
                <a:spcPct val="112000"/>
              </a:lnSpc>
              <a:buNone/>
            </a:pPr>
            <a:r>
              <a:rPr lang="en-US" sz="950" dirty="0">
                <a:solidFill>
                  <a:srgbClr val="8CA096"/>
                </a:solidFill>
                <a:latin typeface="Calibri" pitchFamily="34" charset="0"/>
                <a:ea typeface="Calibri" pitchFamily="34" charset="-122"/>
                <a:cs typeface="Calibri" pitchFamily="34" charset="-120"/>
              </a:rPr>
              <a:t>The fine-tune should not ship as default without mitigation. Strengthen the prompt's scope rules and re-run, or rebalance the dataset and re-tune. Retrieval already refuses these questions at its own layer, but that governs retrieved material, not what the model says unaided.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HARDWARE AND PLACEMENT</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EFF2F1"/>
                </a:solidFill>
                <a:latin typeface="Arial" pitchFamily="34" charset="0"/>
                <a:ea typeface="Arial" pitchFamily="34" charset="-122"/>
                <a:cs typeface="Arial" pitchFamily="34" charset="-120"/>
              </a:rPr>
              <a:t>Two modes, </a:t>
            </a:r>
            <a:pPr indent="0" marL="0">
              <a:lnSpc>
                <a:spcPct val="103000"/>
              </a:lnSpc>
              <a:buNone/>
            </a:pPr>
            <a:r>
              <a:rPr lang="en-US" sz="3400" b="1" dirty="0">
                <a:solidFill>
                  <a:srgbClr val="F9BF29"/>
                </a:solidFill>
                <a:latin typeface="Arial" pitchFamily="34" charset="0"/>
                <a:ea typeface="Arial" pitchFamily="34" charset="-122"/>
                <a:cs typeface="Arial" pitchFamily="34" charset="-120"/>
              </a:rPr>
              <a:t>one 8 GB card</a:t>
            </a:r>
            <a:endParaRPr lang="en-US" sz="34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docs/M12_COMPARISON.md  ·  docs/M1_BRINGUP_LOG.md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22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89888"/>
            <a:ext cx="91440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This is the constraint that explains the placement of every component — and, it turns out, the one that governs latency in the shipped product.</a:t>
            </a:r>
            <a:endParaRPr lang="en-US" sz="1500" dirty="0"/>
          </a:p>
        </p:txBody>
      </p:sp>
      <p:sp>
        <p:nvSpPr>
          <p:cNvPr id="11" name="Shape 9"/>
          <p:cNvSpPr/>
          <p:nvPr/>
        </p:nvSpPr>
        <p:spPr>
          <a:xfrm>
            <a:off x="658368" y="2048256"/>
            <a:ext cx="5870448" cy="2011680"/>
          </a:xfrm>
          <a:prstGeom prst="roundRect">
            <a:avLst>
              <a:gd name="adj" fmla="val 7273"/>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14400" y="2176272"/>
            <a:ext cx="512064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RTX 5050 MOBILE  ·  8.15 GB USABLE</a:t>
            </a:r>
            <a:endParaRPr lang="en-US" sz="950" dirty="0"/>
          </a:p>
        </p:txBody>
      </p:sp>
      <p:sp>
        <p:nvSpPr>
          <p:cNvPr id="13" name="Shape 11"/>
          <p:cNvSpPr/>
          <p:nvPr/>
        </p:nvSpPr>
        <p:spPr>
          <a:xfrm>
            <a:off x="914400" y="2505456"/>
            <a:ext cx="5358384" cy="512064"/>
          </a:xfrm>
          <a:prstGeom prst="roundRect">
            <a:avLst>
              <a:gd name="adj" fmla="val 17857"/>
            </a:avLst>
          </a:prstGeom>
          <a:solidFill>
            <a:srgbClr val="1B2621">
              <a:alpha val="80000"/>
            </a:srgbClr>
          </a:solidFill>
          <a:ln w="12700">
            <a:solidFill>
              <a:srgbClr val="33463D"/>
            </a:solidFill>
            <a:prstDash val="solid"/>
          </a:ln>
        </p:spPr>
      </p:sp>
      <p:sp>
        <p:nvSpPr>
          <p:cNvPr id="14" name="Shape 12"/>
          <p:cNvSpPr/>
          <p:nvPr/>
        </p:nvSpPr>
        <p:spPr>
          <a:xfrm>
            <a:off x="914400" y="2505456"/>
            <a:ext cx="5062522" cy="512064"/>
          </a:xfrm>
          <a:prstGeom prst="roundRect">
            <a:avLst>
              <a:gd name="adj" fmla="val 17857"/>
            </a:avLst>
          </a:prstGeom>
          <a:solidFill>
            <a:srgbClr val="F9BF29"/>
          </a:solidFill>
          <a:ln/>
        </p:spPr>
      </p:sp>
      <p:sp>
        <p:nvSpPr>
          <p:cNvPr id="15" name="Text 13"/>
          <p:cNvSpPr txBox="1"/>
          <p:nvPr/>
        </p:nvSpPr>
        <p:spPr>
          <a:xfrm>
            <a:off x="914400" y="2505456"/>
            <a:ext cx="5358384" cy="512064"/>
          </a:xfrm>
          <a:prstGeom prst="rect">
            <a:avLst/>
          </a:prstGeom>
          <a:noFill/>
          <a:ln/>
        </p:spPr>
        <p:txBody>
          <a:bodyPr wrap="square" lIns="0" tIns="0" rIns="0" bIns="0" rtlCol="0" anchor="ctr"/>
          <a:lstStyle/>
          <a:p>
            <a:pPr algn="l" indent="0" marL="0">
              <a:buNone/>
            </a:pPr>
            <a:r>
              <a:rPr lang="en-US" sz="1100" b="1" dirty="0">
                <a:solidFill>
                  <a:srgbClr val="0A0F0D"/>
                </a:solidFill>
                <a:latin typeface="Courier New" pitchFamily="34" charset="0"/>
                <a:ea typeface="Courier New" pitchFamily="34" charset="-122"/>
                <a:cs typeface="Courier New" pitchFamily="34" charset="-120"/>
              </a:rPr>
              <a:t>  Moshi q8 + Mimi, resident    7.7 GB</a:t>
            </a:r>
            <a:endParaRPr lang="en-US" sz="1100" dirty="0"/>
          </a:p>
        </p:txBody>
      </p:sp>
      <p:sp>
        <p:nvSpPr>
          <p:cNvPr id="16" name="Text 14"/>
          <p:cNvSpPr txBox="1"/>
          <p:nvPr/>
        </p:nvSpPr>
        <p:spPr>
          <a:xfrm>
            <a:off x="914400" y="3127248"/>
            <a:ext cx="5358384" cy="438912"/>
          </a:xfrm>
          <a:prstGeom prst="rect">
            <a:avLst/>
          </a:prstGeom>
          <a:noFill/>
          <a:ln/>
        </p:spPr>
        <p:txBody>
          <a:bodyPr wrap="square" lIns="0" tIns="0" rIns="0" bIns="0" rtlCol="0" anchor="t"/>
          <a:lstStyle/>
          <a:p>
            <a:pPr algn="l" indent="0" marL="0">
              <a:lnSpc>
                <a:spcPct val="114000"/>
              </a:lnSpc>
              <a:buNone/>
            </a:pPr>
            <a:r>
              <a:rPr lang="en-US" sz="1100" dirty="0">
                <a:solidFill>
                  <a:srgbClr val="8CA096"/>
                </a:solidFill>
                <a:latin typeface="Calibri" pitchFamily="34" charset="0"/>
                <a:ea typeface="Calibri" pitchFamily="34" charset="-122"/>
                <a:cs typeface="Calibri" pitchFamily="34" charset="-120"/>
              </a:rPr>
              <a:t>The plan budgeted 5.5–6.0 GB at q4. No q4 configuration ships upstream, so q8 is what runs, and it leaves about 450 MB.</a:t>
            </a:r>
            <a:endParaRPr lang="en-US" sz="1100" dirty="0"/>
          </a:p>
        </p:txBody>
      </p:sp>
      <p:sp>
        <p:nvSpPr>
          <p:cNvPr id="17" name="Text 15"/>
          <p:cNvSpPr txBox="1"/>
          <p:nvPr/>
        </p:nvSpPr>
        <p:spPr>
          <a:xfrm>
            <a:off x="914400" y="3584448"/>
            <a:ext cx="5358384" cy="402336"/>
          </a:xfrm>
          <a:prstGeom prst="rect">
            <a:avLst/>
          </a:prstGeom>
          <a:noFill/>
          <a:ln/>
        </p:spPr>
        <p:txBody>
          <a:bodyPr wrap="square" lIns="0" tIns="0" rIns="0" bIns="0" rtlCol="0" anchor="t"/>
          <a:lstStyle/>
          <a:p>
            <a:pPr algn="l" indent="0" marL="0">
              <a:lnSpc>
                <a:spcPct val="114000"/>
              </a:lnSpc>
              <a:buNone/>
            </a:pPr>
            <a:r>
              <a:rPr lang="en-US" sz="1100" dirty="0">
                <a:solidFill>
                  <a:srgbClr val="DCE5E4"/>
                </a:solidFill>
                <a:latin typeface="Calibri" pitchFamily="34" charset="0"/>
                <a:ea typeface="Calibri" pitchFamily="34" charset="-122"/>
                <a:cs typeface="Calibri" pitchFamily="34" charset="-120"/>
              </a:rPr>
              <a:t>So the cascade runs on CPU. Swapping models on every mode change would add seconds of stall to each switch.</a:t>
            </a:r>
            <a:endParaRPr lang="en-US" sz="1100" dirty="0"/>
          </a:p>
        </p:txBody>
      </p:sp>
      <p:sp>
        <p:nvSpPr>
          <p:cNvPr id="18" name="Shape 16"/>
          <p:cNvSpPr/>
          <p:nvPr/>
        </p:nvSpPr>
        <p:spPr>
          <a:xfrm>
            <a:off x="6784848" y="2048256"/>
            <a:ext cx="4745736" cy="2011680"/>
          </a:xfrm>
          <a:prstGeom prst="roundRect">
            <a:avLst>
              <a:gd name="adj" fmla="val 7273"/>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9" name="Text 17"/>
          <p:cNvSpPr txBox="1"/>
          <p:nvPr/>
        </p:nvSpPr>
        <p:spPr>
          <a:xfrm>
            <a:off x="7004304" y="2176272"/>
            <a:ext cx="420624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EVERYTHING ELSE, ON CPU</a:t>
            </a:r>
            <a:endParaRPr lang="en-US" sz="950" dirty="0"/>
          </a:p>
        </p:txBody>
      </p:sp>
      <p:sp>
        <p:nvSpPr>
          <p:cNvPr id="20" name="Text 18"/>
          <p:cNvSpPr txBox="1"/>
          <p:nvPr/>
        </p:nvSpPr>
        <p:spPr>
          <a:xfrm>
            <a:off x="7004304" y="2450592"/>
            <a:ext cx="2834640" cy="237744"/>
          </a:xfrm>
          <a:prstGeom prst="rect">
            <a:avLst/>
          </a:prstGeom>
          <a:noFill/>
          <a:ln/>
        </p:spPr>
        <p:txBody>
          <a:bodyPr wrap="square" lIns="0" tIns="0" rIns="0" bIns="0" rtlCol="0" anchor="t"/>
          <a:lstStyle/>
          <a:p>
            <a:pPr algn="l" indent="0" marL="0">
              <a:lnSpc>
                <a:spcPct val="120000"/>
              </a:lnSpc>
              <a:buNone/>
            </a:pPr>
            <a:r>
              <a:rPr lang="en-US" sz="1100" dirty="0">
                <a:solidFill>
                  <a:srgbClr val="DCE5E4"/>
                </a:solidFill>
                <a:latin typeface="Calibri" pitchFamily="34" charset="0"/>
                <a:ea typeface="Calibri" pitchFamily="34" charset="-122"/>
                <a:cs typeface="Calibri" pitchFamily="34" charset="-120"/>
              </a:rPr>
              <a:t>Whisper base int8</a:t>
            </a:r>
            <a:endParaRPr lang="en-US" sz="1100" dirty="0"/>
          </a:p>
        </p:txBody>
      </p:sp>
      <p:sp>
        <p:nvSpPr>
          <p:cNvPr id="21" name="Text 19"/>
          <p:cNvSpPr txBox="1"/>
          <p:nvPr/>
        </p:nvSpPr>
        <p:spPr>
          <a:xfrm>
            <a:off x="9784080" y="2450592"/>
            <a:ext cx="1554480" cy="237744"/>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~600 ms</a:t>
            </a:r>
            <a:endParaRPr lang="en-US" sz="900" dirty="0"/>
          </a:p>
        </p:txBody>
      </p:sp>
      <p:sp>
        <p:nvSpPr>
          <p:cNvPr id="22" name="Text 20"/>
          <p:cNvSpPr txBox="1"/>
          <p:nvPr/>
        </p:nvSpPr>
        <p:spPr>
          <a:xfrm>
            <a:off x="7004304" y="2724912"/>
            <a:ext cx="2834640" cy="237744"/>
          </a:xfrm>
          <a:prstGeom prst="rect">
            <a:avLst/>
          </a:prstGeom>
          <a:noFill/>
          <a:ln/>
        </p:spPr>
        <p:txBody>
          <a:bodyPr wrap="square" lIns="0" tIns="0" rIns="0" bIns="0" rtlCol="0" anchor="t"/>
          <a:lstStyle/>
          <a:p>
            <a:pPr algn="l" indent="0" marL="0">
              <a:lnSpc>
                <a:spcPct val="120000"/>
              </a:lnSpc>
              <a:buNone/>
            </a:pPr>
            <a:r>
              <a:rPr lang="en-US" sz="1100" dirty="0">
                <a:solidFill>
                  <a:srgbClr val="DCE5E4"/>
                </a:solidFill>
                <a:latin typeface="Calibri" pitchFamily="34" charset="0"/>
                <a:ea typeface="Calibri" pitchFamily="34" charset="-122"/>
                <a:cs typeface="Calibri" pitchFamily="34" charset="-120"/>
              </a:rPr>
              <a:t>wav2vec2 dysfluency head</a:t>
            </a:r>
            <a:endParaRPr lang="en-US" sz="1100" dirty="0"/>
          </a:p>
        </p:txBody>
      </p:sp>
      <p:sp>
        <p:nvSpPr>
          <p:cNvPr id="23" name="Text 21"/>
          <p:cNvSpPr txBox="1"/>
          <p:nvPr/>
        </p:nvSpPr>
        <p:spPr>
          <a:xfrm>
            <a:off x="9784080" y="2724912"/>
            <a:ext cx="1554480" cy="237744"/>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3 s windows</a:t>
            </a:r>
            <a:endParaRPr lang="en-US" sz="900" dirty="0"/>
          </a:p>
        </p:txBody>
      </p:sp>
      <p:sp>
        <p:nvSpPr>
          <p:cNvPr id="24" name="Text 22"/>
          <p:cNvSpPr txBox="1"/>
          <p:nvPr/>
        </p:nvSpPr>
        <p:spPr>
          <a:xfrm>
            <a:off x="7004304" y="2999232"/>
            <a:ext cx="2834640" cy="237744"/>
          </a:xfrm>
          <a:prstGeom prst="rect">
            <a:avLst/>
          </a:prstGeom>
          <a:noFill/>
          <a:ln/>
        </p:spPr>
        <p:txBody>
          <a:bodyPr wrap="square" lIns="0" tIns="0" rIns="0" bIns="0" rtlCol="0" anchor="t"/>
          <a:lstStyle/>
          <a:p>
            <a:pPr algn="l" indent="0" marL="0">
              <a:lnSpc>
                <a:spcPct val="120000"/>
              </a:lnSpc>
              <a:buNone/>
            </a:pPr>
            <a:r>
              <a:rPr lang="en-US" sz="1100" dirty="0">
                <a:solidFill>
                  <a:srgbClr val="DCE5E4"/>
                </a:solidFill>
                <a:latin typeface="Calibri" pitchFamily="34" charset="0"/>
                <a:ea typeface="Calibri" pitchFamily="34" charset="-122"/>
                <a:cs typeface="Calibri" pitchFamily="34" charset="-120"/>
              </a:rPr>
              <a:t>Qwen2.5-3B Q4_K_M</a:t>
            </a:r>
            <a:endParaRPr lang="en-US" sz="1100" dirty="0"/>
          </a:p>
        </p:txBody>
      </p:sp>
      <p:sp>
        <p:nvSpPr>
          <p:cNvPr id="25" name="Text 23"/>
          <p:cNvSpPr txBox="1"/>
          <p:nvPr/>
        </p:nvSpPr>
        <p:spPr>
          <a:xfrm>
            <a:off x="9784080" y="2999232"/>
            <a:ext cx="1554480" cy="237744"/>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3.33 GB RSS</a:t>
            </a:r>
            <a:endParaRPr lang="en-US" sz="900" dirty="0"/>
          </a:p>
        </p:txBody>
      </p:sp>
      <p:sp>
        <p:nvSpPr>
          <p:cNvPr id="26" name="Text 24"/>
          <p:cNvSpPr txBox="1"/>
          <p:nvPr/>
        </p:nvSpPr>
        <p:spPr>
          <a:xfrm>
            <a:off x="7004304" y="3273552"/>
            <a:ext cx="2834640" cy="237744"/>
          </a:xfrm>
          <a:prstGeom prst="rect">
            <a:avLst/>
          </a:prstGeom>
          <a:noFill/>
          <a:ln/>
        </p:spPr>
        <p:txBody>
          <a:bodyPr wrap="square" lIns="0" tIns="0" rIns="0" bIns="0" rtlCol="0" anchor="t"/>
          <a:lstStyle/>
          <a:p>
            <a:pPr algn="l" indent="0" marL="0">
              <a:lnSpc>
                <a:spcPct val="120000"/>
              </a:lnSpc>
              <a:buNone/>
            </a:pPr>
            <a:r>
              <a:rPr lang="en-US" sz="1100" dirty="0">
                <a:solidFill>
                  <a:srgbClr val="DCE5E4"/>
                </a:solidFill>
                <a:latin typeface="Calibri" pitchFamily="34" charset="0"/>
                <a:ea typeface="Calibri" pitchFamily="34" charset="-122"/>
                <a:cs typeface="Calibri" pitchFamily="34" charset="-120"/>
              </a:rPr>
              <a:t>bge-small + ChromaDB</a:t>
            </a:r>
            <a:endParaRPr lang="en-US" sz="1100" dirty="0"/>
          </a:p>
        </p:txBody>
      </p:sp>
      <p:sp>
        <p:nvSpPr>
          <p:cNvPr id="27" name="Text 25"/>
          <p:cNvSpPr txBox="1"/>
          <p:nvPr/>
        </p:nvSpPr>
        <p:spPr>
          <a:xfrm>
            <a:off x="9784080" y="3273552"/>
            <a:ext cx="1554480" cy="237744"/>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25 ms warm</a:t>
            </a:r>
            <a:endParaRPr lang="en-US" sz="900" dirty="0"/>
          </a:p>
        </p:txBody>
      </p:sp>
      <p:sp>
        <p:nvSpPr>
          <p:cNvPr id="28" name="Text 26"/>
          <p:cNvSpPr txBox="1"/>
          <p:nvPr/>
        </p:nvSpPr>
        <p:spPr>
          <a:xfrm>
            <a:off x="7004304" y="3547872"/>
            <a:ext cx="2834640" cy="237744"/>
          </a:xfrm>
          <a:prstGeom prst="rect">
            <a:avLst/>
          </a:prstGeom>
          <a:noFill/>
          <a:ln/>
        </p:spPr>
        <p:txBody>
          <a:bodyPr wrap="square" lIns="0" tIns="0" rIns="0" bIns="0" rtlCol="0" anchor="t"/>
          <a:lstStyle/>
          <a:p>
            <a:pPr algn="l" indent="0" marL="0">
              <a:lnSpc>
                <a:spcPct val="120000"/>
              </a:lnSpc>
              <a:buNone/>
            </a:pPr>
            <a:r>
              <a:rPr lang="en-US" sz="1100" dirty="0">
                <a:solidFill>
                  <a:srgbClr val="DCE5E4"/>
                </a:solidFill>
                <a:latin typeface="Calibri" pitchFamily="34" charset="0"/>
                <a:ea typeface="Calibri" pitchFamily="34" charset="-122"/>
                <a:cs typeface="Calibri" pitchFamily="34" charset="-120"/>
              </a:rPr>
              <a:t>Kokoro-82M TTS</a:t>
            </a:r>
            <a:endParaRPr lang="en-US" sz="1100" dirty="0"/>
          </a:p>
        </p:txBody>
      </p:sp>
      <p:sp>
        <p:nvSpPr>
          <p:cNvPr id="29" name="Text 27"/>
          <p:cNvSpPr txBox="1"/>
          <p:nvPr/>
        </p:nvSpPr>
        <p:spPr>
          <a:xfrm>
            <a:off x="9784080" y="3547872"/>
            <a:ext cx="1554480" cy="237744"/>
          </a:xfrm>
          <a:prstGeom prst="rect">
            <a:avLst/>
          </a:prstGeom>
          <a:noFill/>
          <a:ln/>
        </p:spPr>
        <p:txBody>
          <a:bodyPr wrap="square" lIns="0" tIns="0" rIns="0" bIns="0" rtlCol="0" anchor="ctr"/>
          <a:lstStyle/>
          <a:p>
            <a:pPr algn="r" indent="0" marL="0">
              <a:buNone/>
            </a:pPr>
            <a:r>
              <a:rPr lang="en-US" sz="900" dirty="0">
                <a:solidFill>
                  <a:srgbClr val="5D7268"/>
                </a:solidFill>
                <a:latin typeface="Courier New" pitchFamily="34" charset="0"/>
                <a:ea typeface="Courier New" pitchFamily="34" charset="-122"/>
                <a:cs typeface="Courier New" pitchFamily="34" charset="-120"/>
              </a:rPr>
              <a:t>82M params</a:t>
            </a:r>
            <a:endParaRPr lang="en-US" sz="900" dirty="0"/>
          </a:p>
        </p:txBody>
      </p:sp>
      <p:sp>
        <p:nvSpPr>
          <p:cNvPr id="30" name="Text 28"/>
          <p:cNvSpPr txBox="1"/>
          <p:nvPr/>
        </p:nvSpPr>
        <p:spPr>
          <a:xfrm>
            <a:off x="7004304" y="3803904"/>
            <a:ext cx="4297680" cy="201168"/>
          </a:xfrm>
          <a:prstGeom prst="rect">
            <a:avLst/>
          </a:prstGeom>
          <a:noFill/>
          <a:ln/>
        </p:spPr>
        <p:txBody>
          <a:bodyPr wrap="square" lIns="0" tIns="0" rIns="0" bIns="0" rtlCol="0" anchor="ctr"/>
          <a:lstStyle/>
          <a:p>
            <a:pPr algn="r" indent="0" marL="0">
              <a:buNone/>
            </a:pPr>
            <a:r>
              <a:rPr lang="en-US" sz="1000" b="1" dirty="0">
                <a:solidFill>
                  <a:srgbClr val="6F9C8A"/>
                </a:solidFill>
                <a:latin typeface="Courier New" pitchFamily="34" charset="0"/>
                <a:ea typeface="Courier New" pitchFamily="34" charset="-122"/>
                <a:cs typeface="Courier New" pitchFamily="34" charset="-120"/>
              </a:rPr>
              <a:t>0 GB VRAM, all of it</a:t>
            </a:r>
            <a:endParaRPr lang="en-US" sz="1000" dirty="0"/>
          </a:p>
        </p:txBody>
      </p:sp>
      <p:sp>
        <p:nvSpPr>
          <p:cNvPr id="31" name="Shape 29"/>
          <p:cNvSpPr/>
          <p:nvPr/>
        </p:nvSpPr>
        <p:spPr>
          <a:xfrm>
            <a:off x="658368" y="4261104"/>
            <a:ext cx="10874959" cy="1773936"/>
          </a:xfrm>
          <a:prstGeom prst="roundRect">
            <a:avLst>
              <a:gd name="adj" fmla="val 8247"/>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32" name="Text 30"/>
          <p:cNvSpPr txBox="1"/>
          <p:nvPr/>
        </p:nvSpPr>
        <p:spPr>
          <a:xfrm>
            <a:off x="932688" y="4407408"/>
            <a:ext cx="548640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WHAT THE COMPARISON ACTUALLY FOUND</a:t>
            </a:r>
            <a:endParaRPr lang="en-US" sz="950" dirty="0"/>
          </a:p>
        </p:txBody>
      </p:sp>
      <p:sp>
        <p:nvSpPr>
          <p:cNvPr id="33" name="Text 31"/>
          <p:cNvSpPr txBox="1"/>
          <p:nvPr/>
        </p:nvSpPr>
        <p:spPr>
          <a:xfrm>
            <a:off x="932688" y="4663440"/>
            <a:ext cx="10326319" cy="1298448"/>
          </a:xfrm>
          <a:prstGeom prst="rect">
            <a:avLst/>
          </a:prstGeom>
          <a:noFill/>
          <a:ln/>
        </p:spPr>
        <p:txBody>
          <a:bodyPr wrap="square" lIns="0" tIns="0" rIns="0" bIns="0" rtlCol="0" anchor="t"/>
          <a:lstStyle/>
          <a:p>
            <a:pPr indent="0" marL="0">
              <a:lnSpc>
                <a:spcPct val="118000"/>
              </a:lnSpc>
              <a:buNone/>
            </a:pPr>
            <a:r>
              <a:rPr lang="en-US" sz="1300" dirty="0">
                <a:solidFill>
                  <a:srgbClr val="DCE5E4"/>
                </a:solidFill>
                <a:latin typeface="Calibri" pitchFamily="34" charset="0"/>
                <a:ea typeface="Calibri" pitchFamily="34" charset="-122"/>
                <a:cs typeface="Calibri" pitchFamily="34" charset="-120"/>
              </a:rPr>
              <a:t>The measurements overturned the assumption this project was planned on. Moshi is not 200 ms, it is 2.0 s. And the cascade is not inherently slow: its generation stage answers in ~1.4 s when it has the GPU, which is competitive with Moshi and possibly faster.
</a:t>
            </a:r>
            <a:pPr indent="0" marL="0">
              <a:lnSpc>
                <a:spcPct val="118000"/>
              </a:lnSpc>
              <a:buNone/>
            </a:pPr>
            <a:r>
              <a:rPr lang="en-US" sz="1300" b="1" dirty="0">
                <a:solidFill>
                  <a:srgbClr val="EFF2F1"/>
                </a:solidFill>
                <a:latin typeface="Calibri" pitchFamily="34" charset="0"/>
                <a:ea typeface="Calibri" pitchFamily="34" charset="-122"/>
                <a:cs typeface="Calibri" pitchFamily="34" charset="-120"/>
              </a:rPr>
              <a:t>So “native S2S is fast, the cascade is slow” is not a claim our own numbers support. The two modes contend for one 8 GB card, and that contention — not either model's intrinsic speed — is what governs latency in the shipped product. It is the finding to take from this section.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BACKEND, CONTRACT AND PRIVACY</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EFF2F1"/>
                </a:solidFill>
                <a:latin typeface="Arial" pitchFamily="34" charset="0"/>
                <a:ea typeface="Arial" pitchFamily="34" charset="-122"/>
                <a:cs typeface="Arial" pitchFamily="34" charset="-120"/>
              </a:rPr>
              <a:t>Practice transcripts are personal</a:t>
            </a:r>
            <a:endParaRPr lang="en-US" sz="34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backend/app/services/auth.py  ·  api/ws_auth.py  ·  docs/PROTOCOL.md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23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89888"/>
            <a:ext cx="1024128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Someone rehearsing a job interview is recording their most anxious speech. That is not ordinary application data, and it changes what the backend has to guarantee.</a:t>
            </a:r>
            <a:endParaRPr lang="en-US" sz="1500" dirty="0"/>
          </a:p>
        </p:txBody>
      </p:sp>
      <p:sp>
        <p:nvSpPr>
          <p:cNvPr id="11" name="Shape 9"/>
          <p:cNvSpPr/>
          <p:nvPr/>
        </p:nvSpPr>
        <p:spPr>
          <a:xfrm>
            <a:off x="658368" y="2084832"/>
            <a:ext cx="3529584" cy="3895344"/>
          </a:xfrm>
          <a:prstGeom prst="roundRect">
            <a:avLst>
              <a:gd name="adj" fmla="val 4145"/>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877824" y="2231136"/>
            <a:ext cx="310896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WHY FASTAPI</a:t>
            </a:r>
            <a:endParaRPr lang="en-US" sz="950" dirty="0"/>
          </a:p>
        </p:txBody>
      </p:sp>
      <p:sp>
        <p:nvSpPr>
          <p:cNvPr id="13" name="Text 11"/>
          <p:cNvSpPr txBox="1"/>
          <p:nvPr/>
        </p:nvSpPr>
        <p:spPr>
          <a:xfrm>
            <a:off x="877824" y="2523744"/>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EFF2F1"/>
                </a:solidFill>
                <a:latin typeface="Calibri" pitchFamily="34" charset="0"/>
                <a:ea typeface="Calibri" pitchFamily="34" charset="-122"/>
                <a:cs typeface="Calibri" pitchFamily="34" charset="-120"/>
              </a:rPr>
              <a:t>Async is not optional here</a:t>
            </a:r>
            <a:endParaRPr lang="en-US" sz="1200" dirty="0"/>
          </a:p>
        </p:txBody>
      </p:sp>
      <p:sp>
        <p:nvSpPr>
          <p:cNvPr id="14" name="Text 12"/>
          <p:cNvSpPr txBox="1"/>
          <p:nvPr/>
        </p:nvSpPr>
        <p:spPr>
          <a:xfrm>
            <a:off x="877824" y="2761488"/>
            <a:ext cx="3090672" cy="585216"/>
          </a:xfrm>
          <a:prstGeom prst="rect">
            <a:avLst/>
          </a:prstGeom>
          <a:noFill/>
          <a:ln/>
        </p:spPr>
        <p:txBody>
          <a:bodyPr wrap="square" lIns="0" tIns="0" rIns="0" bIns="0" rtlCol="0" anchor="t"/>
          <a:lstStyle/>
          <a:p>
            <a:pPr algn="l" indent="0" marL="0">
              <a:lnSpc>
                <a:spcPct val="113000"/>
              </a:lnSpc>
              <a:buNone/>
            </a:pPr>
            <a:r>
              <a:rPr lang="en-US" sz="1050" dirty="0">
                <a:solidFill>
                  <a:srgbClr val="8CA096"/>
                </a:solidFill>
                <a:latin typeface="Calibri" pitchFamily="34" charset="0"/>
                <a:ea typeface="Calibri" pitchFamily="34" charset="-122"/>
                <a:cs typeface="Calibri" pitchFamily="34" charset="-120"/>
              </a:rPr>
              <a:t>A turn is mostly waiting — on Whisper, on retrieval, on a model generating for seconds. Async lets one worker hold many of those without a thread each.</a:t>
            </a:r>
            <a:endParaRPr lang="en-US" sz="1050" dirty="0"/>
          </a:p>
        </p:txBody>
      </p:sp>
      <p:sp>
        <p:nvSpPr>
          <p:cNvPr id="15" name="Text 13"/>
          <p:cNvSpPr txBox="1"/>
          <p:nvPr/>
        </p:nvSpPr>
        <p:spPr>
          <a:xfrm>
            <a:off x="877824" y="3383280"/>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EFF2F1"/>
                </a:solidFill>
                <a:latin typeface="Calibri" pitchFamily="34" charset="0"/>
                <a:ea typeface="Calibri" pitchFamily="34" charset="-122"/>
                <a:cs typeface="Calibri" pitchFamily="34" charset="-120"/>
              </a:rPr>
              <a:t>WebSockets in the same app</a:t>
            </a:r>
            <a:endParaRPr lang="en-US" sz="1200" dirty="0"/>
          </a:p>
        </p:txBody>
      </p:sp>
      <p:sp>
        <p:nvSpPr>
          <p:cNvPr id="16" name="Text 14"/>
          <p:cNvSpPr txBox="1"/>
          <p:nvPr/>
        </p:nvSpPr>
        <p:spPr>
          <a:xfrm>
            <a:off x="877824" y="3621024"/>
            <a:ext cx="3090672" cy="585216"/>
          </a:xfrm>
          <a:prstGeom prst="rect">
            <a:avLst/>
          </a:prstGeom>
          <a:noFill/>
          <a:ln/>
        </p:spPr>
        <p:txBody>
          <a:bodyPr wrap="square" lIns="0" tIns="0" rIns="0" bIns="0" rtlCol="0" anchor="t"/>
          <a:lstStyle/>
          <a:p>
            <a:pPr algn="l" indent="0" marL="0">
              <a:lnSpc>
                <a:spcPct val="113000"/>
              </a:lnSpc>
              <a:buNone/>
            </a:pPr>
            <a:r>
              <a:rPr lang="en-US" sz="1050" dirty="0">
                <a:solidFill>
                  <a:srgbClr val="8CA096"/>
                </a:solidFill>
                <a:latin typeface="Calibri" pitchFamily="34" charset="0"/>
                <a:ea typeface="Calibri" pitchFamily="34" charset="-122"/>
                <a:cs typeface="Calibri" pitchFamily="34" charset="-120"/>
              </a:rPr>
              <a:t>Both sockets and all 25 HTTP routes share one orchestrator, so a turn is implemented once rather than twice.</a:t>
            </a:r>
            <a:endParaRPr lang="en-US" sz="1050" dirty="0"/>
          </a:p>
        </p:txBody>
      </p:sp>
      <p:sp>
        <p:nvSpPr>
          <p:cNvPr id="17" name="Text 15"/>
          <p:cNvSpPr txBox="1"/>
          <p:nvPr/>
        </p:nvSpPr>
        <p:spPr>
          <a:xfrm>
            <a:off x="877824" y="4242816"/>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EFF2F1"/>
                </a:solidFill>
                <a:latin typeface="Calibri" pitchFamily="34" charset="0"/>
                <a:ea typeface="Calibri" pitchFamily="34" charset="-122"/>
                <a:cs typeface="Calibri" pitchFamily="34" charset="-120"/>
              </a:rPr>
              <a:t>The schema is the contract</a:t>
            </a:r>
            <a:endParaRPr lang="en-US" sz="1200" dirty="0"/>
          </a:p>
        </p:txBody>
      </p:sp>
      <p:sp>
        <p:nvSpPr>
          <p:cNvPr id="18" name="Text 16"/>
          <p:cNvSpPr txBox="1"/>
          <p:nvPr/>
        </p:nvSpPr>
        <p:spPr>
          <a:xfrm>
            <a:off x="877824" y="4480560"/>
            <a:ext cx="3090672" cy="585216"/>
          </a:xfrm>
          <a:prstGeom prst="rect">
            <a:avLst/>
          </a:prstGeom>
          <a:noFill/>
          <a:ln/>
        </p:spPr>
        <p:txBody>
          <a:bodyPr wrap="square" lIns="0" tIns="0" rIns="0" bIns="0" rtlCol="0" anchor="t"/>
          <a:lstStyle/>
          <a:p>
            <a:pPr algn="l" indent="0" marL="0">
              <a:lnSpc>
                <a:spcPct val="113000"/>
              </a:lnSpc>
              <a:buNone/>
            </a:pPr>
            <a:r>
              <a:rPr lang="en-US" sz="1050" dirty="0">
                <a:solidFill>
                  <a:srgbClr val="8CA096"/>
                </a:solidFill>
                <a:latin typeface="Calibri" pitchFamily="34" charset="0"/>
                <a:ea typeface="Calibri" pitchFamily="34" charset="-122"/>
                <a:cs typeface="Calibri" pitchFamily="34" charset="-120"/>
              </a:rPr>
              <a:t>OpenAPI is generated from the Pydantic models, the frontend's types are generated from that, and make check-types fails the build if either drifts.</a:t>
            </a:r>
            <a:endParaRPr lang="en-US" sz="1050" dirty="0"/>
          </a:p>
        </p:txBody>
      </p:sp>
      <p:sp>
        <p:nvSpPr>
          <p:cNvPr id="19" name="Text 17"/>
          <p:cNvSpPr txBox="1"/>
          <p:nvPr/>
        </p:nvSpPr>
        <p:spPr>
          <a:xfrm>
            <a:off x="877824" y="5102352"/>
            <a:ext cx="3090672" cy="237744"/>
          </a:xfrm>
          <a:prstGeom prst="rect">
            <a:avLst/>
          </a:prstGeom>
          <a:noFill/>
          <a:ln/>
        </p:spPr>
        <p:txBody>
          <a:bodyPr wrap="square" lIns="0" tIns="0" rIns="0" bIns="0" rtlCol="0" anchor="t"/>
          <a:lstStyle/>
          <a:p>
            <a:pPr algn="l" indent="0" marL="0">
              <a:lnSpc>
                <a:spcPct val="120000"/>
              </a:lnSpc>
              <a:buNone/>
            </a:pPr>
            <a:r>
              <a:rPr lang="en-US" sz="1200" b="1" dirty="0">
                <a:solidFill>
                  <a:srgbClr val="EFF2F1"/>
                </a:solidFill>
                <a:latin typeface="Calibri" pitchFamily="34" charset="0"/>
                <a:ea typeface="Calibri" pitchFamily="34" charset="-122"/>
                <a:cs typeface="Calibri" pitchFamily="34" charset="-120"/>
              </a:rPr>
              <a:t>Async SQLAlchemy + SQLite</a:t>
            </a:r>
            <a:endParaRPr lang="en-US" sz="1200" dirty="0"/>
          </a:p>
        </p:txBody>
      </p:sp>
      <p:sp>
        <p:nvSpPr>
          <p:cNvPr id="20" name="Text 18"/>
          <p:cNvSpPr txBox="1"/>
          <p:nvPr/>
        </p:nvSpPr>
        <p:spPr>
          <a:xfrm>
            <a:off x="877824" y="5340096"/>
            <a:ext cx="3090672" cy="585216"/>
          </a:xfrm>
          <a:prstGeom prst="rect">
            <a:avLst/>
          </a:prstGeom>
          <a:noFill/>
          <a:ln/>
        </p:spPr>
        <p:txBody>
          <a:bodyPr wrap="square" lIns="0" tIns="0" rIns="0" bIns="0" rtlCol="0" anchor="t"/>
          <a:lstStyle/>
          <a:p>
            <a:pPr algn="l" indent="0" marL="0">
              <a:lnSpc>
                <a:spcPct val="113000"/>
              </a:lnSpc>
              <a:buNone/>
            </a:pPr>
            <a:r>
              <a:rPr lang="en-US" sz="1050" dirty="0">
                <a:solidFill>
                  <a:srgbClr val="8CA096"/>
                </a:solidFill>
                <a:latin typeface="Calibri" pitchFamily="34" charset="0"/>
                <a:ea typeface="Calibri" pitchFamily="34" charset="-122"/>
                <a:cs typeface="Calibri" pitchFamily="34" charset="-120"/>
              </a:rPr>
              <a:t>One file, no server, correct for a single-user local product. The async session keeps persistence off the event loop.</a:t>
            </a:r>
            <a:endParaRPr lang="en-US" sz="1050" dirty="0"/>
          </a:p>
        </p:txBody>
      </p:sp>
      <p:sp>
        <p:nvSpPr>
          <p:cNvPr id="21" name="Shape 19"/>
          <p:cNvSpPr/>
          <p:nvPr/>
        </p:nvSpPr>
        <p:spPr>
          <a:xfrm>
            <a:off x="4443984" y="2084832"/>
            <a:ext cx="3529584" cy="3895344"/>
          </a:xfrm>
          <a:prstGeom prst="roundRect">
            <a:avLst>
              <a:gd name="adj" fmla="val 4145"/>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22" name="Text 20"/>
          <p:cNvSpPr txBox="1"/>
          <p:nvPr/>
        </p:nvSpPr>
        <p:spPr>
          <a:xfrm>
            <a:off x="4663440" y="2231136"/>
            <a:ext cx="310896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TWO KINDS OF TOKEN, ON PURPOSE</a:t>
            </a:r>
            <a:endParaRPr lang="en-US" sz="950" dirty="0"/>
          </a:p>
        </p:txBody>
      </p:sp>
      <p:sp>
        <p:nvSpPr>
          <p:cNvPr id="23" name="Text 21"/>
          <p:cNvSpPr txBox="1"/>
          <p:nvPr/>
        </p:nvSpPr>
        <p:spPr>
          <a:xfrm>
            <a:off x="4663440" y="2542032"/>
            <a:ext cx="3090672" cy="1097280"/>
          </a:xfrm>
          <a:prstGeom prst="rect">
            <a:avLst/>
          </a:prstGeom>
          <a:noFill/>
          <a:ln/>
        </p:spPr>
        <p:txBody>
          <a:bodyPr wrap="square" lIns="0" tIns="0" rIns="0" bIns="0" rtlCol="0" anchor="t"/>
          <a:lstStyle/>
          <a:p>
            <a:pPr algn="l" indent="0" marL="0">
              <a:lnSpc>
                <a:spcPct val="118000"/>
              </a:lnSpc>
              <a:buNone/>
            </a:pPr>
            <a:r>
              <a:rPr lang="en-US" sz="1150" dirty="0">
                <a:solidFill>
                  <a:srgbClr val="DCE5E4"/>
                </a:solidFill>
                <a:latin typeface="Calibri" pitchFamily="34" charset="0"/>
                <a:ea typeface="Calibri" pitchFamily="34" charset="-122"/>
                <a:cs typeface="Calibri" pitchFamily="34" charset="-120"/>
              </a:rPr>
              <a:t>The access token is a JWT: stateless, fast, and impossible to revoke. That last property is a real weakness for data like this, so it is compensated rather than ignored — it lives ten minutes, sits only in memory, and cannot renew itself.</a:t>
            </a:r>
            <a:endParaRPr lang="en-US" sz="1150" dirty="0"/>
          </a:p>
        </p:txBody>
      </p:sp>
      <p:sp>
        <p:nvSpPr>
          <p:cNvPr id="24" name="Shape 22"/>
          <p:cNvSpPr/>
          <p:nvPr/>
        </p:nvSpPr>
        <p:spPr>
          <a:xfrm>
            <a:off x="4663440" y="3730752"/>
            <a:ext cx="3090672" cy="0"/>
          </a:xfrm>
          <a:prstGeom prst="line">
            <a:avLst/>
          </a:prstGeom>
          <a:noFill/>
          <a:ln w="12700">
            <a:solidFill>
              <a:srgbClr val="223029"/>
            </a:solidFill>
            <a:prstDash val="solid"/>
          </a:ln>
        </p:spPr>
      </p:sp>
      <p:sp>
        <p:nvSpPr>
          <p:cNvPr id="25" name="Text 23"/>
          <p:cNvSpPr txBox="1"/>
          <p:nvPr/>
        </p:nvSpPr>
        <p:spPr>
          <a:xfrm>
            <a:off x="4663440" y="3840480"/>
            <a:ext cx="3090672" cy="1042416"/>
          </a:xfrm>
          <a:prstGeom prst="rect">
            <a:avLst/>
          </a:prstGeom>
          <a:noFill/>
          <a:ln/>
        </p:spPr>
        <p:txBody>
          <a:bodyPr wrap="square" lIns="0" tIns="0" rIns="0" bIns="0" rtlCol="0" anchor="t"/>
          <a:lstStyle/>
          <a:p>
            <a:pPr algn="l" indent="0" marL="0">
              <a:lnSpc>
                <a:spcPct val="118000"/>
              </a:lnSpc>
              <a:buNone/>
            </a:pPr>
            <a:r>
              <a:rPr lang="en-US" sz="1150" dirty="0">
                <a:solidFill>
                  <a:srgbClr val="DCE5E4"/>
                </a:solidFill>
                <a:latin typeface="Calibri" pitchFamily="34" charset="0"/>
                <a:ea typeface="Calibri" pitchFamily="34" charset="-122"/>
                <a:cs typeface="Calibri" pitchFamily="34" charset="-120"/>
              </a:rPr>
              <a:t>The refresh token is not a JWT at all. It is 32 random bytes, stored as a SHA-256, rotated on every use, and grouped into a family. All revocation power lives server-side, where the server actually controls it.</a:t>
            </a:r>
            <a:endParaRPr lang="en-US" sz="1150" dirty="0"/>
          </a:p>
        </p:txBody>
      </p:sp>
      <p:sp>
        <p:nvSpPr>
          <p:cNvPr id="26" name="Shape 24"/>
          <p:cNvSpPr/>
          <p:nvPr/>
        </p:nvSpPr>
        <p:spPr>
          <a:xfrm>
            <a:off x="4663440" y="4974336"/>
            <a:ext cx="3090672" cy="841248"/>
          </a:xfrm>
          <a:prstGeom prst="roundRect">
            <a:avLst>
              <a:gd name="adj" fmla="val 17391"/>
            </a:avLst>
          </a:prstGeom>
          <a:solidFill>
            <a:srgbClr val="FFD35C">
              <a:alpha val="12000"/>
            </a:srgbClr>
          </a:solidFill>
          <a:ln w="12700">
            <a:solidFill>
              <a:srgbClr val="223029"/>
            </a:solidFill>
            <a:prstDash val="solid"/>
          </a:ln>
        </p:spPr>
      </p:sp>
      <p:sp>
        <p:nvSpPr>
          <p:cNvPr id="27" name="Text 25"/>
          <p:cNvSpPr txBox="1"/>
          <p:nvPr/>
        </p:nvSpPr>
        <p:spPr>
          <a:xfrm>
            <a:off x="4791456" y="5065776"/>
            <a:ext cx="2834640" cy="676656"/>
          </a:xfrm>
          <a:prstGeom prst="rect">
            <a:avLst/>
          </a:prstGeom>
          <a:noFill/>
          <a:ln/>
        </p:spPr>
        <p:txBody>
          <a:bodyPr wrap="square" lIns="0" tIns="0" rIns="0" bIns="0" rtlCol="0" anchor="t"/>
          <a:lstStyle/>
          <a:p>
            <a:pPr algn="l" indent="0" marL="0">
              <a:lnSpc>
                <a:spcPct val="114000"/>
              </a:lnSpc>
              <a:buNone/>
            </a:pPr>
            <a:r>
              <a:rPr lang="en-US" sz="1100" b="1" dirty="0">
                <a:solidFill>
                  <a:srgbClr val="FFD35C"/>
                </a:solidFill>
                <a:latin typeface="Calibri" pitchFamily="34" charset="0"/>
                <a:ea typeface="Calibri" pitchFamily="34" charset="-122"/>
                <a:cs typeface="Calibri" pitchFamily="34" charset="-120"/>
              </a:rPr>
              <a:t>Presenting an already-rotated token is the signature of theft. It revokes the whole family, not the single leaf.</a:t>
            </a:r>
            <a:endParaRPr lang="en-US" sz="1100" dirty="0"/>
          </a:p>
        </p:txBody>
      </p:sp>
      <p:sp>
        <p:nvSpPr>
          <p:cNvPr id="28" name="Shape 26"/>
          <p:cNvSpPr/>
          <p:nvPr/>
        </p:nvSpPr>
        <p:spPr>
          <a:xfrm>
            <a:off x="8001000" y="2084832"/>
            <a:ext cx="3529584" cy="3895344"/>
          </a:xfrm>
          <a:prstGeom prst="roundRect">
            <a:avLst>
              <a:gd name="adj" fmla="val 4145"/>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9" name="Text 27"/>
          <p:cNvSpPr txBox="1"/>
          <p:nvPr/>
        </p:nvSpPr>
        <p:spPr>
          <a:xfrm>
            <a:off x="8220456" y="2231136"/>
            <a:ext cx="310896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THE REST OF THE SURFACE</a:t>
            </a:r>
            <a:endParaRPr lang="en-US" sz="950" dirty="0"/>
          </a:p>
        </p:txBody>
      </p:sp>
      <p:sp>
        <p:nvSpPr>
          <p:cNvPr id="30" name="Text 28"/>
          <p:cNvSpPr txBox="1"/>
          <p:nvPr/>
        </p:nvSpPr>
        <p:spPr>
          <a:xfrm>
            <a:off x="8220456" y="2523744"/>
            <a:ext cx="3090672" cy="219456"/>
          </a:xfrm>
          <a:prstGeom prst="rect">
            <a:avLst/>
          </a:prstGeom>
          <a:noFill/>
          <a:ln/>
        </p:spPr>
        <p:txBody>
          <a:bodyPr wrap="square" lIns="0" tIns="0" rIns="0" bIns="0" rtlCol="0" anchor="t"/>
          <a:lstStyle/>
          <a:p>
            <a:pPr algn="l" indent="0" marL="0">
              <a:lnSpc>
                <a:spcPct val="120000"/>
              </a:lnSpc>
              <a:buNone/>
            </a:pPr>
            <a:r>
              <a:rPr lang="en-US" sz="1100" b="1" dirty="0">
                <a:solidFill>
                  <a:srgbClr val="EFF2F1"/>
                </a:solidFill>
                <a:latin typeface="Calibri" pitchFamily="34" charset="0"/>
                <a:ea typeface="Calibri" pitchFamily="34" charset="-122"/>
                <a:cs typeface="Calibri" pitchFamily="34" charset="-120"/>
              </a:rPr>
              <a:t>argon2id at OWASP parameters</a:t>
            </a:r>
            <a:endParaRPr lang="en-US" sz="1100" dirty="0"/>
          </a:p>
        </p:txBody>
      </p:sp>
      <p:sp>
        <p:nvSpPr>
          <p:cNvPr id="31" name="Text 29"/>
          <p:cNvSpPr txBox="1"/>
          <p:nvPr/>
        </p:nvSpPr>
        <p:spPr>
          <a:xfrm>
            <a:off x="8220456" y="2724912"/>
            <a:ext cx="3090672" cy="274320"/>
          </a:xfrm>
          <a:prstGeom prst="rect">
            <a:avLst/>
          </a:prstGeom>
          <a:noFill/>
          <a:ln/>
        </p:spPr>
        <p:txBody>
          <a:bodyPr wrap="square" lIns="0" tIns="0" rIns="0" bIns="0" rtlCol="0" anchor="t"/>
          <a:lstStyle/>
          <a:p>
            <a:pPr algn="l" indent="0" marL="0">
              <a:lnSpc>
                <a:spcPct val="108000"/>
              </a:lnSpc>
              <a:buNone/>
            </a:pPr>
            <a:r>
              <a:rPr lang="en-US" sz="950" dirty="0">
                <a:solidFill>
                  <a:srgbClr val="8CA096"/>
                </a:solidFill>
                <a:latin typeface="Calibri" pitchFamily="34" charset="0"/>
                <a:ea typeface="Calibri" pitchFamily="34" charset="-122"/>
                <a:cs typeface="Calibri" pitchFamily="34" charset="-120"/>
              </a:rPr>
              <a:t>time 3, memory 64 MB, parallelism 4</a:t>
            </a:r>
            <a:endParaRPr lang="en-US" sz="950" dirty="0"/>
          </a:p>
        </p:txBody>
      </p:sp>
      <p:sp>
        <p:nvSpPr>
          <p:cNvPr id="32" name="Text 30"/>
          <p:cNvSpPr txBox="1"/>
          <p:nvPr/>
        </p:nvSpPr>
        <p:spPr>
          <a:xfrm>
            <a:off x="8220456" y="3017520"/>
            <a:ext cx="3090672" cy="219456"/>
          </a:xfrm>
          <a:prstGeom prst="rect">
            <a:avLst/>
          </a:prstGeom>
          <a:noFill/>
          <a:ln/>
        </p:spPr>
        <p:txBody>
          <a:bodyPr wrap="square" lIns="0" tIns="0" rIns="0" bIns="0" rtlCol="0" anchor="t"/>
          <a:lstStyle/>
          <a:p>
            <a:pPr algn="l" indent="0" marL="0">
              <a:lnSpc>
                <a:spcPct val="120000"/>
              </a:lnSpc>
              <a:buNone/>
            </a:pPr>
            <a:r>
              <a:rPr lang="en-US" sz="1100" b="1" dirty="0">
                <a:solidFill>
                  <a:srgbClr val="EFF2F1"/>
                </a:solidFill>
                <a:latin typeface="Calibri" pitchFamily="34" charset="0"/>
                <a:ea typeface="Calibri" pitchFamily="34" charset="-122"/>
                <a:cs typeface="Calibri" pitchFamily="34" charset="-120"/>
              </a:rPr>
              <a:t>NIST 800-63B password policy</a:t>
            </a:r>
            <a:endParaRPr lang="en-US" sz="1100" dirty="0"/>
          </a:p>
        </p:txBody>
      </p:sp>
      <p:sp>
        <p:nvSpPr>
          <p:cNvPr id="33" name="Text 31"/>
          <p:cNvSpPr txBox="1"/>
          <p:nvPr/>
        </p:nvSpPr>
        <p:spPr>
          <a:xfrm>
            <a:off x="8220456" y="3218688"/>
            <a:ext cx="3090672" cy="274320"/>
          </a:xfrm>
          <a:prstGeom prst="rect">
            <a:avLst/>
          </a:prstGeom>
          <a:noFill/>
          <a:ln/>
        </p:spPr>
        <p:txBody>
          <a:bodyPr wrap="square" lIns="0" tIns="0" rIns="0" bIns="0" rtlCol="0" anchor="t"/>
          <a:lstStyle/>
          <a:p>
            <a:pPr algn="l" indent="0" marL="0">
              <a:lnSpc>
                <a:spcPct val="108000"/>
              </a:lnSpc>
              <a:buNone/>
            </a:pPr>
            <a:r>
              <a:rPr lang="en-US" sz="950" dirty="0">
                <a:solidFill>
                  <a:srgbClr val="8CA096"/>
                </a:solidFill>
                <a:latin typeface="Calibri" pitchFamily="34" charset="0"/>
                <a:ea typeface="Calibri" pitchFamily="34" charset="-122"/>
                <a:cs typeface="Calibri" pitchFamily="34" charset="-120"/>
              </a:rPr>
              <a:t>length over composition rules</a:t>
            </a:r>
            <a:endParaRPr lang="en-US" sz="950" dirty="0"/>
          </a:p>
        </p:txBody>
      </p:sp>
      <p:sp>
        <p:nvSpPr>
          <p:cNvPr id="34" name="Text 32"/>
          <p:cNvSpPr txBox="1"/>
          <p:nvPr/>
        </p:nvSpPr>
        <p:spPr>
          <a:xfrm>
            <a:off x="8220456" y="3511296"/>
            <a:ext cx="3090672" cy="219456"/>
          </a:xfrm>
          <a:prstGeom prst="rect">
            <a:avLst/>
          </a:prstGeom>
          <a:noFill/>
          <a:ln/>
        </p:spPr>
        <p:txBody>
          <a:bodyPr wrap="square" lIns="0" tIns="0" rIns="0" bIns="0" rtlCol="0" anchor="t"/>
          <a:lstStyle/>
          <a:p>
            <a:pPr algn="l" indent="0" marL="0">
              <a:lnSpc>
                <a:spcPct val="120000"/>
              </a:lnSpc>
              <a:buNone/>
            </a:pPr>
            <a:r>
              <a:rPr lang="en-US" sz="1100" b="1" dirty="0">
                <a:solidFill>
                  <a:srgbClr val="EFF2F1"/>
                </a:solidFill>
                <a:latin typeface="Calibri" pitchFamily="34" charset="0"/>
                <a:ea typeface="Calibri" pitchFamily="34" charset="-122"/>
                <a:cs typeface="Calibri" pitchFamily="34" charset="-120"/>
              </a:rPr>
              <a:t>Enumeration-resistant sign-in</a:t>
            </a:r>
            <a:endParaRPr lang="en-US" sz="1100" dirty="0"/>
          </a:p>
        </p:txBody>
      </p:sp>
      <p:sp>
        <p:nvSpPr>
          <p:cNvPr id="35" name="Text 33"/>
          <p:cNvSpPr txBox="1"/>
          <p:nvPr/>
        </p:nvSpPr>
        <p:spPr>
          <a:xfrm>
            <a:off x="8220456" y="3712464"/>
            <a:ext cx="3090672" cy="274320"/>
          </a:xfrm>
          <a:prstGeom prst="rect">
            <a:avLst/>
          </a:prstGeom>
          <a:noFill/>
          <a:ln/>
        </p:spPr>
        <p:txBody>
          <a:bodyPr wrap="square" lIns="0" tIns="0" rIns="0" bIns="0" rtlCol="0" anchor="t"/>
          <a:lstStyle/>
          <a:p>
            <a:pPr algn="l" indent="0" marL="0">
              <a:lnSpc>
                <a:spcPct val="108000"/>
              </a:lnSpc>
              <a:buNone/>
            </a:pPr>
            <a:r>
              <a:rPr lang="en-US" sz="950" dirty="0">
                <a:solidFill>
                  <a:srgbClr val="8CA096"/>
                </a:solidFill>
                <a:latin typeface="Calibri" pitchFamily="34" charset="0"/>
                <a:ea typeface="Calibri" pitchFamily="34" charset="-122"/>
                <a:cs typeface="Calibri" pitchFamily="34" charset="-120"/>
              </a:rPr>
              <a:t>an unknown email still runs a real argon2 verify against a dummy hash, so timing matches</a:t>
            </a:r>
            <a:endParaRPr lang="en-US" sz="950" dirty="0"/>
          </a:p>
        </p:txBody>
      </p:sp>
      <p:sp>
        <p:nvSpPr>
          <p:cNvPr id="36" name="Text 34"/>
          <p:cNvSpPr txBox="1"/>
          <p:nvPr/>
        </p:nvSpPr>
        <p:spPr>
          <a:xfrm>
            <a:off x="8220456" y="4005072"/>
            <a:ext cx="3090672" cy="219456"/>
          </a:xfrm>
          <a:prstGeom prst="rect">
            <a:avLst/>
          </a:prstGeom>
          <a:noFill/>
          <a:ln/>
        </p:spPr>
        <p:txBody>
          <a:bodyPr wrap="square" lIns="0" tIns="0" rIns="0" bIns="0" rtlCol="0" anchor="t"/>
          <a:lstStyle/>
          <a:p>
            <a:pPr algn="l" indent="0" marL="0">
              <a:lnSpc>
                <a:spcPct val="120000"/>
              </a:lnSpc>
              <a:buNone/>
            </a:pPr>
            <a:r>
              <a:rPr lang="en-US" sz="1100" b="1" dirty="0">
                <a:solidFill>
                  <a:srgbClr val="EFF2F1"/>
                </a:solidFill>
                <a:latin typeface="Calibri" pitchFamily="34" charset="0"/>
                <a:ea typeface="Calibri" pitchFamily="34" charset="-122"/>
                <a:cs typeface="Calibri" pitchFamily="34" charset="-120"/>
              </a:rPr>
              <a:t>Sockets use 30-second tickets</a:t>
            </a:r>
            <a:endParaRPr lang="en-US" sz="1100" dirty="0"/>
          </a:p>
        </p:txBody>
      </p:sp>
      <p:sp>
        <p:nvSpPr>
          <p:cNvPr id="37" name="Text 35"/>
          <p:cNvSpPr txBox="1"/>
          <p:nvPr/>
        </p:nvSpPr>
        <p:spPr>
          <a:xfrm>
            <a:off x="8220456" y="4206240"/>
            <a:ext cx="3090672" cy="274320"/>
          </a:xfrm>
          <a:prstGeom prst="rect">
            <a:avLst/>
          </a:prstGeom>
          <a:noFill/>
          <a:ln/>
        </p:spPr>
        <p:txBody>
          <a:bodyPr wrap="square" lIns="0" tIns="0" rIns="0" bIns="0" rtlCol="0" anchor="t"/>
          <a:lstStyle/>
          <a:p>
            <a:pPr algn="l" indent="0" marL="0">
              <a:lnSpc>
                <a:spcPct val="108000"/>
              </a:lnSpc>
              <a:buNone/>
            </a:pPr>
            <a:r>
              <a:rPr lang="en-US" sz="950" dirty="0">
                <a:solidFill>
                  <a:srgbClr val="8CA096"/>
                </a:solidFill>
                <a:latin typeface="Calibri" pitchFamily="34" charset="0"/>
                <a:ea typeface="Calibri" pitchFamily="34" charset="-122"/>
                <a:cs typeface="Calibri" pitchFamily="34" charset="-120"/>
              </a:rPr>
              <a:t>single-use, burned before a byte of audio is read — a JWT in a query string lands in every log</a:t>
            </a:r>
            <a:endParaRPr lang="en-US" sz="950" dirty="0"/>
          </a:p>
        </p:txBody>
      </p:sp>
      <p:sp>
        <p:nvSpPr>
          <p:cNvPr id="38" name="Text 36"/>
          <p:cNvSpPr txBox="1"/>
          <p:nvPr/>
        </p:nvSpPr>
        <p:spPr>
          <a:xfrm>
            <a:off x="8220456" y="4498848"/>
            <a:ext cx="3090672" cy="219456"/>
          </a:xfrm>
          <a:prstGeom prst="rect">
            <a:avLst/>
          </a:prstGeom>
          <a:noFill/>
          <a:ln/>
        </p:spPr>
        <p:txBody>
          <a:bodyPr wrap="square" lIns="0" tIns="0" rIns="0" bIns="0" rtlCol="0" anchor="t"/>
          <a:lstStyle/>
          <a:p>
            <a:pPr algn="l" indent="0" marL="0">
              <a:lnSpc>
                <a:spcPct val="120000"/>
              </a:lnSpc>
              <a:buNone/>
            </a:pPr>
            <a:r>
              <a:rPr lang="en-US" sz="1100" b="1" dirty="0">
                <a:solidFill>
                  <a:srgbClr val="EFF2F1"/>
                </a:solidFill>
                <a:latin typeface="Calibri" pitchFamily="34" charset="0"/>
                <a:ea typeface="Calibri" pitchFamily="34" charset="-122"/>
                <a:cs typeface="Calibri" pitchFamily="34" charset="-120"/>
              </a:rPr>
              <a:t>Another owner's session → 404</a:t>
            </a:r>
            <a:endParaRPr lang="en-US" sz="1100" dirty="0"/>
          </a:p>
        </p:txBody>
      </p:sp>
      <p:sp>
        <p:nvSpPr>
          <p:cNvPr id="39" name="Text 37"/>
          <p:cNvSpPr txBox="1"/>
          <p:nvPr/>
        </p:nvSpPr>
        <p:spPr>
          <a:xfrm>
            <a:off x="8220456" y="4700016"/>
            <a:ext cx="3090672" cy="274320"/>
          </a:xfrm>
          <a:prstGeom prst="rect">
            <a:avLst/>
          </a:prstGeom>
          <a:noFill/>
          <a:ln/>
        </p:spPr>
        <p:txBody>
          <a:bodyPr wrap="square" lIns="0" tIns="0" rIns="0" bIns="0" rtlCol="0" anchor="t"/>
          <a:lstStyle/>
          <a:p>
            <a:pPr algn="l" indent="0" marL="0">
              <a:lnSpc>
                <a:spcPct val="108000"/>
              </a:lnSpc>
              <a:buNone/>
            </a:pPr>
            <a:r>
              <a:rPr lang="en-US" sz="950" dirty="0">
                <a:solidFill>
                  <a:srgbClr val="8CA096"/>
                </a:solidFill>
                <a:latin typeface="Calibri" pitchFamily="34" charset="0"/>
                <a:ea typeface="Calibri" pitchFamily="34" charset="-122"/>
                <a:cs typeface="Calibri" pitchFamily="34" charset="-120"/>
              </a:rPr>
              <a:t>a 403 confirms the resource exists</a:t>
            </a:r>
            <a:endParaRPr lang="en-US" sz="950" dirty="0"/>
          </a:p>
        </p:txBody>
      </p:sp>
      <p:sp>
        <p:nvSpPr>
          <p:cNvPr id="40" name="Text 38"/>
          <p:cNvSpPr txBox="1"/>
          <p:nvPr/>
        </p:nvSpPr>
        <p:spPr>
          <a:xfrm>
            <a:off x="8220456" y="4992624"/>
            <a:ext cx="3090672" cy="219456"/>
          </a:xfrm>
          <a:prstGeom prst="rect">
            <a:avLst/>
          </a:prstGeom>
          <a:noFill/>
          <a:ln/>
        </p:spPr>
        <p:txBody>
          <a:bodyPr wrap="square" lIns="0" tIns="0" rIns="0" bIns="0" rtlCol="0" anchor="t"/>
          <a:lstStyle/>
          <a:p>
            <a:pPr algn="l" indent="0" marL="0">
              <a:lnSpc>
                <a:spcPct val="120000"/>
              </a:lnSpc>
              <a:buNone/>
            </a:pPr>
            <a:r>
              <a:rPr lang="en-US" sz="1100" b="1" dirty="0">
                <a:solidFill>
                  <a:srgbClr val="EFF2F1"/>
                </a:solidFill>
                <a:latin typeface="Calibri" pitchFamily="34" charset="0"/>
                <a:ea typeface="Calibri" pitchFamily="34" charset="-122"/>
                <a:cs typeface="Calibri" pitchFamily="34" charset="-120"/>
              </a:rPr>
              <a:t>Audio is never persisted</a:t>
            </a:r>
            <a:endParaRPr lang="en-US" sz="1100" dirty="0"/>
          </a:p>
        </p:txBody>
      </p:sp>
      <p:sp>
        <p:nvSpPr>
          <p:cNvPr id="41" name="Text 39"/>
          <p:cNvSpPr txBox="1"/>
          <p:nvPr/>
        </p:nvSpPr>
        <p:spPr>
          <a:xfrm>
            <a:off x="8220456" y="5193792"/>
            <a:ext cx="3090672" cy="274320"/>
          </a:xfrm>
          <a:prstGeom prst="rect">
            <a:avLst/>
          </a:prstGeom>
          <a:noFill/>
          <a:ln/>
        </p:spPr>
        <p:txBody>
          <a:bodyPr wrap="square" lIns="0" tIns="0" rIns="0" bIns="0" rtlCol="0" anchor="t"/>
          <a:lstStyle/>
          <a:p>
            <a:pPr algn="l" indent="0" marL="0">
              <a:lnSpc>
                <a:spcPct val="108000"/>
              </a:lnSpc>
              <a:buNone/>
            </a:pPr>
            <a:r>
              <a:rPr lang="en-US" sz="950" dirty="0">
                <a:solidFill>
                  <a:srgbClr val="8CA096"/>
                </a:solidFill>
                <a:latin typeface="Calibri" pitchFamily="34" charset="0"/>
                <a:ea typeface="Calibri" pitchFamily="34" charset="-122"/>
                <a:cs typeface="Calibri" pitchFamily="34" charset="-120"/>
              </a:rPr>
              <a:t>waveforms are discarded once analyzed; replay re-synthesizes from the stored text</a:t>
            </a:r>
            <a:endParaRPr lang="en-US" sz="950" dirty="0"/>
          </a:p>
        </p:txBody>
      </p:sp>
      <p:sp>
        <p:nvSpPr>
          <p:cNvPr id="42" name="Text 40"/>
          <p:cNvSpPr txBox="1"/>
          <p:nvPr/>
        </p:nvSpPr>
        <p:spPr>
          <a:xfrm>
            <a:off x="8220456" y="5486400"/>
            <a:ext cx="3090672" cy="219456"/>
          </a:xfrm>
          <a:prstGeom prst="rect">
            <a:avLst/>
          </a:prstGeom>
          <a:noFill/>
          <a:ln/>
        </p:spPr>
        <p:txBody>
          <a:bodyPr wrap="square" lIns="0" tIns="0" rIns="0" bIns="0" rtlCol="0" anchor="t"/>
          <a:lstStyle/>
          <a:p>
            <a:pPr algn="l" indent="0" marL="0">
              <a:lnSpc>
                <a:spcPct val="120000"/>
              </a:lnSpc>
              <a:buNone/>
            </a:pPr>
            <a:r>
              <a:rPr lang="en-US" sz="1100" b="1" dirty="0">
                <a:solidFill>
                  <a:srgbClr val="EFF2F1"/>
                </a:solidFill>
                <a:latin typeface="Calibri" pitchFamily="34" charset="0"/>
                <a:ea typeface="Calibri" pitchFamily="34" charset="-122"/>
                <a:cs typeface="Calibri" pitchFamily="34" charset="-120"/>
              </a:rPr>
              <a:t>Fully offline</a:t>
            </a:r>
            <a:endParaRPr lang="en-US" sz="1100" dirty="0"/>
          </a:p>
        </p:txBody>
      </p:sp>
      <p:sp>
        <p:nvSpPr>
          <p:cNvPr id="43" name="Text 41"/>
          <p:cNvSpPr txBox="1"/>
          <p:nvPr/>
        </p:nvSpPr>
        <p:spPr>
          <a:xfrm>
            <a:off x="8220456" y="5687568"/>
            <a:ext cx="3090672" cy="274320"/>
          </a:xfrm>
          <a:prstGeom prst="rect">
            <a:avLst/>
          </a:prstGeom>
          <a:noFill/>
          <a:ln/>
        </p:spPr>
        <p:txBody>
          <a:bodyPr wrap="square" lIns="0" tIns="0" rIns="0" bIns="0" rtlCol="0" anchor="t"/>
          <a:lstStyle/>
          <a:p>
            <a:pPr algn="l" indent="0" marL="0">
              <a:lnSpc>
                <a:spcPct val="108000"/>
              </a:lnSpc>
              <a:buNone/>
            </a:pPr>
            <a:r>
              <a:rPr lang="en-US" sz="950" dirty="0">
                <a:solidFill>
                  <a:srgbClr val="8CA096"/>
                </a:solidFill>
                <a:latin typeface="Calibri" pitchFamily="34" charset="0"/>
                <a:ea typeface="Calibri" pitchFamily="34" charset="-122"/>
                <a:cs typeface="Calibri" pitchFamily="34" charset="-120"/>
              </a:rPr>
              <a:t>no third-party API keys, no telemetry, no egress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MEASURED LATENCY</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000" b="1" dirty="0">
                <a:solidFill>
                  <a:srgbClr val="EFF2F1"/>
                </a:solidFill>
                <a:latin typeface="Arial" pitchFamily="34" charset="0"/>
                <a:ea typeface="Arial" pitchFamily="34" charset="-122"/>
                <a:cs typeface="Arial" pitchFamily="34" charset="-120"/>
              </a:rPr>
              <a:t>The biggest number in this project was a </a:t>
            </a:r>
            <a:pPr indent="0" marL="0">
              <a:lnSpc>
                <a:spcPct val="103000"/>
              </a:lnSpc>
              <a:buNone/>
            </a:pPr>
            <a:r>
              <a:rPr lang="en-US" sz="3000" b="1" dirty="0">
                <a:solidFill>
                  <a:srgbClr val="F9BF29"/>
                </a:solidFill>
                <a:latin typeface="Arial" pitchFamily="34" charset="0"/>
                <a:ea typeface="Arial" pitchFamily="34" charset="-122"/>
                <a:cs typeface="Arial" pitchFamily="34" charset="-120"/>
              </a:rPr>
              <a:t>build flag</a:t>
            </a:r>
            <a:endParaRPr lang="en-US" sz="30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ml/finetuning/llama.cpp/README.md  ·  docs/M10_OPTIMIZATION.md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24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481328"/>
            <a:ext cx="1033272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We estimated a one-second cascade, measured 1.9 s on a stand-in, then 50 s on the real model, then got it to ~15 s with two prompt optimizations. Then we changed how the model was served.</a:t>
            </a:r>
            <a:endParaRPr lang="en-US" sz="1500" dirty="0"/>
          </a:p>
        </p:txBody>
      </p:sp>
      <p:sp>
        <p:nvSpPr>
          <p:cNvPr id="11" name="Shape 9"/>
          <p:cNvSpPr/>
          <p:nvPr/>
        </p:nvSpPr>
        <p:spPr>
          <a:xfrm>
            <a:off x="658368" y="2194560"/>
            <a:ext cx="6967728" cy="2615184"/>
          </a:xfrm>
          <a:prstGeom prst="roundRect">
            <a:avLst>
              <a:gd name="adj" fmla="val 5594"/>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32688" y="2340864"/>
            <a:ext cx="54864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ONE COACH TURN, BY SERVING BUILD</a:t>
            </a:r>
            <a:endParaRPr lang="en-US" sz="950" dirty="0"/>
          </a:p>
        </p:txBody>
      </p:sp>
      <p:sp>
        <p:nvSpPr>
          <p:cNvPr id="13" name="Text 11"/>
          <p:cNvSpPr txBox="1"/>
          <p:nvPr/>
        </p:nvSpPr>
        <p:spPr>
          <a:xfrm>
            <a:off x="5504688" y="2340864"/>
            <a:ext cx="1847088" cy="219456"/>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prompt eval  ·  generation</a:t>
            </a:r>
            <a:endParaRPr lang="en-US" sz="850" dirty="0"/>
          </a:p>
        </p:txBody>
      </p:sp>
      <p:sp>
        <p:nvSpPr>
          <p:cNvPr id="14" name="Text 12"/>
          <p:cNvSpPr txBox="1"/>
          <p:nvPr/>
        </p:nvSpPr>
        <p:spPr>
          <a:xfrm>
            <a:off x="932688" y="2779776"/>
            <a:ext cx="1426464" cy="237744"/>
          </a:xfrm>
          <a:prstGeom prst="rect">
            <a:avLst/>
          </a:prstGeom>
          <a:noFill/>
          <a:ln/>
        </p:spPr>
        <p:txBody>
          <a:bodyPr wrap="square" lIns="0" tIns="0" rIns="0" bIns="0" rtlCol="0" anchor="t"/>
          <a:lstStyle/>
          <a:p>
            <a:pPr algn="l" indent="0" marL="0">
              <a:lnSpc>
                <a:spcPct val="120000"/>
              </a:lnSpc>
              <a:buNone/>
            </a:pPr>
            <a:r>
              <a:rPr lang="en-US" sz="1100" dirty="0">
                <a:solidFill>
                  <a:srgbClr val="DCE5E4"/>
                </a:solidFill>
                <a:latin typeface="Calibri" pitchFamily="34" charset="0"/>
                <a:ea typeface="Calibri" pitchFamily="34" charset="-122"/>
                <a:cs typeface="Calibri" pitchFamily="34" charset="-120"/>
              </a:rPr>
              <a:t>CPU  b10821</a:t>
            </a:r>
            <a:endParaRPr lang="en-US" sz="1100" dirty="0"/>
          </a:p>
        </p:txBody>
      </p:sp>
      <p:sp>
        <p:nvSpPr>
          <p:cNvPr id="15" name="Shape 13"/>
          <p:cNvSpPr/>
          <p:nvPr/>
        </p:nvSpPr>
        <p:spPr>
          <a:xfrm>
            <a:off x="2395728" y="2761488"/>
            <a:ext cx="2050654" cy="274320"/>
          </a:xfrm>
          <a:prstGeom prst="roundRect">
            <a:avLst>
              <a:gd name="adj" fmla="val 23333"/>
            </a:avLst>
          </a:prstGeom>
          <a:solidFill>
            <a:srgbClr val="3B5D50"/>
          </a:solidFill>
          <a:ln/>
        </p:spPr>
      </p:sp>
      <p:sp>
        <p:nvSpPr>
          <p:cNvPr id="16" name="Text 14"/>
          <p:cNvSpPr txBox="1"/>
          <p:nvPr/>
        </p:nvSpPr>
        <p:spPr>
          <a:xfrm>
            <a:off x="4537822" y="2761488"/>
            <a:ext cx="822960" cy="274320"/>
          </a:xfrm>
          <a:prstGeom prst="rect">
            <a:avLst/>
          </a:prstGeom>
          <a:noFill/>
          <a:ln/>
        </p:spPr>
        <p:txBody>
          <a:bodyPr wrap="square" lIns="0" tIns="0" rIns="0" bIns="0" rtlCol="0" anchor="ctr"/>
          <a:lstStyle/>
          <a:p>
            <a:pPr algn="l" indent="0" marL="0">
              <a:buNone/>
            </a:pPr>
            <a:r>
              <a:rPr lang="en-US" sz="1100" dirty="0">
                <a:solidFill>
                  <a:srgbClr val="3B5D50"/>
                </a:solidFill>
                <a:latin typeface="Courier New" pitchFamily="34" charset="0"/>
                <a:ea typeface="Courier New" pitchFamily="34" charset="-122"/>
                <a:cs typeface="Courier New" pitchFamily="34" charset="-120"/>
              </a:rPr>
              <a:t>57 s</a:t>
            </a:r>
            <a:endParaRPr lang="en-US" sz="1100" dirty="0"/>
          </a:p>
        </p:txBody>
      </p:sp>
      <p:sp>
        <p:nvSpPr>
          <p:cNvPr id="17" name="Text 15"/>
          <p:cNvSpPr txBox="1"/>
          <p:nvPr/>
        </p:nvSpPr>
        <p:spPr>
          <a:xfrm>
            <a:off x="5504688" y="2761488"/>
            <a:ext cx="1847088" cy="274320"/>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56 tok/s · 14 tok/s</a:t>
            </a:r>
            <a:endParaRPr lang="en-US" sz="950" dirty="0"/>
          </a:p>
        </p:txBody>
      </p:sp>
      <p:sp>
        <p:nvSpPr>
          <p:cNvPr id="18" name="Text 16"/>
          <p:cNvSpPr txBox="1"/>
          <p:nvPr/>
        </p:nvSpPr>
        <p:spPr>
          <a:xfrm>
            <a:off x="932688" y="3346704"/>
            <a:ext cx="1426464" cy="237744"/>
          </a:xfrm>
          <a:prstGeom prst="rect">
            <a:avLst/>
          </a:prstGeom>
          <a:noFill/>
          <a:ln/>
        </p:spPr>
        <p:txBody>
          <a:bodyPr wrap="square" lIns="0" tIns="0" rIns="0" bIns="0" rtlCol="0" anchor="t"/>
          <a:lstStyle/>
          <a:p>
            <a:pPr algn="l" indent="0" marL="0">
              <a:lnSpc>
                <a:spcPct val="120000"/>
              </a:lnSpc>
              <a:buNone/>
            </a:pPr>
            <a:r>
              <a:rPr lang="en-US" sz="1100" dirty="0">
                <a:solidFill>
                  <a:srgbClr val="DCE5E4"/>
                </a:solidFill>
                <a:latin typeface="Calibri" pitchFamily="34" charset="0"/>
                <a:ea typeface="Calibri" pitchFamily="34" charset="-122"/>
                <a:cs typeface="Calibri" pitchFamily="34" charset="-120"/>
              </a:rPr>
              <a:t>CUDA 12.4</a:t>
            </a:r>
            <a:endParaRPr lang="en-US" sz="1100" dirty="0"/>
          </a:p>
        </p:txBody>
      </p:sp>
      <p:sp>
        <p:nvSpPr>
          <p:cNvPr id="19" name="Shape 17"/>
          <p:cNvSpPr/>
          <p:nvPr/>
        </p:nvSpPr>
        <p:spPr>
          <a:xfrm>
            <a:off x="2395728" y="3328416"/>
            <a:ext cx="2194560" cy="274320"/>
          </a:xfrm>
          <a:prstGeom prst="roundRect">
            <a:avLst>
              <a:gd name="adj" fmla="val 23333"/>
            </a:avLst>
          </a:prstGeom>
          <a:solidFill>
            <a:srgbClr val="E8705C"/>
          </a:solidFill>
          <a:ln/>
        </p:spPr>
      </p:sp>
      <p:sp>
        <p:nvSpPr>
          <p:cNvPr id="20" name="Text 18"/>
          <p:cNvSpPr txBox="1"/>
          <p:nvPr/>
        </p:nvSpPr>
        <p:spPr>
          <a:xfrm>
            <a:off x="4681728" y="3328416"/>
            <a:ext cx="822960" cy="274320"/>
          </a:xfrm>
          <a:prstGeom prst="rect">
            <a:avLst/>
          </a:prstGeom>
          <a:noFill/>
          <a:ln/>
        </p:spPr>
        <p:txBody>
          <a:bodyPr wrap="square" lIns="0" tIns="0" rIns="0" bIns="0" rtlCol="0" anchor="ctr"/>
          <a:lstStyle/>
          <a:p>
            <a:pPr algn="l" indent="0" marL="0">
              <a:buNone/>
            </a:pPr>
            <a:r>
              <a:rPr lang="en-US" sz="1100" dirty="0">
                <a:solidFill>
                  <a:srgbClr val="E8705C"/>
                </a:solidFill>
                <a:latin typeface="Courier New" pitchFamily="34" charset="0"/>
                <a:ea typeface="Courier New" pitchFamily="34" charset="-122"/>
                <a:cs typeface="Courier New" pitchFamily="34" charset="-120"/>
              </a:rPr>
              <a:t>61 s</a:t>
            </a:r>
            <a:endParaRPr lang="en-US" sz="1100" dirty="0"/>
          </a:p>
        </p:txBody>
      </p:sp>
      <p:sp>
        <p:nvSpPr>
          <p:cNvPr id="21" name="Text 19"/>
          <p:cNvSpPr txBox="1"/>
          <p:nvPr/>
        </p:nvSpPr>
        <p:spPr>
          <a:xfrm>
            <a:off x="5504688" y="3328416"/>
            <a:ext cx="1847088" cy="274320"/>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31 tok/s · 14 tok/s</a:t>
            </a:r>
            <a:endParaRPr lang="en-US" sz="950" dirty="0"/>
          </a:p>
        </p:txBody>
      </p:sp>
      <p:sp>
        <p:nvSpPr>
          <p:cNvPr id="22" name="Text 20"/>
          <p:cNvSpPr txBox="1"/>
          <p:nvPr/>
        </p:nvSpPr>
        <p:spPr>
          <a:xfrm>
            <a:off x="932688" y="3913632"/>
            <a:ext cx="1426464" cy="237744"/>
          </a:xfrm>
          <a:prstGeom prst="rect">
            <a:avLst/>
          </a:prstGeom>
          <a:noFill/>
          <a:ln/>
        </p:spPr>
        <p:txBody>
          <a:bodyPr wrap="square" lIns="0" tIns="0" rIns="0" bIns="0" rtlCol="0" anchor="t"/>
          <a:lstStyle/>
          <a:p>
            <a:pPr algn="l" indent="0" marL="0">
              <a:lnSpc>
                <a:spcPct val="120000"/>
              </a:lnSpc>
              <a:buNone/>
            </a:pPr>
            <a:r>
              <a:rPr lang="en-US" sz="1100" b="1" dirty="0">
                <a:solidFill>
                  <a:srgbClr val="F9BF29"/>
                </a:solidFill>
                <a:latin typeface="Calibri" pitchFamily="34" charset="0"/>
                <a:ea typeface="Calibri" pitchFamily="34" charset="-122"/>
                <a:cs typeface="Calibri" pitchFamily="34" charset="-120"/>
              </a:rPr>
              <a:t>CUDA 13.3</a:t>
            </a:r>
            <a:endParaRPr lang="en-US" sz="1100" dirty="0"/>
          </a:p>
        </p:txBody>
      </p:sp>
      <p:sp>
        <p:nvSpPr>
          <p:cNvPr id="23" name="Shape 21"/>
          <p:cNvSpPr/>
          <p:nvPr/>
        </p:nvSpPr>
        <p:spPr>
          <a:xfrm>
            <a:off x="2395728" y="3895344"/>
            <a:ext cx="54864" cy="274320"/>
          </a:xfrm>
          <a:prstGeom prst="roundRect">
            <a:avLst>
              <a:gd name="adj" fmla="val 116667"/>
            </a:avLst>
          </a:prstGeom>
          <a:solidFill>
            <a:srgbClr val="F9BF29"/>
          </a:solidFill>
          <a:ln/>
        </p:spPr>
      </p:sp>
      <p:sp>
        <p:nvSpPr>
          <p:cNvPr id="24" name="Text 22"/>
          <p:cNvSpPr txBox="1"/>
          <p:nvPr/>
        </p:nvSpPr>
        <p:spPr>
          <a:xfrm>
            <a:off x="2542032" y="3895344"/>
            <a:ext cx="822960" cy="274320"/>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1.4 s</a:t>
            </a:r>
            <a:endParaRPr lang="en-US" sz="1100" dirty="0"/>
          </a:p>
        </p:txBody>
      </p:sp>
      <p:sp>
        <p:nvSpPr>
          <p:cNvPr id="25" name="Text 23"/>
          <p:cNvSpPr txBox="1"/>
          <p:nvPr/>
        </p:nvSpPr>
        <p:spPr>
          <a:xfrm>
            <a:off x="5504688" y="3895344"/>
            <a:ext cx="1847088" cy="274320"/>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2423 tok/s · 88 tok/s</a:t>
            </a:r>
            <a:endParaRPr lang="en-US" sz="950" dirty="0"/>
          </a:p>
        </p:txBody>
      </p:sp>
      <p:sp>
        <p:nvSpPr>
          <p:cNvPr id="26" name="Text 24"/>
          <p:cNvSpPr txBox="1"/>
          <p:nvPr/>
        </p:nvSpPr>
        <p:spPr>
          <a:xfrm>
            <a:off x="932688" y="4517136"/>
            <a:ext cx="6455664" cy="402336"/>
          </a:xfrm>
          <a:prstGeom prst="rect">
            <a:avLst/>
          </a:prstGeom>
          <a:noFill/>
          <a:ln/>
        </p:spPr>
        <p:txBody>
          <a:bodyPr wrap="square" lIns="0" tIns="0" rIns="0" bIns="0" rtlCol="0" anchor="ctr"/>
          <a:lstStyle/>
          <a:p>
            <a:pPr indent="0" marL="0">
              <a:buNone/>
            </a:pPr>
            <a:r>
              <a:rPr lang="en-US" sz="2800" b="1" dirty="0">
                <a:solidFill>
                  <a:srgbClr val="F9BF29"/>
                </a:solidFill>
                <a:latin typeface="Arial" pitchFamily="34" charset="0"/>
                <a:ea typeface="Arial" pitchFamily="34" charset="-122"/>
                <a:cs typeface="Arial" pitchFamily="34" charset="-120"/>
              </a:rPr>
              <a:t>43×</a:t>
            </a:r>
            <a:pPr indent="0" marL="0">
              <a:buNone/>
            </a:pPr>
            <a:r>
              <a:rPr lang="en-US" sz="1250" dirty="0">
                <a:solidFill>
                  <a:srgbClr val="DCE5E4"/>
                </a:solidFill>
                <a:latin typeface="Calibri" pitchFamily="34" charset="0"/>
                <a:ea typeface="Calibri" pitchFamily="34" charset="-122"/>
                <a:cs typeface="Calibri" pitchFamily="34" charset="-120"/>
              </a:rPr>
              <a:t>  on a build flag — dwarfing the 3.2× from quantization</a:t>
            </a:r>
            <a:endParaRPr lang="en-US" sz="2800" dirty="0"/>
          </a:p>
        </p:txBody>
      </p:sp>
      <p:sp>
        <p:nvSpPr>
          <p:cNvPr id="27" name="Shape 25"/>
          <p:cNvSpPr/>
          <p:nvPr/>
        </p:nvSpPr>
        <p:spPr>
          <a:xfrm>
            <a:off x="7845552" y="2194560"/>
            <a:ext cx="3685032" cy="2615184"/>
          </a:xfrm>
          <a:prstGeom prst="roundRect">
            <a:avLst>
              <a:gd name="adj" fmla="val 5594"/>
            </a:avLst>
          </a:prstGeom>
          <a:solidFill>
            <a:srgbClr val="141D19">
              <a:alpha val="88000"/>
            </a:srgbClr>
          </a:solidFill>
          <a:ln w="12700">
            <a:solidFill>
              <a:srgbClr val="E8705C"/>
            </a:solidFill>
            <a:prstDash val="solid"/>
          </a:ln>
          <a:effectLst>
            <a:outerShdw sx="100000" sy="100000" kx="0" ky="0" algn="bl" rotWithShape="0" blurRad="152400" dist="25400" dir="5400000">
              <a:srgbClr val="000000">
                <a:alpha val="16000"/>
              </a:srgbClr>
            </a:outerShdw>
          </a:effectLst>
        </p:spPr>
      </p:sp>
      <p:sp>
        <p:nvSpPr>
          <p:cNvPr id="28" name="Text 26"/>
          <p:cNvSpPr txBox="1"/>
          <p:nvPr/>
        </p:nvSpPr>
        <p:spPr>
          <a:xfrm>
            <a:off x="8065008" y="2340864"/>
            <a:ext cx="3291840" cy="201168"/>
          </a:xfrm>
          <a:prstGeom prst="rect">
            <a:avLst/>
          </a:prstGeom>
          <a:noFill/>
          <a:ln/>
        </p:spPr>
        <p:txBody>
          <a:bodyPr wrap="square" lIns="0" tIns="0" rIns="0" bIns="0" rtlCol="0" anchor="ctr"/>
          <a:lstStyle/>
          <a:p>
            <a:pPr algn="l" indent="0" marL="0">
              <a:buNone/>
            </a:pPr>
            <a:r>
              <a:rPr lang="en-US" sz="950" b="1" spc="180" kern="0" dirty="0">
                <a:solidFill>
                  <a:srgbClr val="E8705C"/>
                </a:solidFill>
                <a:latin typeface="Courier New" pitchFamily="34" charset="0"/>
                <a:ea typeface="Courier New" pitchFamily="34" charset="-122"/>
                <a:cs typeface="Courier New" pitchFamily="34" charset="-120"/>
              </a:rPr>
              <a:t>THE TRAP IN THE MIDDLE ROW</a:t>
            </a:r>
            <a:endParaRPr lang="en-US" sz="950" dirty="0"/>
          </a:p>
        </p:txBody>
      </p:sp>
      <p:sp>
        <p:nvSpPr>
          <p:cNvPr id="29" name="Text 27"/>
          <p:cNvSpPr txBox="1"/>
          <p:nvPr/>
        </p:nvSpPr>
        <p:spPr>
          <a:xfrm>
            <a:off x="8065008" y="2633472"/>
            <a:ext cx="3255264" cy="457200"/>
          </a:xfrm>
          <a:prstGeom prst="rect">
            <a:avLst/>
          </a:prstGeom>
          <a:noFill/>
          <a:ln/>
        </p:spPr>
        <p:txBody>
          <a:bodyPr wrap="square" lIns="0" tIns="0" rIns="0" bIns="0" rtlCol="0" anchor="t"/>
          <a:lstStyle/>
          <a:p>
            <a:pPr algn="l" indent="0" marL="0">
              <a:lnSpc>
                <a:spcPct val="116000"/>
              </a:lnSpc>
              <a:buNone/>
            </a:pPr>
            <a:r>
              <a:rPr lang="en-US" sz="1150" dirty="0">
                <a:solidFill>
                  <a:srgbClr val="DCE5E4"/>
                </a:solidFill>
                <a:latin typeface="Calibri" pitchFamily="34" charset="0"/>
                <a:ea typeface="Calibri" pitchFamily="34" charset="-122"/>
                <a:cs typeface="Calibri" pitchFamily="34" charset="-120"/>
              </a:rPr>
              <a:t>The CUDA 12.4 build looks like it works. nvidia-smi shows about 2 GB of VRAM in use.</a:t>
            </a:r>
            <a:endParaRPr lang="en-US" sz="1150" dirty="0"/>
          </a:p>
        </p:txBody>
      </p:sp>
      <p:sp>
        <p:nvSpPr>
          <p:cNvPr id="30" name="Text 28"/>
          <p:cNvSpPr txBox="1"/>
          <p:nvPr/>
        </p:nvSpPr>
        <p:spPr>
          <a:xfrm>
            <a:off x="8065008" y="3145536"/>
            <a:ext cx="3255264" cy="822960"/>
          </a:xfrm>
          <a:prstGeom prst="rect">
            <a:avLst/>
          </a:prstGeom>
          <a:noFill/>
          <a:ln/>
        </p:spPr>
        <p:txBody>
          <a:bodyPr wrap="square" lIns="0" tIns="0" rIns="0" bIns="0" rtlCol="0" anchor="t"/>
          <a:lstStyle/>
          <a:p>
            <a:pPr algn="l" indent="0" marL="0">
              <a:lnSpc>
                <a:spcPct val="116000"/>
              </a:lnSpc>
              <a:buNone/>
            </a:pPr>
            <a:r>
              <a:rPr lang="en-US" sz="1100" dirty="0">
                <a:solidFill>
                  <a:srgbClr val="8CA096"/>
                </a:solidFill>
                <a:latin typeface="Calibri" pitchFamily="34" charset="0"/>
                <a:ea typeface="Calibri" pitchFamily="34" charset="-122"/>
                <a:cs typeface="Calibri" pitchFamily="34" charset="-120"/>
              </a:rPr>
              <a:t>It loads the weights to the GPU, then falls back to CPU for the compute — and lands slower than the CPU build. Only the 13.3 build ships sm_120 kernels for this Blackwell card.</a:t>
            </a:r>
            <a:endParaRPr lang="en-US" sz="1100" dirty="0"/>
          </a:p>
        </p:txBody>
      </p:sp>
      <p:sp>
        <p:nvSpPr>
          <p:cNvPr id="31" name="Shape 29"/>
          <p:cNvSpPr/>
          <p:nvPr/>
        </p:nvSpPr>
        <p:spPr>
          <a:xfrm>
            <a:off x="8065008" y="4041648"/>
            <a:ext cx="3255264" cy="658368"/>
          </a:xfrm>
          <a:prstGeom prst="roundRect">
            <a:avLst>
              <a:gd name="adj" fmla="val 22222"/>
            </a:avLst>
          </a:prstGeom>
          <a:solidFill>
            <a:srgbClr val="E8705C">
              <a:alpha val="18000"/>
            </a:srgbClr>
          </a:solidFill>
          <a:ln w="12700">
            <a:solidFill>
              <a:srgbClr val="223029"/>
            </a:solidFill>
            <a:prstDash val="solid"/>
          </a:ln>
        </p:spPr>
      </p:sp>
      <p:sp>
        <p:nvSpPr>
          <p:cNvPr id="32" name="Text 30"/>
          <p:cNvSpPr txBox="1"/>
          <p:nvPr/>
        </p:nvSpPr>
        <p:spPr>
          <a:xfrm>
            <a:off x="8193024" y="4096512"/>
            <a:ext cx="2999232" cy="548640"/>
          </a:xfrm>
          <a:prstGeom prst="rect">
            <a:avLst/>
          </a:prstGeom>
          <a:noFill/>
          <a:ln/>
        </p:spPr>
        <p:txBody>
          <a:bodyPr wrap="square" lIns="0" tIns="0" rIns="0" bIns="0" rtlCol="0" anchor="t"/>
          <a:lstStyle/>
          <a:p>
            <a:pPr algn="l" indent="0" marL="0">
              <a:lnSpc>
                <a:spcPct val="114000"/>
              </a:lnSpc>
              <a:buNone/>
            </a:pPr>
            <a:r>
              <a:rPr lang="en-US" sz="1100" b="1" dirty="0">
                <a:solidFill>
                  <a:srgbClr val="E8705C"/>
                </a:solidFill>
                <a:latin typeface="Calibri" pitchFamily="34" charset="0"/>
                <a:ea typeface="Calibri" pitchFamily="34" charset="-122"/>
                <a:cs typeface="Calibri" pitchFamily="34" charset="-120"/>
              </a:rPr>
              <a:t>Verify GPU serving by the prompt eval rate. Never by VRAM occupancy.</a:t>
            </a:r>
            <a:endParaRPr lang="en-US" sz="1100" dirty="0"/>
          </a:p>
        </p:txBody>
      </p:sp>
      <p:sp>
        <p:nvSpPr>
          <p:cNvPr id="33" name="Shape 31"/>
          <p:cNvSpPr/>
          <p:nvPr/>
        </p:nvSpPr>
        <p:spPr>
          <a:xfrm>
            <a:off x="658368" y="4937760"/>
            <a:ext cx="10874959" cy="1097280"/>
          </a:xfrm>
          <a:prstGeom prst="roundRect">
            <a:avLst>
              <a:gd name="adj" fmla="val 13333"/>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4" name="Text 32"/>
          <p:cNvSpPr txBox="1"/>
          <p:nvPr/>
        </p:nvSpPr>
        <p:spPr>
          <a:xfrm>
            <a:off x="932688" y="5047488"/>
            <a:ext cx="10326319" cy="896112"/>
          </a:xfrm>
          <a:prstGeom prst="rect">
            <a:avLst/>
          </a:prstGeom>
          <a:noFill/>
          <a:ln/>
        </p:spPr>
        <p:txBody>
          <a:bodyPr wrap="square" lIns="0" tIns="0" rIns="0" bIns="0" rtlCol="0" anchor="t"/>
          <a:lstStyle/>
          <a:p>
            <a:pPr indent="0" marL="0">
              <a:lnSpc>
                <a:spcPct val="120000"/>
              </a:lnSpc>
              <a:buNone/>
            </a:pPr>
            <a:r>
              <a:rPr lang="en-US" sz="1300" b="1" dirty="0">
                <a:solidFill>
                  <a:srgbClr val="EFF2F1"/>
                </a:solidFill>
                <a:latin typeface="Calibri" pitchFamily="34" charset="0"/>
                <a:ea typeface="Calibri" pitchFamily="34" charset="-122"/>
                <a:cs typeface="Calibri" pitchFamily="34" charset="-120"/>
              </a:rPr>
              <a:t>So the comparison is conditional, not absolute. </a:t>
            </a:r>
            <a:pPr indent="0" marL="0">
              <a:lnSpc>
                <a:spcPct val="120000"/>
              </a:lnSpc>
              <a:buNone/>
            </a:pPr>
            <a:r>
              <a:rPr lang="en-US" sz="1300" dirty="0">
                <a:solidFill>
                  <a:srgbClr val="DCE5E4"/>
                </a:solidFill>
                <a:latin typeface="Calibri" pitchFamily="34" charset="0"/>
                <a:ea typeface="Calibri" pitchFamily="34" charset="-122"/>
                <a:cs typeface="Calibri" pitchFamily="34" charset="-120"/>
              </a:rPr>
              <a:t>With the GPU free, the cascade's generation stage is competitive with Moshi's 2.0 s. With Moshi resident — which is the shipped architecture — the cascade falls back to CPU and pays ten to twenty-eight seconds a turn. The per-stage waterfall and the two prompt optimizations that took 50 s to 15 s are in the appendix.</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VERIFICATION AND ENGINEERING QUALITY</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100" b="1" dirty="0">
                <a:solidFill>
                  <a:srgbClr val="EFF2F1"/>
                </a:solidFill>
                <a:latin typeface="Arial" pitchFamily="34" charset="0"/>
                <a:ea typeface="Arial" pitchFamily="34" charset="-122"/>
                <a:cs typeface="Arial" pitchFamily="34" charset="-120"/>
              </a:rPr>
              <a:t>What we measured, and what broke when we checked</a:t>
            </a:r>
            <a:endParaRPr lang="en-US" sz="31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docs/FIX_LOG.md  ·  backend/scripts/README.md  ·  ml/evaluation/</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25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Shape 8"/>
          <p:cNvSpPr/>
          <p:nvPr/>
        </p:nvSpPr>
        <p:spPr>
          <a:xfrm>
            <a:off x="658368" y="1481328"/>
            <a:ext cx="2615184" cy="1042416"/>
          </a:xfrm>
          <a:prstGeom prst="roundRect">
            <a:avLst>
              <a:gd name="adj" fmla="val 1403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1" name="Text 9"/>
          <p:cNvSpPr txBox="1"/>
          <p:nvPr/>
        </p:nvSpPr>
        <p:spPr>
          <a:xfrm>
            <a:off x="859536" y="1572768"/>
            <a:ext cx="2194560" cy="475488"/>
          </a:xfrm>
          <a:prstGeom prst="rect">
            <a:avLst/>
          </a:prstGeom>
          <a:noFill/>
          <a:ln/>
        </p:spPr>
        <p:txBody>
          <a:bodyPr wrap="square" lIns="0" tIns="0" rIns="0" bIns="0" rtlCol="0" anchor="b"/>
          <a:lstStyle/>
          <a:p>
            <a:pPr indent="0" marL="0">
              <a:buNone/>
            </a:pPr>
            <a:r>
              <a:rPr lang="en-US" sz="3000" b="1" dirty="0">
                <a:solidFill>
                  <a:srgbClr val="F9BF29"/>
                </a:solidFill>
                <a:latin typeface="Arial" pitchFamily="34" charset="0"/>
                <a:ea typeface="Arial" pitchFamily="34" charset="-122"/>
                <a:cs typeface="Arial" pitchFamily="34" charset="-120"/>
              </a:rPr>
              <a:t>92</a:t>
            </a:r>
            <a:endParaRPr lang="en-US" sz="3000" dirty="0"/>
          </a:p>
        </p:txBody>
      </p:sp>
      <p:sp>
        <p:nvSpPr>
          <p:cNvPr id="12" name="Text 10"/>
          <p:cNvSpPr txBox="1"/>
          <p:nvPr/>
        </p:nvSpPr>
        <p:spPr>
          <a:xfrm>
            <a:off x="859536" y="2048256"/>
            <a:ext cx="2212848"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backend tests</a:t>
            </a:r>
            <a:endParaRPr lang="en-US" sz="1150" dirty="0"/>
          </a:p>
        </p:txBody>
      </p:sp>
      <p:sp>
        <p:nvSpPr>
          <p:cNvPr id="13" name="Text 11"/>
          <p:cNvSpPr txBox="1"/>
          <p:nvPr/>
        </p:nvSpPr>
        <p:spPr>
          <a:xfrm>
            <a:off x="859536" y="2231136"/>
            <a:ext cx="2212848"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run with no models present</a:t>
            </a:r>
            <a:endParaRPr lang="en-US" sz="950" dirty="0"/>
          </a:p>
        </p:txBody>
      </p:sp>
      <p:sp>
        <p:nvSpPr>
          <p:cNvPr id="14" name="Shape 12"/>
          <p:cNvSpPr/>
          <p:nvPr/>
        </p:nvSpPr>
        <p:spPr>
          <a:xfrm>
            <a:off x="3401568" y="1481328"/>
            <a:ext cx="2615184" cy="1042416"/>
          </a:xfrm>
          <a:prstGeom prst="roundRect">
            <a:avLst>
              <a:gd name="adj" fmla="val 1403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5" name="Text 13"/>
          <p:cNvSpPr txBox="1"/>
          <p:nvPr/>
        </p:nvSpPr>
        <p:spPr>
          <a:xfrm>
            <a:off x="3602736" y="1572768"/>
            <a:ext cx="2194560" cy="475488"/>
          </a:xfrm>
          <a:prstGeom prst="rect">
            <a:avLst/>
          </a:prstGeom>
          <a:noFill/>
          <a:ln/>
        </p:spPr>
        <p:txBody>
          <a:bodyPr wrap="square" lIns="0" tIns="0" rIns="0" bIns="0" rtlCol="0" anchor="b"/>
          <a:lstStyle/>
          <a:p>
            <a:pPr indent="0" marL="0">
              <a:buNone/>
            </a:pPr>
            <a:r>
              <a:rPr lang="en-US" sz="3000" b="1" dirty="0">
                <a:solidFill>
                  <a:srgbClr val="F9BF29"/>
                </a:solidFill>
                <a:latin typeface="Arial" pitchFamily="34" charset="0"/>
                <a:ea typeface="Arial" pitchFamily="34" charset="-122"/>
                <a:cs typeface="Arial" pitchFamily="34" charset="-120"/>
              </a:rPr>
              <a:t>42</a:t>
            </a:r>
            <a:endParaRPr lang="en-US" sz="3000" dirty="0"/>
          </a:p>
        </p:txBody>
      </p:sp>
      <p:sp>
        <p:nvSpPr>
          <p:cNvPr id="16" name="Text 14"/>
          <p:cNvSpPr txBox="1"/>
          <p:nvPr/>
        </p:nvSpPr>
        <p:spPr>
          <a:xfrm>
            <a:off x="3602736" y="2048256"/>
            <a:ext cx="2212848"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frontend tests</a:t>
            </a:r>
            <a:endParaRPr lang="en-US" sz="1150" dirty="0"/>
          </a:p>
        </p:txBody>
      </p:sp>
      <p:sp>
        <p:nvSpPr>
          <p:cNvPr id="17" name="Text 15"/>
          <p:cNvSpPr txBox="1"/>
          <p:nvPr/>
        </p:nvSpPr>
        <p:spPr>
          <a:xfrm>
            <a:off x="3602736" y="2231136"/>
            <a:ext cx="2212848"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vitest</a:t>
            </a:r>
            <a:endParaRPr lang="en-US" sz="950" dirty="0"/>
          </a:p>
        </p:txBody>
      </p:sp>
      <p:sp>
        <p:nvSpPr>
          <p:cNvPr id="18" name="Shape 16"/>
          <p:cNvSpPr/>
          <p:nvPr/>
        </p:nvSpPr>
        <p:spPr>
          <a:xfrm>
            <a:off x="6144768" y="1481328"/>
            <a:ext cx="2615184" cy="1042416"/>
          </a:xfrm>
          <a:prstGeom prst="roundRect">
            <a:avLst>
              <a:gd name="adj" fmla="val 1403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9" name="Text 17"/>
          <p:cNvSpPr txBox="1"/>
          <p:nvPr/>
        </p:nvSpPr>
        <p:spPr>
          <a:xfrm>
            <a:off x="6345936" y="1572768"/>
            <a:ext cx="2194560" cy="475488"/>
          </a:xfrm>
          <a:prstGeom prst="rect">
            <a:avLst/>
          </a:prstGeom>
          <a:noFill/>
          <a:ln/>
        </p:spPr>
        <p:txBody>
          <a:bodyPr wrap="square" lIns="0" tIns="0" rIns="0" bIns="0" rtlCol="0" anchor="b"/>
          <a:lstStyle/>
          <a:p>
            <a:pPr indent="0" marL="0">
              <a:buNone/>
            </a:pPr>
            <a:r>
              <a:rPr lang="en-US" sz="3000" b="1" dirty="0">
                <a:solidFill>
                  <a:srgbClr val="F9BF29"/>
                </a:solidFill>
                <a:latin typeface="Arial" pitchFamily="34" charset="0"/>
                <a:ea typeface="Arial" pitchFamily="34" charset="-122"/>
                <a:cs typeface="Arial" pitchFamily="34" charset="-120"/>
              </a:rPr>
              <a:t>10</a:t>
            </a:r>
            <a:endParaRPr lang="en-US" sz="3000" dirty="0"/>
          </a:p>
        </p:txBody>
      </p:sp>
      <p:sp>
        <p:nvSpPr>
          <p:cNvPr id="20" name="Text 18"/>
          <p:cNvSpPr txBox="1"/>
          <p:nvPr/>
        </p:nvSpPr>
        <p:spPr>
          <a:xfrm>
            <a:off x="6345936" y="2048256"/>
            <a:ext cx="2212848"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measurement harnesses</a:t>
            </a:r>
            <a:endParaRPr lang="en-US" sz="1150" dirty="0"/>
          </a:p>
        </p:txBody>
      </p:sp>
      <p:sp>
        <p:nvSpPr>
          <p:cNvPr id="21" name="Text 19"/>
          <p:cNvSpPr txBox="1"/>
          <p:nvPr/>
        </p:nvSpPr>
        <p:spPr>
          <a:xfrm>
            <a:off x="6345936" y="2231136"/>
            <a:ext cx="2212848"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6 verification + 4 evaluation</a:t>
            </a:r>
            <a:endParaRPr lang="en-US" sz="950" dirty="0"/>
          </a:p>
        </p:txBody>
      </p:sp>
      <p:sp>
        <p:nvSpPr>
          <p:cNvPr id="22" name="Shape 20"/>
          <p:cNvSpPr/>
          <p:nvPr/>
        </p:nvSpPr>
        <p:spPr>
          <a:xfrm>
            <a:off x="8887968" y="1481328"/>
            <a:ext cx="2615184" cy="1042416"/>
          </a:xfrm>
          <a:prstGeom prst="roundRect">
            <a:avLst>
              <a:gd name="adj" fmla="val 14035"/>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3" name="Text 21"/>
          <p:cNvSpPr txBox="1"/>
          <p:nvPr/>
        </p:nvSpPr>
        <p:spPr>
          <a:xfrm>
            <a:off x="9089136" y="1572768"/>
            <a:ext cx="2194560" cy="475488"/>
          </a:xfrm>
          <a:prstGeom prst="rect">
            <a:avLst/>
          </a:prstGeom>
          <a:noFill/>
          <a:ln/>
        </p:spPr>
        <p:txBody>
          <a:bodyPr wrap="square" lIns="0" tIns="0" rIns="0" bIns="0" rtlCol="0" anchor="b"/>
          <a:lstStyle/>
          <a:p>
            <a:pPr indent="0" marL="0">
              <a:buNone/>
            </a:pPr>
            <a:r>
              <a:rPr lang="en-US" sz="3000" b="1" dirty="0">
                <a:solidFill>
                  <a:srgbClr val="F9BF29"/>
                </a:solidFill>
                <a:latin typeface="Arial" pitchFamily="34" charset="0"/>
                <a:ea typeface="Arial" pitchFamily="34" charset="-122"/>
                <a:cs typeface="Arial" pitchFamily="34" charset="-120"/>
              </a:rPr>
              <a:t>0</a:t>
            </a:r>
            <a:endParaRPr lang="en-US" sz="3000" dirty="0"/>
          </a:p>
        </p:txBody>
      </p:sp>
      <p:sp>
        <p:nvSpPr>
          <p:cNvPr id="24" name="Text 22"/>
          <p:cNvSpPr txBox="1"/>
          <p:nvPr/>
        </p:nvSpPr>
        <p:spPr>
          <a:xfrm>
            <a:off x="9089136" y="2048256"/>
            <a:ext cx="2212848"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schema drift</a:t>
            </a:r>
            <a:endParaRPr lang="en-US" sz="1150" dirty="0"/>
          </a:p>
        </p:txBody>
      </p:sp>
      <p:sp>
        <p:nvSpPr>
          <p:cNvPr id="25" name="Text 23"/>
          <p:cNvSpPr txBox="1"/>
          <p:nvPr/>
        </p:nvSpPr>
        <p:spPr>
          <a:xfrm>
            <a:off x="9089136" y="2231136"/>
            <a:ext cx="2212848"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make check-types fails the build</a:t>
            </a:r>
            <a:endParaRPr lang="en-US" sz="950" dirty="0"/>
          </a:p>
        </p:txBody>
      </p:sp>
      <p:sp>
        <p:nvSpPr>
          <p:cNvPr id="26" name="Shape 24"/>
          <p:cNvSpPr/>
          <p:nvPr/>
        </p:nvSpPr>
        <p:spPr>
          <a:xfrm>
            <a:off x="658368" y="2743200"/>
            <a:ext cx="10874959" cy="1481328"/>
          </a:xfrm>
          <a:prstGeom prst="roundRect">
            <a:avLst>
              <a:gd name="adj" fmla="val 9877"/>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7" name="Text 25"/>
          <p:cNvSpPr txBox="1"/>
          <p:nvPr/>
        </p:nvSpPr>
        <p:spPr>
          <a:xfrm>
            <a:off x="932688" y="2871216"/>
            <a:ext cx="4937760" cy="256032"/>
          </a:xfrm>
          <a:prstGeom prst="rect">
            <a:avLst/>
          </a:prstGeom>
          <a:noFill/>
          <a:ln/>
        </p:spPr>
        <p:txBody>
          <a:bodyPr wrap="square" lIns="0" tIns="0" rIns="0" bIns="0" rtlCol="0" anchor="t"/>
          <a:lstStyle/>
          <a:p>
            <a:pPr algn="l" indent="0" marL="0">
              <a:lnSpc>
                <a:spcPct val="120000"/>
              </a:lnSpc>
              <a:buNone/>
            </a:pPr>
            <a:r>
              <a:rPr lang="en-US" sz="1350" b="1" dirty="0">
                <a:solidFill>
                  <a:srgbClr val="EFF2F1"/>
                </a:solidFill>
                <a:latin typeface="Calibri" pitchFamily="34" charset="0"/>
                <a:ea typeface="Calibri" pitchFamily="34" charset="-122"/>
                <a:cs typeface="Calibri" pitchFamily="34" charset="-120"/>
              </a:rPr>
              <a:t>An unreadable index reported itself as empty</a:t>
            </a:r>
            <a:endParaRPr lang="en-US" sz="1350" dirty="0"/>
          </a:p>
        </p:txBody>
      </p:sp>
      <p:sp>
        <p:nvSpPr>
          <p:cNvPr id="28" name="Text 26"/>
          <p:cNvSpPr txBox="1"/>
          <p:nvPr/>
        </p:nvSpPr>
        <p:spPr>
          <a:xfrm>
            <a:off x="932688" y="3163824"/>
            <a:ext cx="4937760" cy="1005840"/>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The knowledge base returned zero chunks and every answer came back ungrounded. The store on disk was intact — 1,057 embeddings. It had been written by a newer Chroma than our pin, which raises KeyError: '_type' on read. Our code caught that, logged nothing, and returned 0.</a:t>
            </a:r>
            <a:endParaRPr lang="en-US" sz="1050" dirty="0"/>
          </a:p>
        </p:txBody>
      </p:sp>
      <p:sp>
        <p:nvSpPr>
          <p:cNvPr id="29" name="Shape 27"/>
          <p:cNvSpPr/>
          <p:nvPr/>
        </p:nvSpPr>
        <p:spPr>
          <a:xfrm>
            <a:off x="6163056" y="2907792"/>
            <a:ext cx="0" cy="1152144"/>
          </a:xfrm>
          <a:prstGeom prst="line">
            <a:avLst/>
          </a:prstGeom>
          <a:noFill/>
          <a:ln w="12700">
            <a:solidFill>
              <a:srgbClr val="223029"/>
            </a:solidFill>
            <a:prstDash val="solid"/>
          </a:ln>
        </p:spPr>
      </p:sp>
      <p:sp>
        <p:nvSpPr>
          <p:cNvPr id="30" name="Text 28"/>
          <p:cNvSpPr txBox="1"/>
          <p:nvPr/>
        </p:nvSpPr>
        <p:spPr>
          <a:xfrm>
            <a:off x="6382512" y="2852928"/>
            <a:ext cx="4882896" cy="1261872"/>
          </a:xfrm>
          <a:prstGeom prst="rect">
            <a:avLst/>
          </a:prstGeom>
          <a:noFill/>
          <a:ln/>
        </p:spPr>
        <p:txBody>
          <a:bodyPr wrap="square" lIns="0" tIns="0" rIns="0" bIns="0" rtlCol="0" anchor="t"/>
          <a:lstStyle/>
          <a:p>
            <a:pPr algn="l" indent="0" marL="0">
              <a:lnSpc>
                <a:spcPct val="114000"/>
              </a:lnSpc>
              <a:buNone/>
            </a:pPr>
            <a:r>
              <a:rPr lang="en-US" sz="1000" dirty="0">
                <a:solidFill>
                  <a:srgbClr val="DCE5E4"/>
                </a:solidFill>
                <a:latin typeface="Calibri" pitchFamily="34" charset="0"/>
                <a:ea typeface="Calibri" pitchFamily="34" charset="-122"/>
                <a:cs typeface="Calibri" pitchFamily="34" charset="-120"/>
              </a:rPr>
              <a:t>So a corrupt corpus was indistinguishable from an empty one, and the failure mode was silently ungrounded answers — the worst outcome for a system whose main safety property is refusing to answer outside its corpus. count() now separates three cases, and /api/status reports corpus_status: "unreadable" instead of quietly saying zero. Five tests pin the distinction, each watched failing first.</a:t>
            </a:r>
            <a:endParaRPr lang="en-US" sz="1000" dirty="0"/>
          </a:p>
        </p:txBody>
      </p:sp>
      <p:sp>
        <p:nvSpPr>
          <p:cNvPr id="31" name="Shape 29"/>
          <p:cNvSpPr/>
          <p:nvPr/>
        </p:nvSpPr>
        <p:spPr>
          <a:xfrm>
            <a:off x="658368" y="4352544"/>
            <a:ext cx="10874959" cy="1481328"/>
          </a:xfrm>
          <a:prstGeom prst="roundRect">
            <a:avLst>
              <a:gd name="adj" fmla="val 9877"/>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32" name="Text 30"/>
          <p:cNvSpPr txBox="1"/>
          <p:nvPr/>
        </p:nvSpPr>
        <p:spPr>
          <a:xfrm>
            <a:off x="932688" y="4480560"/>
            <a:ext cx="4937760" cy="256032"/>
          </a:xfrm>
          <a:prstGeom prst="rect">
            <a:avLst/>
          </a:prstGeom>
          <a:noFill/>
          <a:ln/>
        </p:spPr>
        <p:txBody>
          <a:bodyPr wrap="square" lIns="0" tIns="0" rIns="0" bIns="0" rtlCol="0" anchor="t"/>
          <a:lstStyle/>
          <a:p>
            <a:pPr algn="l" indent="0" marL="0">
              <a:lnSpc>
                <a:spcPct val="120000"/>
              </a:lnSpc>
              <a:buNone/>
            </a:pPr>
            <a:r>
              <a:rPr lang="en-US" sz="1350" b="1" dirty="0">
                <a:solidFill>
                  <a:srgbClr val="F9BF29"/>
                </a:solidFill>
                <a:latin typeface="Calibri" pitchFamily="34" charset="0"/>
                <a:ea typeface="Calibri" pitchFamily="34" charset="-122"/>
                <a:cs typeface="Calibri" pitchFamily="34" charset="-120"/>
              </a:rPr>
              <a:t>A citation was back-of-chapter homework</a:t>
            </a:r>
            <a:endParaRPr lang="en-US" sz="1350" dirty="0"/>
          </a:p>
        </p:txBody>
      </p:sp>
      <p:sp>
        <p:nvSpPr>
          <p:cNvPr id="33" name="Text 31"/>
          <p:cNvSpPr txBox="1"/>
          <p:nvPr/>
        </p:nvSpPr>
        <p:spPr>
          <a:xfrm>
            <a:off x="932688" y="4773168"/>
            <a:ext cx="4937760" cy="1005840"/>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A retrieved passage for “how do I use pauses” was literally “2. What are the four special effects of pause?”. A structural detector found 56 such chunks, 5.3% of the corpus.</a:t>
            </a:r>
            <a:endParaRPr lang="en-US" sz="1050" dirty="0"/>
          </a:p>
        </p:txBody>
      </p:sp>
      <p:sp>
        <p:nvSpPr>
          <p:cNvPr id="34" name="Shape 32"/>
          <p:cNvSpPr/>
          <p:nvPr/>
        </p:nvSpPr>
        <p:spPr>
          <a:xfrm>
            <a:off x="6163056" y="4517136"/>
            <a:ext cx="0" cy="1152144"/>
          </a:xfrm>
          <a:prstGeom prst="line">
            <a:avLst/>
          </a:prstGeom>
          <a:noFill/>
          <a:ln w="12700">
            <a:solidFill>
              <a:srgbClr val="223029"/>
            </a:solidFill>
            <a:prstDash val="solid"/>
          </a:ln>
        </p:spPr>
      </p:sp>
      <p:sp>
        <p:nvSpPr>
          <p:cNvPr id="35" name="Text 33"/>
          <p:cNvSpPr txBox="1"/>
          <p:nvPr/>
        </p:nvSpPr>
        <p:spPr>
          <a:xfrm>
            <a:off x="6382512" y="4462272"/>
            <a:ext cx="4882896" cy="1261872"/>
          </a:xfrm>
          <a:prstGeom prst="rect">
            <a:avLst/>
          </a:prstGeom>
          <a:noFill/>
          <a:ln/>
        </p:spPr>
        <p:txBody>
          <a:bodyPr wrap="square" lIns="0" tIns="0" rIns="0" bIns="0" rtlCol="0" anchor="t"/>
          <a:lstStyle/>
          <a:p>
            <a:pPr algn="l" indent="0" marL="0">
              <a:lnSpc>
                <a:spcPct val="114000"/>
              </a:lnSpc>
              <a:buNone/>
            </a:pPr>
            <a:r>
              <a:rPr lang="en-US" sz="1000" dirty="0">
                <a:solidFill>
                  <a:srgbClr val="DCE5E4"/>
                </a:solidFill>
                <a:latin typeface="Calibri" pitchFamily="34" charset="0"/>
                <a:ea typeface="Calibri" pitchFamily="34" charset="-122"/>
                <a:cs typeface="Calibri" pitchFamily="34" charset="-120"/>
              </a:rPr>
              <a:t>The obvious fix is to drop them at ingest, and measuring said that was wrong: 25% of what the detector flags is majority prose, because overlapping chunks carry a numbered tail from the drill that follows. And removing 5% of the corpus would move a gate whose in/out band is only 0.077 wide. So drills are marked and demoted at rank time by 0.15, after the gate has already run on true similarity. Three test queries went from one drill cited to zero, with best_score unchanged and the gate provably unmoved.</a:t>
            </a:r>
            <a:endParaRPr lang="en-US" sz="1000" dirty="0"/>
          </a:p>
        </p:txBody>
      </p:sp>
      <p:sp>
        <p:nvSpPr>
          <p:cNvPr id="36" name="Text 34"/>
          <p:cNvSpPr txBox="1"/>
          <p:nvPr/>
        </p:nvSpPr>
        <p:spPr>
          <a:xfrm>
            <a:off x="658368" y="5888736"/>
            <a:ext cx="10874959" cy="237744"/>
          </a:xfrm>
          <a:prstGeom prst="rect">
            <a:avLst/>
          </a:prstGeom>
          <a:noFill/>
          <a:ln/>
        </p:spPr>
        <p:txBody>
          <a:bodyPr wrap="square" lIns="0" tIns="0" rIns="0" bIns="0" rtlCol="0" anchor="ctr"/>
          <a:lstStyle/>
          <a:p>
            <a:pPr algn="ctr" indent="0" marL="0">
              <a:buNone/>
            </a:pPr>
            <a:r>
              <a:rPr lang="en-US" sz="900" dirty="0">
                <a:solidFill>
                  <a:srgbClr val="5D7268"/>
                </a:solidFill>
                <a:latin typeface="Courier New" pitchFamily="34" charset="0"/>
                <a:ea typeface="Courier New" pitchFamily="34" charset="-122"/>
                <a:cs typeface="Courier New" pitchFamily="34" charset="-120"/>
              </a:rPr>
              <a:t>six defects were found by one thing: installing the project from its own requirements.txt on a machine that had never run it, and then actually using it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LIMITATIONS, STATED PLAINLY</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3400" b="1" dirty="0">
                <a:solidFill>
                  <a:srgbClr val="EFF2F1"/>
                </a:solidFill>
                <a:latin typeface="Arial" pitchFamily="34" charset="0"/>
                <a:ea typeface="Arial" pitchFamily="34" charset="-122"/>
                <a:cs typeface="Arial" pitchFamily="34" charset="-120"/>
              </a:rPr>
              <a:t>What is built, and what is </a:t>
            </a:r>
            <a:pPr indent="0" marL="0">
              <a:lnSpc>
                <a:spcPct val="103000"/>
              </a:lnSpc>
              <a:buNone/>
            </a:pPr>
            <a:r>
              <a:rPr lang="en-US" sz="3400" i="1" dirty="0">
                <a:solidFill>
                  <a:srgbClr val="F9BF29"/>
                </a:solidFill>
                <a:latin typeface="Cambria" pitchFamily="34" charset="0"/>
                <a:ea typeface="Cambria" pitchFamily="34" charset="-122"/>
                <a:cs typeface="Cambria" pitchFamily="34" charset="-120"/>
              </a:rPr>
              <a:t>not</a:t>
            </a:r>
            <a:endParaRPr lang="en-US" sz="34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PRESENTER 2  ·  YOUSSEF  ·  NIGHT STUDIO</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docs/PROJECT_PLAN.md  ·  docs/M9–M12  ·  docs/REPORT.md §11</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26 / 27</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89888"/>
            <a:ext cx="1024128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An examiner will find these, so we would rather present them. Nothing on the right appears anywhere in this talk as though it were finished.</a:t>
            </a:r>
            <a:endParaRPr lang="en-US" sz="1500" dirty="0"/>
          </a:p>
        </p:txBody>
      </p:sp>
      <p:sp>
        <p:nvSpPr>
          <p:cNvPr id="11" name="Shape 9"/>
          <p:cNvSpPr/>
          <p:nvPr/>
        </p:nvSpPr>
        <p:spPr>
          <a:xfrm>
            <a:off x="658368" y="2157984"/>
            <a:ext cx="5321808" cy="3840480"/>
          </a:xfrm>
          <a:prstGeom prst="roundRect">
            <a:avLst>
              <a:gd name="adj" fmla="val 3810"/>
            </a:avLst>
          </a:prstGeom>
          <a:solidFill>
            <a:srgbClr val="141D19">
              <a:alpha val="88000"/>
            </a:srgbClr>
          </a:solidFill>
          <a:ln w="12700">
            <a:solidFill>
              <a:srgbClr val="6F9C8A"/>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14400" y="2304288"/>
            <a:ext cx="45720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COMPLETE AND MEASURED</a:t>
            </a:r>
            <a:endParaRPr lang="en-US" sz="950" dirty="0"/>
          </a:p>
        </p:txBody>
      </p:sp>
      <p:sp>
        <p:nvSpPr>
          <p:cNvPr id="13" name="Shape 11"/>
          <p:cNvSpPr/>
          <p:nvPr/>
        </p:nvSpPr>
        <p:spPr>
          <a:xfrm>
            <a:off x="932688" y="2670048"/>
            <a:ext cx="109728" cy="109728"/>
          </a:xfrm>
          <a:prstGeom prst="roundRect">
            <a:avLst>
              <a:gd name="adj" fmla="val 25000"/>
            </a:avLst>
          </a:prstGeom>
          <a:solidFill>
            <a:srgbClr val="6F9C8A"/>
          </a:solidFill>
          <a:ln/>
        </p:spPr>
      </p:sp>
      <p:sp>
        <p:nvSpPr>
          <p:cNvPr id="14" name="Text 12"/>
          <p:cNvSpPr txBox="1"/>
          <p:nvPr/>
        </p:nvSpPr>
        <p:spPr>
          <a:xfrm>
            <a:off x="1170432" y="2615184"/>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Moshi on Blackwell</a:t>
            </a:r>
            <a:endParaRPr lang="en-US" sz="1150" dirty="0"/>
          </a:p>
        </p:txBody>
      </p:sp>
      <p:sp>
        <p:nvSpPr>
          <p:cNvPr id="15" name="Text 13"/>
          <p:cNvSpPr txBox="1"/>
          <p:nvPr/>
        </p:nvSpPr>
        <p:spPr>
          <a:xfrm>
            <a:off x="1170432" y="2798064"/>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builds, runs at q8, benchmarked through a production bridge</a:t>
            </a:r>
            <a:endParaRPr lang="en-US" sz="950" dirty="0"/>
          </a:p>
        </p:txBody>
      </p:sp>
      <p:sp>
        <p:nvSpPr>
          <p:cNvPr id="16" name="Shape 14"/>
          <p:cNvSpPr/>
          <p:nvPr/>
        </p:nvSpPr>
        <p:spPr>
          <a:xfrm>
            <a:off x="932688" y="3090672"/>
            <a:ext cx="109728" cy="109728"/>
          </a:xfrm>
          <a:prstGeom prst="roundRect">
            <a:avLst>
              <a:gd name="adj" fmla="val 25000"/>
            </a:avLst>
          </a:prstGeom>
          <a:solidFill>
            <a:srgbClr val="6F9C8A"/>
          </a:solidFill>
          <a:ln/>
        </p:spPr>
      </p:sp>
      <p:sp>
        <p:nvSpPr>
          <p:cNvPr id="17" name="Text 15"/>
          <p:cNvSpPr txBox="1"/>
          <p:nvPr/>
        </p:nvSpPr>
        <p:spPr>
          <a:xfrm>
            <a:off x="1170432" y="3035808"/>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Dysfluency classifier</a:t>
            </a:r>
            <a:endParaRPr lang="en-US" sz="1150" dirty="0"/>
          </a:p>
        </p:txBody>
      </p:sp>
      <p:sp>
        <p:nvSpPr>
          <p:cNvPr id="18" name="Text 16"/>
          <p:cNvSpPr txBox="1"/>
          <p:nvPr/>
        </p:nvSpPr>
        <p:spPr>
          <a:xfrm>
            <a:off x="1170432" y="3218688"/>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macro F1 0.638, independently reproduced at 0.612 on 400 held-out clips</a:t>
            </a:r>
            <a:endParaRPr lang="en-US" sz="950" dirty="0"/>
          </a:p>
        </p:txBody>
      </p:sp>
      <p:sp>
        <p:nvSpPr>
          <p:cNvPr id="19" name="Shape 17"/>
          <p:cNvSpPr/>
          <p:nvPr/>
        </p:nvSpPr>
        <p:spPr>
          <a:xfrm>
            <a:off x="932688" y="3511296"/>
            <a:ext cx="109728" cy="109728"/>
          </a:xfrm>
          <a:prstGeom prst="roundRect">
            <a:avLst>
              <a:gd name="adj" fmla="val 25000"/>
            </a:avLst>
          </a:prstGeom>
          <a:solidFill>
            <a:srgbClr val="6F9C8A"/>
          </a:solidFill>
          <a:ln/>
        </p:spPr>
      </p:sp>
      <p:sp>
        <p:nvSpPr>
          <p:cNvPr id="20" name="Text 18"/>
          <p:cNvSpPr txBox="1"/>
          <p:nvPr/>
        </p:nvSpPr>
        <p:spPr>
          <a:xfrm>
            <a:off x="1170432" y="3456432"/>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The acoustic-tag schema</a:t>
            </a:r>
            <a:endParaRPr lang="en-US" sz="1150" dirty="0"/>
          </a:p>
        </p:txBody>
      </p:sp>
      <p:sp>
        <p:nvSpPr>
          <p:cNvPr id="21" name="Text 19"/>
          <p:cNvSpPr txBox="1"/>
          <p:nvPr/>
        </p:nvSpPr>
        <p:spPr>
          <a:xfrm>
            <a:off x="1170432" y="3639312"/>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frozen, versioned, consumed by both tracks</a:t>
            </a:r>
            <a:endParaRPr lang="en-US" sz="950" dirty="0"/>
          </a:p>
        </p:txBody>
      </p:sp>
      <p:sp>
        <p:nvSpPr>
          <p:cNvPr id="22" name="Shape 20"/>
          <p:cNvSpPr/>
          <p:nvPr/>
        </p:nvSpPr>
        <p:spPr>
          <a:xfrm>
            <a:off x="932688" y="3931920"/>
            <a:ext cx="109728" cy="109728"/>
          </a:xfrm>
          <a:prstGeom prst="roundRect">
            <a:avLst>
              <a:gd name="adj" fmla="val 25000"/>
            </a:avLst>
          </a:prstGeom>
          <a:solidFill>
            <a:srgbClr val="6F9C8A"/>
          </a:solidFill>
          <a:ln/>
        </p:spPr>
      </p:sp>
      <p:sp>
        <p:nvSpPr>
          <p:cNvPr id="23" name="Text 21"/>
          <p:cNvSpPr txBox="1"/>
          <p:nvPr/>
        </p:nvSpPr>
        <p:spPr>
          <a:xfrm>
            <a:off x="1170432" y="3877056"/>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QLoRA fine-tune, merged and served</a:t>
            </a:r>
            <a:endParaRPr lang="en-US" sz="1150" dirty="0"/>
          </a:p>
        </p:txBody>
      </p:sp>
      <p:sp>
        <p:nvSpPr>
          <p:cNvPr id="24" name="Text 22"/>
          <p:cNvSpPr txBox="1"/>
          <p:nvPr/>
        </p:nvSpPr>
        <p:spPr>
          <a:xfrm>
            <a:off x="1170432" y="4059936"/>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wired into the backend and verified end to end</a:t>
            </a:r>
            <a:endParaRPr lang="en-US" sz="950" dirty="0"/>
          </a:p>
        </p:txBody>
      </p:sp>
      <p:sp>
        <p:nvSpPr>
          <p:cNvPr id="25" name="Shape 23"/>
          <p:cNvSpPr/>
          <p:nvPr/>
        </p:nvSpPr>
        <p:spPr>
          <a:xfrm>
            <a:off x="932688" y="4352544"/>
            <a:ext cx="109728" cy="109728"/>
          </a:xfrm>
          <a:prstGeom prst="roundRect">
            <a:avLst>
              <a:gd name="adj" fmla="val 25000"/>
            </a:avLst>
          </a:prstGeom>
          <a:solidFill>
            <a:srgbClr val="6F9C8A"/>
          </a:solidFill>
          <a:ln/>
        </p:spPr>
      </p:sp>
      <p:sp>
        <p:nvSpPr>
          <p:cNvPr id="26" name="Text 24"/>
          <p:cNvSpPr txBox="1"/>
          <p:nvPr/>
        </p:nvSpPr>
        <p:spPr>
          <a:xfrm>
            <a:off x="1170432" y="4297680"/>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M9 — base vs fine-tuned</a:t>
            </a:r>
            <a:endParaRPr lang="en-US" sz="1150" dirty="0"/>
          </a:p>
        </p:txBody>
      </p:sp>
      <p:sp>
        <p:nvSpPr>
          <p:cNvPr id="27" name="Text 25"/>
          <p:cNvSpPr txBox="1"/>
          <p:nvPr/>
        </p:nvSpPr>
        <p:spPr>
          <a:xfrm>
            <a:off x="1170432" y="4480560"/>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125 generations per model; a safety regression found and traced</a:t>
            </a:r>
            <a:endParaRPr lang="en-US" sz="950" dirty="0"/>
          </a:p>
        </p:txBody>
      </p:sp>
      <p:sp>
        <p:nvSpPr>
          <p:cNvPr id="28" name="Shape 26"/>
          <p:cNvSpPr/>
          <p:nvPr/>
        </p:nvSpPr>
        <p:spPr>
          <a:xfrm>
            <a:off x="932688" y="4773168"/>
            <a:ext cx="109728" cy="109728"/>
          </a:xfrm>
          <a:prstGeom prst="roundRect">
            <a:avLst>
              <a:gd name="adj" fmla="val 25000"/>
            </a:avLst>
          </a:prstGeom>
          <a:solidFill>
            <a:srgbClr val="6F9C8A"/>
          </a:solidFill>
          <a:ln/>
        </p:spPr>
      </p:sp>
      <p:sp>
        <p:nvSpPr>
          <p:cNvPr id="29" name="Text 27"/>
          <p:cNvSpPr txBox="1"/>
          <p:nvPr/>
        </p:nvSpPr>
        <p:spPr>
          <a:xfrm>
            <a:off x="1170432" y="4718304"/>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M10 — optimization analysis</a:t>
            </a:r>
            <a:endParaRPr lang="en-US" sz="1150" dirty="0"/>
          </a:p>
        </p:txBody>
      </p:sp>
      <p:sp>
        <p:nvSpPr>
          <p:cNvPr id="30" name="Text 28"/>
          <p:cNvSpPr txBox="1"/>
          <p:nvPr/>
        </p:nvSpPr>
        <p:spPr>
          <a:xfrm>
            <a:off x="1170432" y="4901184"/>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3.20× compression, 660 ms TTFT, 3.33 GB peak RSS</a:t>
            </a:r>
            <a:endParaRPr lang="en-US" sz="950" dirty="0"/>
          </a:p>
        </p:txBody>
      </p:sp>
      <p:sp>
        <p:nvSpPr>
          <p:cNvPr id="31" name="Shape 29"/>
          <p:cNvSpPr/>
          <p:nvPr/>
        </p:nvSpPr>
        <p:spPr>
          <a:xfrm>
            <a:off x="932688" y="5193792"/>
            <a:ext cx="109728" cy="109728"/>
          </a:xfrm>
          <a:prstGeom prst="roundRect">
            <a:avLst>
              <a:gd name="adj" fmla="val 25000"/>
            </a:avLst>
          </a:prstGeom>
          <a:solidFill>
            <a:srgbClr val="6F9C8A"/>
          </a:solidFill>
          <a:ln/>
        </p:spPr>
      </p:sp>
      <p:sp>
        <p:nvSpPr>
          <p:cNvPr id="32" name="Text 30"/>
          <p:cNvSpPr txBox="1"/>
          <p:nvPr/>
        </p:nvSpPr>
        <p:spPr>
          <a:xfrm>
            <a:off x="1170432" y="5138928"/>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M12 — the headline comparison</a:t>
            </a:r>
            <a:endParaRPr lang="en-US" sz="1150" dirty="0"/>
          </a:p>
        </p:txBody>
      </p:sp>
      <p:sp>
        <p:nvSpPr>
          <p:cNvPr id="33" name="Text 31"/>
          <p:cNvSpPr txBox="1"/>
          <p:nvPr/>
        </p:nvSpPr>
        <p:spPr>
          <a:xfrm>
            <a:off x="1170432" y="5321808"/>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latency, fidelity and groundedness across both paths</a:t>
            </a:r>
            <a:endParaRPr lang="en-US" sz="950" dirty="0"/>
          </a:p>
        </p:txBody>
      </p:sp>
      <p:sp>
        <p:nvSpPr>
          <p:cNvPr id="34" name="Shape 32"/>
          <p:cNvSpPr/>
          <p:nvPr/>
        </p:nvSpPr>
        <p:spPr>
          <a:xfrm>
            <a:off x="932688" y="5614416"/>
            <a:ext cx="109728" cy="109728"/>
          </a:xfrm>
          <a:prstGeom prst="roundRect">
            <a:avLst>
              <a:gd name="adj" fmla="val 25000"/>
            </a:avLst>
          </a:prstGeom>
          <a:solidFill>
            <a:srgbClr val="6F9C8A"/>
          </a:solidFill>
          <a:ln/>
        </p:spPr>
      </p:sp>
      <p:sp>
        <p:nvSpPr>
          <p:cNvPr id="35" name="Text 33"/>
          <p:cNvSpPr txBox="1"/>
          <p:nvPr/>
        </p:nvSpPr>
        <p:spPr>
          <a:xfrm>
            <a:off x="1170432" y="5559552"/>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The whole application</a:t>
            </a:r>
            <a:endParaRPr lang="en-US" sz="1150" dirty="0"/>
          </a:p>
        </p:txBody>
      </p:sp>
      <p:sp>
        <p:nvSpPr>
          <p:cNvPr id="36" name="Text 34"/>
          <p:cNvSpPr txBox="1"/>
          <p:nvPr/>
        </p:nvSpPr>
        <p:spPr>
          <a:xfrm>
            <a:off x="1170432" y="5742432"/>
            <a:ext cx="4572000" cy="201168"/>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both sockets, RAG, gate, auth, history, frontend</a:t>
            </a:r>
            <a:endParaRPr lang="en-US" sz="950" dirty="0"/>
          </a:p>
        </p:txBody>
      </p:sp>
      <p:sp>
        <p:nvSpPr>
          <p:cNvPr id="37" name="Shape 35"/>
          <p:cNvSpPr/>
          <p:nvPr/>
        </p:nvSpPr>
        <p:spPr>
          <a:xfrm>
            <a:off x="6208776" y="2157984"/>
            <a:ext cx="5321808" cy="3840480"/>
          </a:xfrm>
          <a:prstGeom prst="roundRect">
            <a:avLst>
              <a:gd name="adj" fmla="val 3810"/>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38" name="Text 36"/>
          <p:cNvSpPr txBox="1"/>
          <p:nvPr/>
        </p:nvSpPr>
        <p:spPr>
          <a:xfrm>
            <a:off x="6464808" y="2304288"/>
            <a:ext cx="457200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NOT DONE, AND NOT CLAIMED</a:t>
            </a:r>
            <a:endParaRPr lang="en-US" sz="950" dirty="0"/>
          </a:p>
        </p:txBody>
      </p:sp>
      <p:sp>
        <p:nvSpPr>
          <p:cNvPr id="39" name="Shape 37"/>
          <p:cNvSpPr/>
          <p:nvPr/>
        </p:nvSpPr>
        <p:spPr>
          <a:xfrm>
            <a:off x="6483096" y="2615184"/>
            <a:ext cx="109728" cy="109728"/>
          </a:xfrm>
          <a:prstGeom prst="roundRect">
            <a:avLst>
              <a:gd name="adj" fmla="val 25000"/>
            </a:avLst>
          </a:prstGeom>
          <a:solidFill>
            <a:srgbClr val="F9BF29"/>
          </a:solidFill>
          <a:ln/>
        </p:spPr>
      </p:sp>
      <p:sp>
        <p:nvSpPr>
          <p:cNvPr id="40" name="Text 38"/>
          <p:cNvSpPr txBox="1"/>
          <p:nvPr/>
        </p:nvSpPr>
        <p:spPr>
          <a:xfrm>
            <a:off x="6720840" y="2560320"/>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The fine-tune should not ship as default</a:t>
            </a:r>
            <a:endParaRPr lang="en-US" sz="1150" dirty="0"/>
          </a:p>
        </p:txBody>
      </p:sp>
      <p:sp>
        <p:nvSpPr>
          <p:cNvPr id="41" name="Text 39"/>
          <p:cNvSpPr txBox="1"/>
          <p:nvPr/>
        </p:nvSpPr>
        <p:spPr>
          <a:xfrm>
            <a:off x="6720840" y="2743200"/>
            <a:ext cx="4572000" cy="402336"/>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M9's safety regression is unmitigated. The prompt-level guard has not been written and the dataset has not been rebalanced.</a:t>
            </a:r>
            <a:endParaRPr lang="en-US" sz="850" dirty="0"/>
          </a:p>
        </p:txBody>
      </p:sp>
      <p:sp>
        <p:nvSpPr>
          <p:cNvPr id="42" name="Shape 40"/>
          <p:cNvSpPr/>
          <p:nvPr/>
        </p:nvSpPr>
        <p:spPr>
          <a:xfrm>
            <a:off x="6483096" y="3218688"/>
            <a:ext cx="109728" cy="109728"/>
          </a:xfrm>
          <a:prstGeom prst="roundRect">
            <a:avLst>
              <a:gd name="adj" fmla="val 25000"/>
            </a:avLst>
          </a:prstGeom>
          <a:solidFill>
            <a:srgbClr val="F9BF29"/>
          </a:solidFill>
          <a:ln/>
        </p:spPr>
      </p:sp>
      <p:sp>
        <p:nvSpPr>
          <p:cNvPr id="43" name="Text 41"/>
          <p:cNvSpPr txBox="1"/>
          <p:nvPr/>
        </p:nvSpPr>
        <p:spPr>
          <a:xfrm>
            <a:off x="6720840" y="3163824"/>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A LoRA adapter for Moshi</a:t>
            </a:r>
            <a:endParaRPr lang="en-US" sz="1150" dirty="0"/>
          </a:p>
        </p:txBody>
      </p:sp>
      <p:sp>
        <p:nvSpPr>
          <p:cNvPr id="44" name="Text 42"/>
          <p:cNvSpPr txBox="1"/>
          <p:nvPr/>
        </p:nvSpPr>
        <p:spPr>
          <a:xfrm>
            <a:off x="6720840" y="3346704"/>
            <a:ext cx="4572000" cy="402336"/>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Deferred, with four blockers verified rather than assumed — the decisive one being that no harness exists to evaluate a speech-output fine-tune, which would make the result unfalsifiable.</a:t>
            </a:r>
            <a:endParaRPr lang="en-US" sz="850" dirty="0"/>
          </a:p>
        </p:txBody>
      </p:sp>
      <p:sp>
        <p:nvSpPr>
          <p:cNvPr id="45" name="Shape 43"/>
          <p:cNvSpPr/>
          <p:nvPr/>
        </p:nvSpPr>
        <p:spPr>
          <a:xfrm>
            <a:off x="6483096" y="3822192"/>
            <a:ext cx="109728" cy="109728"/>
          </a:xfrm>
          <a:prstGeom prst="roundRect">
            <a:avLst>
              <a:gd name="adj" fmla="val 25000"/>
            </a:avLst>
          </a:prstGeom>
          <a:solidFill>
            <a:srgbClr val="F9BF29"/>
          </a:solidFill>
          <a:ln/>
        </p:spPr>
      </p:sp>
      <p:sp>
        <p:nvSpPr>
          <p:cNvPr id="46" name="Text 44"/>
          <p:cNvSpPr txBox="1"/>
          <p:nvPr/>
        </p:nvSpPr>
        <p:spPr>
          <a:xfrm>
            <a:off x="6720840" y="3767328"/>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A controlled f16-vs-Q4 quality delta</a:t>
            </a:r>
            <a:endParaRPr lang="en-US" sz="1150" dirty="0"/>
          </a:p>
        </p:txBody>
      </p:sp>
      <p:sp>
        <p:nvSpPr>
          <p:cNvPr id="47" name="Text 45"/>
          <p:cNvSpPr txBox="1"/>
          <p:nvPr/>
        </p:nvSpPr>
        <p:spPr>
          <a:xfrm>
            <a:off x="6720840" y="3950208"/>
            <a:ext cx="4572000" cy="402336"/>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M9 compares base against fine-tuned at fixed precision. Isolating what quantization itself costs needs an f16 arm, about two hours per model.</a:t>
            </a:r>
            <a:endParaRPr lang="en-US" sz="850" dirty="0"/>
          </a:p>
        </p:txBody>
      </p:sp>
      <p:sp>
        <p:nvSpPr>
          <p:cNvPr id="48" name="Shape 46"/>
          <p:cNvSpPr/>
          <p:nvPr/>
        </p:nvSpPr>
        <p:spPr>
          <a:xfrm>
            <a:off x="6483096" y="4425696"/>
            <a:ext cx="109728" cy="109728"/>
          </a:xfrm>
          <a:prstGeom prst="roundRect">
            <a:avLst>
              <a:gd name="adj" fmla="val 25000"/>
            </a:avLst>
          </a:prstGeom>
          <a:solidFill>
            <a:srgbClr val="F9BF29"/>
          </a:solidFill>
          <a:ln/>
        </p:spPr>
      </p:sp>
      <p:sp>
        <p:nvSpPr>
          <p:cNvPr id="49" name="Text 47"/>
          <p:cNvSpPr txBox="1"/>
          <p:nvPr/>
        </p:nvSpPr>
        <p:spPr>
          <a:xfrm>
            <a:off x="6720840" y="4370832"/>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The two modes under simultaneous load</a:t>
            </a:r>
            <a:endParaRPr lang="en-US" sz="1150" dirty="0"/>
          </a:p>
        </p:txBody>
      </p:sp>
      <p:sp>
        <p:nvSpPr>
          <p:cNvPr id="50" name="Text 48"/>
          <p:cNvSpPr txBox="1"/>
          <p:nvPr/>
        </p:nvSpPr>
        <p:spPr>
          <a:xfrm>
            <a:off x="6720840" y="4553712"/>
            <a:ext cx="4572000" cy="402336"/>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Measured separately, never head-to-head contending for the one GPU — which M12 shows is the constraint that actually governs latency.</a:t>
            </a:r>
            <a:endParaRPr lang="en-US" sz="850" dirty="0"/>
          </a:p>
        </p:txBody>
      </p:sp>
      <p:sp>
        <p:nvSpPr>
          <p:cNvPr id="51" name="Shape 49"/>
          <p:cNvSpPr/>
          <p:nvPr/>
        </p:nvSpPr>
        <p:spPr>
          <a:xfrm>
            <a:off x="6483096" y="5029200"/>
            <a:ext cx="109728" cy="109728"/>
          </a:xfrm>
          <a:prstGeom prst="roundRect">
            <a:avLst>
              <a:gd name="adj" fmla="val 25000"/>
            </a:avLst>
          </a:prstGeom>
          <a:solidFill>
            <a:srgbClr val="F9BF29"/>
          </a:solidFill>
          <a:ln/>
        </p:spPr>
      </p:sp>
      <p:sp>
        <p:nvSpPr>
          <p:cNvPr id="52" name="Text 50"/>
          <p:cNvSpPr txBox="1"/>
          <p:nvPr/>
        </p:nvSpPr>
        <p:spPr>
          <a:xfrm>
            <a:off x="6720840" y="4974336"/>
            <a:ext cx="4572000" cy="201168"/>
          </a:xfrm>
          <a:prstGeom prst="rect">
            <a:avLst/>
          </a:prstGeom>
          <a:noFill/>
          <a:ln/>
        </p:spPr>
        <p:txBody>
          <a:bodyPr wrap="square" lIns="0" tIns="0" rIns="0" bIns="0" rtlCol="0" anchor="t"/>
          <a:lstStyle/>
          <a:p>
            <a:pPr algn="l" indent="0" marL="0">
              <a:lnSpc>
                <a:spcPct val="120000"/>
              </a:lnSpc>
              <a:buNone/>
            </a:pPr>
            <a:r>
              <a:rPr lang="en-US" sz="1150" b="1" dirty="0">
                <a:solidFill>
                  <a:srgbClr val="EFF2F1"/>
                </a:solidFill>
                <a:latin typeface="Calibri" pitchFamily="34" charset="0"/>
                <a:ea typeface="Calibri" pitchFamily="34" charset="-122"/>
                <a:cs typeface="Calibri" pitchFamily="34" charset="-120"/>
              </a:rPr>
              <a:t>Any user study</a:t>
            </a:r>
            <a:endParaRPr lang="en-US" sz="1150" dirty="0"/>
          </a:p>
        </p:txBody>
      </p:sp>
      <p:sp>
        <p:nvSpPr>
          <p:cNvPr id="53" name="Text 51"/>
          <p:cNvSpPr txBox="1"/>
          <p:nvPr/>
        </p:nvSpPr>
        <p:spPr>
          <a:xfrm>
            <a:off x="6720840" y="5157216"/>
            <a:ext cx="4572000" cy="402336"/>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Everything reported is technical measurement. Nobody from the target population has used this.</a:t>
            </a:r>
            <a:endParaRPr lang="en-US" sz="850" dirty="0"/>
          </a:p>
        </p:txBody>
      </p:sp>
      <p:sp>
        <p:nvSpPr>
          <p:cNvPr id="54" name="Shape 52"/>
          <p:cNvSpPr/>
          <p:nvPr/>
        </p:nvSpPr>
        <p:spPr>
          <a:xfrm>
            <a:off x="6464808" y="5596128"/>
            <a:ext cx="4809744" cy="329184"/>
          </a:xfrm>
          <a:prstGeom prst="roundRect">
            <a:avLst>
              <a:gd name="adj" fmla="val 44444"/>
            </a:avLst>
          </a:prstGeom>
          <a:solidFill>
            <a:srgbClr val="1B2621">
              <a:alpha val="80000"/>
            </a:srgbClr>
          </a:solidFill>
          <a:ln w="12700">
            <a:solidFill>
              <a:srgbClr val="223029"/>
            </a:solidFill>
            <a:prstDash val="solid"/>
          </a:ln>
        </p:spPr>
      </p:sp>
      <p:sp>
        <p:nvSpPr>
          <p:cNvPr id="55" name="Text 53"/>
          <p:cNvSpPr txBox="1"/>
          <p:nvPr/>
        </p:nvSpPr>
        <p:spPr>
          <a:xfrm>
            <a:off x="6464808" y="5596128"/>
            <a:ext cx="4809744" cy="329184"/>
          </a:xfrm>
          <a:prstGeom prst="rect">
            <a:avLst/>
          </a:prstGeom>
          <a:noFill/>
          <a:ln/>
        </p:spPr>
        <p:txBody>
          <a:bodyPr wrap="square" lIns="0" tIns="0" rIns="0" bIns="0" rtlCol="0" anchor="ctr"/>
          <a:lstStyle/>
          <a:p>
            <a:pPr algn="ctr" indent="0" marL="0">
              <a:buNone/>
            </a:pPr>
            <a:r>
              <a:rPr lang="en-US" sz="700" dirty="0">
                <a:solidFill>
                  <a:srgbClr val="8CA096"/>
                </a:solidFill>
                <a:latin typeface="Courier New" pitchFamily="34" charset="0"/>
                <a:ea typeface="Courier New" pitchFamily="34" charset="-122"/>
                <a:cs typeface="Courier New" pitchFamily="34" charset="-120"/>
              </a:rPr>
              <a:t>also: English only · a century-old corpus · retrieval currently degrades replies · non-clinical by design</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IN CLOSING</a:t>
            </a:r>
            <a:endParaRPr lang="en-US" sz="1050" dirty="0"/>
          </a:p>
        </p:txBody>
      </p:sp>
      <p:sp>
        <p:nvSpPr>
          <p:cNvPr id="3" name="Text 1"/>
          <p:cNvSpPr txBox="1"/>
          <p:nvPr/>
        </p:nvSpPr>
        <p:spPr>
          <a:xfrm>
            <a:off x="658368" y="1078992"/>
            <a:ext cx="10058400" cy="1920240"/>
          </a:xfrm>
          <a:prstGeom prst="rect">
            <a:avLst/>
          </a:prstGeom>
          <a:noFill/>
          <a:ln/>
        </p:spPr>
        <p:txBody>
          <a:bodyPr wrap="square" lIns="0" tIns="0" rIns="0" bIns="0" rtlCol="0" anchor="t"/>
          <a:lstStyle/>
          <a:p>
            <a:pPr indent="0" marL="0">
              <a:lnSpc>
                <a:spcPct val="106000"/>
              </a:lnSpc>
              <a:buNone/>
            </a:pPr>
            <a:r>
              <a:rPr lang="en-US" sz="3400" b="1" dirty="0">
                <a:solidFill>
                  <a:srgbClr val="EFF2F1"/>
                </a:solidFill>
                <a:latin typeface="Arial" pitchFamily="34" charset="0"/>
                <a:ea typeface="Arial" pitchFamily="34" charset="-122"/>
                <a:cs typeface="Arial" pitchFamily="34" charset="-120"/>
              </a:rPr>
              <a:t>Speech AI should not only understand
</a:t>
            </a:r>
            <a:pPr indent="0" marL="0">
              <a:lnSpc>
                <a:spcPct val="106000"/>
              </a:lnSpc>
              <a:buNone/>
            </a:pPr>
            <a:r>
              <a:rPr lang="en-US" sz="3400" i="1" dirty="0">
                <a:solidFill>
                  <a:srgbClr val="F9BF29"/>
                </a:solidFill>
                <a:latin typeface="Cambria" pitchFamily="34" charset="0"/>
                <a:ea typeface="Cambria" pitchFamily="34" charset="-122"/>
                <a:cs typeface="Cambria" pitchFamily="34" charset="-120"/>
              </a:rPr>
              <a:t>what </a:t>
            </a:r>
            <a:pPr indent="0" marL="0">
              <a:lnSpc>
                <a:spcPct val="106000"/>
              </a:lnSpc>
              <a:buNone/>
            </a:pPr>
            <a:r>
              <a:rPr lang="en-US" sz="3400" b="1" dirty="0">
                <a:solidFill>
                  <a:srgbClr val="EFF2F1"/>
                </a:solidFill>
                <a:latin typeface="Arial" pitchFamily="34" charset="0"/>
                <a:ea typeface="Arial" pitchFamily="34" charset="-122"/>
                <a:cs typeface="Arial" pitchFamily="34" charset="-120"/>
              </a:rPr>
              <a:t>was said. It should understand
</a:t>
            </a:r>
            <a:pPr indent="0" marL="0">
              <a:lnSpc>
                <a:spcPct val="106000"/>
              </a:lnSpc>
              <a:buNone/>
            </a:pPr>
            <a:r>
              <a:rPr lang="en-US" sz="3400" i="1" dirty="0">
                <a:solidFill>
                  <a:srgbClr val="F9BF29"/>
                </a:solidFill>
                <a:latin typeface="Cambria" pitchFamily="34" charset="0"/>
                <a:ea typeface="Cambria" pitchFamily="34" charset="-122"/>
                <a:cs typeface="Cambria" pitchFamily="34" charset="-120"/>
              </a:rPr>
              <a:t>how </a:t>
            </a:r>
            <a:pPr indent="0" marL="0">
              <a:lnSpc>
                <a:spcPct val="106000"/>
              </a:lnSpc>
              <a:buNone/>
            </a:pPr>
            <a:r>
              <a:rPr lang="en-US" sz="3400" b="1" dirty="0">
                <a:solidFill>
                  <a:srgbClr val="EFF2F1"/>
                </a:solidFill>
                <a:latin typeface="Arial" pitchFamily="34" charset="0"/>
                <a:ea typeface="Arial" pitchFamily="34" charset="-122"/>
                <a:cs typeface="Arial" pitchFamily="34" charset="-120"/>
              </a:rPr>
              <a:t>it was said.</a:t>
            </a:r>
            <a:endParaRPr lang="en-US" sz="3400" dirty="0"/>
          </a:p>
        </p:txBody>
      </p:sp>
      <p:sp>
        <p:nvSpPr>
          <p:cNvPr id="4" name="Shape 2"/>
          <p:cNvSpPr/>
          <p:nvPr/>
        </p:nvSpPr>
        <p:spPr>
          <a:xfrm>
            <a:off x="658368" y="3218688"/>
            <a:ext cx="10874959" cy="0"/>
          </a:xfrm>
          <a:prstGeom prst="line">
            <a:avLst/>
          </a:prstGeom>
          <a:noFill/>
          <a:ln w="12700">
            <a:solidFill>
              <a:srgbClr val="223029"/>
            </a:solidFill>
            <a:prstDash val="solid"/>
          </a:ln>
        </p:spPr>
      </p:sp>
      <p:sp>
        <p:nvSpPr>
          <p:cNvPr id="5" name="Shape 3"/>
          <p:cNvSpPr/>
          <p:nvPr/>
        </p:nvSpPr>
        <p:spPr>
          <a:xfrm>
            <a:off x="658368" y="3438144"/>
            <a:ext cx="3529584" cy="2103120"/>
          </a:xfrm>
          <a:prstGeom prst="roundRect">
            <a:avLst>
              <a:gd name="adj" fmla="val 695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6" name="Shape 4"/>
          <p:cNvSpPr/>
          <p:nvPr/>
        </p:nvSpPr>
        <p:spPr>
          <a:xfrm>
            <a:off x="877824" y="3621024"/>
            <a:ext cx="164592" cy="164592"/>
          </a:xfrm>
          <a:prstGeom prst="ellipse">
            <a:avLst/>
          </a:prstGeom>
          <a:solidFill>
            <a:srgbClr val="F9BF29"/>
          </a:solidFill>
          <a:ln/>
        </p:spPr>
      </p:sp>
      <p:sp>
        <p:nvSpPr>
          <p:cNvPr id="7" name="Text 5"/>
          <p:cNvSpPr txBox="1"/>
          <p:nvPr/>
        </p:nvSpPr>
        <p:spPr>
          <a:xfrm>
            <a:off x="877824" y="3895344"/>
            <a:ext cx="3090672" cy="566928"/>
          </a:xfrm>
          <a:prstGeom prst="rect">
            <a:avLst/>
          </a:prstGeom>
          <a:noFill/>
          <a:ln/>
        </p:spPr>
        <p:txBody>
          <a:bodyPr wrap="square" lIns="0" tIns="0" rIns="0" bIns="0" rtlCol="0" anchor="t"/>
          <a:lstStyle/>
          <a:p>
            <a:pPr algn="l" indent="0" marL="0">
              <a:lnSpc>
                <a:spcPct val="108000"/>
              </a:lnSpc>
              <a:buNone/>
            </a:pPr>
            <a:r>
              <a:rPr lang="en-US" sz="1300" b="1" dirty="0">
                <a:solidFill>
                  <a:srgbClr val="EFF2F1"/>
                </a:solidFill>
                <a:latin typeface="Calibri" pitchFamily="34" charset="0"/>
                <a:ea typeface="Calibri" pitchFamily="34" charset="-122"/>
                <a:cs typeface="Calibri" pitchFamily="34" charset="-120"/>
              </a:rPr>
              <a:t>The claim held, and it is measurable</a:t>
            </a:r>
            <a:endParaRPr lang="en-US" sz="1300" dirty="0"/>
          </a:p>
        </p:txBody>
      </p:sp>
      <p:sp>
        <p:nvSpPr>
          <p:cNvPr id="8" name="Text 6"/>
          <p:cNvSpPr txBox="1"/>
          <p:nvPr/>
        </p:nvSpPr>
        <p:spPr>
          <a:xfrm>
            <a:off x="877824" y="4498848"/>
            <a:ext cx="3090672" cy="914400"/>
          </a:xfrm>
          <a:prstGeom prst="rect">
            <a:avLst/>
          </a:prstGeom>
          <a:noFill/>
          <a:ln/>
        </p:spPr>
        <p:txBody>
          <a:bodyPr wrap="square" lIns="0" tIns="0" rIns="0" bIns="0" rtlCol="0" anchor="t"/>
          <a:lstStyle/>
          <a:p>
            <a:pPr algn="l" indent="0" marL="0">
              <a:lnSpc>
                <a:spcPct val="116000"/>
              </a:lnSpc>
              <a:buNone/>
            </a:pPr>
            <a:r>
              <a:rPr lang="en-US" sz="1050" dirty="0">
                <a:solidFill>
                  <a:srgbClr val="8CA096"/>
                </a:solidFill>
                <a:latin typeface="Calibri" pitchFamily="34" charset="0"/>
                <a:ea typeface="Calibri" pitchFamily="34" charset="-122"/>
                <a:cs typeface="Calibri" pitchFamily="34" charset="-120"/>
              </a:rPr>
              <a:t>Whisper tiny erased a 1.4-second block and three repetitions from our test utterance. The acoustic branch recovered that block to within about 100 ms and changed the coach's own speaking rate in response.</a:t>
            </a:r>
            <a:endParaRPr lang="en-US" sz="1050" dirty="0"/>
          </a:p>
        </p:txBody>
      </p:sp>
      <p:sp>
        <p:nvSpPr>
          <p:cNvPr id="9" name="Shape 7"/>
          <p:cNvSpPr/>
          <p:nvPr/>
        </p:nvSpPr>
        <p:spPr>
          <a:xfrm>
            <a:off x="4352544" y="3438144"/>
            <a:ext cx="3529584" cy="2103120"/>
          </a:xfrm>
          <a:prstGeom prst="roundRect">
            <a:avLst>
              <a:gd name="adj" fmla="val 695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0" name="Shape 8"/>
          <p:cNvSpPr/>
          <p:nvPr/>
        </p:nvSpPr>
        <p:spPr>
          <a:xfrm>
            <a:off x="4572000" y="3621024"/>
            <a:ext cx="164592" cy="164592"/>
          </a:xfrm>
          <a:prstGeom prst="ellipse">
            <a:avLst/>
          </a:prstGeom>
          <a:solidFill>
            <a:srgbClr val="F9BF29"/>
          </a:solidFill>
          <a:ln/>
        </p:spPr>
      </p:sp>
      <p:sp>
        <p:nvSpPr>
          <p:cNvPr id="11" name="Text 9"/>
          <p:cNvSpPr txBox="1"/>
          <p:nvPr/>
        </p:nvSpPr>
        <p:spPr>
          <a:xfrm>
            <a:off x="4572000" y="3895344"/>
            <a:ext cx="3090672" cy="566928"/>
          </a:xfrm>
          <a:prstGeom prst="rect">
            <a:avLst/>
          </a:prstGeom>
          <a:noFill/>
          <a:ln/>
        </p:spPr>
        <p:txBody>
          <a:bodyPr wrap="square" lIns="0" tIns="0" rIns="0" bIns="0" rtlCol="0" anchor="t"/>
          <a:lstStyle/>
          <a:p>
            <a:pPr algn="l" indent="0" marL="0">
              <a:lnSpc>
                <a:spcPct val="108000"/>
              </a:lnSpc>
              <a:buNone/>
            </a:pPr>
            <a:r>
              <a:rPr lang="en-US" sz="1300" b="1" dirty="0">
                <a:solidFill>
                  <a:srgbClr val="EFF2F1"/>
                </a:solidFill>
                <a:latin typeface="Calibri" pitchFamily="34" charset="0"/>
                <a:ea typeface="Calibri" pitchFamily="34" charset="-122"/>
                <a:cs typeface="Calibri" pitchFamily="34" charset="-120"/>
              </a:rPr>
              <a:t>Neither path subsumes the other</a:t>
            </a:r>
            <a:endParaRPr lang="en-US" sz="1300" dirty="0"/>
          </a:p>
        </p:txBody>
      </p:sp>
      <p:sp>
        <p:nvSpPr>
          <p:cNvPr id="12" name="Text 10"/>
          <p:cNvSpPr txBox="1"/>
          <p:nvPr/>
        </p:nvSpPr>
        <p:spPr>
          <a:xfrm>
            <a:off x="4572000" y="4498848"/>
            <a:ext cx="3090672" cy="914400"/>
          </a:xfrm>
          <a:prstGeom prst="rect">
            <a:avLst/>
          </a:prstGeom>
          <a:noFill/>
          <a:ln/>
        </p:spPr>
        <p:txBody>
          <a:bodyPr wrap="square" lIns="0" tIns="0" rIns="0" bIns="0" rtlCol="0" anchor="t"/>
          <a:lstStyle/>
          <a:p>
            <a:pPr algn="l" indent="0" marL="0">
              <a:lnSpc>
                <a:spcPct val="116000"/>
              </a:lnSpc>
              <a:buNone/>
            </a:pPr>
            <a:r>
              <a:rPr lang="en-US" sz="1050" dirty="0">
                <a:solidFill>
                  <a:srgbClr val="8CA096"/>
                </a:solidFill>
                <a:latin typeface="Calibri" pitchFamily="34" charset="0"/>
                <a:ea typeface="Calibri" pitchFamily="34" charset="-122"/>
                <a:cs typeface="Calibri" pitchFamily="34" charset="-120"/>
              </a:rPr>
              <a:t>Native S2S buys full-duplex immediacy at a measured 2.0 s. The cascade buys a perception stage scoring 0.612 against human labels, a curated corpus, citations, and a gate that refuses. The timeline this project is known for can only be built from the cascade.</a:t>
            </a:r>
            <a:endParaRPr lang="en-US" sz="1050" dirty="0"/>
          </a:p>
        </p:txBody>
      </p:sp>
      <p:sp>
        <p:nvSpPr>
          <p:cNvPr id="13" name="Shape 11"/>
          <p:cNvSpPr/>
          <p:nvPr/>
        </p:nvSpPr>
        <p:spPr>
          <a:xfrm>
            <a:off x="8046720" y="3438144"/>
            <a:ext cx="3529584" cy="2103120"/>
          </a:xfrm>
          <a:prstGeom prst="roundRect">
            <a:avLst>
              <a:gd name="adj" fmla="val 695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4" name="Shape 12"/>
          <p:cNvSpPr/>
          <p:nvPr/>
        </p:nvSpPr>
        <p:spPr>
          <a:xfrm>
            <a:off x="8266176" y="3621024"/>
            <a:ext cx="164592" cy="164592"/>
          </a:xfrm>
          <a:prstGeom prst="ellipse">
            <a:avLst/>
          </a:prstGeom>
          <a:solidFill>
            <a:srgbClr val="F9BF29"/>
          </a:solidFill>
          <a:ln/>
        </p:spPr>
      </p:sp>
      <p:sp>
        <p:nvSpPr>
          <p:cNvPr id="15" name="Text 13"/>
          <p:cNvSpPr txBox="1"/>
          <p:nvPr/>
        </p:nvSpPr>
        <p:spPr>
          <a:xfrm>
            <a:off x="8266176" y="3895344"/>
            <a:ext cx="3090672" cy="566928"/>
          </a:xfrm>
          <a:prstGeom prst="rect">
            <a:avLst/>
          </a:prstGeom>
          <a:noFill/>
          <a:ln/>
        </p:spPr>
        <p:txBody>
          <a:bodyPr wrap="square" lIns="0" tIns="0" rIns="0" bIns="0" rtlCol="0" anchor="t"/>
          <a:lstStyle/>
          <a:p>
            <a:pPr algn="l" indent="0" marL="0">
              <a:lnSpc>
                <a:spcPct val="108000"/>
              </a:lnSpc>
              <a:buNone/>
            </a:pPr>
            <a:r>
              <a:rPr lang="en-US" sz="1300" b="1" dirty="0">
                <a:solidFill>
                  <a:srgbClr val="EFF2F1"/>
                </a:solidFill>
                <a:latin typeface="Calibri" pitchFamily="34" charset="0"/>
                <a:ea typeface="Calibri" pitchFamily="34" charset="-122"/>
                <a:cs typeface="Calibri" pitchFamily="34" charset="-120"/>
              </a:rPr>
              <a:t>The measurements kept correcting us</a:t>
            </a:r>
            <a:endParaRPr lang="en-US" sz="1300" dirty="0"/>
          </a:p>
        </p:txBody>
      </p:sp>
      <p:sp>
        <p:nvSpPr>
          <p:cNvPr id="16" name="Text 14"/>
          <p:cNvSpPr txBox="1"/>
          <p:nvPr/>
        </p:nvSpPr>
        <p:spPr>
          <a:xfrm>
            <a:off x="8266176" y="4498848"/>
            <a:ext cx="3090672" cy="914400"/>
          </a:xfrm>
          <a:prstGeom prst="rect">
            <a:avLst/>
          </a:prstGeom>
          <a:noFill/>
          <a:ln/>
        </p:spPr>
        <p:txBody>
          <a:bodyPr wrap="square" lIns="0" tIns="0" rIns="0" bIns="0" rtlCol="0" anchor="t"/>
          <a:lstStyle/>
          <a:p>
            <a:pPr algn="l" indent="0" marL="0">
              <a:lnSpc>
                <a:spcPct val="116000"/>
              </a:lnSpc>
              <a:buNone/>
            </a:pPr>
            <a:r>
              <a:rPr lang="en-US" sz="1050" dirty="0">
                <a:solidFill>
                  <a:srgbClr val="8CA096"/>
                </a:solidFill>
                <a:latin typeface="Calibri" pitchFamily="34" charset="0"/>
                <a:ea typeface="Calibri" pitchFamily="34" charset="-122"/>
                <a:cs typeface="Calibri" pitchFamily="34" charset="-120"/>
              </a:rPr>
              <a:t>The retrieval threshold was wrong twice. Moshi was ten times slower than we claimed. The fine-tune we were proud of had regressed on safety, and we only know because we measured it rather than assuming it worked.</a:t>
            </a:r>
            <a:endParaRPr lang="en-US" sz="1050" dirty="0"/>
          </a:p>
        </p:txBody>
      </p:sp>
      <p:sp>
        <p:nvSpPr>
          <p:cNvPr id="17" name="Shape 15"/>
          <p:cNvSpPr/>
          <p:nvPr/>
        </p:nvSpPr>
        <p:spPr>
          <a:xfrm>
            <a:off x="658368" y="5797296"/>
            <a:ext cx="10874959" cy="0"/>
          </a:xfrm>
          <a:prstGeom prst="line">
            <a:avLst/>
          </a:prstGeom>
          <a:noFill/>
          <a:ln w="12700">
            <a:solidFill>
              <a:srgbClr val="223029"/>
            </a:solidFill>
            <a:prstDash val="solid"/>
          </a:ln>
        </p:spPr>
      </p:sp>
      <p:sp>
        <p:nvSpPr>
          <p:cNvPr id="18" name="Text 16"/>
          <p:cNvSpPr txBox="1"/>
          <p:nvPr/>
        </p:nvSpPr>
        <p:spPr>
          <a:xfrm>
            <a:off x="658368" y="5888736"/>
            <a:ext cx="3657600" cy="310896"/>
          </a:xfrm>
          <a:prstGeom prst="rect">
            <a:avLst/>
          </a:prstGeom>
          <a:noFill/>
          <a:ln/>
        </p:spPr>
        <p:txBody>
          <a:bodyPr wrap="square" lIns="0" tIns="0" rIns="0" bIns="0" rtlCol="0" anchor="ctr"/>
          <a:lstStyle/>
          <a:p>
            <a:pPr indent="0" marL="0">
              <a:buNone/>
            </a:pPr>
            <a:r>
              <a:rPr lang="en-US" sz="1500" b="1" dirty="0">
                <a:solidFill>
                  <a:srgbClr val="F9BF29"/>
                </a:solidFill>
                <a:latin typeface="Arial" pitchFamily="34" charset="0"/>
                <a:ea typeface="Arial" pitchFamily="34" charset="-122"/>
                <a:cs typeface="Arial" pitchFamily="34" charset="-120"/>
              </a:rPr>
              <a:t>Questions</a:t>
            </a:r>
            <a:endParaRPr lang="en-US" sz="1500" dirty="0"/>
          </a:p>
        </p:txBody>
      </p:sp>
      <p:sp>
        <p:nvSpPr>
          <p:cNvPr id="19" name="Text 17"/>
          <p:cNvSpPr txBox="1"/>
          <p:nvPr/>
        </p:nvSpPr>
        <p:spPr>
          <a:xfrm>
            <a:off x="3017520" y="5888736"/>
            <a:ext cx="7955280" cy="310896"/>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github.com/Ali-Khamis45/we-s2s-finalproject   ·   every figure reproducible from backend/scripts/ and ml/evaluation/</a:t>
            </a:r>
            <a:endParaRPr lang="en-US" sz="850" dirty="0"/>
          </a:p>
        </p:txBody>
      </p:sp>
      <p:sp>
        <p:nvSpPr>
          <p:cNvPr id="20" name="Shape 18"/>
          <p:cNvSpPr/>
          <p:nvPr/>
        </p:nvSpPr>
        <p:spPr>
          <a:xfrm>
            <a:off x="11236696" y="5869168"/>
            <a:ext cx="286024" cy="286024"/>
          </a:xfrm>
          <a:prstGeom prst="ellipse">
            <a:avLst/>
          </a:prstGeom>
          <a:solidFill>
            <a:srgbClr val="FFD35C">
              <a:alpha val="8000"/>
            </a:srgbClr>
          </a:solidFill>
          <a:ln w="9525">
            <a:solidFill>
              <a:srgbClr val="33463D"/>
            </a:solidFill>
            <a:prstDash val="solid"/>
          </a:ln>
        </p:spPr>
      </p:sp>
      <p:sp>
        <p:nvSpPr>
          <p:cNvPr id="21" name="Shape 19"/>
          <p:cNvSpPr/>
          <p:nvPr/>
        </p:nvSpPr>
        <p:spPr>
          <a:xfrm>
            <a:off x="11301984" y="5934456"/>
            <a:ext cx="155448" cy="155448"/>
          </a:xfrm>
          <a:prstGeom prst="ellipse">
            <a:avLst/>
          </a:prstGeom>
          <a:solidFill>
            <a:srgbClr val="F9BF29"/>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Technology decision matrix</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every entry traceable to the repository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89888"/>
            <a:ext cx="17373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TECHNOLOGY</a:t>
            </a:r>
            <a:endParaRPr lang="en-US" sz="850" dirty="0"/>
          </a:p>
        </p:txBody>
      </p:sp>
      <p:sp>
        <p:nvSpPr>
          <p:cNvPr id="11" name="Text 9"/>
          <p:cNvSpPr txBox="1"/>
          <p:nvPr/>
        </p:nvSpPr>
        <p:spPr>
          <a:xfrm>
            <a:off x="2395728" y="1389888"/>
            <a:ext cx="21031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ROLE HERE</a:t>
            </a:r>
            <a:endParaRPr lang="en-US" sz="850" dirty="0"/>
          </a:p>
        </p:txBody>
      </p:sp>
      <p:sp>
        <p:nvSpPr>
          <p:cNvPr id="12" name="Text 10"/>
          <p:cNvSpPr txBox="1"/>
          <p:nvPr/>
        </p:nvSpPr>
        <p:spPr>
          <a:xfrm>
            <a:off x="4498848" y="1389888"/>
            <a:ext cx="31089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WHY THIS ONE</a:t>
            </a:r>
            <a:endParaRPr lang="en-US" sz="850" dirty="0"/>
          </a:p>
        </p:txBody>
      </p:sp>
      <p:sp>
        <p:nvSpPr>
          <p:cNvPr id="13" name="Text 11"/>
          <p:cNvSpPr txBox="1"/>
          <p:nvPr/>
        </p:nvSpPr>
        <p:spPr>
          <a:xfrm>
            <a:off x="7607808" y="1389888"/>
            <a:ext cx="26060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MAIN TRADE-OFF</a:t>
            </a:r>
            <a:endParaRPr lang="en-US" sz="850" dirty="0"/>
          </a:p>
        </p:txBody>
      </p:sp>
      <p:sp>
        <p:nvSpPr>
          <p:cNvPr id="14" name="Text 12"/>
          <p:cNvSpPr txBox="1"/>
          <p:nvPr/>
        </p:nvSpPr>
        <p:spPr>
          <a:xfrm>
            <a:off x="10213848" y="1389888"/>
            <a:ext cx="11887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RUNS ON</a:t>
            </a:r>
            <a:endParaRPr lang="en-US" sz="850" dirty="0"/>
          </a:p>
        </p:txBody>
      </p:sp>
      <p:sp>
        <p:nvSpPr>
          <p:cNvPr id="15" name="Shape 13"/>
          <p:cNvSpPr/>
          <p:nvPr/>
        </p:nvSpPr>
        <p:spPr>
          <a:xfrm>
            <a:off x="658368" y="1664208"/>
            <a:ext cx="10874959" cy="0"/>
          </a:xfrm>
          <a:prstGeom prst="line">
            <a:avLst/>
          </a:prstGeom>
          <a:noFill/>
          <a:ln w="12700">
            <a:solidFill>
              <a:srgbClr val="33463D"/>
            </a:solidFill>
            <a:prstDash val="solid"/>
          </a:ln>
        </p:spPr>
      </p:sp>
      <p:sp>
        <p:nvSpPr>
          <p:cNvPr id="16" name="Text 14"/>
          <p:cNvSpPr txBox="1"/>
          <p:nvPr/>
        </p:nvSpPr>
        <p:spPr>
          <a:xfrm>
            <a:off x="658368" y="17373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Moshi 7B q8</a:t>
            </a:r>
            <a:endParaRPr lang="en-US" sz="850" dirty="0"/>
          </a:p>
        </p:txBody>
      </p:sp>
      <p:sp>
        <p:nvSpPr>
          <p:cNvPr id="17" name="Text 15"/>
          <p:cNvSpPr txBox="1"/>
          <p:nvPr/>
        </p:nvSpPr>
        <p:spPr>
          <a:xfrm>
            <a:off x="2395728" y="17373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Native S2S live coach</a:t>
            </a:r>
            <a:endParaRPr lang="en-US" sz="850" dirty="0"/>
          </a:p>
        </p:txBody>
      </p:sp>
      <p:sp>
        <p:nvSpPr>
          <p:cNvPr id="18" name="Text 16"/>
          <p:cNvSpPr txBox="1"/>
          <p:nvPr/>
        </p:nvSpPr>
        <p:spPr>
          <a:xfrm>
            <a:off x="4498848" y="17373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Only quantized native S2S that builds on Blackwell; full-duplex with barge-in</a:t>
            </a:r>
            <a:endParaRPr lang="en-US" sz="850" dirty="0"/>
          </a:p>
        </p:txBody>
      </p:sp>
      <p:sp>
        <p:nvSpPr>
          <p:cNvPr id="19" name="Text 17"/>
          <p:cNvSpPr txBox="1"/>
          <p:nvPr/>
        </p:nvSpPr>
        <p:spPr>
          <a:xfrm>
            <a:off x="7607808" y="17373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No prompt, no retrieval, English only; 2.0 s p50; fidelity and groundedness not measurable</a:t>
            </a:r>
            <a:endParaRPr lang="en-US" sz="850" dirty="0"/>
          </a:p>
        </p:txBody>
      </p:sp>
      <p:sp>
        <p:nvSpPr>
          <p:cNvPr id="20" name="Text 18"/>
          <p:cNvSpPr txBox="1"/>
          <p:nvPr/>
        </p:nvSpPr>
        <p:spPr>
          <a:xfrm>
            <a:off x="10213848" y="17373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GPU</a:t>
            </a:r>
            <a:endParaRPr lang="en-US" sz="850" dirty="0"/>
          </a:p>
        </p:txBody>
      </p:sp>
      <p:sp>
        <p:nvSpPr>
          <p:cNvPr id="21" name="Shape 19"/>
          <p:cNvSpPr/>
          <p:nvPr/>
        </p:nvSpPr>
        <p:spPr>
          <a:xfrm>
            <a:off x="658368" y="2148840"/>
            <a:ext cx="10874959" cy="0"/>
          </a:xfrm>
          <a:prstGeom prst="line">
            <a:avLst/>
          </a:prstGeom>
          <a:noFill/>
          <a:ln w="12700">
            <a:solidFill>
              <a:srgbClr val="223029"/>
            </a:solidFill>
            <a:prstDash val="solid"/>
          </a:ln>
        </p:spPr>
      </p:sp>
      <p:sp>
        <p:nvSpPr>
          <p:cNvPr id="22" name="Text 20"/>
          <p:cNvSpPr txBox="1"/>
          <p:nvPr/>
        </p:nvSpPr>
        <p:spPr>
          <a:xfrm>
            <a:off x="658368" y="21945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Mimi codec</a:t>
            </a:r>
            <a:endParaRPr lang="en-US" sz="850" dirty="0"/>
          </a:p>
        </p:txBody>
      </p:sp>
      <p:sp>
        <p:nvSpPr>
          <p:cNvPr id="23" name="Text 21"/>
          <p:cNvSpPr txBox="1"/>
          <p:nvPr/>
        </p:nvSpPr>
        <p:spPr>
          <a:xfrm>
            <a:off x="2395728" y="21945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Audio ↔ audio tokens</a:t>
            </a:r>
            <a:endParaRPr lang="en-US" sz="850" dirty="0"/>
          </a:p>
        </p:txBody>
      </p:sp>
      <p:sp>
        <p:nvSpPr>
          <p:cNvPr id="24" name="Text 22"/>
          <p:cNvSpPr txBox="1"/>
          <p:nvPr/>
        </p:nvSpPr>
        <p:spPr>
          <a:xfrm>
            <a:off x="4498848" y="21945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Moshi's own codec; 12.5 Hz framing</a:t>
            </a:r>
            <a:endParaRPr lang="en-US" sz="850" dirty="0"/>
          </a:p>
        </p:txBody>
      </p:sp>
      <p:sp>
        <p:nvSpPr>
          <p:cNvPr id="25" name="Text 23"/>
          <p:cNvSpPr txBox="1"/>
          <p:nvPr/>
        </p:nvSpPr>
        <p:spPr>
          <a:xfrm>
            <a:off x="7607808" y="21945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Causal encoder lookahead sets a latency floor</a:t>
            </a:r>
            <a:endParaRPr lang="en-US" sz="850" dirty="0"/>
          </a:p>
        </p:txBody>
      </p:sp>
      <p:sp>
        <p:nvSpPr>
          <p:cNvPr id="26" name="Text 24"/>
          <p:cNvSpPr txBox="1"/>
          <p:nvPr/>
        </p:nvSpPr>
        <p:spPr>
          <a:xfrm>
            <a:off x="10213848" y="21945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GPU</a:t>
            </a:r>
            <a:endParaRPr lang="en-US" sz="850" dirty="0"/>
          </a:p>
        </p:txBody>
      </p:sp>
      <p:sp>
        <p:nvSpPr>
          <p:cNvPr id="27" name="Shape 25"/>
          <p:cNvSpPr/>
          <p:nvPr/>
        </p:nvSpPr>
        <p:spPr>
          <a:xfrm>
            <a:off x="658368" y="2606040"/>
            <a:ext cx="10874959" cy="0"/>
          </a:xfrm>
          <a:prstGeom prst="line">
            <a:avLst/>
          </a:prstGeom>
          <a:noFill/>
          <a:ln w="12700">
            <a:solidFill>
              <a:srgbClr val="223029"/>
            </a:solidFill>
            <a:prstDash val="solid"/>
          </a:ln>
        </p:spPr>
      </p:sp>
      <p:sp>
        <p:nvSpPr>
          <p:cNvPr id="28" name="Text 26"/>
          <p:cNvSpPr txBox="1"/>
          <p:nvPr/>
        </p:nvSpPr>
        <p:spPr>
          <a:xfrm>
            <a:off x="658368" y="26517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faster-whisper base int8</a:t>
            </a:r>
            <a:endParaRPr lang="en-US" sz="850" dirty="0"/>
          </a:p>
        </p:txBody>
      </p:sp>
      <p:sp>
        <p:nvSpPr>
          <p:cNvPr id="29" name="Text 27"/>
          <p:cNvSpPr txBox="1"/>
          <p:nvPr/>
        </p:nvSpPr>
        <p:spPr>
          <a:xfrm>
            <a:off x="2395728" y="26517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Speech to text + word timings</a:t>
            </a:r>
            <a:endParaRPr lang="en-US" sz="850" dirty="0"/>
          </a:p>
        </p:txBody>
      </p:sp>
      <p:sp>
        <p:nvSpPr>
          <p:cNvPr id="30" name="Text 28"/>
          <p:cNvSpPr txBox="1"/>
          <p:nvPr/>
        </p:nvSpPr>
        <p:spPr>
          <a:xfrm>
            <a:off x="4498848" y="26517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Chosen on timestamp accuracy: 40 ms error vs small's 60 ms, and 3.4× faster</a:t>
            </a:r>
            <a:endParaRPr lang="en-US" sz="850" dirty="0"/>
          </a:p>
        </p:txBody>
      </p:sp>
      <p:sp>
        <p:nvSpPr>
          <p:cNvPr id="31" name="Text 29"/>
          <p:cNvSpPr txBox="1"/>
          <p:nvPr/>
        </p:nvSpPr>
        <p:spPr>
          <a:xfrm>
            <a:off x="7607808" y="26517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tiny is disqualified; base still costs ~600 ms</a:t>
            </a:r>
            <a:endParaRPr lang="en-US" sz="850" dirty="0"/>
          </a:p>
        </p:txBody>
      </p:sp>
      <p:sp>
        <p:nvSpPr>
          <p:cNvPr id="32" name="Text 30"/>
          <p:cNvSpPr txBox="1"/>
          <p:nvPr/>
        </p:nvSpPr>
        <p:spPr>
          <a:xfrm>
            <a:off x="10213848" y="26517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
        <p:nvSpPr>
          <p:cNvPr id="33" name="Shape 31"/>
          <p:cNvSpPr/>
          <p:nvPr/>
        </p:nvSpPr>
        <p:spPr>
          <a:xfrm>
            <a:off x="658368" y="3063240"/>
            <a:ext cx="10874959" cy="0"/>
          </a:xfrm>
          <a:prstGeom prst="line">
            <a:avLst/>
          </a:prstGeom>
          <a:noFill/>
          <a:ln w="12700">
            <a:solidFill>
              <a:srgbClr val="223029"/>
            </a:solidFill>
            <a:prstDash val="solid"/>
          </a:ln>
        </p:spPr>
      </p:sp>
      <p:sp>
        <p:nvSpPr>
          <p:cNvPr id="34" name="Text 32"/>
          <p:cNvSpPr txBox="1"/>
          <p:nvPr/>
        </p:nvSpPr>
        <p:spPr>
          <a:xfrm>
            <a:off x="658368" y="31089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wav2vec2 + SEP-28k head</a:t>
            </a:r>
            <a:endParaRPr lang="en-US" sz="850" dirty="0"/>
          </a:p>
        </p:txBody>
      </p:sp>
      <p:sp>
        <p:nvSpPr>
          <p:cNvPr id="35" name="Text 33"/>
          <p:cNvSpPr txBox="1"/>
          <p:nvPr/>
        </p:nvSpPr>
        <p:spPr>
          <a:xfrm>
            <a:off x="2395728" y="31089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Dysfluency classification</a:t>
            </a:r>
            <a:endParaRPr lang="en-US" sz="850" dirty="0"/>
          </a:p>
        </p:txBody>
      </p:sp>
      <p:sp>
        <p:nvSpPr>
          <p:cNvPr id="36" name="Text 34"/>
          <p:cNvSpPr txBox="1"/>
          <p:nvPr/>
        </p:nvSpPr>
        <p:spPr>
          <a:xfrm>
            <a:off x="4498848" y="31089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Five-class multi-label, macro F1 0.638, reproduced at 0.612 by M12 over 400 held-out clips</a:t>
            </a:r>
            <a:endParaRPr lang="en-US" sz="850" dirty="0"/>
          </a:p>
        </p:txBody>
      </p:sp>
      <p:sp>
        <p:nvSpPr>
          <p:cNvPr id="37" name="Text 35"/>
          <p:cNvSpPr txBox="1"/>
          <p:nvPr/>
        </p:nvSpPr>
        <p:spPr>
          <a:xfrm>
            <a:off x="7607808" y="31089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Podcast speech under-represents severe dysfluency</a:t>
            </a:r>
            <a:endParaRPr lang="en-US" sz="850" dirty="0"/>
          </a:p>
        </p:txBody>
      </p:sp>
      <p:sp>
        <p:nvSpPr>
          <p:cNvPr id="38" name="Text 36"/>
          <p:cNvSpPr txBox="1"/>
          <p:nvPr/>
        </p:nvSpPr>
        <p:spPr>
          <a:xfrm>
            <a:off x="10213848" y="31089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
        <p:nvSpPr>
          <p:cNvPr id="39" name="Shape 37"/>
          <p:cNvSpPr/>
          <p:nvPr/>
        </p:nvSpPr>
        <p:spPr>
          <a:xfrm>
            <a:off x="658368" y="3520440"/>
            <a:ext cx="10874959" cy="0"/>
          </a:xfrm>
          <a:prstGeom prst="line">
            <a:avLst/>
          </a:prstGeom>
          <a:noFill/>
          <a:ln w="12700">
            <a:solidFill>
              <a:srgbClr val="223029"/>
            </a:solidFill>
            <a:prstDash val="solid"/>
          </a:ln>
        </p:spPr>
      </p:sp>
      <p:sp>
        <p:nvSpPr>
          <p:cNvPr id="40" name="Text 38"/>
          <p:cNvSpPr txBox="1"/>
          <p:nvPr/>
        </p:nvSpPr>
        <p:spPr>
          <a:xfrm>
            <a:off x="658368" y="35661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Heuristic analyzer</a:t>
            </a:r>
            <a:endParaRPr lang="en-US" sz="850" dirty="0"/>
          </a:p>
        </p:txBody>
      </p:sp>
      <p:sp>
        <p:nvSpPr>
          <p:cNvPr id="41" name="Text 39"/>
          <p:cNvSpPr txBox="1"/>
          <p:nvPr/>
        </p:nvSpPr>
        <p:spPr>
          <a:xfrm>
            <a:off x="2395728" y="35661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Fallback and scaffold</a:t>
            </a:r>
            <a:endParaRPr lang="en-US" sz="850" dirty="0"/>
          </a:p>
        </p:txBody>
      </p:sp>
      <p:sp>
        <p:nvSpPr>
          <p:cNvPr id="42" name="Text 40"/>
          <p:cNvSpPr txBox="1"/>
          <p:nvPr/>
        </p:nvSpPr>
        <p:spPr>
          <a:xfrm>
            <a:off x="4498848" y="35661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No weights, unblocks the interface and prompt contract</a:t>
            </a:r>
            <a:endParaRPr lang="en-US" sz="850" dirty="0"/>
          </a:p>
        </p:txBody>
      </p:sp>
      <p:sp>
        <p:nvSpPr>
          <p:cNvPr id="43" name="Text 41"/>
          <p:cNvSpPr txBox="1"/>
          <p:nvPr/>
        </p:nvSpPr>
        <p:spPr>
          <a:xfrm>
            <a:off x="7607808" y="35661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Four of five classes; no sound repetitions</a:t>
            </a:r>
            <a:endParaRPr lang="en-US" sz="850" dirty="0"/>
          </a:p>
        </p:txBody>
      </p:sp>
      <p:sp>
        <p:nvSpPr>
          <p:cNvPr id="44" name="Text 42"/>
          <p:cNvSpPr txBox="1"/>
          <p:nvPr/>
        </p:nvSpPr>
        <p:spPr>
          <a:xfrm>
            <a:off x="10213848" y="35661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
        <p:nvSpPr>
          <p:cNvPr id="45" name="Shape 43"/>
          <p:cNvSpPr/>
          <p:nvPr/>
        </p:nvSpPr>
        <p:spPr>
          <a:xfrm>
            <a:off x="658368" y="3977640"/>
            <a:ext cx="10874959" cy="0"/>
          </a:xfrm>
          <a:prstGeom prst="line">
            <a:avLst/>
          </a:prstGeom>
          <a:noFill/>
          <a:ln w="12700">
            <a:solidFill>
              <a:srgbClr val="223029"/>
            </a:solidFill>
            <a:prstDash val="solid"/>
          </a:ln>
        </p:spPr>
      </p:sp>
      <p:sp>
        <p:nvSpPr>
          <p:cNvPr id="46" name="Text 44"/>
          <p:cNvSpPr txBox="1"/>
          <p:nvPr/>
        </p:nvSpPr>
        <p:spPr>
          <a:xfrm>
            <a:off x="658368" y="40233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bge-small-en-v1.5</a:t>
            </a:r>
            <a:endParaRPr lang="en-US" sz="850" dirty="0"/>
          </a:p>
        </p:txBody>
      </p:sp>
      <p:sp>
        <p:nvSpPr>
          <p:cNvPr id="47" name="Text 45"/>
          <p:cNvSpPr txBox="1"/>
          <p:nvPr/>
        </p:nvSpPr>
        <p:spPr>
          <a:xfrm>
            <a:off x="2395728" y="40233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Embeddings</a:t>
            </a:r>
            <a:endParaRPr lang="en-US" sz="850" dirty="0"/>
          </a:p>
        </p:txBody>
      </p:sp>
      <p:sp>
        <p:nvSpPr>
          <p:cNvPr id="48" name="Text 46"/>
          <p:cNvSpPr txBox="1"/>
          <p:nvPr/>
        </p:nvSpPr>
        <p:spPr>
          <a:xfrm>
            <a:off x="4498848" y="40233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33M params, strong for its size, query-side instruction prefix</a:t>
            </a:r>
            <a:endParaRPr lang="en-US" sz="850" dirty="0"/>
          </a:p>
        </p:txBody>
      </p:sp>
      <p:sp>
        <p:nvSpPr>
          <p:cNvPr id="49" name="Text 47"/>
          <p:cNvSpPr txBox="1"/>
          <p:nvPr/>
        </p:nvSpPr>
        <p:spPr>
          <a:xfrm>
            <a:off x="7607808" y="40233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High similarity floor — forced a calibrated gate</a:t>
            </a:r>
            <a:endParaRPr lang="en-US" sz="850" dirty="0"/>
          </a:p>
        </p:txBody>
      </p:sp>
      <p:sp>
        <p:nvSpPr>
          <p:cNvPr id="50" name="Text 48"/>
          <p:cNvSpPr txBox="1"/>
          <p:nvPr/>
        </p:nvSpPr>
        <p:spPr>
          <a:xfrm>
            <a:off x="10213848" y="40233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
        <p:nvSpPr>
          <p:cNvPr id="51" name="Shape 49"/>
          <p:cNvSpPr/>
          <p:nvPr/>
        </p:nvSpPr>
        <p:spPr>
          <a:xfrm>
            <a:off x="658368" y="4434840"/>
            <a:ext cx="10874959" cy="0"/>
          </a:xfrm>
          <a:prstGeom prst="line">
            <a:avLst/>
          </a:prstGeom>
          <a:noFill/>
          <a:ln w="12700">
            <a:solidFill>
              <a:srgbClr val="223029"/>
            </a:solidFill>
            <a:prstDash val="solid"/>
          </a:ln>
        </p:spPr>
      </p:sp>
      <p:sp>
        <p:nvSpPr>
          <p:cNvPr id="52" name="Text 50"/>
          <p:cNvSpPr txBox="1"/>
          <p:nvPr/>
        </p:nvSpPr>
        <p:spPr>
          <a:xfrm>
            <a:off x="658368" y="44805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ChromaDB</a:t>
            </a:r>
            <a:endParaRPr lang="en-US" sz="850" dirty="0"/>
          </a:p>
        </p:txBody>
      </p:sp>
      <p:sp>
        <p:nvSpPr>
          <p:cNvPr id="53" name="Text 51"/>
          <p:cNvSpPr txBox="1"/>
          <p:nvPr/>
        </p:nvSpPr>
        <p:spPr>
          <a:xfrm>
            <a:off x="2395728" y="44805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Vector store</a:t>
            </a:r>
            <a:endParaRPr lang="en-US" sz="850" dirty="0"/>
          </a:p>
        </p:txBody>
      </p:sp>
      <p:sp>
        <p:nvSpPr>
          <p:cNvPr id="54" name="Text 52"/>
          <p:cNvSpPr txBox="1"/>
          <p:nvPr/>
        </p:nvSpPr>
        <p:spPr>
          <a:xfrm>
            <a:off x="4498848" y="44805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Local, persistent, cosine, carries source metadata for citations</a:t>
            </a:r>
            <a:endParaRPr lang="en-US" sz="850" dirty="0"/>
          </a:p>
        </p:txBody>
      </p:sp>
      <p:sp>
        <p:nvSpPr>
          <p:cNvPr id="55" name="Text 53"/>
          <p:cNvSpPr txBox="1"/>
          <p:nvPr/>
        </p:nvSpPr>
        <p:spPr>
          <a:xfrm>
            <a:off x="7607808" y="44805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Index format is version-sensitive; see A-fix log</a:t>
            </a:r>
            <a:endParaRPr lang="en-US" sz="850" dirty="0"/>
          </a:p>
        </p:txBody>
      </p:sp>
      <p:sp>
        <p:nvSpPr>
          <p:cNvPr id="56" name="Text 54"/>
          <p:cNvSpPr txBox="1"/>
          <p:nvPr/>
        </p:nvSpPr>
        <p:spPr>
          <a:xfrm>
            <a:off x="10213848" y="44805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Disk</a:t>
            </a:r>
            <a:endParaRPr lang="en-US" sz="850" dirty="0"/>
          </a:p>
        </p:txBody>
      </p:sp>
      <p:sp>
        <p:nvSpPr>
          <p:cNvPr id="57" name="Shape 55"/>
          <p:cNvSpPr/>
          <p:nvPr/>
        </p:nvSpPr>
        <p:spPr>
          <a:xfrm>
            <a:off x="658368" y="4892040"/>
            <a:ext cx="10874959" cy="0"/>
          </a:xfrm>
          <a:prstGeom prst="line">
            <a:avLst/>
          </a:prstGeom>
          <a:noFill/>
          <a:ln w="12700">
            <a:solidFill>
              <a:srgbClr val="223029"/>
            </a:solidFill>
            <a:prstDash val="solid"/>
          </a:ln>
        </p:spPr>
      </p:sp>
      <p:sp>
        <p:nvSpPr>
          <p:cNvPr id="58" name="Text 56"/>
          <p:cNvSpPr txBox="1"/>
          <p:nvPr/>
        </p:nvSpPr>
        <p:spPr>
          <a:xfrm>
            <a:off x="658368" y="49377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MMR, λ = 0.5</a:t>
            </a:r>
            <a:endParaRPr lang="en-US" sz="850" dirty="0"/>
          </a:p>
        </p:txBody>
      </p:sp>
      <p:sp>
        <p:nvSpPr>
          <p:cNvPr id="59" name="Text 57"/>
          <p:cNvSpPr txBox="1"/>
          <p:nvPr/>
        </p:nvSpPr>
        <p:spPr>
          <a:xfrm>
            <a:off x="2395728" y="49377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Reranking 20 → 4</a:t>
            </a:r>
            <a:endParaRPr lang="en-US" sz="850" dirty="0"/>
          </a:p>
        </p:txBody>
      </p:sp>
      <p:sp>
        <p:nvSpPr>
          <p:cNvPr id="60" name="Text 58"/>
          <p:cNvSpPr txBox="1"/>
          <p:nvPr/>
        </p:nvSpPr>
        <p:spPr>
          <a:xfrm>
            <a:off x="4498848" y="49377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Implemented directly so relevance scores are available to the gate</a:t>
            </a:r>
            <a:endParaRPr lang="en-US" sz="850" dirty="0"/>
          </a:p>
        </p:txBody>
      </p:sp>
      <p:sp>
        <p:nvSpPr>
          <p:cNvPr id="61" name="Text 59"/>
          <p:cNvSpPr txBox="1"/>
          <p:nvPr/>
        </p:nvSpPr>
        <p:spPr>
          <a:xfrm>
            <a:off x="7607808" y="49377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O(k·n) per query; fine at n = 20</a:t>
            </a:r>
            <a:endParaRPr lang="en-US" sz="850" dirty="0"/>
          </a:p>
        </p:txBody>
      </p:sp>
      <p:sp>
        <p:nvSpPr>
          <p:cNvPr id="62" name="Text 60"/>
          <p:cNvSpPr txBox="1"/>
          <p:nvPr/>
        </p:nvSpPr>
        <p:spPr>
          <a:xfrm>
            <a:off x="10213848" y="49377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A2</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Decision matrix, continued</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  ·  frontend/  ·  docs/openapi.json</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A2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89888"/>
            <a:ext cx="17373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TECHNOLOGY</a:t>
            </a:r>
            <a:endParaRPr lang="en-US" sz="850" dirty="0"/>
          </a:p>
        </p:txBody>
      </p:sp>
      <p:sp>
        <p:nvSpPr>
          <p:cNvPr id="11" name="Text 9"/>
          <p:cNvSpPr txBox="1"/>
          <p:nvPr/>
        </p:nvSpPr>
        <p:spPr>
          <a:xfrm>
            <a:off x="2395728" y="1389888"/>
            <a:ext cx="21031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ROLE HERE</a:t>
            </a:r>
            <a:endParaRPr lang="en-US" sz="850" dirty="0"/>
          </a:p>
        </p:txBody>
      </p:sp>
      <p:sp>
        <p:nvSpPr>
          <p:cNvPr id="12" name="Text 10"/>
          <p:cNvSpPr txBox="1"/>
          <p:nvPr/>
        </p:nvSpPr>
        <p:spPr>
          <a:xfrm>
            <a:off x="4498848" y="1389888"/>
            <a:ext cx="31089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WHY THIS ONE</a:t>
            </a:r>
            <a:endParaRPr lang="en-US" sz="850" dirty="0"/>
          </a:p>
        </p:txBody>
      </p:sp>
      <p:sp>
        <p:nvSpPr>
          <p:cNvPr id="13" name="Text 11"/>
          <p:cNvSpPr txBox="1"/>
          <p:nvPr/>
        </p:nvSpPr>
        <p:spPr>
          <a:xfrm>
            <a:off x="7607808" y="1389888"/>
            <a:ext cx="26060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MAIN TRADE-OFF</a:t>
            </a:r>
            <a:endParaRPr lang="en-US" sz="850" dirty="0"/>
          </a:p>
        </p:txBody>
      </p:sp>
      <p:sp>
        <p:nvSpPr>
          <p:cNvPr id="14" name="Text 12"/>
          <p:cNvSpPr txBox="1"/>
          <p:nvPr/>
        </p:nvSpPr>
        <p:spPr>
          <a:xfrm>
            <a:off x="10213848" y="1389888"/>
            <a:ext cx="11887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RUNS ON</a:t>
            </a:r>
            <a:endParaRPr lang="en-US" sz="850" dirty="0"/>
          </a:p>
        </p:txBody>
      </p:sp>
      <p:sp>
        <p:nvSpPr>
          <p:cNvPr id="15" name="Shape 13"/>
          <p:cNvSpPr/>
          <p:nvPr/>
        </p:nvSpPr>
        <p:spPr>
          <a:xfrm>
            <a:off x="658368" y="1664208"/>
            <a:ext cx="10874959" cy="0"/>
          </a:xfrm>
          <a:prstGeom prst="line">
            <a:avLst/>
          </a:prstGeom>
          <a:noFill/>
          <a:ln w="12700">
            <a:solidFill>
              <a:srgbClr val="33463D"/>
            </a:solidFill>
            <a:prstDash val="solid"/>
          </a:ln>
        </p:spPr>
      </p:sp>
      <p:sp>
        <p:nvSpPr>
          <p:cNvPr id="16" name="Text 14"/>
          <p:cNvSpPr txBox="1"/>
          <p:nvPr/>
        </p:nvSpPr>
        <p:spPr>
          <a:xfrm>
            <a:off x="658368" y="17373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Qwen2.5-3B-Instruct</a:t>
            </a:r>
            <a:endParaRPr lang="en-US" sz="850" dirty="0"/>
          </a:p>
        </p:txBody>
      </p:sp>
      <p:sp>
        <p:nvSpPr>
          <p:cNvPr id="17" name="Text 15"/>
          <p:cNvSpPr txBox="1"/>
          <p:nvPr/>
        </p:nvSpPr>
        <p:spPr>
          <a:xfrm>
            <a:off x="2395728" y="17373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Grounded reply generation</a:t>
            </a:r>
            <a:endParaRPr lang="en-US" sz="850" dirty="0"/>
          </a:p>
        </p:txBody>
      </p:sp>
      <p:sp>
        <p:nvSpPr>
          <p:cNvPr id="18" name="Text 16"/>
          <p:cNvSpPr txBox="1"/>
          <p:nvPr/>
        </p:nvSpPr>
        <p:spPr>
          <a:xfrm>
            <a:off x="4498848" y="17373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Largest instruct model that decodes usefully on CPU in 4-bit</a:t>
            </a:r>
            <a:endParaRPr lang="en-US" sz="850" dirty="0"/>
          </a:p>
        </p:txBody>
      </p:sp>
      <p:sp>
        <p:nvSpPr>
          <p:cNvPr id="19" name="Text 17"/>
          <p:cNvSpPr txBox="1"/>
          <p:nvPr/>
        </p:nvSpPr>
        <p:spPr>
          <a:xfrm>
            <a:off x="7607808" y="17373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An 8B stays tighter on the same prompt; 3B is a hardware trade</a:t>
            </a:r>
            <a:endParaRPr lang="en-US" sz="850" dirty="0"/>
          </a:p>
        </p:txBody>
      </p:sp>
      <p:sp>
        <p:nvSpPr>
          <p:cNvPr id="20" name="Text 18"/>
          <p:cNvSpPr txBox="1"/>
          <p:nvPr/>
        </p:nvSpPr>
        <p:spPr>
          <a:xfrm>
            <a:off x="10213848" y="17373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
        <p:nvSpPr>
          <p:cNvPr id="21" name="Shape 19"/>
          <p:cNvSpPr/>
          <p:nvPr/>
        </p:nvSpPr>
        <p:spPr>
          <a:xfrm>
            <a:off x="658368" y="2148840"/>
            <a:ext cx="10874959" cy="0"/>
          </a:xfrm>
          <a:prstGeom prst="line">
            <a:avLst/>
          </a:prstGeom>
          <a:noFill/>
          <a:ln w="12700">
            <a:solidFill>
              <a:srgbClr val="223029"/>
            </a:solidFill>
            <a:prstDash val="solid"/>
          </a:ln>
        </p:spPr>
      </p:sp>
      <p:sp>
        <p:nvSpPr>
          <p:cNvPr id="22" name="Text 20"/>
          <p:cNvSpPr txBox="1"/>
          <p:nvPr/>
        </p:nvSpPr>
        <p:spPr>
          <a:xfrm>
            <a:off x="658368" y="21945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QLoRA (r=16, α=32)</a:t>
            </a:r>
            <a:endParaRPr lang="en-US" sz="850" dirty="0"/>
          </a:p>
        </p:txBody>
      </p:sp>
      <p:sp>
        <p:nvSpPr>
          <p:cNvPr id="23" name="Text 21"/>
          <p:cNvSpPr txBox="1"/>
          <p:nvPr/>
        </p:nvSpPr>
        <p:spPr>
          <a:xfrm>
            <a:off x="2395728" y="21945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Fine-tuning</a:t>
            </a:r>
            <a:endParaRPr lang="en-US" sz="850" dirty="0"/>
          </a:p>
        </p:txBody>
      </p:sp>
      <p:sp>
        <p:nvSpPr>
          <p:cNvPr id="24" name="Text 22"/>
          <p:cNvSpPr txBox="1"/>
          <p:nvPr/>
        </p:nvSpPr>
        <p:spPr>
          <a:xfrm>
            <a:off x="4498848" y="21945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4-bit NF4 base with trainable adapters fits a free T4</a:t>
            </a:r>
            <a:endParaRPr lang="en-US" sz="850" dirty="0"/>
          </a:p>
        </p:txBody>
      </p:sp>
      <p:sp>
        <p:nvSpPr>
          <p:cNvPr id="25" name="Text 23"/>
          <p:cNvSpPr txBox="1"/>
          <p:nvPr/>
        </p:nvSpPr>
        <p:spPr>
          <a:xfrm>
            <a:off x="7607808" y="21945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400 pairs weighted to style — M9 traced the safety regression to this</a:t>
            </a:r>
            <a:endParaRPr lang="en-US" sz="850" dirty="0"/>
          </a:p>
        </p:txBody>
      </p:sp>
      <p:sp>
        <p:nvSpPr>
          <p:cNvPr id="26" name="Text 24"/>
          <p:cNvSpPr txBox="1"/>
          <p:nvPr/>
        </p:nvSpPr>
        <p:spPr>
          <a:xfrm>
            <a:off x="10213848" y="21945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Colab T4</a:t>
            </a:r>
            <a:endParaRPr lang="en-US" sz="850" dirty="0"/>
          </a:p>
        </p:txBody>
      </p:sp>
      <p:sp>
        <p:nvSpPr>
          <p:cNvPr id="27" name="Shape 25"/>
          <p:cNvSpPr/>
          <p:nvPr/>
        </p:nvSpPr>
        <p:spPr>
          <a:xfrm>
            <a:off x="658368" y="2606040"/>
            <a:ext cx="10874959" cy="0"/>
          </a:xfrm>
          <a:prstGeom prst="line">
            <a:avLst/>
          </a:prstGeom>
          <a:noFill/>
          <a:ln w="12700">
            <a:solidFill>
              <a:srgbClr val="223029"/>
            </a:solidFill>
            <a:prstDash val="solid"/>
          </a:ln>
        </p:spPr>
      </p:sp>
      <p:sp>
        <p:nvSpPr>
          <p:cNvPr id="28" name="Text 26"/>
          <p:cNvSpPr txBox="1"/>
          <p:nvPr/>
        </p:nvSpPr>
        <p:spPr>
          <a:xfrm>
            <a:off x="658368" y="26517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GGUF Q4_K_M</a:t>
            </a:r>
            <a:endParaRPr lang="en-US" sz="850" dirty="0"/>
          </a:p>
        </p:txBody>
      </p:sp>
      <p:sp>
        <p:nvSpPr>
          <p:cNvPr id="29" name="Text 27"/>
          <p:cNvSpPr txBox="1"/>
          <p:nvPr/>
        </p:nvSpPr>
        <p:spPr>
          <a:xfrm>
            <a:off x="2395728" y="26517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Quantization</a:t>
            </a:r>
            <a:endParaRPr lang="en-US" sz="850" dirty="0"/>
          </a:p>
        </p:txBody>
      </p:sp>
      <p:sp>
        <p:nvSpPr>
          <p:cNvPr id="30" name="Text 28"/>
          <p:cNvSpPr txBox="1"/>
          <p:nvPr/>
        </p:nvSpPr>
        <p:spPr>
          <a:xfrm>
            <a:off x="4498848" y="26517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5892 MB → 1840 MB, 3.20×; 69 tok/s prefill, 20 decode, 660 ms TTFT, 3.33 GB RSS</a:t>
            </a:r>
            <a:endParaRPr lang="en-US" sz="850" dirty="0"/>
          </a:p>
        </p:txBody>
      </p:sp>
      <p:sp>
        <p:nvSpPr>
          <p:cNvPr id="31" name="Text 29"/>
          <p:cNvSpPr txBox="1"/>
          <p:nvPr/>
        </p:nvSpPr>
        <p:spPr>
          <a:xfrm>
            <a:off x="7607808" y="26517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Lossy; controlled f16-vs-Q4 quality delta still unmeasured</a:t>
            </a:r>
            <a:endParaRPr lang="en-US" sz="850" dirty="0"/>
          </a:p>
        </p:txBody>
      </p:sp>
      <p:sp>
        <p:nvSpPr>
          <p:cNvPr id="32" name="Text 30"/>
          <p:cNvSpPr txBox="1"/>
          <p:nvPr/>
        </p:nvSpPr>
        <p:spPr>
          <a:xfrm>
            <a:off x="10213848" y="26517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Disk / CPU</a:t>
            </a:r>
            <a:endParaRPr lang="en-US" sz="850" dirty="0"/>
          </a:p>
        </p:txBody>
      </p:sp>
      <p:sp>
        <p:nvSpPr>
          <p:cNvPr id="33" name="Shape 31"/>
          <p:cNvSpPr/>
          <p:nvPr/>
        </p:nvSpPr>
        <p:spPr>
          <a:xfrm>
            <a:off x="658368" y="3063240"/>
            <a:ext cx="10874959" cy="0"/>
          </a:xfrm>
          <a:prstGeom prst="line">
            <a:avLst/>
          </a:prstGeom>
          <a:noFill/>
          <a:ln w="12700">
            <a:solidFill>
              <a:srgbClr val="223029"/>
            </a:solidFill>
            <a:prstDash val="solid"/>
          </a:ln>
        </p:spPr>
      </p:sp>
      <p:sp>
        <p:nvSpPr>
          <p:cNvPr id="34" name="Text 32"/>
          <p:cNvSpPr txBox="1"/>
          <p:nvPr/>
        </p:nvSpPr>
        <p:spPr>
          <a:xfrm>
            <a:off x="658368" y="31089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llama.cpp / llama-server</a:t>
            </a:r>
            <a:endParaRPr lang="en-US" sz="850" dirty="0"/>
          </a:p>
        </p:txBody>
      </p:sp>
      <p:sp>
        <p:nvSpPr>
          <p:cNvPr id="35" name="Text 33"/>
          <p:cNvSpPr txBox="1"/>
          <p:nvPr/>
        </p:nvSpPr>
        <p:spPr>
          <a:xfrm>
            <a:off x="2395728" y="31089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Model serving</a:t>
            </a:r>
            <a:endParaRPr lang="en-US" sz="850" dirty="0"/>
          </a:p>
        </p:txBody>
      </p:sp>
      <p:sp>
        <p:nvSpPr>
          <p:cNvPr id="36" name="Text 34"/>
          <p:cNvSpPr txBox="1"/>
          <p:nvPr/>
        </p:nvSpPr>
        <p:spPr>
          <a:xfrm>
            <a:off x="4498848" y="31089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Solid Blackwell support; avoids bitsandbytes on sm_120 entirely</a:t>
            </a:r>
            <a:endParaRPr lang="en-US" sz="850" dirty="0"/>
          </a:p>
        </p:txBody>
      </p:sp>
      <p:sp>
        <p:nvSpPr>
          <p:cNvPr id="37" name="Text 35"/>
          <p:cNvSpPr txBox="1"/>
          <p:nvPr/>
        </p:nvSpPr>
        <p:spPr>
          <a:xfrm>
            <a:off x="7607808" y="31089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Build-sensitive: CUDA 13.3 is 43× the CPU build, CUDA 12.4 is slower than CPU</a:t>
            </a:r>
            <a:endParaRPr lang="en-US" sz="850" dirty="0"/>
          </a:p>
        </p:txBody>
      </p:sp>
      <p:sp>
        <p:nvSpPr>
          <p:cNvPr id="38" name="Text 36"/>
          <p:cNvSpPr txBox="1"/>
          <p:nvPr/>
        </p:nvSpPr>
        <p:spPr>
          <a:xfrm>
            <a:off x="10213848" y="31089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 / GPU</a:t>
            </a:r>
            <a:endParaRPr lang="en-US" sz="850" dirty="0"/>
          </a:p>
        </p:txBody>
      </p:sp>
      <p:sp>
        <p:nvSpPr>
          <p:cNvPr id="39" name="Shape 37"/>
          <p:cNvSpPr/>
          <p:nvPr/>
        </p:nvSpPr>
        <p:spPr>
          <a:xfrm>
            <a:off x="658368" y="3520440"/>
            <a:ext cx="10874959" cy="0"/>
          </a:xfrm>
          <a:prstGeom prst="line">
            <a:avLst/>
          </a:prstGeom>
          <a:noFill/>
          <a:ln w="12700">
            <a:solidFill>
              <a:srgbClr val="223029"/>
            </a:solidFill>
            <a:prstDash val="solid"/>
          </a:ln>
        </p:spPr>
      </p:sp>
      <p:sp>
        <p:nvSpPr>
          <p:cNvPr id="40" name="Text 38"/>
          <p:cNvSpPr txBox="1"/>
          <p:nvPr/>
        </p:nvSpPr>
        <p:spPr>
          <a:xfrm>
            <a:off x="658368" y="35661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Kokoro-82M</a:t>
            </a:r>
            <a:endParaRPr lang="en-US" sz="850" dirty="0"/>
          </a:p>
        </p:txBody>
      </p:sp>
      <p:sp>
        <p:nvSpPr>
          <p:cNvPr id="41" name="Text 39"/>
          <p:cNvSpPr txBox="1"/>
          <p:nvPr/>
        </p:nvSpPr>
        <p:spPr>
          <a:xfrm>
            <a:off x="2395728" y="35661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Text to speech</a:t>
            </a:r>
            <a:endParaRPr lang="en-US" sz="850" dirty="0"/>
          </a:p>
        </p:txBody>
      </p:sp>
      <p:sp>
        <p:nvSpPr>
          <p:cNvPr id="42" name="Text 40"/>
          <p:cNvSpPr txBox="1"/>
          <p:nvPr/>
        </p:nvSpPr>
        <p:spPr>
          <a:xfrm>
            <a:off x="4498848" y="35661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82M params, exposes a speed parameter — which is how the acoustic branch reaches the output</a:t>
            </a:r>
            <a:endParaRPr lang="en-US" sz="850" dirty="0"/>
          </a:p>
        </p:txBody>
      </p:sp>
      <p:sp>
        <p:nvSpPr>
          <p:cNvPr id="43" name="Text 41"/>
          <p:cNvSpPr txBox="1"/>
          <p:nvPr/>
        </p:nvSpPr>
        <p:spPr>
          <a:xfrm>
            <a:off x="7607808" y="35661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English voices only</a:t>
            </a:r>
            <a:endParaRPr lang="en-US" sz="850" dirty="0"/>
          </a:p>
        </p:txBody>
      </p:sp>
      <p:sp>
        <p:nvSpPr>
          <p:cNvPr id="44" name="Text 42"/>
          <p:cNvSpPr txBox="1"/>
          <p:nvPr/>
        </p:nvSpPr>
        <p:spPr>
          <a:xfrm>
            <a:off x="10213848" y="35661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
        <p:nvSpPr>
          <p:cNvPr id="45" name="Shape 43"/>
          <p:cNvSpPr/>
          <p:nvPr/>
        </p:nvSpPr>
        <p:spPr>
          <a:xfrm>
            <a:off x="658368" y="3977640"/>
            <a:ext cx="10874959" cy="0"/>
          </a:xfrm>
          <a:prstGeom prst="line">
            <a:avLst/>
          </a:prstGeom>
          <a:noFill/>
          <a:ln w="12700">
            <a:solidFill>
              <a:srgbClr val="223029"/>
            </a:solidFill>
            <a:prstDash val="solid"/>
          </a:ln>
        </p:spPr>
      </p:sp>
      <p:sp>
        <p:nvSpPr>
          <p:cNvPr id="46" name="Text 44"/>
          <p:cNvSpPr txBox="1"/>
          <p:nvPr/>
        </p:nvSpPr>
        <p:spPr>
          <a:xfrm>
            <a:off x="658368" y="40233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FastAPI</a:t>
            </a:r>
            <a:endParaRPr lang="en-US" sz="850" dirty="0"/>
          </a:p>
        </p:txBody>
      </p:sp>
      <p:sp>
        <p:nvSpPr>
          <p:cNvPr id="47" name="Text 45"/>
          <p:cNvSpPr txBox="1"/>
          <p:nvPr/>
        </p:nvSpPr>
        <p:spPr>
          <a:xfrm>
            <a:off x="2395728" y="40233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API and orchestration</a:t>
            </a:r>
            <a:endParaRPr lang="en-US" sz="850" dirty="0"/>
          </a:p>
        </p:txBody>
      </p:sp>
      <p:sp>
        <p:nvSpPr>
          <p:cNvPr id="48" name="Text 46"/>
          <p:cNvSpPr txBox="1"/>
          <p:nvPr/>
        </p:nvSpPr>
        <p:spPr>
          <a:xfrm>
            <a:off x="4498848" y="40233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Async for a workload that is mostly waiting; OpenAPI generated from Pydantic</a:t>
            </a:r>
            <a:endParaRPr lang="en-US" sz="850" dirty="0"/>
          </a:p>
        </p:txBody>
      </p:sp>
      <p:sp>
        <p:nvSpPr>
          <p:cNvPr id="49" name="Text 47"/>
          <p:cNvSpPr txBox="1"/>
          <p:nvPr/>
        </p:nvSpPr>
        <p:spPr>
          <a:xfrm>
            <a:off x="7607808" y="40233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Single-process; no horizontal story</a:t>
            </a:r>
            <a:endParaRPr lang="en-US" sz="850" dirty="0"/>
          </a:p>
        </p:txBody>
      </p:sp>
      <p:sp>
        <p:nvSpPr>
          <p:cNvPr id="50" name="Text 48"/>
          <p:cNvSpPr txBox="1"/>
          <p:nvPr/>
        </p:nvSpPr>
        <p:spPr>
          <a:xfrm>
            <a:off x="10213848" y="40233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CPU</a:t>
            </a:r>
            <a:endParaRPr lang="en-US" sz="850" dirty="0"/>
          </a:p>
        </p:txBody>
      </p:sp>
      <p:sp>
        <p:nvSpPr>
          <p:cNvPr id="51" name="Shape 49"/>
          <p:cNvSpPr/>
          <p:nvPr/>
        </p:nvSpPr>
        <p:spPr>
          <a:xfrm>
            <a:off x="658368" y="4434840"/>
            <a:ext cx="10874959" cy="0"/>
          </a:xfrm>
          <a:prstGeom prst="line">
            <a:avLst/>
          </a:prstGeom>
          <a:noFill/>
          <a:ln w="12700">
            <a:solidFill>
              <a:srgbClr val="223029"/>
            </a:solidFill>
            <a:prstDash val="solid"/>
          </a:ln>
        </p:spPr>
      </p:sp>
      <p:sp>
        <p:nvSpPr>
          <p:cNvPr id="52" name="Text 50"/>
          <p:cNvSpPr txBox="1"/>
          <p:nvPr/>
        </p:nvSpPr>
        <p:spPr>
          <a:xfrm>
            <a:off x="658368" y="44805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Async SQLAlchemy + SQLite</a:t>
            </a:r>
            <a:endParaRPr lang="en-US" sz="850" dirty="0"/>
          </a:p>
        </p:txBody>
      </p:sp>
      <p:sp>
        <p:nvSpPr>
          <p:cNvPr id="53" name="Text 51"/>
          <p:cNvSpPr txBox="1"/>
          <p:nvPr/>
        </p:nvSpPr>
        <p:spPr>
          <a:xfrm>
            <a:off x="2395728" y="44805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History and metrics</a:t>
            </a:r>
            <a:endParaRPr lang="en-US" sz="850" dirty="0"/>
          </a:p>
        </p:txBody>
      </p:sp>
      <p:sp>
        <p:nvSpPr>
          <p:cNvPr id="54" name="Text 52"/>
          <p:cNvSpPr txBox="1"/>
          <p:nvPr/>
        </p:nvSpPr>
        <p:spPr>
          <a:xfrm>
            <a:off x="4498848" y="44805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One file, no server, correct for a single-user local product</a:t>
            </a:r>
            <a:endParaRPr lang="en-US" sz="850" dirty="0"/>
          </a:p>
        </p:txBody>
      </p:sp>
      <p:sp>
        <p:nvSpPr>
          <p:cNvPr id="55" name="Text 53"/>
          <p:cNvSpPr txBox="1"/>
          <p:nvPr/>
        </p:nvSpPr>
        <p:spPr>
          <a:xfrm>
            <a:off x="7607808" y="44805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Would need Postgres for concurrent multi-user</a:t>
            </a:r>
            <a:endParaRPr lang="en-US" sz="850" dirty="0"/>
          </a:p>
        </p:txBody>
      </p:sp>
      <p:sp>
        <p:nvSpPr>
          <p:cNvPr id="56" name="Text 54"/>
          <p:cNvSpPr txBox="1"/>
          <p:nvPr/>
        </p:nvSpPr>
        <p:spPr>
          <a:xfrm>
            <a:off x="10213848" y="44805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Disk</a:t>
            </a:r>
            <a:endParaRPr lang="en-US" sz="850" dirty="0"/>
          </a:p>
        </p:txBody>
      </p:sp>
      <p:sp>
        <p:nvSpPr>
          <p:cNvPr id="57" name="Shape 55"/>
          <p:cNvSpPr/>
          <p:nvPr/>
        </p:nvSpPr>
        <p:spPr>
          <a:xfrm>
            <a:off x="658368" y="4892040"/>
            <a:ext cx="10874959" cy="0"/>
          </a:xfrm>
          <a:prstGeom prst="line">
            <a:avLst/>
          </a:prstGeom>
          <a:noFill/>
          <a:ln w="12700">
            <a:solidFill>
              <a:srgbClr val="223029"/>
            </a:solidFill>
            <a:prstDash val="solid"/>
          </a:ln>
        </p:spPr>
      </p:sp>
      <p:sp>
        <p:nvSpPr>
          <p:cNvPr id="58" name="Text 56"/>
          <p:cNvSpPr txBox="1"/>
          <p:nvPr/>
        </p:nvSpPr>
        <p:spPr>
          <a:xfrm>
            <a:off x="658368" y="4937760"/>
            <a:ext cx="1645920" cy="420624"/>
          </a:xfrm>
          <a:prstGeom prst="rect">
            <a:avLst/>
          </a:prstGeom>
          <a:noFill/>
          <a:ln/>
        </p:spPr>
        <p:txBody>
          <a:bodyPr wrap="square" lIns="0" tIns="0" rIns="0" bIns="0" rtlCol="0" anchor="t"/>
          <a:lstStyle/>
          <a:p>
            <a:pPr algn="l" indent="0" marL="0">
              <a:lnSpc>
                <a:spcPct val="106000"/>
              </a:lnSpc>
              <a:buNone/>
            </a:pPr>
            <a:r>
              <a:rPr lang="en-US" sz="850" b="1" dirty="0">
                <a:solidFill>
                  <a:srgbClr val="EFF2F1"/>
                </a:solidFill>
                <a:latin typeface="Calibri" pitchFamily="34" charset="0"/>
                <a:ea typeface="Calibri" pitchFamily="34" charset="-122"/>
                <a:cs typeface="Calibri" pitchFamily="34" charset="-120"/>
              </a:rPr>
              <a:t>React 18 + TS + Vite</a:t>
            </a:r>
            <a:endParaRPr lang="en-US" sz="850" dirty="0"/>
          </a:p>
        </p:txBody>
      </p:sp>
      <p:sp>
        <p:nvSpPr>
          <p:cNvPr id="59" name="Text 57"/>
          <p:cNvSpPr txBox="1"/>
          <p:nvPr/>
        </p:nvSpPr>
        <p:spPr>
          <a:xfrm>
            <a:off x="2395728" y="4937760"/>
            <a:ext cx="20116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Frontend</a:t>
            </a:r>
            <a:endParaRPr lang="en-US" sz="850" dirty="0"/>
          </a:p>
        </p:txBody>
      </p:sp>
      <p:sp>
        <p:nvSpPr>
          <p:cNvPr id="60" name="Text 58"/>
          <p:cNvSpPr txBox="1"/>
          <p:nvPr/>
        </p:nvSpPr>
        <p:spPr>
          <a:xfrm>
            <a:off x="4498848" y="4937760"/>
            <a:ext cx="301752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Real-time stateful UI; API types generated from OpenAPI so drift breaks the build</a:t>
            </a:r>
            <a:endParaRPr lang="en-US" sz="850" dirty="0"/>
          </a:p>
        </p:txBody>
      </p:sp>
      <p:sp>
        <p:nvSpPr>
          <p:cNvPr id="61" name="Text 59"/>
          <p:cNvSpPr txBox="1"/>
          <p:nvPr/>
        </p:nvSpPr>
        <p:spPr>
          <a:xfrm>
            <a:off x="7607808" y="4937760"/>
            <a:ext cx="251460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Client-side only; no SSR</a:t>
            </a:r>
            <a:endParaRPr lang="en-US" sz="850" dirty="0"/>
          </a:p>
        </p:txBody>
      </p:sp>
      <p:sp>
        <p:nvSpPr>
          <p:cNvPr id="62" name="Text 60"/>
          <p:cNvSpPr txBox="1"/>
          <p:nvPr/>
        </p:nvSpPr>
        <p:spPr>
          <a:xfrm>
            <a:off x="10213848" y="4937760"/>
            <a:ext cx="1097280" cy="420624"/>
          </a:xfrm>
          <a:prstGeom prst="rect">
            <a:avLst/>
          </a:prstGeom>
          <a:noFill/>
          <a:ln/>
        </p:spPr>
        <p:txBody>
          <a:bodyPr wrap="square" lIns="0" tIns="0" rIns="0" bIns="0" rtlCol="0" anchor="t"/>
          <a:lstStyle/>
          <a:p>
            <a:pPr algn="l" indent="0" marL="0">
              <a:lnSpc>
                <a:spcPct val="106000"/>
              </a:lnSpc>
              <a:buNone/>
            </a:pPr>
            <a:r>
              <a:rPr lang="en-US" sz="850" dirty="0">
                <a:solidFill>
                  <a:srgbClr val="8CA096"/>
                </a:solidFill>
                <a:latin typeface="Calibri" pitchFamily="34" charset="0"/>
                <a:ea typeface="Calibri" pitchFamily="34" charset="-122"/>
                <a:cs typeface="Calibri" pitchFamily="34" charset="-120"/>
              </a:rPr>
              <a:t>Browser</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A3</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API surface and the generated contract</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docs/openapi.json  ·  Makefile</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A3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Shape 8"/>
          <p:cNvSpPr/>
          <p:nvPr/>
        </p:nvSpPr>
        <p:spPr>
          <a:xfrm>
            <a:off x="658368" y="1389888"/>
            <a:ext cx="6949440" cy="4480560"/>
          </a:xfrm>
          <a:prstGeom prst="roundRect">
            <a:avLst>
              <a:gd name="adj" fmla="val 3265"/>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1" name="Text 9"/>
          <p:cNvSpPr txBox="1"/>
          <p:nvPr/>
        </p:nvSpPr>
        <p:spPr>
          <a:xfrm>
            <a:off x="914400" y="1536192"/>
            <a:ext cx="54864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25 HTTP PATHS · 30 OPERATIONS · 2 WEBSOCKETS</a:t>
            </a:r>
            <a:endParaRPr lang="en-US" sz="950" dirty="0"/>
          </a:p>
        </p:txBody>
      </p:sp>
      <p:sp>
        <p:nvSpPr>
          <p:cNvPr id="12" name="Text 10"/>
          <p:cNvSpPr txBox="1"/>
          <p:nvPr/>
        </p:nvSpPr>
        <p:spPr>
          <a:xfrm>
            <a:off x="914400" y="1847088"/>
            <a:ext cx="3108960" cy="201168"/>
          </a:xfrm>
          <a:prstGeom prst="rect">
            <a:avLst/>
          </a:prstGeom>
          <a:noFill/>
          <a:ln/>
        </p:spPr>
        <p:txBody>
          <a:bodyPr wrap="square" lIns="0" tIns="0" rIns="0" bIns="0" rtlCol="0" anchor="ctr"/>
          <a:lstStyle/>
          <a:p>
            <a:pPr algn="l" indent="0" marL="0">
              <a:buNone/>
            </a:pPr>
            <a:r>
              <a:rPr lang="en-US" sz="900" b="1" dirty="0">
                <a:solidFill>
                  <a:srgbClr val="F9BF29"/>
                </a:solidFill>
                <a:latin typeface="Courier New" pitchFamily="34" charset="0"/>
                <a:ea typeface="Courier New" pitchFamily="34" charset="-122"/>
                <a:cs typeface="Courier New" pitchFamily="34" charset="-120"/>
              </a:rPr>
              <a:t>auth</a:t>
            </a:r>
            <a:endParaRPr lang="en-US" sz="900" dirty="0"/>
          </a:p>
        </p:txBody>
      </p:sp>
      <p:sp>
        <p:nvSpPr>
          <p:cNvPr id="13" name="Text 11"/>
          <p:cNvSpPr txBox="1"/>
          <p:nvPr/>
        </p:nvSpPr>
        <p:spPr>
          <a:xfrm>
            <a:off x="914400" y="208483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/api/auth/register</a:t>
            </a:r>
            <a:endParaRPr lang="en-US" sz="750" dirty="0"/>
          </a:p>
        </p:txBody>
      </p:sp>
      <p:sp>
        <p:nvSpPr>
          <p:cNvPr id="14" name="Text 12"/>
          <p:cNvSpPr txBox="1"/>
          <p:nvPr/>
        </p:nvSpPr>
        <p:spPr>
          <a:xfrm>
            <a:off x="914400" y="224485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/api/auth/login</a:t>
            </a:r>
            <a:endParaRPr lang="en-US" sz="750" dirty="0"/>
          </a:p>
        </p:txBody>
      </p:sp>
      <p:sp>
        <p:nvSpPr>
          <p:cNvPr id="15" name="Text 13"/>
          <p:cNvSpPr txBox="1"/>
          <p:nvPr/>
        </p:nvSpPr>
        <p:spPr>
          <a:xfrm>
            <a:off x="914400" y="240487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/api/auth/refresh</a:t>
            </a:r>
            <a:endParaRPr lang="en-US" sz="750" dirty="0"/>
          </a:p>
        </p:txBody>
      </p:sp>
      <p:sp>
        <p:nvSpPr>
          <p:cNvPr id="16" name="Text 14"/>
          <p:cNvSpPr txBox="1"/>
          <p:nvPr/>
        </p:nvSpPr>
        <p:spPr>
          <a:xfrm>
            <a:off x="914400" y="256489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/api/auth/logout</a:t>
            </a:r>
            <a:endParaRPr lang="en-US" sz="750" dirty="0"/>
          </a:p>
        </p:txBody>
      </p:sp>
      <p:sp>
        <p:nvSpPr>
          <p:cNvPr id="17" name="Text 15"/>
          <p:cNvSpPr txBox="1"/>
          <p:nvPr/>
        </p:nvSpPr>
        <p:spPr>
          <a:xfrm>
            <a:off x="914400" y="272491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/api/auth/logout-all</a:t>
            </a:r>
            <a:endParaRPr lang="en-US" sz="750" dirty="0"/>
          </a:p>
        </p:txBody>
      </p:sp>
      <p:sp>
        <p:nvSpPr>
          <p:cNvPr id="18" name="Text 16"/>
          <p:cNvSpPr txBox="1"/>
          <p:nvPr/>
        </p:nvSpPr>
        <p:spPr>
          <a:xfrm>
            <a:off x="914400" y="288493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/api/auth/me</a:t>
            </a:r>
            <a:endParaRPr lang="en-US" sz="750" dirty="0"/>
          </a:p>
        </p:txBody>
      </p:sp>
      <p:sp>
        <p:nvSpPr>
          <p:cNvPr id="19" name="Text 17"/>
          <p:cNvSpPr txBox="1"/>
          <p:nvPr/>
        </p:nvSpPr>
        <p:spPr>
          <a:xfrm>
            <a:off x="914400" y="304495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PATCH /api/auth/me</a:t>
            </a:r>
            <a:endParaRPr lang="en-US" sz="750" dirty="0"/>
          </a:p>
        </p:txBody>
      </p:sp>
      <p:sp>
        <p:nvSpPr>
          <p:cNvPr id="20" name="Text 18"/>
          <p:cNvSpPr txBox="1"/>
          <p:nvPr/>
        </p:nvSpPr>
        <p:spPr>
          <a:xfrm>
            <a:off x="914400" y="320497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/api/auth/me/password</a:t>
            </a:r>
            <a:endParaRPr lang="en-US" sz="750" dirty="0"/>
          </a:p>
        </p:txBody>
      </p:sp>
      <p:sp>
        <p:nvSpPr>
          <p:cNvPr id="21" name="Text 19"/>
          <p:cNvSpPr txBox="1"/>
          <p:nvPr/>
        </p:nvSpPr>
        <p:spPr>
          <a:xfrm>
            <a:off x="914400" y="336499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/api/auth/me/export</a:t>
            </a:r>
            <a:endParaRPr lang="en-US" sz="750" dirty="0"/>
          </a:p>
        </p:txBody>
      </p:sp>
      <p:sp>
        <p:nvSpPr>
          <p:cNvPr id="22" name="Text 20"/>
          <p:cNvSpPr txBox="1"/>
          <p:nvPr/>
        </p:nvSpPr>
        <p:spPr>
          <a:xfrm>
            <a:off x="914400" y="352501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DELETE /api/auth/me</a:t>
            </a:r>
            <a:endParaRPr lang="en-US" sz="750" dirty="0"/>
          </a:p>
        </p:txBody>
      </p:sp>
      <p:sp>
        <p:nvSpPr>
          <p:cNvPr id="23" name="Text 21"/>
          <p:cNvSpPr txBox="1"/>
          <p:nvPr/>
        </p:nvSpPr>
        <p:spPr>
          <a:xfrm>
            <a:off x="914400" y="368503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/api/auth/ws-ticket</a:t>
            </a:r>
            <a:endParaRPr lang="en-US" sz="750" dirty="0"/>
          </a:p>
        </p:txBody>
      </p:sp>
      <p:sp>
        <p:nvSpPr>
          <p:cNvPr id="24" name="Text 22"/>
          <p:cNvSpPr txBox="1"/>
          <p:nvPr/>
        </p:nvSpPr>
        <p:spPr>
          <a:xfrm>
            <a:off x="4315968" y="1847088"/>
            <a:ext cx="3108960" cy="201168"/>
          </a:xfrm>
          <a:prstGeom prst="rect">
            <a:avLst/>
          </a:prstGeom>
          <a:noFill/>
          <a:ln/>
        </p:spPr>
        <p:txBody>
          <a:bodyPr wrap="square" lIns="0" tIns="0" rIns="0" bIns="0" rtlCol="0" anchor="ctr"/>
          <a:lstStyle/>
          <a:p>
            <a:pPr algn="l" indent="0" marL="0">
              <a:buNone/>
            </a:pPr>
            <a:r>
              <a:rPr lang="en-US" sz="900" b="1" dirty="0">
                <a:solidFill>
                  <a:srgbClr val="F9BF29"/>
                </a:solidFill>
                <a:latin typeface="Courier New" pitchFamily="34" charset="0"/>
                <a:ea typeface="Courier New" pitchFamily="34" charset="-122"/>
                <a:cs typeface="Courier New" pitchFamily="34" charset="-120"/>
              </a:rPr>
              <a:t>turns</a:t>
            </a:r>
            <a:endParaRPr lang="en-US" sz="900" dirty="0"/>
          </a:p>
        </p:txBody>
      </p:sp>
      <p:sp>
        <p:nvSpPr>
          <p:cNvPr id="25" name="Text 23"/>
          <p:cNvSpPr txBox="1"/>
          <p:nvPr/>
        </p:nvSpPr>
        <p:spPr>
          <a:xfrm>
            <a:off x="4315968" y="208483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/api/chat</a:t>
            </a:r>
            <a:endParaRPr lang="en-US" sz="750" dirty="0"/>
          </a:p>
        </p:txBody>
      </p:sp>
      <p:sp>
        <p:nvSpPr>
          <p:cNvPr id="26" name="Text 24"/>
          <p:cNvSpPr txBox="1"/>
          <p:nvPr/>
        </p:nvSpPr>
        <p:spPr>
          <a:xfrm>
            <a:off x="4315968" y="224485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/api/chat/audio</a:t>
            </a:r>
            <a:endParaRPr lang="en-US" sz="750" dirty="0"/>
          </a:p>
        </p:txBody>
      </p:sp>
      <p:sp>
        <p:nvSpPr>
          <p:cNvPr id="27" name="Text 25"/>
          <p:cNvSpPr txBox="1"/>
          <p:nvPr/>
        </p:nvSpPr>
        <p:spPr>
          <a:xfrm>
            <a:off x="4315968" y="240487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/api/analyze</a:t>
            </a:r>
            <a:endParaRPr lang="en-US" sz="750" dirty="0"/>
          </a:p>
        </p:txBody>
      </p:sp>
      <p:sp>
        <p:nvSpPr>
          <p:cNvPr id="28" name="Text 26"/>
          <p:cNvSpPr txBox="1"/>
          <p:nvPr/>
        </p:nvSpPr>
        <p:spPr>
          <a:xfrm>
            <a:off x="4315968" y="256489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WS   /ws/live</a:t>
            </a:r>
            <a:endParaRPr lang="en-US" sz="750" dirty="0"/>
          </a:p>
        </p:txBody>
      </p:sp>
      <p:sp>
        <p:nvSpPr>
          <p:cNvPr id="29" name="Text 27"/>
          <p:cNvSpPr txBox="1"/>
          <p:nvPr/>
        </p:nvSpPr>
        <p:spPr>
          <a:xfrm>
            <a:off x="4315968" y="272491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WS   /ws/knowledge</a:t>
            </a:r>
            <a:endParaRPr lang="en-US" sz="750" dirty="0"/>
          </a:p>
        </p:txBody>
      </p:sp>
      <p:sp>
        <p:nvSpPr>
          <p:cNvPr id="30" name="Text 28"/>
          <p:cNvSpPr txBox="1"/>
          <p:nvPr/>
        </p:nvSpPr>
        <p:spPr>
          <a:xfrm>
            <a:off x="914400" y="3950208"/>
            <a:ext cx="3108960" cy="201168"/>
          </a:xfrm>
          <a:prstGeom prst="rect">
            <a:avLst/>
          </a:prstGeom>
          <a:noFill/>
          <a:ln/>
        </p:spPr>
        <p:txBody>
          <a:bodyPr wrap="square" lIns="0" tIns="0" rIns="0" bIns="0" rtlCol="0" anchor="ctr"/>
          <a:lstStyle/>
          <a:p>
            <a:pPr algn="l" indent="0" marL="0">
              <a:buNone/>
            </a:pPr>
            <a:r>
              <a:rPr lang="en-US" sz="900" b="1" dirty="0">
                <a:solidFill>
                  <a:srgbClr val="F9BF29"/>
                </a:solidFill>
                <a:latin typeface="Courier New" pitchFamily="34" charset="0"/>
                <a:ea typeface="Courier New" pitchFamily="34" charset="-122"/>
                <a:cs typeface="Courier New" pitchFamily="34" charset="-120"/>
              </a:rPr>
              <a:t>sessions</a:t>
            </a:r>
            <a:endParaRPr lang="en-US" sz="900" dirty="0"/>
          </a:p>
        </p:txBody>
      </p:sp>
      <p:sp>
        <p:nvSpPr>
          <p:cNvPr id="31" name="Text 29"/>
          <p:cNvSpPr txBox="1"/>
          <p:nvPr/>
        </p:nvSpPr>
        <p:spPr>
          <a:xfrm>
            <a:off x="914400" y="418795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GET/POST /api/sessions</a:t>
            </a:r>
            <a:endParaRPr lang="en-US" sz="750" dirty="0"/>
          </a:p>
        </p:txBody>
      </p:sp>
      <p:sp>
        <p:nvSpPr>
          <p:cNvPr id="32" name="Text 30"/>
          <p:cNvSpPr txBox="1"/>
          <p:nvPr/>
        </p:nvSpPr>
        <p:spPr>
          <a:xfrm>
            <a:off x="914400" y="434797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/api/sessions/{id}</a:t>
            </a:r>
            <a:endParaRPr lang="en-US" sz="750" dirty="0"/>
          </a:p>
        </p:txBody>
      </p:sp>
      <p:sp>
        <p:nvSpPr>
          <p:cNvPr id="33" name="Text 31"/>
          <p:cNvSpPr txBox="1"/>
          <p:nvPr/>
        </p:nvSpPr>
        <p:spPr>
          <a:xfrm>
            <a:off x="914400" y="450799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PATCH /api/sessions/{id}</a:t>
            </a:r>
            <a:endParaRPr lang="en-US" sz="750" dirty="0"/>
          </a:p>
        </p:txBody>
      </p:sp>
      <p:sp>
        <p:nvSpPr>
          <p:cNvPr id="34" name="Text 32"/>
          <p:cNvSpPr txBox="1"/>
          <p:nvPr/>
        </p:nvSpPr>
        <p:spPr>
          <a:xfrm>
            <a:off x="914400" y="466801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DELETE /api/sessions/{id}</a:t>
            </a:r>
            <a:endParaRPr lang="en-US" sz="750" dirty="0"/>
          </a:p>
        </p:txBody>
      </p:sp>
      <p:sp>
        <p:nvSpPr>
          <p:cNvPr id="35" name="Text 33"/>
          <p:cNvSpPr txBox="1"/>
          <p:nvPr/>
        </p:nvSpPr>
        <p:spPr>
          <a:xfrm>
            <a:off x="914400" y="482803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/api/sessions/{id}/metrics</a:t>
            </a:r>
            <a:endParaRPr lang="en-US" sz="750" dirty="0"/>
          </a:p>
        </p:txBody>
      </p:sp>
      <p:sp>
        <p:nvSpPr>
          <p:cNvPr id="36" name="Text 34"/>
          <p:cNvSpPr txBox="1"/>
          <p:nvPr/>
        </p:nvSpPr>
        <p:spPr>
          <a:xfrm>
            <a:off x="914400" y="498805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/api/sessions/{id}/end</a:t>
            </a:r>
            <a:endParaRPr lang="en-US" sz="750" dirty="0"/>
          </a:p>
        </p:txBody>
      </p:sp>
      <p:sp>
        <p:nvSpPr>
          <p:cNvPr id="37" name="Text 35"/>
          <p:cNvSpPr txBox="1"/>
          <p:nvPr/>
        </p:nvSpPr>
        <p:spPr>
          <a:xfrm>
            <a:off x="914400" y="514807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/api/sessions/progress</a:t>
            </a:r>
            <a:endParaRPr lang="en-US" sz="750" dirty="0"/>
          </a:p>
        </p:txBody>
      </p:sp>
      <p:sp>
        <p:nvSpPr>
          <p:cNvPr id="38" name="Text 36"/>
          <p:cNvSpPr txBox="1"/>
          <p:nvPr/>
        </p:nvSpPr>
        <p:spPr>
          <a:xfrm>
            <a:off x="914400" y="530809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/api/sessions/{id}/turns/{turn}/speech</a:t>
            </a:r>
            <a:endParaRPr lang="en-US" sz="750" dirty="0"/>
          </a:p>
        </p:txBody>
      </p:sp>
      <p:sp>
        <p:nvSpPr>
          <p:cNvPr id="39" name="Text 37"/>
          <p:cNvSpPr txBox="1"/>
          <p:nvPr/>
        </p:nvSpPr>
        <p:spPr>
          <a:xfrm>
            <a:off x="4315968" y="3950208"/>
            <a:ext cx="3108960" cy="201168"/>
          </a:xfrm>
          <a:prstGeom prst="rect">
            <a:avLst/>
          </a:prstGeom>
          <a:noFill/>
          <a:ln/>
        </p:spPr>
        <p:txBody>
          <a:bodyPr wrap="square" lIns="0" tIns="0" rIns="0" bIns="0" rtlCol="0" anchor="ctr"/>
          <a:lstStyle/>
          <a:p>
            <a:pPr algn="l" indent="0" marL="0">
              <a:buNone/>
            </a:pPr>
            <a:r>
              <a:rPr lang="en-US" sz="900" b="1" dirty="0">
                <a:solidFill>
                  <a:srgbClr val="F9BF29"/>
                </a:solidFill>
                <a:latin typeface="Courier New" pitchFamily="34" charset="0"/>
                <a:ea typeface="Courier New" pitchFamily="34" charset="-122"/>
                <a:cs typeface="Courier New" pitchFamily="34" charset="-120"/>
              </a:rPr>
              <a:t>corpus + health</a:t>
            </a:r>
            <a:endParaRPr lang="en-US" sz="900" dirty="0"/>
          </a:p>
        </p:txBody>
      </p:sp>
      <p:sp>
        <p:nvSpPr>
          <p:cNvPr id="40" name="Text 38"/>
          <p:cNvSpPr txBox="1"/>
          <p:nvPr/>
        </p:nvSpPr>
        <p:spPr>
          <a:xfrm>
            <a:off x="4315968" y="418795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/api/corpus</a:t>
            </a:r>
            <a:endParaRPr lang="en-US" sz="750" dirty="0"/>
          </a:p>
        </p:txBody>
      </p:sp>
      <p:sp>
        <p:nvSpPr>
          <p:cNvPr id="41" name="Text 39"/>
          <p:cNvSpPr txBox="1"/>
          <p:nvPr/>
        </p:nvSpPr>
        <p:spPr>
          <a:xfrm>
            <a:off x="4315968" y="434797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/api/corpus/manifest</a:t>
            </a:r>
            <a:endParaRPr lang="en-US" sz="750" dirty="0"/>
          </a:p>
        </p:txBody>
      </p:sp>
      <p:sp>
        <p:nvSpPr>
          <p:cNvPr id="42" name="Text 40"/>
          <p:cNvSpPr txBox="1"/>
          <p:nvPr/>
        </p:nvSpPr>
        <p:spPr>
          <a:xfrm>
            <a:off x="4315968" y="450799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POST /api/corpus/ingest</a:t>
            </a:r>
            <a:endParaRPr lang="en-US" sz="750" dirty="0"/>
          </a:p>
        </p:txBody>
      </p:sp>
      <p:sp>
        <p:nvSpPr>
          <p:cNvPr id="43" name="Text 41"/>
          <p:cNvSpPr txBox="1"/>
          <p:nvPr/>
        </p:nvSpPr>
        <p:spPr>
          <a:xfrm>
            <a:off x="4315968" y="466801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/api/corpus/search</a:t>
            </a:r>
            <a:endParaRPr lang="en-US" sz="750" dirty="0"/>
          </a:p>
        </p:txBody>
      </p:sp>
      <p:sp>
        <p:nvSpPr>
          <p:cNvPr id="44" name="Text 42"/>
          <p:cNvSpPr txBox="1"/>
          <p:nvPr/>
        </p:nvSpPr>
        <p:spPr>
          <a:xfrm>
            <a:off x="4315968" y="482803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/api/status</a:t>
            </a:r>
            <a:endParaRPr lang="en-US" sz="750" dirty="0"/>
          </a:p>
        </p:txBody>
      </p:sp>
      <p:sp>
        <p:nvSpPr>
          <p:cNvPr id="45" name="Text 43"/>
          <p:cNvSpPr txBox="1"/>
          <p:nvPr/>
        </p:nvSpPr>
        <p:spPr>
          <a:xfrm>
            <a:off x="4315968" y="498805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/api/schema/acoustic</a:t>
            </a:r>
            <a:endParaRPr lang="en-US" sz="750" dirty="0"/>
          </a:p>
        </p:txBody>
      </p:sp>
      <p:sp>
        <p:nvSpPr>
          <p:cNvPr id="46" name="Text 44"/>
          <p:cNvSpPr txBox="1"/>
          <p:nvPr/>
        </p:nvSpPr>
        <p:spPr>
          <a:xfrm>
            <a:off x="4315968" y="5148072"/>
            <a:ext cx="3200400" cy="164592"/>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GET /health</a:t>
            </a:r>
            <a:endParaRPr lang="en-US" sz="750" dirty="0"/>
          </a:p>
        </p:txBody>
      </p:sp>
      <p:sp>
        <p:nvSpPr>
          <p:cNvPr id="47" name="Shape 45"/>
          <p:cNvSpPr/>
          <p:nvPr/>
        </p:nvSpPr>
        <p:spPr>
          <a:xfrm>
            <a:off x="8001000" y="1389888"/>
            <a:ext cx="3529584" cy="4480560"/>
          </a:xfrm>
          <a:prstGeom prst="roundRect">
            <a:avLst>
              <a:gd name="adj" fmla="val 4145"/>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48" name="Text 46"/>
          <p:cNvSpPr txBox="1"/>
          <p:nvPr/>
        </p:nvSpPr>
        <p:spPr>
          <a:xfrm>
            <a:off x="8220456" y="1536192"/>
            <a:ext cx="310896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HOW DRIFT IS PREVENTED</a:t>
            </a:r>
            <a:endParaRPr lang="en-US" sz="950" dirty="0"/>
          </a:p>
        </p:txBody>
      </p:sp>
      <p:sp>
        <p:nvSpPr>
          <p:cNvPr id="49" name="Text 47"/>
          <p:cNvSpPr txBox="1"/>
          <p:nvPr/>
        </p:nvSpPr>
        <p:spPr>
          <a:xfrm>
            <a:off x="8220456" y="1847088"/>
            <a:ext cx="3108960" cy="219456"/>
          </a:xfrm>
          <a:prstGeom prst="rect">
            <a:avLst/>
          </a:prstGeom>
          <a:noFill/>
          <a:ln/>
        </p:spPr>
        <p:txBody>
          <a:bodyPr wrap="square" lIns="0" tIns="0" rIns="0" bIns="0" rtlCol="0" anchor="ctr"/>
          <a:lstStyle/>
          <a:p>
            <a:pPr algn="l" indent="0" marL="0">
              <a:buNone/>
            </a:pPr>
            <a:r>
              <a:rPr lang="en-US" sz="1050" b="1" dirty="0">
                <a:solidFill>
                  <a:srgbClr val="EFF2F1"/>
                </a:solidFill>
                <a:latin typeface="Courier New" pitchFamily="34" charset="0"/>
                <a:ea typeface="Courier New" pitchFamily="34" charset="-122"/>
                <a:cs typeface="Courier New" pitchFamily="34" charset="-120"/>
              </a:rPr>
              <a:t>make schema</a:t>
            </a:r>
            <a:endParaRPr lang="en-US" sz="1050" dirty="0"/>
          </a:p>
        </p:txBody>
      </p:sp>
      <p:sp>
        <p:nvSpPr>
          <p:cNvPr id="50" name="Text 48"/>
          <p:cNvSpPr txBox="1"/>
          <p:nvPr/>
        </p:nvSpPr>
        <p:spPr>
          <a:xfrm>
            <a:off x="8220456" y="2084832"/>
            <a:ext cx="3090672" cy="60350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writes docs/openapi.json from the running app</a:t>
            </a:r>
            <a:endParaRPr lang="en-US" sz="1000" dirty="0"/>
          </a:p>
        </p:txBody>
      </p:sp>
      <p:sp>
        <p:nvSpPr>
          <p:cNvPr id="51" name="Text 49"/>
          <p:cNvSpPr txBox="1"/>
          <p:nvPr/>
        </p:nvSpPr>
        <p:spPr>
          <a:xfrm>
            <a:off x="8220456" y="2798064"/>
            <a:ext cx="3108960" cy="219456"/>
          </a:xfrm>
          <a:prstGeom prst="rect">
            <a:avLst/>
          </a:prstGeom>
          <a:noFill/>
          <a:ln/>
        </p:spPr>
        <p:txBody>
          <a:bodyPr wrap="square" lIns="0" tIns="0" rIns="0" bIns="0" rtlCol="0" anchor="ctr"/>
          <a:lstStyle/>
          <a:p>
            <a:pPr algn="l" indent="0" marL="0">
              <a:buNone/>
            </a:pPr>
            <a:r>
              <a:rPr lang="en-US" sz="1050" b="1" dirty="0">
                <a:solidFill>
                  <a:srgbClr val="EFF2F1"/>
                </a:solidFill>
                <a:latin typeface="Courier New" pitchFamily="34" charset="0"/>
                <a:ea typeface="Courier New" pitchFamily="34" charset="-122"/>
                <a:cs typeface="Courier New" pitchFamily="34" charset="-120"/>
              </a:rPr>
              <a:t>make types</a:t>
            </a:r>
            <a:endParaRPr lang="en-US" sz="1050" dirty="0"/>
          </a:p>
        </p:txBody>
      </p:sp>
      <p:sp>
        <p:nvSpPr>
          <p:cNvPr id="52" name="Text 50"/>
          <p:cNvSpPr txBox="1"/>
          <p:nvPr/>
        </p:nvSpPr>
        <p:spPr>
          <a:xfrm>
            <a:off x="8220456" y="3035808"/>
            <a:ext cx="3090672" cy="60350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regenerates frontend/src/lib/api-types.gen.ts from that schema with openapi-typescript</a:t>
            </a:r>
            <a:endParaRPr lang="en-US" sz="1000" dirty="0"/>
          </a:p>
        </p:txBody>
      </p:sp>
      <p:sp>
        <p:nvSpPr>
          <p:cNvPr id="53" name="Text 51"/>
          <p:cNvSpPr txBox="1"/>
          <p:nvPr/>
        </p:nvSpPr>
        <p:spPr>
          <a:xfrm>
            <a:off x="8220456" y="3749040"/>
            <a:ext cx="3108960" cy="219456"/>
          </a:xfrm>
          <a:prstGeom prst="rect">
            <a:avLst/>
          </a:prstGeom>
          <a:noFill/>
          <a:ln/>
        </p:spPr>
        <p:txBody>
          <a:bodyPr wrap="square" lIns="0" tIns="0" rIns="0" bIns="0" rtlCol="0" anchor="ctr"/>
          <a:lstStyle/>
          <a:p>
            <a:pPr algn="l" indent="0" marL="0">
              <a:buNone/>
            </a:pPr>
            <a:r>
              <a:rPr lang="en-US" sz="1050" b="1" dirty="0">
                <a:solidFill>
                  <a:srgbClr val="EFF2F1"/>
                </a:solidFill>
                <a:latin typeface="Courier New" pitchFamily="34" charset="0"/>
                <a:ea typeface="Courier New" pitchFamily="34" charset="-122"/>
                <a:cs typeface="Courier New" pitchFamily="34" charset="-120"/>
              </a:rPr>
              <a:t>make check-types</a:t>
            </a:r>
            <a:endParaRPr lang="en-US" sz="1050" dirty="0"/>
          </a:p>
        </p:txBody>
      </p:sp>
      <p:sp>
        <p:nvSpPr>
          <p:cNvPr id="54" name="Text 52"/>
          <p:cNvSpPr txBox="1"/>
          <p:nvPr/>
        </p:nvSpPr>
        <p:spPr>
          <a:xfrm>
            <a:off x="8220456" y="3986784"/>
            <a:ext cx="3090672" cy="60350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fails if either the committed schema or the generated types are stale</a:t>
            </a:r>
            <a:endParaRPr lang="en-US" sz="1000" dirty="0"/>
          </a:p>
        </p:txBody>
      </p:sp>
      <p:sp>
        <p:nvSpPr>
          <p:cNvPr id="55" name="Text 53"/>
          <p:cNvSpPr txBox="1"/>
          <p:nvPr/>
        </p:nvSpPr>
        <p:spPr>
          <a:xfrm>
            <a:off x="8220456" y="4700016"/>
            <a:ext cx="3108960" cy="219456"/>
          </a:xfrm>
          <a:prstGeom prst="rect">
            <a:avLst/>
          </a:prstGeom>
          <a:noFill/>
          <a:ln/>
        </p:spPr>
        <p:txBody>
          <a:bodyPr wrap="square" lIns="0" tIns="0" rIns="0" bIns="0" rtlCol="0" anchor="ctr"/>
          <a:lstStyle/>
          <a:p>
            <a:pPr algn="l" indent="0" marL="0">
              <a:buNone/>
            </a:pPr>
            <a:r>
              <a:rPr lang="en-US" sz="1050" b="1" dirty="0">
                <a:solidFill>
                  <a:srgbClr val="EFF2F1"/>
                </a:solidFill>
                <a:latin typeface="Courier New" pitchFamily="34" charset="0"/>
                <a:ea typeface="Courier New" pitchFamily="34" charset="-122"/>
                <a:cs typeface="Courier New" pitchFamily="34" charset="-120"/>
              </a:rPr>
              <a:t>test_contract.py</a:t>
            </a:r>
            <a:endParaRPr lang="en-US" sz="1050" dirty="0"/>
          </a:p>
        </p:txBody>
      </p:sp>
      <p:sp>
        <p:nvSpPr>
          <p:cNvPr id="56" name="Text 54"/>
          <p:cNvSpPr txBox="1"/>
          <p:nvPr/>
        </p:nvSpPr>
        <p:spPr>
          <a:xfrm>
            <a:off x="8220456" y="4937760"/>
            <a:ext cx="3090672" cy="603504"/>
          </a:xfrm>
          <a:prstGeom prst="rect">
            <a:avLst/>
          </a:prstGeom>
          <a:noFill/>
          <a:ln/>
        </p:spPr>
        <p:txBody>
          <a:bodyPr wrap="square" lIns="0" tIns="0" rIns="0" bIns="0" rtlCol="0" anchor="t"/>
          <a:lstStyle/>
          <a:p>
            <a:pPr algn="l" indent="0" marL="0">
              <a:lnSpc>
                <a:spcPct val="114000"/>
              </a:lnSpc>
              <a:buNone/>
            </a:pPr>
            <a:r>
              <a:rPr lang="en-US" sz="1000" dirty="0">
                <a:solidFill>
                  <a:srgbClr val="8CA096"/>
                </a:solidFill>
                <a:latin typeface="Calibri" pitchFamily="34" charset="0"/>
                <a:ea typeface="Calibri" pitchFamily="34" charset="-122"/>
                <a:cs typeface="Calibri" pitchFamily="34" charset="-120"/>
              </a:rPr>
              <a:t>5 tests asserting the committed schema matches what the app generates</a:t>
            </a:r>
            <a:endParaRPr lang="en-US" sz="1000" dirty="0"/>
          </a:p>
        </p:txBody>
      </p:sp>
      <p:sp>
        <p:nvSpPr>
          <p:cNvPr id="57" name="Text 55"/>
          <p:cNvSpPr txBox="1"/>
          <p:nvPr/>
        </p:nvSpPr>
        <p:spPr>
          <a:xfrm>
            <a:off x="8220456" y="5431536"/>
            <a:ext cx="3090672" cy="384048"/>
          </a:xfrm>
          <a:prstGeom prst="rect">
            <a:avLst/>
          </a:prstGeom>
          <a:noFill/>
          <a:ln/>
        </p:spPr>
        <p:txBody>
          <a:bodyPr wrap="square" lIns="0" tIns="0" rIns="0" bIns="0" rtlCol="0" anchor="t"/>
          <a:lstStyle/>
          <a:p>
            <a:pPr algn="l" indent="0" marL="0">
              <a:lnSpc>
                <a:spcPct val="112000"/>
              </a:lnSpc>
              <a:buNone/>
            </a:pPr>
            <a:r>
              <a:rPr lang="en-US" sz="1050" i="1" dirty="0">
                <a:solidFill>
                  <a:srgbClr val="6F9C8A"/>
                </a:solidFill>
                <a:latin typeface="Calibri" pitchFamily="34" charset="0"/>
                <a:ea typeface="Calibri" pitchFamily="34" charset="-122"/>
                <a:cs typeface="Calibri" pitchFamily="34" charset="-120"/>
              </a:rPr>
              <a:t>A backend field rename breaks the frontend build instead of breaking it at runtime, in front of a user.</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A4</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Persistence schema</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backend/app/db/models.py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A4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73152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Five tables. Audio appears in none of them.</a:t>
            </a:r>
            <a:endParaRPr lang="en-US" sz="1500" dirty="0"/>
          </a:p>
        </p:txBody>
      </p:sp>
      <p:sp>
        <p:nvSpPr>
          <p:cNvPr id="11" name="Shape 9"/>
          <p:cNvSpPr/>
          <p:nvPr/>
        </p:nvSpPr>
        <p:spPr>
          <a:xfrm>
            <a:off x="658368" y="1847088"/>
            <a:ext cx="2029968" cy="4023360"/>
          </a:xfrm>
          <a:prstGeom prst="roundRect">
            <a:avLst>
              <a:gd name="adj" fmla="val 720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822960" y="1975104"/>
            <a:ext cx="1700784" cy="237744"/>
          </a:xfrm>
          <a:prstGeom prst="rect">
            <a:avLst/>
          </a:prstGeom>
          <a:noFill/>
          <a:ln/>
        </p:spPr>
        <p:txBody>
          <a:bodyPr wrap="square" lIns="0" tIns="0" rIns="0" bIns="0" rtlCol="0" anchor="ctr"/>
          <a:lstStyle/>
          <a:p>
            <a:pPr algn="l" indent="0" marL="0">
              <a:buNone/>
            </a:pPr>
            <a:r>
              <a:rPr lang="en-US" sz="1100" b="1" dirty="0">
                <a:solidFill>
                  <a:srgbClr val="6F9C8A"/>
                </a:solidFill>
                <a:latin typeface="Courier New" pitchFamily="34" charset="0"/>
                <a:ea typeface="Courier New" pitchFamily="34" charset="-122"/>
                <a:cs typeface="Courier New" pitchFamily="34" charset="-120"/>
              </a:rPr>
              <a:t>users</a:t>
            </a:r>
            <a:endParaRPr lang="en-US" sz="1100" dirty="0"/>
          </a:p>
        </p:txBody>
      </p:sp>
      <p:sp>
        <p:nvSpPr>
          <p:cNvPr id="13" name="Shape 11"/>
          <p:cNvSpPr/>
          <p:nvPr/>
        </p:nvSpPr>
        <p:spPr>
          <a:xfrm>
            <a:off x="822960" y="2267712"/>
            <a:ext cx="1700784" cy="0"/>
          </a:xfrm>
          <a:prstGeom prst="line">
            <a:avLst/>
          </a:prstGeom>
          <a:noFill/>
          <a:ln w="12700">
            <a:solidFill>
              <a:srgbClr val="223029"/>
            </a:solidFill>
            <a:prstDash val="solid"/>
          </a:ln>
        </p:spPr>
      </p:sp>
      <p:sp>
        <p:nvSpPr>
          <p:cNvPr id="14" name="Text 12"/>
          <p:cNvSpPr txBox="1"/>
          <p:nvPr/>
        </p:nvSpPr>
        <p:spPr>
          <a:xfrm>
            <a:off x="822960" y="2359152"/>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id</a:t>
            </a:r>
            <a:endParaRPr lang="en-US" sz="750" dirty="0"/>
          </a:p>
        </p:txBody>
      </p:sp>
      <p:sp>
        <p:nvSpPr>
          <p:cNvPr id="15" name="Text 13"/>
          <p:cNvSpPr txBox="1"/>
          <p:nvPr/>
        </p:nvSpPr>
        <p:spPr>
          <a:xfrm>
            <a:off x="822960" y="2574036"/>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email  unique, lowercased</a:t>
            </a:r>
            <a:endParaRPr lang="en-US" sz="750" dirty="0"/>
          </a:p>
        </p:txBody>
      </p:sp>
      <p:sp>
        <p:nvSpPr>
          <p:cNvPr id="16" name="Text 14"/>
          <p:cNvSpPr txBox="1"/>
          <p:nvPr/>
        </p:nvSpPr>
        <p:spPr>
          <a:xfrm>
            <a:off x="822960" y="2788920"/>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password_hash  argon2id</a:t>
            </a:r>
            <a:endParaRPr lang="en-US" sz="750" dirty="0"/>
          </a:p>
        </p:txBody>
      </p:sp>
      <p:sp>
        <p:nvSpPr>
          <p:cNvPr id="17" name="Text 15"/>
          <p:cNvSpPr txBox="1"/>
          <p:nvPr/>
        </p:nvSpPr>
        <p:spPr>
          <a:xfrm>
            <a:off x="822960" y="3003804"/>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display_name</a:t>
            </a:r>
            <a:endParaRPr lang="en-US" sz="750" dirty="0"/>
          </a:p>
        </p:txBody>
      </p:sp>
      <p:sp>
        <p:nvSpPr>
          <p:cNvPr id="18" name="Text 16"/>
          <p:cNvSpPr txBox="1"/>
          <p:nvPr/>
        </p:nvSpPr>
        <p:spPr>
          <a:xfrm>
            <a:off x="822960" y="3218688"/>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created_at, last_login_at</a:t>
            </a:r>
            <a:endParaRPr lang="en-US" sz="750" dirty="0"/>
          </a:p>
        </p:txBody>
      </p:sp>
      <p:sp>
        <p:nvSpPr>
          <p:cNvPr id="19" name="Text 17"/>
          <p:cNvSpPr txBox="1"/>
          <p:nvPr/>
        </p:nvSpPr>
        <p:spPr>
          <a:xfrm>
            <a:off x="822960" y="3433572"/>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email_verified</a:t>
            </a:r>
            <a:endParaRPr lang="en-US" sz="750" dirty="0"/>
          </a:p>
        </p:txBody>
      </p:sp>
      <p:sp>
        <p:nvSpPr>
          <p:cNvPr id="20" name="Text 18"/>
          <p:cNvSpPr txBox="1"/>
          <p:nvPr/>
        </p:nvSpPr>
        <p:spPr>
          <a:xfrm>
            <a:off x="822960" y="3648456"/>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failed_attempts, locked_until</a:t>
            </a:r>
            <a:endParaRPr lang="en-US" sz="750" dirty="0"/>
          </a:p>
        </p:txBody>
      </p:sp>
      <p:sp>
        <p:nvSpPr>
          <p:cNvPr id="21" name="Text 19"/>
          <p:cNvSpPr txBox="1"/>
          <p:nvPr/>
        </p:nvSpPr>
        <p:spPr>
          <a:xfrm>
            <a:off x="822960" y="3863340"/>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memory_enabled</a:t>
            </a:r>
            <a:endParaRPr lang="en-US" sz="750" dirty="0"/>
          </a:p>
        </p:txBody>
      </p:sp>
      <p:sp>
        <p:nvSpPr>
          <p:cNvPr id="22" name="Text 20"/>
          <p:cNvSpPr txBox="1"/>
          <p:nvPr/>
        </p:nvSpPr>
        <p:spPr>
          <a:xfrm>
            <a:off x="822960" y="4956048"/>
            <a:ext cx="1700784" cy="786384"/>
          </a:xfrm>
          <a:prstGeom prst="rect">
            <a:avLst/>
          </a:prstGeom>
          <a:noFill/>
          <a:ln/>
        </p:spPr>
        <p:txBody>
          <a:bodyPr wrap="square" lIns="0" tIns="0" rIns="0" bIns="0" rtlCol="0" anchor="t"/>
          <a:lstStyle/>
          <a:p>
            <a:pPr algn="l" indent="0" marL="0">
              <a:lnSpc>
                <a:spcPct val="114000"/>
              </a:lnSpc>
              <a:buNone/>
            </a:pPr>
            <a:r>
              <a:rPr lang="en-US" sz="900" i="1" dirty="0">
                <a:solidFill>
                  <a:srgbClr val="5D7268"/>
                </a:solidFill>
                <a:latin typeface="Calibri" pitchFamily="34" charset="0"/>
                <a:ea typeface="Calibri" pitchFamily="34" charset="-122"/>
                <a:cs typeface="Calibri" pitchFamily="34" charset="-120"/>
              </a:rPr>
              <a:t>No role column — there is no admin view and no clinician view.</a:t>
            </a:r>
            <a:endParaRPr lang="en-US" sz="900" dirty="0"/>
          </a:p>
        </p:txBody>
      </p:sp>
      <p:sp>
        <p:nvSpPr>
          <p:cNvPr id="23" name="Shape 21"/>
          <p:cNvSpPr/>
          <p:nvPr/>
        </p:nvSpPr>
        <p:spPr>
          <a:xfrm>
            <a:off x="2834640" y="1847088"/>
            <a:ext cx="2029968" cy="4023360"/>
          </a:xfrm>
          <a:prstGeom prst="roundRect">
            <a:avLst>
              <a:gd name="adj" fmla="val 720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4" name="Text 22"/>
          <p:cNvSpPr txBox="1"/>
          <p:nvPr/>
        </p:nvSpPr>
        <p:spPr>
          <a:xfrm>
            <a:off x="2999232" y="1975104"/>
            <a:ext cx="1700784" cy="237744"/>
          </a:xfrm>
          <a:prstGeom prst="rect">
            <a:avLst/>
          </a:prstGeom>
          <a:noFill/>
          <a:ln/>
        </p:spPr>
        <p:txBody>
          <a:bodyPr wrap="square" lIns="0" tIns="0" rIns="0" bIns="0" rtlCol="0" anchor="ctr"/>
          <a:lstStyle/>
          <a:p>
            <a:pPr algn="l" indent="0" marL="0">
              <a:buNone/>
            </a:pPr>
            <a:r>
              <a:rPr lang="en-US" sz="1100" b="1" dirty="0">
                <a:solidFill>
                  <a:srgbClr val="6F9C8A"/>
                </a:solidFill>
                <a:latin typeface="Courier New" pitchFamily="34" charset="0"/>
                <a:ea typeface="Courier New" pitchFamily="34" charset="-122"/>
                <a:cs typeface="Courier New" pitchFamily="34" charset="-120"/>
              </a:rPr>
              <a:t>refresh_tokens</a:t>
            </a:r>
            <a:endParaRPr lang="en-US" sz="1100" dirty="0"/>
          </a:p>
        </p:txBody>
      </p:sp>
      <p:sp>
        <p:nvSpPr>
          <p:cNvPr id="25" name="Shape 23"/>
          <p:cNvSpPr/>
          <p:nvPr/>
        </p:nvSpPr>
        <p:spPr>
          <a:xfrm>
            <a:off x="2999232" y="2267712"/>
            <a:ext cx="1700784" cy="0"/>
          </a:xfrm>
          <a:prstGeom prst="line">
            <a:avLst/>
          </a:prstGeom>
          <a:noFill/>
          <a:ln w="12700">
            <a:solidFill>
              <a:srgbClr val="223029"/>
            </a:solidFill>
            <a:prstDash val="solid"/>
          </a:ln>
        </p:spPr>
      </p:sp>
      <p:sp>
        <p:nvSpPr>
          <p:cNvPr id="26" name="Text 24"/>
          <p:cNvSpPr txBox="1"/>
          <p:nvPr/>
        </p:nvSpPr>
        <p:spPr>
          <a:xfrm>
            <a:off x="2999232" y="2359152"/>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id</a:t>
            </a:r>
            <a:endParaRPr lang="en-US" sz="750" dirty="0"/>
          </a:p>
        </p:txBody>
      </p:sp>
      <p:sp>
        <p:nvSpPr>
          <p:cNvPr id="27" name="Text 25"/>
          <p:cNvSpPr txBox="1"/>
          <p:nvPr/>
        </p:nvSpPr>
        <p:spPr>
          <a:xfrm>
            <a:off x="2999232" y="2574036"/>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user_id → users</a:t>
            </a:r>
            <a:endParaRPr lang="en-US" sz="750" dirty="0"/>
          </a:p>
        </p:txBody>
      </p:sp>
      <p:sp>
        <p:nvSpPr>
          <p:cNvPr id="28" name="Text 26"/>
          <p:cNvSpPr txBox="1"/>
          <p:nvPr/>
        </p:nvSpPr>
        <p:spPr>
          <a:xfrm>
            <a:off x="2999232" y="2788920"/>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token_hash  sha256, unique</a:t>
            </a:r>
            <a:endParaRPr lang="en-US" sz="750" dirty="0"/>
          </a:p>
        </p:txBody>
      </p:sp>
      <p:sp>
        <p:nvSpPr>
          <p:cNvPr id="29" name="Text 27"/>
          <p:cNvSpPr txBox="1"/>
          <p:nvPr/>
        </p:nvSpPr>
        <p:spPr>
          <a:xfrm>
            <a:off x="2999232" y="3003804"/>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family_id</a:t>
            </a:r>
            <a:endParaRPr lang="en-US" sz="750" dirty="0"/>
          </a:p>
        </p:txBody>
      </p:sp>
      <p:sp>
        <p:nvSpPr>
          <p:cNvPr id="30" name="Text 28"/>
          <p:cNvSpPr txBox="1"/>
          <p:nvPr/>
        </p:nvSpPr>
        <p:spPr>
          <a:xfrm>
            <a:off x="2999232" y="3218688"/>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issued_at, expires_at</a:t>
            </a:r>
            <a:endParaRPr lang="en-US" sz="750" dirty="0"/>
          </a:p>
        </p:txBody>
      </p:sp>
      <p:sp>
        <p:nvSpPr>
          <p:cNvPr id="31" name="Text 29"/>
          <p:cNvSpPr txBox="1"/>
          <p:nvPr/>
        </p:nvSpPr>
        <p:spPr>
          <a:xfrm>
            <a:off x="2999232" y="3433572"/>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used_at, revoked_at</a:t>
            </a:r>
            <a:endParaRPr lang="en-US" sz="750" dirty="0"/>
          </a:p>
        </p:txBody>
      </p:sp>
      <p:sp>
        <p:nvSpPr>
          <p:cNvPr id="32" name="Text 30"/>
          <p:cNvSpPr txBox="1"/>
          <p:nvPr/>
        </p:nvSpPr>
        <p:spPr>
          <a:xfrm>
            <a:off x="2999232" y="3648456"/>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user_agent</a:t>
            </a:r>
            <a:endParaRPr lang="en-US" sz="750" dirty="0"/>
          </a:p>
        </p:txBody>
      </p:sp>
      <p:sp>
        <p:nvSpPr>
          <p:cNvPr id="33" name="Text 31"/>
          <p:cNvSpPr txBox="1"/>
          <p:nvPr/>
        </p:nvSpPr>
        <p:spPr>
          <a:xfrm>
            <a:off x="2999232" y="4956048"/>
            <a:ext cx="1700784" cy="786384"/>
          </a:xfrm>
          <a:prstGeom prst="rect">
            <a:avLst/>
          </a:prstGeom>
          <a:noFill/>
          <a:ln/>
        </p:spPr>
        <p:txBody>
          <a:bodyPr wrap="square" lIns="0" tIns="0" rIns="0" bIns="0" rtlCol="0" anchor="t"/>
          <a:lstStyle/>
          <a:p>
            <a:pPr algn="l" indent="0" marL="0">
              <a:lnSpc>
                <a:spcPct val="114000"/>
              </a:lnSpc>
              <a:buNone/>
            </a:pPr>
            <a:r>
              <a:rPr lang="en-US" sz="900" i="1" dirty="0">
                <a:solidFill>
                  <a:srgbClr val="5D7268"/>
                </a:solidFill>
                <a:latin typeface="Calibri" pitchFamily="34" charset="0"/>
                <a:ea typeface="Calibri" pitchFamily="34" charset="-122"/>
                <a:cs typeface="Calibri" pitchFamily="34" charset="-120"/>
              </a:rPr>
              <a:t>family_id is what makes reuse detection possible.</a:t>
            </a:r>
            <a:endParaRPr lang="en-US" sz="900" dirty="0"/>
          </a:p>
        </p:txBody>
      </p:sp>
      <p:sp>
        <p:nvSpPr>
          <p:cNvPr id="34" name="Shape 32"/>
          <p:cNvSpPr/>
          <p:nvPr/>
        </p:nvSpPr>
        <p:spPr>
          <a:xfrm>
            <a:off x="5010912" y="1847088"/>
            <a:ext cx="2029968" cy="4023360"/>
          </a:xfrm>
          <a:prstGeom prst="roundRect">
            <a:avLst>
              <a:gd name="adj" fmla="val 720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5" name="Text 33"/>
          <p:cNvSpPr txBox="1"/>
          <p:nvPr/>
        </p:nvSpPr>
        <p:spPr>
          <a:xfrm>
            <a:off x="5175504" y="1975104"/>
            <a:ext cx="1700784" cy="237744"/>
          </a:xfrm>
          <a:prstGeom prst="rect">
            <a:avLst/>
          </a:prstGeom>
          <a:noFill/>
          <a:ln/>
        </p:spPr>
        <p:txBody>
          <a:bodyPr wrap="square" lIns="0" tIns="0" rIns="0" bIns="0" rtlCol="0" anchor="ctr"/>
          <a:lstStyle/>
          <a:p>
            <a:pPr algn="l" indent="0" marL="0">
              <a:buNone/>
            </a:pPr>
            <a:r>
              <a:rPr lang="en-US" sz="1100" b="1" dirty="0">
                <a:solidFill>
                  <a:srgbClr val="6F9C8A"/>
                </a:solidFill>
                <a:latin typeface="Courier New" pitchFamily="34" charset="0"/>
                <a:ea typeface="Courier New" pitchFamily="34" charset="-122"/>
                <a:cs typeface="Courier New" pitchFamily="34" charset="-120"/>
              </a:rPr>
              <a:t>ws_tickets</a:t>
            </a:r>
            <a:endParaRPr lang="en-US" sz="1100" dirty="0"/>
          </a:p>
        </p:txBody>
      </p:sp>
      <p:sp>
        <p:nvSpPr>
          <p:cNvPr id="36" name="Shape 34"/>
          <p:cNvSpPr/>
          <p:nvPr/>
        </p:nvSpPr>
        <p:spPr>
          <a:xfrm>
            <a:off x="5175504" y="2267712"/>
            <a:ext cx="1700784" cy="0"/>
          </a:xfrm>
          <a:prstGeom prst="line">
            <a:avLst/>
          </a:prstGeom>
          <a:noFill/>
          <a:ln w="12700">
            <a:solidFill>
              <a:srgbClr val="223029"/>
            </a:solidFill>
            <a:prstDash val="solid"/>
          </a:ln>
        </p:spPr>
      </p:sp>
      <p:sp>
        <p:nvSpPr>
          <p:cNvPr id="37" name="Text 35"/>
          <p:cNvSpPr txBox="1"/>
          <p:nvPr/>
        </p:nvSpPr>
        <p:spPr>
          <a:xfrm>
            <a:off x="5175504" y="2359152"/>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id</a:t>
            </a:r>
            <a:endParaRPr lang="en-US" sz="750" dirty="0"/>
          </a:p>
        </p:txBody>
      </p:sp>
      <p:sp>
        <p:nvSpPr>
          <p:cNvPr id="38" name="Text 36"/>
          <p:cNvSpPr txBox="1"/>
          <p:nvPr/>
        </p:nvSpPr>
        <p:spPr>
          <a:xfrm>
            <a:off x="5175504" y="2574036"/>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user_id → users</a:t>
            </a:r>
            <a:endParaRPr lang="en-US" sz="750" dirty="0"/>
          </a:p>
        </p:txBody>
      </p:sp>
      <p:sp>
        <p:nvSpPr>
          <p:cNvPr id="39" name="Text 37"/>
          <p:cNvSpPr txBox="1"/>
          <p:nvPr/>
        </p:nvSpPr>
        <p:spPr>
          <a:xfrm>
            <a:off x="5175504" y="2788920"/>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token_hash  sha256, unique</a:t>
            </a:r>
            <a:endParaRPr lang="en-US" sz="750" dirty="0"/>
          </a:p>
        </p:txBody>
      </p:sp>
      <p:sp>
        <p:nvSpPr>
          <p:cNvPr id="40" name="Text 38"/>
          <p:cNvSpPr txBox="1"/>
          <p:nvPr/>
        </p:nvSpPr>
        <p:spPr>
          <a:xfrm>
            <a:off x="5175504" y="3003804"/>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expires_at</a:t>
            </a:r>
            <a:endParaRPr lang="en-US" sz="750" dirty="0"/>
          </a:p>
        </p:txBody>
      </p:sp>
      <p:sp>
        <p:nvSpPr>
          <p:cNvPr id="41" name="Text 39"/>
          <p:cNvSpPr txBox="1"/>
          <p:nvPr/>
        </p:nvSpPr>
        <p:spPr>
          <a:xfrm>
            <a:off x="5175504" y="3218688"/>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used_at</a:t>
            </a:r>
            <a:endParaRPr lang="en-US" sz="750" dirty="0"/>
          </a:p>
        </p:txBody>
      </p:sp>
      <p:sp>
        <p:nvSpPr>
          <p:cNvPr id="42" name="Text 40"/>
          <p:cNvSpPr txBox="1"/>
          <p:nvPr/>
        </p:nvSpPr>
        <p:spPr>
          <a:xfrm>
            <a:off x="5175504" y="4956048"/>
            <a:ext cx="1700784" cy="786384"/>
          </a:xfrm>
          <a:prstGeom prst="rect">
            <a:avLst/>
          </a:prstGeom>
          <a:noFill/>
          <a:ln/>
        </p:spPr>
        <p:txBody>
          <a:bodyPr wrap="square" lIns="0" tIns="0" rIns="0" bIns="0" rtlCol="0" anchor="t"/>
          <a:lstStyle/>
          <a:p>
            <a:pPr algn="l" indent="0" marL="0">
              <a:lnSpc>
                <a:spcPct val="114000"/>
              </a:lnSpc>
              <a:buNone/>
            </a:pPr>
            <a:r>
              <a:rPr lang="en-US" sz="900" i="1" dirty="0">
                <a:solidFill>
                  <a:srgbClr val="5D7268"/>
                </a:solidFill>
                <a:latin typeface="Calibri" pitchFamily="34" charset="0"/>
                <a:ea typeface="Calibri" pitchFamily="34" charset="-122"/>
                <a:cs typeface="Calibri" pitchFamily="34" charset="-120"/>
              </a:rPr>
              <a:t>30-second life, burned on use.</a:t>
            </a:r>
            <a:endParaRPr lang="en-US" sz="900" dirty="0"/>
          </a:p>
        </p:txBody>
      </p:sp>
      <p:sp>
        <p:nvSpPr>
          <p:cNvPr id="43" name="Shape 41"/>
          <p:cNvSpPr/>
          <p:nvPr/>
        </p:nvSpPr>
        <p:spPr>
          <a:xfrm>
            <a:off x="7187184" y="1847088"/>
            <a:ext cx="2029968" cy="4023360"/>
          </a:xfrm>
          <a:prstGeom prst="roundRect">
            <a:avLst>
              <a:gd name="adj" fmla="val 720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44" name="Text 42"/>
          <p:cNvSpPr txBox="1"/>
          <p:nvPr/>
        </p:nvSpPr>
        <p:spPr>
          <a:xfrm>
            <a:off x="7351776" y="1975104"/>
            <a:ext cx="1700784" cy="237744"/>
          </a:xfrm>
          <a:prstGeom prst="rect">
            <a:avLst/>
          </a:prstGeom>
          <a:noFill/>
          <a:ln/>
        </p:spPr>
        <p:txBody>
          <a:bodyPr wrap="square" lIns="0" tIns="0" rIns="0" bIns="0" rtlCol="0" anchor="ctr"/>
          <a:lstStyle/>
          <a:p>
            <a:pPr algn="l" indent="0" marL="0">
              <a:buNone/>
            </a:pPr>
            <a:r>
              <a:rPr lang="en-US" sz="1100" b="1" dirty="0">
                <a:solidFill>
                  <a:srgbClr val="6F9C8A"/>
                </a:solidFill>
                <a:latin typeface="Courier New" pitchFamily="34" charset="0"/>
                <a:ea typeface="Courier New" pitchFamily="34" charset="-122"/>
                <a:cs typeface="Courier New" pitchFamily="34" charset="-120"/>
              </a:rPr>
              <a:t>sessions</a:t>
            </a:r>
            <a:endParaRPr lang="en-US" sz="1100" dirty="0"/>
          </a:p>
        </p:txBody>
      </p:sp>
      <p:sp>
        <p:nvSpPr>
          <p:cNvPr id="45" name="Shape 43"/>
          <p:cNvSpPr/>
          <p:nvPr/>
        </p:nvSpPr>
        <p:spPr>
          <a:xfrm>
            <a:off x="7351776" y="2267712"/>
            <a:ext cx="1700784" cy="0"/>
          </a:xfrm>
          <a:prstGeom prst="line">
            <a:avLst/>
          </a:prstGeom>
          <a:noFill/>
          <a:ln w="12700">
            <a:solidFill>
              <a:srgbClr val="223029"/>
            </a:solidFill>
            <a:prstDash val="solid"/>
          </a:ln>
        </p:spPr>
      </p:sp>
      <p:sp>
        <p:nvSpPr>
          <p:cNvPr id="46" name="Text 44"/>
          <p:cNvSpPr txBox="1"/>
          <p:nvPr/>
        </p:nvSpPr>
        <p:spPr>
          <a:xfrm>
            <a:off x="7351776" y="2359152"/>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id</a:t>
            </a:r>
            <a:endParaRPr lang="en-US" sz="750" dirty="0"/>
          </a:p>
        </p:txBody>
      </p:sp>
      <p:sp>
        <p:nvSpPr>
          <p:cNvPr id="47" name="Text 45"/>
          <p:cNvSpPr txBox="1"/>
          <p:nvPr/>
        </p:nvSpPr>
        <p:spPr>
          <a:xfrm>
            <a:off x="7351776" y="2574036"/>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user_id → users</a:t>
            </a:r>
            <a:endParaRPr lang="en-US" sz="750" dirty="0"/>
          </a:p>
        </p:txBody>
      </p:sp>
      <p:sp>
        <p:nvSpPr>
          <p:cNvPr id="48" name="Text 46"/>
          <p:cNvSpPr txBox="1"/>
          <p:nvPr/>
        </p:nvSpPr>
        <p:spPr>
          <a:xfrm>
            <a:off x="7351776" y="2788920"/>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started_at, ended_at</a:t>
            </a:r>
            <a:endParaRPr lang="en-US" sz="750" dirty="0"/>
          </a:p>
        </p:txBody>
      </p:sp>
      <p:sp>
        <p:nvSpPr>
          <p:cNvPr id="49" name="Text 47"/>
          <p:cNvSpPr txBox="1"/>
          <p:nvPr/>
        </p:nvSpPr>
        <p:spPr>
          <a:xfrm>
            <a:off x="7351776" y="3003804"/>
            <a:ext cx="1755648"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title  derived from the first message</a:t>
            </a:r>
            <a:endParaRPr lang="en-US" sz="750" dirty="0"/>
          </a:p>
        </p:txBody>
      </p:sp>
      <p:sp>
        <p:nvSpPr>
          <p:cNvPr id="50" name="Text 48"/>
          <p:cNvSpPr txBox="1"/>
          <p:nvPr/>
        </p:nvSpPr>
        <p:spPr>
          <a:xfrm>
            <a:off x="7351776" y="4956048"/>
            <a:ext cx="1700784" cy="786384"/>
          </a:xfrm>
          <a:prstGeom prst="rect">
            <a:avLst/>
          </a:prstGeom>
          <a:noFill/>
          <a:ln/>
        </p:spPr>
        <p:txBody>
          <a:bodyPr wrap="square" lIns="0" tIns="0" rIns="0" bIns="0" rtlCol="0" anchor="t"/>
          <a:lstStyle/>
          <a:p>
            <a:pPr algn="l" indent="0" marL="0">
              <a:lnSpc>
                <a:spcPct val="114000"/>
              </a:lnSpc>
              <a:buNone/>
            </a:pPr>
            <a:r>
              <a:rPr lang="en-US" sz="900" i="1" dirty="0">
                <a:solidFill>
                  <a:srgbClr val="5D7268"/>
                </a:solidFill>
                <a:latin typeface="Calibri" pitchFamily="34" charset="0"/>
                <a:ea typeface="Calibri" pitchFamily="34" charset="-122"/>
                <a:cs typeface="Calibri" pitchFamily="34" charset="-120"/>
              </a:rPr>
              <a:t>Owner-scoped. Someone else's id returns 404.</a:t>
            </a:r>
            <a:endParaRPr lang="en-US" sz="900" dirty="0"/>
          </a:p>
        </p:txBody>
      </p:sp>
      <p:sp>
        <p:nvSpPr>
          <p:cNvPr id="51" name="Shape 49"/>
          <p:cNvSpPr/>
          <p:nvPr/>
        </p:nvSpPr>
        <p:spPr>
          <a:xfrm>
            <a:off x="9363456" y="1847088"/>
            <a:ext cx="2615184" cy="4023360"/>
          </a:xfrm>
          <a:prstGeom prst="roundRect">
            <a:avLst>
              <a:gd name="adj" fmla="val 5594"/>
            </a:avLst>
          </a:prstGeom>
          <a:solidFill>
            <a:srgbClr val="141D19">
              <a:alpha val="7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52" name="Text 50"/>
          <p:cNvSpPr txBox="1"/>
          <p:nvPr/>
        </p:nvSpPr>
        <p:spPr>
          <a:xfrm>
            <a:off x="9528048" y="1975104"/>
            <a:ext cx="2286000" cy="237744"/>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turns</a:t>
            </a:r>
            <a:endParaRPr lang="en-US" sz="1100" dirty="0"/>
          </a:p>
        </p:txBody>
      </p:sp>
      <p:sp>
        <p:nvSpPr>
          <p:cNvPr id="53" name="Shape 51"/>
          <p:cNvSpPr/>
          <p:nvPr/>
        </p:nvSpPr>
        <p:spPr>
          <a:xfrm>
            <a:off x="9528048" y="2267712"/>
            <a:ext cx="2286000" cy="0"/>
          </a:xfrm>
          <a:prstGeom prst="line">
            <a:avLst/>
          </a:prstGeom>
          <a:noFill/>
          <a:ln w="12700">
            <a:solidFill>
              <a:srgbClr val="223029"/>
            </a:solidFill>
            <a:prstDash val="solid"/>
          </a:ln>
        </p:spPr>
      </p:sp>
      <p:sp>
        <p:nvSpPr>
          <p:cNvPr id="54" name="Text 52"/>
          <p:cNvSpPr txBox="1"/>
          <p:nvPr/>
        </p:nvSpPr>
        <p:spPr>
          <a:xfrm>
            <a:off x="9528048" y="2359152"/>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id  autoincrement</a:t>
            </a:r>
            <a:endParaRPr lang="en-US" sz="750" dirty="0"/>
          </a:p>
        </p:txBody>
      </p:sp>
      <p:sp>
        <p:nvSpPr>
          <p:cNvPr id="55" name="Text 53"/>
          <p:cNvSpPr txBox="1"/>
          <p:nvPr/>
        </p:nvSpPr>
        <p:spPr>
          <a:xfrm>
            <a:off x="9528048" y="2574036"/>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session_id → sessions</a:t>
            </a:r>
            <a:endParaRPr lang="en-US" sz="750" dirty="0"/>
          </a:p>
        </p:txBody>
      </p:sp>
      <p:sp>
        <p:nvSpPr>
          <p:cNvPr id="56" name="Text 54"/>
          <p:cNvSpPr txBox="1"/>
          <p:nvPr/>
        </p:nvSpPr>
        <p:spPr>
          <a:xfrm>
            <a:off x="9528048" y="2788920"/>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created_at</a:t>
            </a:r>
            <a:endParaRPr lang="en-US" sz="750" dirty="0"/>
          </a:p>
        </p:txBody>
      </p:sp>
      <p:sp>
        <p:nvSpPr>
          <p:cNvPr id="57" name="Text 55"/>
          <p:cNvSpPr txBox="1"/>
          <p:nvPr/>
        </p:nvSpPr>
        <p:spPr>
          <a:xfrm>
            <a:off x="9528048" y="3003804"/>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role  user | coach</a:t>
            </a:r>
            <a:endParaRPr lang="en-US" sz="750" dirty="0"/>
          </a:p>
        </p:txBody>
      </p:sp>
      <p:sp>
        <p:nvSpPr>
          <p:cNvPr id="58" name="Text 56"/>
          <p:cNvSpPr txBox="1"/>
          <p:nvPr/>
        </p:nvSpPr>
        <p:spPr>
          <a:xfrm>
            <a:off x="9528048" y="3218688"/>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mode  live | knowledge | text</a:t>
            </a:r>
            <a:endParaRPr lang="en-US" sz="750" dirty="0"/>
          </a:p>
        </p:txBody>
      </p:sp>
      <p:sp>
        <p:nvSpPr>
          <p:cNvPr id="59" name="Text 57"/>
          <p:cNvSpPr txBox="1"/>
          <p:nvPr/>
        </p:nvSpPr>
        <p:spPr>
          <a:xfrm>
            <a:off x="9528048" y="3433572"/>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text</a:t>
            </a:r>
            <a:endParaRPr lang="en-US" sz="750" dirty="0"/>
          </a:p>
        </p:txBody>
      </p:sp>
      <p:sp>
        <p:nvSpPr>
          <p:cNvPr id="60" name="Text 58"/>
          <p:cNvSpPr txBox="1"/>
          <p:nvPr/>
        </p:nvSpPr>
        <p:spPr>
          <a:xfrm>
            <a:off x="9528048" y="3648456"/>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acoustic  JSON — the AcousticProfile</a:t>
            </a:r>
            <a:endParaRPr lang="en-US" sz="750" dirty="0"/>
          </a:p>
        </p:txBody>
      </p:sp>
      <p:sp>
        <p:nvSpPr>
          <p:cNvPr id="61" name="Text 59"/>
          <p:cNvSpPr txBox="1"/>
          <p:nvPr/>
        </p:nvSpPr>
        <p:spPr>
          <a:xfrm>
            <a:off x="9528048" y="3863340"/>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citations  JSON</a:t>
            </a:r>
            <a:endParaRPr lang="en-US" sz="750" dirty="0"/>
          </a:p>
        </p:txBody>
      </p:sp>
      <p:sp>
        <p:nvSpPr>
          <p:cNvPr id="62" name="Text 60"/>
          <p:cNvSpPr txBox="1"/>
          <p:nvPr/>
        </p:nvSpPr>
        <p:spPr>
          <a:xfrm>
            <a:off x="9528048" y="4078224"/>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timings  JSON — per stage</a:t>
            </a:r>
            <a:endParaRPr lang="en-US" sz="750" dirty="0"/>
          </a:p>
        </p:txBody>
      </p:sp>
      <p:sp>
        <p:nvSpPr>
          <p:cNvPr id="63" name="Text 61"/>
          <p:cNvSpPr txBox="1"/>
          <p:nvPr/>
        </p:nvSpPr>
        <p:spPr>
          <a:xfrm>
            <a:off x="9528048" y="4293108"/>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total_ms</a:t>
            </a:r>
            <a:endParaRPr lang="en-US" sz="750" dirty="0"/>
          </a:p>
        </p:txBody>
      </p:sp>
      <p:sp>
        <p:nvSpPr>
          <p:cNvPr id="64" name="Text 62"/>
          <p:cNvSpPr txBox="1"/>
          <p:nvPr/>
        </p:nvSpPr>
        <p:spPr>
          <a:xfrm>
            <a:off x="9528048" y="4507992"/>
            <a:ext cx="2340864" cy="201168"/>
          </a:xfrm>
          <a:prstGeom prst="rect">
            <a:avLst/>
          </a:prstGeom>
          <a:noFill/>
          <a:ln/>
        </p:spPr>
        <p:txBody>
          <a:bodyPr wrap="square" lIns="0" tIns="0" rIns="0" bIns="0" rtlCol="0" anchor="ctr"/>
          <a:lstStyle/>
          <a:p>
            <a:pPr algn="l" indent="0" marL="0">
              <a:buNone/>
            </a:pPr>
            <a:r>
              <a:rPr lang="en-US" sz="750" dirty="0">
                <a:solidFill>
                  <a:srgbClr val="8CA096"/>
                </a:solidFill>
                <a:latin typeface="Courier New" pitchFamily="34" charset="0"/>
                <a:ea typeface="Courier New" pitchFamily="34" charset="-122"/>
                <a:cs typeface="Courier New" pitchFamily="34" charset="-120"/>
              </a:rPr>
              <a:t>llm_variant</a:t>
            </a:r>
            <a:endParaRPr lang="en-US" sz="750" dirty="0"/>
          </a:p>
        </p:txBody>
      </p:sp>
      <p:sp>
        <p:nvSpPr>
          <p:cNvPr id="65" name="Text 63"/>
          <p:cNvSpPr txBox="1"/>
          <p:nvPr/>
        </p:nvSpPr>
        <p:spPr>
          <a:xfrm>
            <a:off x="9528048" y="4956048"/>
            <a:ext cx="2286000" cy="786384"/>
          </a:xfrm>
          <a:prstGeom prst="rect">
            <a:avLst/>
          </a:prstGeom>
          <a:noFill/>
          <a:ln/>
        </p:spPr>
        <p:txBody>
          <a:bodyPr wrap="square" lIns="0" tIns="0" rIns="0" bIns="0" rtlCol="0" anchor="t"/>
          <a:lstStyle/>
          <a:p>
            <a:pPr algn="l" indent="0" marL="0">
              <a:lnSpc>
                <a:spcPct val="114000"/>
              </a:lnSpc>
              <a:buNone/>
            </a:pPr>
            <a:r>
              <a:rPr lang="en-US" sz="900" i="1" dirty="0">
                <a:solidFill>
                  <a:srgbClr val="5D7268"/>
                </a:solidFill>
                <a:latin typeface="Calibri" pitchFamily="34" charset="0"/>
                <a:ea typeface="Calibri" pitchFamily="34" charset="-122"/>
                <a:cs typeface="Calibri" pitchFamily="34" charset="-120"/>
              </a:rPr>
              <a:t>Timings are persisted, not only logged, so percentiles come from real sessions.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A5</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Refresh rotation and reuse detection</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backend/app/services/auth.py  ·  backend/tests/test_auth.py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A5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73152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The normal path, then the theft path. Both are covered by tests.</a:t>
            </a:r>
            <a:endParaRPr lang="en-US" sz="1500" dirty="0"/>
          </a:p>
        </p:txBody>
      </p:sp>
      <p:sp>
        <p:nvSpPr>
          <p:cNvPr id="11" name="Shape 9"/>
          <p:cNvSpPr/>
          <p:nvPr/>
        </p:nvSpPr>
        <p:spPr>
          <a:xfrm>
            <a:off x="658368" y="1847088"/>
            <a:ext cx="2048256" cy="1920240"/>
          </a:xfrm>
          <a:prstGeom prst="roundRect">
            <a:avLst>
              <a:gd name="adj" fmla="val 7619"/>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841248" y="1975104"/>
            <a:ext cx="365760" cy="201168"/>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1</a:t>
            </a:r>
            <a:endParaRPr lang="en-US" sz="1000" dirty="0"/>
          </a:p>
        </p:txBody>
      </p:sp>
      <p:sp>
        <p:nvSpPr>
          <p:cNvPr id="13" name="Text 11"/>
          <p:cNvSpPr txBox="1"/>
          <p:nvPr/>
        </p:nvSpPr>
        <p:spPr>
          <a:xfrm>
            <a:off x="841248" y="2212848"/>
            <a:ext cx="1737360"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Sign in</a:t>
            </a:r>
            <a:endParaRPr lang="en-US" sz="1300" dirty="0"/>
          </a:p>
        </p:txBody>
      </p:sp>
      <p:sp>
        <p:nvSpPr>
          <p:cNvPr id="14" name="Text 12"/>
          <p:cNvSpPr txBox="1"/>
          <p:nvPr/>
        </p:nvSpPr>
        <p:spPr>
          <a:xfrm>
            <a:off x="841248" y="2487168"/>
            <a:ext cx="1737360" cy="1133856"/>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argon2id verify. On an unknown email the same verify runs against a dummy hash, so timing matches.</a:t>
            </a:r>
            <a:endParaRPr lang="en-US" sz="950" dirty="0"/>
          </a:p>
        </p:txBody>
      </p:sp>
      <p:sp>
        <p:nvSpPr>
          <p:cNvPr id="15" name="Shape 13"/>
          <p:cNvSpPr/>
          <p:nvPr/>
        </p:nvSpPr>
        <p:spPr>
          <a:xfrm>
            <a:off x="2724912" y="2798064"/>
            <a:ext cx="146304" cy="0"/>
          </a:xfrm>
          <a:prstGeom prst="line">
            <a:avLst/>
          </a:prstGeom>
          <a:noFill/>
          <a:ln w="15875">
            <a:solidFill>
              <a:srgbClr val="33463D"/>
            </a:solidFill>
            <a:prstDash val="solid"/>
            <a:tailEnd type="triangle"/>
          </a:ln>
        </p:spPr>
      </p:sp>
      <p:sp>
        <p:nvSpPr>
          <p:cNvPr id="16" name="Shape 14"/>
          <p:cNvSpPr/>
          <p:nvPr/>
        </p:nvSpPr>
        <p:spPr>
          <a:xfrm>
            <a:off x="2889504" y="1847088"/>
            <a:ext cx="2048256" cy="1920240"/>
          </a:xfrm>
          <a:prstGeom prst="roundRect">
            <a:avLst>
              <a:gd name="adj" fmla="val 7619"/>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7" name="Text 15"/>
          <p:cNvSpPr txBox="1"/>
          <p:nvPr/>
        </p:nvSpPr>
        <p:spPr>
          <a:xfrm>
            <a:off x="3072384" y="1975104"/>
            <a:ext cx="365760" cy="201168"/>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2</a:t>
            </a:r>
            <a:endParaRPr lang="en-US" sz="1000" dirty="0"/>
          </a:p>
        </p:txBody>
      </p:sp>
      <p:sp>
        <p:nvSpPr>
          <p:cNvPr id="18" name="Text 16"/>
          <p:cNvSpPr txBox="1"/>
          <p:nvPr/>
        </p:nvSpPr>
        <p:spPr>
          <a:xfrm>
            <a:off x="3072384" y="2212848"/>
            <a:ext cx="1737360"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Issue</a:t>
            </a:r>
            <a:endParaRPr lang="en-US" sz="1300" dirty="0"/>
          </a:p>
        </p:txBody>
      </p:sp>
      <p:sp>
        <p:nvSpPr>
          <p:cNvPr id="19" name="Text 17"/>
          <p:cNvSpPr txBox="1"/>
          <p:nvPr/>
        </p:nvSpPr>
        <p:spPr>
          <a:xfrm>
            <a:off x="3072384" y="2487168"/>
            <a:ext cx="1737360" cy="1133856"/>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A 10-minute JWT held in memory, plus 32 random bytes as a refresh token — stored as sha256 with a new family_id.</a:t>
            </a:r>
            <a:endParaRPr lang="en-US" sz="950" dirty="0"/>
          </a:p>
        </p:txBody>
      </p:sp>
      <p:sp>
        <p:nvSpPr>
          <p:cNvPr id="20" name="Shape 18"/>
          <p:cNvSpPr/>
          <p:nvPr/>
        </p:nvSpPr>
        <p:spPr>
          <a:xfrm>
            <a:off x="4956048" y="2798064"/>
            <a:ext cx="146304" cy="0"/>
          </a:xfrm>
          <a:prstGeom prst="line">
            <a:avLst/>
          </a:prstGeom>
          <a:noFill/>
          <a:ln w="15875">
            <a:solidFill>
              <a:srgbClr val="33463D"/>
            </a:solidFill>
            <a:prstDash val="solid"/>
            <a:tailEnd type="triangle"/>
          </a:ln>
        </p:spPr>
      </p:sp>
      <p:sp>
        <p:nvSpPr>
          <p:cNvPr id="21" name="Shape 19"/>
          <p:cNvSpPr/>
          <p:nvPr/>
        </p:nvSpPr>
        <p:spPr>
          <a:xfrm>
            <a:off x="5120640" y="1847088"/>
            <a:ext cx="2048256" cy="1920240"/>
          </a:xfrm>
          <a:prstGeom prst="roundRect">
            <a:avLst>
              <a:gd name="adj" fmla="val 7619"/>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2" name="Text 20"/>
          <p:cNvSpPr txBox="1"/>
          <p:nvPr/>
        </p:nvSpPr>
        <p:spPr>
          <a:xfrm>
            <a:off x="5303520" y="1975104"/>
            <a:ext cx="365760" cy="201168"/>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3</a:t>
            </a:r>
            <a:endParaRPr lang="en-US" sz="1000" dirty="0"/>
          </a:p>
        </p:txBody>
      </p:sp>
      <p:sp>
        <p:nvSpPr>
          <p:cNvPr id="23" name="Text 21"/>
          <p:cNvSpPr txBox="1"/>
          <p:nvPr/>
        </p:nvSpPr>
        <p:spPr>
          <a:xfrm>
            <a:off x="5303520" y="2212848"/>
            <a:ext cx="1737360"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Refresh</a:t>
            </a:r>
            <a:endParaRPr lang="en-US" sz="1300" dirty="0"/>
          </a:p>
        </p:txBody>
      </p:sp>
      <p:sp>
        <p:nvSpPr>
          <p:cNvPr id="24" name="Text 22"/>
          <p:cNvSpPr txBox="1"/>
          <p:nvPr/>
        </p:nvSpPr>
        <p:spPr>
          <a:xfrm>
            <a:off x="5303520" y="2487168"/>
            <a:ext cx="1737360" cy="1133856"/>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The presented token is looked up, marked used_at, and a fresh token is issued in the same family.</a:t>
            </a:r>
            <a:endParaRPr lang="en-US" sz="950" dirty="0"/>
          </a:p>
        </p:txBody>
      </p:sp>
      <p:sp>
        <p:nvSpPr>
          <p:cNvPr id="25" name="Shape 23"/>
          <p:cNvSpPr/>
          <p:nvPr/>
        </p:nvSpPr>
        <p:spPr>
          <a:xfrm>
            <a:off x="7187184" y="2798064"/>
            <a:ext cx="146304" cy="0"/>
          </a:xfrm>
          <a:prstGeom prst="line">
            <a:avLst/>
          </a:prstGeom>
          <a:noFill/>
          <a:ln w="15875">
            <a:solidFill>
              <a:srgbClr val="33463D"/>
            </a:solidFill>
            <a:prstDash val="solid"/>
            <a:tailEnd type="triangle"/>
          </a:ln>
        </p:spPr>
      </p:sp>
      <p:sp>
        <p:nvSpPr>
          <p:cNvPr id="26" name="Shape 24"/>
          <p:cNvSpPr/>
          <p:nvPr/>
        </p:nvSpPr>
        <p:spPr>
          <a:xfrm>
            <a:off x="7351776" y="1847088"/>
            <a:ext cx="2048256" cy="1920240"/>
          </a:xfrm>
          <a:prstGeom prst="roundRect">
            <a:avLst>
              <a:gd name="adj" fmla="val 7619"/>
            </a:avLst>
          </a:prstGeom>
          <a:solidFill>
            <a:srgbClr val="141D19">
              <a:alpha val="78000"/>
            </a:srgbClr>
          </a:solidFill>
          <a:ln w="12700">
            <a:solidFill>
              <a:srgbClr val="E8705C"/>
            </a:solidFill>
            <a:prstDash val="solid"/>
          </a:ln>
          <a:effectLst>
            <a:outerShdw sx="100000" sy="100000" kx="0" ky="0" algn="bl" rotWithShape="0" blurRad="152400" dist="25400" dir="5400000">
              <a:srgbClr val="000000">
                <a:alpha val="16000"/>
              </a:srgbClr>
            </a:outerShdw>
          </a:effectLst>
        </p:spPr>
      </p:sp>
      <p:sp>
        <p:nvSpPr>
          <p:cNvPr id="27" name="Text 25"/>
          <p:cNvSpPr txBox="1"/>
          <p:nvPr/>
        </p:nvSpPr>
        <p:spPr>
          <a:xfrm>
            <a:off x="7534656" y="1975104"/>
            <a:ext cx="365760" cy="201168"/>
          </a:xfrm>
          <a:prstGeom prst="rect">
            <a:avLst/>
          </a:prstGeom>
          <a:noFill/>
          <a:ln/>
        </p:spPr>
        <p:txBody>
          <a:bodyPr wrap="square" lIns="0" tIns="0" rIns="0" bIns="0" rtlCol="0" anchor="ctr"/>
          <a:lstStyle/>
          <a:p>
            <a:pPr algn="l" indent="0" marL="0">
              <a:buNone/>
            </a:pPr>
            <a:r>
              <a:rPr lang="en-US" sz="1000" b="1" dirty="0">
                <a:solidFill>
                  <a:srgbClr val="E8705C"/>
                </a:solidFill>
                <a:latin typeface="Courier New" pitchFamily="34" charset="0"/>
                <a:ea typeface="Courier New" pitchFamily="34" charset="-122"/>
                <a:cs typeface="Courier New" pitchFamily="34" charset="-120"/>
              </a:rPr>
              <a:t>4</a:t>
            </a:r>
            <a:endParaRPr lang="en-US" sz="1000" dirty="0"/>
          </a:p>
        </p:txBody>
      </p:sp>
      <p:sp>
        <p:nvSpPr>
          <p:cNvPr id="28" name="Text 26"/>
          <p:cNvSpPr txBox="1"/>
          <p:nvPr/>
        </p:nvSpPr>
        <p:spPr>
          <a:xfrm>
            <a:off x="7534656" y="2212848"/>
            <a:ext cx="1737360"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Reuse</a:t>
            </a:r>
            <a:endParaRPr lang="en-US" sz="1300" dirty="0"/>
          </a:p>
        </p:txBody>
      </p:sp>
      <p:sp>
        <p:nvSpPr>
          <p:cNvPr id="29" name="Text 27"/>
          <p:cNvSpPr txBox="1"/>
          <p:nvPr/>
        </p:nvSpPr>
        <p:spPr>
          <a:xfrm>
            <a:off x="7534656" y="2487168"/>
            <a:ext cx="1737360" cy="1133856"/>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A token that already has used_at set is presented. That is the signature of theft.</a:t>
            </a:r>
            <a:endParaRPr lang="en-US" sz="950" dirty="0"/>
          </a:p>
        </p:txBody>
      </p:sp>
      <p:sp>
        <p:nvSpPr>
          <p:cNvPr id="30" name="Shape 28"/>
          <p:cNvSpPr/>
          <p:nvPr/>
        </p:nvSpPr>
        <p:spPr>
          <a:xfrm>
            <a:off x="9418320" y="2798064"/>
            <a:ext cx="146304" cy="0"/>
          </a:xfrm>
          <a:prstGeom prst="line">
            <a:avLst/>
          </a:prstGeom>
          <a:noFill/>
          <a:ln w="15875">
            <a:solidFill>
              <a:srgbClr val="33463D"/>
            </a:solidFill>
            <a:prstDash val="solid"/>
            <a:tailEnd type="triangle"/>
          </a:ln>
        </p:spPr>
      </p:sp>
      <p:sp>
        <p:nvSpPr>
          <p:cNvPr id="31" name="Shape 29"/>
          <p:cNvSpPr/>
          <p:nvPr/>
        </p:nvSpPr>
        <p:spPr>
          <a:xfrm>
            <a:off x="9582912" y="1847088"/>
            <a:ext cx="2048256" cy="1920240"/>
          </a:xfrm>
          <a:prstGeom prst="roundRect">
            <a:avLst>
              <a:gd name="adj" fmla="val 7619"/>
            </a:avLst>
          </a:prstGeom>
          <a:solidFill>
            <a:srgbClr val="141D19">
              <a:alpha val="78000"/>
            </a:srgbClr>
          </a:solidFill>
          <a:ln w="12700">
            <a:solidFill>
              <a:srgbClr val="E8705C"/>
            </a:solidFill>
            <a:prstDash val="solid"/>
          </a:ln>
          <a:effectLst>
            <a:outerShdw sx="100000" sy="100000" kx="0" ky="0" algn="bl" rotWithShape="0" blurRad="152400" dist="25400" dir="5400000">
              <a:srgbClr val="000000">
                <a:alpha val="16000"/>
              </a:srgbClr>
            </a:outerShdw>
          </a:effectLst>
        </p:spPr>
      </p:sp>
      <p:sp>
        <p:nvSpPr>
          <p:cNvPr id="32" name="Text 30"/>
          <p:cNvSpPr txBox="1"/>
          <p:nvPr/>
        </p:nvSpPr>
        <p:spPr>
          <a:xfrm>
            <a:off x="9765792" y="1975104"/>
            <a:ext cx="365760" cy="201168"/>
          </a:xfrm>
          <a:prstGeom prst="rect">
            <a:avLst/>
          </a:prstGeom>
          <a:noFill/>
          <a:ln/>
        </p:spPr>
        <p:txBody>
          <a:bodyPr wrap="square" lIns="0" tIns="0" rIns="0" bIns="0" rtlCol="0" anchor="ctr"/>
          <a:lstStyle/>
          <a:p>
            <a:pPr algn="l" indent="0" marL="0">
              <a:buNone/>
            </a:pPr>
            <a:r>
              <a:rPr lang="en-US" sz="1000" b="1" dirty="0">
                <a:solidFill>
                  <a:srgbClr val="E8705C"/>
                </a:solidFill>
                <a:latin typeface="Courier New" pitchFamily="34" charset="0"/>
                <a:ea typeface="Courier New" pitchFamily="34" charset="-122"/>
                <a:cs typeface="Courier New" pitchFamily="34" charset="-120"/>
              </a:rPr>
              <a:t>5</a:t>
            </a:r>
            <a:endParaRPr lang="en-US" sz="1000" dirty="0"/>
          </a:p>
        </p:txBody>
      </p:sp>
      <p:sp>
        <p:nvSpPr>
          <p:cNvPr id="33" name="Text 31"/>
          <p:cNvSpPr txBox="1"/>
          <p:nvPr/>
        </p:nvSpPr>
        <p:spPr>
          <a:xfrm>
            <a:off x="9765792" y="2212848"/>
            <a:ext cx="1737360" cy="237744"/>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Revoke</a:t>
            </a:r>
            <a:endParaRPr lang="en-US" sz="1300" dirty="0"/>
          </a:p>
        </p:txBody>
      </p:sp>
      <p:sp>
        <p:nvSpPr>
          <p:cNvPr id="34" name="Text 32"/>
          <p:cNvSpPr txBox="1"/>
          <p:nvPr/>
        </p:nvSpPr>
        <p:spPr>
          <a:xfrm>
            <a:off x="9765792" y="2487168"/>
            <a:ext cx="1737360" cy="1133856"/>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The entire family is revoked, not just that leaf. Both the thief and the victim are logged out, and the victim notices.</a:t>
            </a:r>
            <a:endParaRPr lang="en-US" sz="950" dirty="0"/>
          </a:p>
        </p:txBody>
      </p:sp>
      <p:sp>
        <p:nvSpPr>
          <p:cNvPr id="35" name="Shape 33"/>
          <p:cNvSpPr/>
          <p:nvPr/>
        </p:nvSpPr>
        <p:spPr>
          <a:xfrm>
            <a:off x="658368" y="3968496"/>
            <a:ext cx="10874959" cy="1883664"/>
          </a:xfrm>
          <a:prstGeom prst="roundRect">
            <a:avLst>
              <a:gd name="adj" fmla="val 776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6" name="Text 34"/>
          <p:cNvSpPr txBox="1"/>
          <p:nvPr/>
        </p:nvSpPr>
        <p:spPr>
          <a:xfrm>
            <a:off x="932688" y="4114800"/>
            <a:ext cx="54864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WHY NOT JUST A LONG-LIVED JWT</a:t>
            </a:r>
            <a:endParaRPr lang="en-US" sz="950" dirty="0"/>
          </a:p>
        </p:txBody>
      </p:sp>
      <p:sp>
        <p:nvSpPr>
          <p:cNvPr id="37" name="Text 35"/>
          <p:cNvSpPr txBox="1"/>
          <p:nvPr/>
        </p:nvSpPr>
        <p:spPr>
          <a:xfrm>
            <a:off x="932688" y="4389120"/>
            <a:ext cx="5120640" cy="877824"/>
          </a:xfrm>
          <a:prstGeom prst="rect">
            <a:avLst/>
          </a:prstGeom>
          <a:noFill/>
          <a:ln/>
        </p:spPr>
        <p:txBody>
          <a:bodyPr wrap="square" lIns="0" tIns="0" rIns="0" bIns="0" rtlCol="0" anchor="t"/>
          <a:lstStyle/>
          <a:p>
            <a:pPr algn="l" indent="0" marL="0">
              <a:lnSpc>
                <a:spcPct val="118000"/>
              </a:lnSpc>
              <a:buNone/>
            </a:pPr>
            <a:r>
              <a:rPr lang="en-US" sz="1150" dirty="0">
                <a:solidFill>
                  <a:srgbClr val="DCE5E4"/>
                </a:solidFill>
                <a:latin typeface="Calibri" pitchFamily="34" charset="0"/>
                <a:ea typeface="Calibri" pitchFamily="34" charset="-122"/>
                <a:cs typeface="Calibri" pitchFamily="34" charset="-120"/>
              </a:rPr>
              <a:t>Because a JWT cannot be un-issued. For speech transcripts that is a real weakness, so the design compensates: all revocation power lives on the refresh side, which the server actually controls, and the access token is short enough that a stolen one is worthless within minutes.</a:t>
            </a:r>
            <a:endParaRPr lang="en-US" sz="1150" dirty="0"/>
          </a:p>
        </p:txBody>
      </p:sp>
      <p:sp>
        <p:nvSpPr>
          <p:cNvPr id="38" name="Text 36"/>
          <p:cNvSpPr txBox="1"/>
          <p:nvPr/>
        </p:nvSpPr>
        <p:spPr>
          <a:xfrm>
            <a:off x="6309360" y="4114800"/>
            <a:ext cx="50292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THE REST OF THE SURFACE</a:t>
            </a:r>
            <a:endParaRPr lang="en-US" sz="950" dirty="0"/>
          </a:p>
        </p:txBody>
      </p:sp>
      <p:sp>
        <p:nvSpPr>
          <p:cNvPr id="39" name="Text 37"/>
          <p:cNvSpPr txBox="1"/>
          <p:nvPr/>
        </p:nvSpPr>
        <p:spPr>
          <a:xfrm>
            <a:off x="6309360" y="4389120"/>
            <a:ext cx="4974336" cy="292608"/>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Rate limits: login 5 / 15 min, register 3 / hour, refresh 30 / hour</a:t>
            </a:r>
            <a:endParaRPr lang="en-US" sz="1000" dirty="0"/>
          </a:p>
        </p:txBody>
      </p:sp>
      <p:sp>
        <p:nvSpPr>
          <p:cNvPr id="40" name="Text 38"/>
          <p:cNvSpPr txBox="1"/>
          <p:nvPr/>
        </p:nvSpPr>
        <p:spPr>
          <a:xfrm>
            <a:off x="6309360" y="4718304"/>
            <a:ext cx="4974336" cy="292608"/>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Lockout after 5 consecutive failures, backoff capped at 15 minutes</a:t>
            </a:r>
            <a:endParaRPr lang="en-US" sz="1000" dirty="0"/>
          </a:p>
        </p:txBody>
      </p:sp>
      <p:sp>
        <p:nvSpPr>
          <p:cNvPr id="41" name="Text 39"/>
          <p:cNvSpPr txBox="1"/>
          <p:nvPr/>
        </p:nvSpPr>
        <p:spPr>
          <a:xfrm>
            <a:off x="6309360" y="5047488"/>
            <a:ext cx="4974336" cy="292608"/>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Password policy: minimum 12 characters, no composition rules (NIST 800-63B), plus a bundled common-password list</a:t>
            </a:r>
            <a:endParaRPr lang="en-US" sz="1000" dirty="0"/>
          </a:p>
        </p:txBody>
      </p:sp>
      <p:sp>
        <p:nvSpPr>
          <p:cNvPr id="42" name="Text 40"/>
          <p:cNvSpPr txBox="1"/>
          <p:nvPr/>
        </p:nvSpPr>
        <p:spPr>
          <a:xfrm>
            <a:off x="6309360" y="5376672"/>
            <a:ext cx="4974336" cy="292608"/>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Refusal to boot without SCC_JWT_SECRET ≥ 32 bytes outside debug</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A6</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WebSocket protocol</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docs/PROTOCOL.md  ·  frontend/src/lib/protocol.ts</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A6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96012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Both sockets authenticate the same way, both mix JSON control frames with binary audio, and both are defined in exactly one file shared by client and server.</a:t>
            </a:r>
            <a:endParaRPr lang="en-US" sz="1500" dirty="0"/>
          </a:p>
        </p:txBody>
      </p:sp>
      <p:sp>
        <p:nvSpPr>
          <p:cNvPr id="11" name="Shape 9"/>
          <p:cNvSpPr/>
          <p:nvPr/>
        </p:nvSpPr>
        <p:spPr>
          <a:xfrm>
            <a:off x="658368" y="1883664"/>
            <a:ext cx="5321808" cy="3986784"/>
          </a:xfrm>
          <a:prstGeom prst="roundRect">
            <a:avLst>
              <a:gd name="adj" fmla="val 3670"/>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14400" y="2029968"/>
            <a:ext cx="45720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A KNOWLEDGE TURN, END TO END</a:t>
            </a:r>
            <a:endParaRPr lang="en-US" sz="950" dirty="0"/>
          </a:p>
        </p:txBody>
      </p:sp>
      <p:sp>
        <p:nvSpPr>
          <p:cNvPr id="13" name="Text 11"/>
          <p:cNvSpPr txBox="1"/>
          <p:nvPr/>
        </p:nvSpPr>
        <p:spPr>
          <a:xfrm>
            <a:off x="914400" y="2359152"/>
            <a:ext cx="4846320" cy="219456"/>
          </a:xfrm>
          <a:prstGeom prst="rect">
            <a:avLst/>
          </a:prstGeom>
          <a:noFill/>
          <a:ln/>
        </p:spPr>
        <p:txBody>
          <a:bodyPr wrap="square" lIns="0" tIns="0" rIns="0" bIns="0" rtlCol="0" anchor="ctr"/>
          <a:lstStyle/>
          <a:p>
            <a:pPr algn="l" indent="0" marL="0">
              <a:buNone/>
            </a:pPr>
            <a:r>
              <a:rPr lang="en-US" sz="850" dirty="0">
                <a:solidFill>
                  <a:srgbClr val="8CA096"/>
                </a:solidFill>
                <a:latin typeface="Courier New" pitchFamily="34" charset="0"/>
                <a:ea typeface="Courier New" pitchFamily="34" charset="-122"/>
                <a:cs typeface="Courier New" pitchFamily="34" charset="-120"/>
              </a:rPr>
              <a:t>POST /api/auth/ws-ticket  →  { ticket, expires_in: 30 }</a:t>
            </a:r>
            <a:endParaRPr lang="en-US" sz="850" dirty="0"/>
          </a:p>
        </p:txBody>
      </p:sp>
      <p:sp>
        <p:nvSpPr>
          <p:cNvPr id="14" name="Text 12"/>
          <p:cNvSpPr txBox="1"/>
          <p:nvPr/>
        </p:nvSpPr>
        <p:spPr>
          <a:xfrm>
            <a:off x="914400" y="2606040"/>
            <a:ext cx="4846320" cy="219456"/>
          </a:xfrm>
          <a:prstGeom prst="rect">
            <a:avLst/>
          </a:prstGeom>
          <a:noFill/>
          <a:ln/>
        </p:spPr>
        <p:txBody>
          <a:bodyPr wrap="square" lIns="0" tIns="0" rIns="0" bIns="0" rtlCol="0" anchor="ctr"/>
          <a:lstStyle/>
          <a:p>
            <a:pPr algn="l" indent="0" marL="0">
              <a:buNone/>
            </a:pPr>
            <a:r>
              <a:rPr lang="en-US" sz="850" dirty="0">
                <a:solidFill>
                  <a:srgbClr val="8CA096"/>
                </a:solidFill>
                <a:latin typeface="Courier New" pitchFamily="34" charset="0"/>
                <a:ea typeface="Courier New" pitchFamily="34" charset="-122"/>
                <a:cs typeface="Courier New" pitchFamily="34" charset="-120"/>
              </a:rPr>
              <a:t>open  ?ticket=…&amp;session_id=…</a:t>
            </a:r>
            <a:endParaRPr lang="en-US" sz="850" dirty="0"/>
          </a:p>
        </p:txBody>
      </p:sp>
      <p:sp>
        <p:nvSpPr>
          <p:cNvPr id="15" name="Text 13"/>
          <p:cNvSpPr txBox="1"/>
          <p:nvPr/>
        </p:nvSpPr>
        <p:spPr>
          <a:xfrm>
            <a:off x="914400" y="2852928"/>
            <a:ext cx="4846320" cy="219456"/>
          </a:xfrm>
          <a:prstGeom prst="rect">
            <a:avLst/>
          </a:prstGeom>
          <a:noFill/>
          <a:ln/>
        </p:spPr>
        <p:txBody>
          <a:bodyPr wrap="square" lIns="0" tIns="0" rIns="0" bIns="0" rtlCol="0" anchor="ctr"/>
          <a:lstStyle/>
          <a:p>
            <a:pPr algn="l" indent="0" marL="0">
              <a:buNone/>
            </a:pPr>
            <a:r>
              <a:rPr lang="en-US" sz="850" dirty="0">
                <a:solidFill>
                  <a:srgbClr val="8CA096"/>
                </a:solidFill>
                <a:latin typeface="Courier New" pitchFamily="34" charset="0"/>
                <a:ea typeface="Courier New" pitchFamily="34" charset="-122"/>
                <a:cs typeface="Courier New" pitchFamily="34" charset="-120"/>
              </a:rPr>
              <a:t>server resolves the ticket and burns it</a:t>
            </a:r>
            <a:endParaRPr lang="en-US" sz="850" dirty="0"/>
          </a:p>
        </p:txBody>
      </p:sp>
      <p:sp>
        <p:nvSpPr>
          <p:cNvPr id="16" name="Text 14"/>
          <p:cNvSpPr txBox="1"/>
          <p:nvPr/>
        </p:nvSpPr>
        <p:spPr>
          <a:xfrm>
            <a:off x="914400" y="3099816"/>
            <a:ext cx="4846320" cy="219456"/>
          </a:xfrm>
          <a:prstGeom prst="rect">
            <a:avLst/>
          </a:prstGeom>
          <a:noFill/>
          <a:ln/>
        </p:spPr>
        <p:txBody>
          <a:bodyPr wrap="square" lIns="0" tIns="0" rIns="0" bIns="0" rtlCol="0" anchor="ctr"/>
          <a:lstStyle/>
          <a:p>
            <a:pPr algn="l" indent="0" marL="0">
              <a:buNone/>
            </a:pPr>
            <a:r>
              <a:rPr lang="en-US" sz="850" dirty="0">
                <a:solidFill>
                  <a:srgbClr val="8CA096"/>
                </a:solidFill>
                <a:latin typeface="Courier New" pitchFamily="34" charset="0"/>
                <a:ea typeface="Courier New" pitchFamily="34" charset="-122"/>
                <a:cs typeface="Courier New" pitchFamily="34" charset="-120"/>
              </a:rPr>
              <a:t>invalid → close 4401, before any audio is read</a:t>
            </a:r>
            <a:endParaRPr lang="en-US" sz="850" dirty="0"/>
          </a:p>
        </p:txBody>
      </p:sp>
      <p:sp>
        <p:nvSpPr>
          <p:cNvPr id="17" name="Text 15"/>
          <p:cNvSpPr txBox="1"/>
          <p:nvPr/>
        </p:nvSpPr>
        <p:spPr>
          <a:xfrm>
            <a:off x="914400" y="3346704"/>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ready { session_id, sample rates }</a:t>
            </a:r>
            <a:endParaRPr lang="en-US" sz="850" dirty="0"/>
          </a:p>
        </p:txBody>
      </p:sp>
      <p:sp>
        <p:nvSpPr>
          <p:cNvPr id="18" name="Text 16"/>
          <p:cNvSpPr txBox="1"/>
          <p:nvPr/>
        </p:nvSpPr>
        <p:spPr>
          <a:xfrm>
            <a:off x="914400" y="3593592"/>
            <a:ext cx="4846320" cy="219456"/>
          </a:xfrm>
          <a:prstGeom prst="rect">
            <a:avLst/>
          </a:prstGeom>
          <a:noFill/>
          <a:ln/>
        </p:spPr>
        <p:txBody>
          <a:bodyPr wrap="square" lIns="0" tIns="0" rIns="0" bIns="0" rtlCol="0" anchor="ctr"/>
          <a:lstStyle/>
          <a:p>
            <a:pPr algn="l" indent="0" marL="0">
              <a:buNone/>
            </a:pPr>
            <a:r>
              <a:rPr lang="en-US" sz="850" dirty="0">
                <a:solidFill>
                  <a:srgbClr val="F9BF29"/>
                </a:solidFill>
                <a:latin typeface="Courier New" pitchFamily="34" charset="0"/>
                <a:ea typeface="Courier New" pitchFamily="34" charset="-122"/>
                <a:cs typeface="Courier New" pitchFamily="34" charset="-120"/>
              </a:rPr>
              <a:t>→ binary PCM, 16 kHz mono, while speaking</a:t>
            </a:r>
            <a:endParaRPr lang="en-US" sz="850" dirty="0"/>
          </a:p>
        </p:txBody>
      </p:sp>
      <p:sp>
        <p:nvSpPr>
          <p:cNvPr id="19" name="Text 17"/>
          <p:cNvSpPr txBox="1"/>
          <p:nvPr/>
        </p:nvSpPr>
        <p:spPr>
          <a:xfrm>
            <a:off x="914400" y="3840480"/>
            <a:ext cx="4846320" cy="219456"/>
          </a:xfrm>
          <a:prstGeom prst="rect">
            <a:avLst/>
          </a:prstGeom>
          <a:noFill/>
          <a:ln/>
        </p:spPr>
        <p:txBody>
          <a:bodyPr wrap="square" lIns="0" tIns="0" rIns="0" bIns="0" rtlCol="0" anchor="ctr"/>
          <a:lstStyle/>
          <a:p>
            <a:pPr algn="l" indent="0" marL="0">
              <a:buNone/>
            </a:pPr>
            <a:r>
              <a:rPr lang="en-US" sz="850" dirty="0">
                <a:solidFill>
                  <a:srgbClr val="8CA096"/>
                </a:solidFill>
                <a:latin typeface="Courier New" pitchFamily="34" charset="0"/>
                <a:ea typeface="Courier New" pitchFamily="34" charset="-122"/>
                <a:cs typeface="Courier New" pitchFamily="34" charset="-120"/>
              </a:rPr>
              <a:t>energy endpointer detects the utterance ended</a:t>
            </a:r>
            <a:endParaRPr lang="en-US" sz="850" dirty="0"/>
          </a:p>
        </p:txBody>
      </p:sp>
      <p:sp>
        <p:nvSpPr>
          <p:cNvPr id="20" name="Text 18"/>
          <p:cNvSpPr txBox="1"/>
          <p:nvPr/>
        </p:nvSpPr>
        <p:spPr>
          <a:xfrm>
            <a:off x="914400" y="4087368"/>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transcript { role: user, final: true }</a:t>
            </a:r>
            <a:endParaRPr lang="en-US" sz="850" dirty="0"/>
          </a:p>
        </p:txBody>
      </p:sp>
      <p:sp>
        <p:nvSpPr>
          <p:cNvPr id="21" name="Text 19"/>
          <p:cNvSpPr txBox="1"/>
          <p:nvPr/>
        </p:nvSpPr>
        <p:spPr>
          <a:xfrm>
            <a:off x="914400" y="4334256"/>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acoustic { events, prosody }</a:t>
            </a:r>
            <a:endParaRPr lang="en-US" sz="850" dirty="0"/>
          </a:p>
        </p:txBody>
      </p:sp>
      <p:sp>
        <p:nvSpPr>
          <p:cNvPr id="22" name="Text 20"/>
          <p:cNvSpPr txBox="1"/>
          <p:nvPr/>
        </p:nvSpPr>
        <p:spPr>
          <a:xfrm>
            <a:off x="914400" y="4581144"/>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citations { grounded, citations[] }   (if retrieved)</a:t>
            </a:r>
            <a:endParaRPr lang="en-US" sz="850" dirty="0"/>
          </a:p>
        </p:txBody>
      </p:sp>
      <p:sp>
        <p:nvSpPr>
          <p:cNvPr id="23" name="Text 21"/>
          <p:cNvSpPr txBox="1"/>
          <p:nvPr/>
        </p:nvSpPr>
        <p:spPr>
          <a:xfrm>
            <a:off x="914400" y="4828032"/>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audio_meta { sample_rate, speech_rate }</a:t>
            </a:r>
            <a:endParaRPr lang="en-US" sz="850" dirty="0"/>
          </a:p>
        </p:txBody>
      </p:sp>
      <p:sp>
        <p:nvSpPr>
          <p:cNvPr id="24" name="Text 22"/>
          <p:cNvSpPr txBox="1"/>
          <p:nvPr/>
        </p:nvSpPr>
        <p:spPr>
          <a:xfrm>
            <a:off x="914400" y="5074920"/>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transcript { role: coach, final: false }  ×n</a:t>
            </a:r>
            <a:endParaRPr lang="en-US" sz="850" dirty="0"/>
          </a:p>
        </p:txBody>
      </p:sp>
      <p:sp>
        <p:nvSpPr>
          <p:cNvPr id="25" name="Text 23"/>
          <p:cNvSpPr txBox="1"/>
          <p:nvPr/>
        </p:nvSpPr>
        <p:spPr>
          <a:xfrm>
            <a:off x="914400" y="5321808"/>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binary PCM, 24 kHz, spoken at speech_rate</a:t>
            </a:r>
            <a:endParaRPr lang="en-US" sz="850" dirty="0"/>
          </a:p>
        </p:txBody>
      </p:sp>
      <p:sp>
        <p:nvSpPr>
          <p:cNvPr id="26" name="Text 24"/>
          <p:cNvSpPr txBox="1"/>
          <p:nvPr/>
        </p:nvSpPr>
        <p:spPr>
          <a:xfrm>
            <a:off x="914400" y="5568696"/>
            <a:ext cx="4846320" cy="219456"/>
          </a:xfrm>
          <a:prstGeom prst="rect">
            <a:avLst/>
          </a:prstGeom>
          <a:noFill/>
          <a:ln/>
        </p:spPr>
        <p:txBody>
          <a:bodyPr wrap="square" lIns="0" tIns="0" rIns="0" bIns="0" rtlCol="0" anchor="ctr"/>
          <a:lstStyle/>
          <a:p>
            <a:pPr algn="l" indent="0" marL="0">
              <a:buNone/>
            </a:pPr>
            <a:r>
              <a:rPr lang="en-US" sz="850" dirty="0">
                <a:solidFill>
                  <a:srgbClr val="6F9C8A"/>
                </a:solidFill>
                <a:latin typeface="Courier New" pitchFamily="34" charset="0"/>
                <a:ea typeface="Courier New" pitchFamily="34" charset="-122"/>
                <a:cs typeface="Courier New" pitchFamily="34" charset="-120"/>
              </a:rPr>
              <a:t>← done { turn_id, timings[], total_ms }</a:t>
            </a:r>
            <a:endParaRPr lang="en-US" sz="850" dirty="0"/>
          </a:p>
        </p:txBody>
      </p:sp>
      <p:sp>
        <p:nvSpPr>
          <p:cNvPr id="27" name="Shape 25"/>
          <p:cNvSpPr/>
          <p:nvPr/>
        </p:nvSpPr>
        <p:spPr>
          <a:xfrm>
            <a:off x="6208776" y="1883664"/>
            <a:ext cx="5321808" cy="1920240"/>
          </a:xfrm>
          <a:prstGeom prst="roundRect">
            <a:avLst>
              <a:gd name="adj" fmla="val 7619"/>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28" name="Text 26"/>
          <p:cNvSpPr txBox="1"/>
          <p:nvPr/>
        </p:nvSpPr>
        <p:spPr>
          <a:xfrm>
            <a:off x="6464808" y="2029968"/>
            <a:ext cx="475488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WHY A TICKET AND NOT A TOKEN</a:t>
            </a:r>
            <a:endParaRPr lang="en-US" sz="950" dirty="0"/>
          </a:p>
        </p:txBody>
      </p:sp>
      <p:sp>
        <p:nvSpPr>
          <p:cNvPr id="29" name="Text 27"/>
          <p:cNvSpPr txBox="1"/>
          <p:nvPr/>
        </p:nvSpPr>
        <p:spPr>
          <a:xfrm>
            <a:off x="6464808" y="2322576"/>
            <a:ext cx="4809744" cy="621792"/>
          </a:xfrm>
          <a:prstGeom prst="rect">
            <a:avLst/>
          </a:prstGeom>
          <a:noFill/>
          <a:ln/>
        </p:spPr>
        <p:txBody>
          <a:bodyPr wrap="square" lIns="0" tIns="0" rIns="0" bIns="0" rtlCol="0" anchor="t"/>
          <a:lstStyle/>
          <a:p>
            <a:pPr algn="l" indent="0" marL="0">
              <a:lnSpc>
                <a:spcPct val="116000"/>
              </a:lnSpc>
              <a:buNone/>
            </a:pPr>
            <a:r>
              <a:rPr lang="en-US" sz="1150" dirty="0">
                <a:solidFill>
                  <a:srgbClr val="DCE5E4"/>
                </a:solidFill>
                <a:latin typeface="Calibri" pitchFamily="34" charset="0"/>
                <a:ea typeface="Calibri" pitchFamily="34" charset="-122"/>
                <a:cs typeface="Calibri" pitchFamily="34" charset="-120"/>
              </a:rPr>
              <a:t>A browser WebSocket cannot send an Authorization header. A JWT in the query string is written into every access log, proxy log and browser history entry.</a:t>
            </a:r>
            <a:endParaRPr lang="en-US" sz="1150" dirty="0"/>
          </a:p>
        </p:txBody>
      </p:sp>
      <p:sp>
        <p:nvSpPr>
          <p:cNvPr id="30" name="Text 28"/>
          <p:cNvSpPr txBox="1"/>
          <p:nvPr/>
        </p:nvSpPr>
        <p:spPr>
          <a:xfrm>
            <a:off x="6464808" y="2962656"/>
            <a:ext cx="4809744" cy="768096"/>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So the socket carries an opaque ticket instead: single-use, 30 seconds, worthless to anyone who finds it later, and resolved and burned before a single audio frame is read. Missing, unknown, expired and already-used all close 4401 without distinguishing which — the client has no legitimate use for knowing.</a:t>
            </a:r>
            <a:endParaRPr lang="en-US" sz="1050" dirty="0"/>
          </a:p>
        </p:txBody>
      </p:sp>
      <p:sp>
        <p:nvSpPr>
          <p:cNvPr id="31" name="Shape 29"/>
          <p:cNvSpPr/>
          <p:nvPr/>
        </p:nvSpPr>
        <p:spPr>
          <a:xfrm>
            <a:off x="6208776" y="3950208"/>
            <a:ext cx="5321808" cy="1920240"/>
          </a:xfrm>
          <a:prstGeom prst="roundRect">
            <a:avLst>
              <a:gd name="adj" fmla="val 7619"/>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2" name="Text 30"/>
          <p:cNvSpPr txBox="1"/>
          <p:nvPr/>
        </p:nvSpPr>
        <p:spPr>
          <a:xfrm>
            <a:off x="6464808" y="4096512"/>
            <a:ext cx="475488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SPEECH_RATE IS NOT COSMETIC</a:t>
            </a:r>
            <a:endParaRPr lang="en-US" sz="950" dirty="0"/>
          </a:p>
        </p:txBody>
      </p:sp>
      <p:sp>
        <p:nvSpPr>
          <p:cNvPr id="33" name="Text 31"/>
          <p:cNvSpPr txBox="1"/>
          <p:nvPr/>
        </p:nvSpPr>
        <p:spPr>
          <a:xfrm>
            <a:off x="6464808" y="4389120"/>
            <a:ext cx="4809744" cy="603504"/>
          </a:xfrm>
          <a:prstGeom prst="rect">
            <a:avLst/>
          </a:prstGeom>
          <a:noFill/>
          <a:ln/>
        </p:spPr>
        <p:txBody>
          <a:bodyPr wrap="square" lIns="0" tIns="0" rIns="0" bIns="0" rtlCol="0" anchor="t"/>
          <a:lstStyle/>
          <a:p>
            <a:pPr algn="l" indent="0" marL="0">
              <a:lnSpc>
                <a:spcPct val="116000"/>
              </a:lnSpc>
              <a:buNone/>
            </a:pPr>
            <a:r>
              <a:rPr lang="en-US" sz="1150" dirty="0">
                <a:solidFill>
                  <a:srgbClr val="DCE5E4"/>
                </a:solidFill>
                <a:latin typeface="Calibri" pitchFamily="34" charset="0"/>
                <a:ea typeface="Calibri" pitchFamily="34" charset="-122"/>
                <a:cs typeface="Calibri" pitchFamily="34" charset="-120"/>
              </a:rPr>
              <a:t>The speech_rate field on audio_meta is set from the speaker's own acoustic profile. A long block slows the coach's delivery toward 0.75×.</a:t>
            </a:r>
            <a:endParaRPr lang="en-US" sz="1150" dirty="0"/>
          </a:p>
        </p:txBody>
      </p:sp>
      <p:sp>
        <p:nvSpPr>
          <p:cNvPr id="34" name="Text 32"/>
          <p:cNvSpPr txBox="1"/>
          <p:nvPr/>
        </p:nvSpPr>
        <p:spPr>
          <a:xfrm>
            <a:off x="6464808" y="5029200"/>
            <a:ext cx="4809744" cy="640080"/>
          </a:xfrm>
          <a:prstGeom prst="rect">
            <a:avLst/>
          </a:prstGeom>
          <a:noFill/>
          <a:ln/>
        </p:spPr>
        <p:txBody>
          <a:bodyPr wrap="square" lIns="0" tIns="0" rIns="0" bIns="0" rtlCol="0" anchor="t"/>
          <a:lstStyle/>
          <a:p>
            <a:pPr algn="l" indent="0" marL="0">
              <a:lnSpc>
                <a:spcPct val="114000"/>
              </a:lnSpc>
              <a:buNone/>
            </a:pPr>
            <a:r>
              <a:rPr lang="en-US" sz="1050" i="1" dirty="0">
                <a:solidFill>
                  <a:srgbClr val="8CA096"/>
                </a:solidFill>
                <a:latin typeface="Calibri" pitchFamily="34" charset="0"/>
                <a:ea typeface="Calibri" pitchFamily="34" charset="-122"/>
                <a:cs typeface="Calibri" pitchFamily="34" charset="-120"/>
              </a:rPr>
              <a:t>That is the acoustic branch reaching the output over the wire. It is the one place in the protocol where the project's central idea is visible as a field name.</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A7</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Retrieval mathematics</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backend/app/services/retrieval.py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A7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Shape 8"/>
          <p:cNvSpPr/>
          <p:nvPr/>
        </p:nvSpPr>
        <p:spPr>
          <a:xfrm>
            <a:off x="658368" y="1389888"/>
            <a:ext cx="5321808" cy="2103120"/>
          </a:xfrm>
          <a:prstGeom prst="roundRect">
            <a:avLst>
              <a:gd name="adj" fmla="val 6957"/>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1" name="Text 9"/>
          <p:cNvSpPr txBox="1"/>
          <p:nvPr/>
        </p:nvSpPr>
        <p:spPr>
          <a:xfrm>
            <a:off x="914400" y="1536192"/>
            <a:ext cx="36576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SIMILARITY</a:t>
            </a:r>
            <a:endParaRPr lang="en-US" sz="950" dirty="0"/>
          </a:p>
        </p:txBody>
      </p:sp>
      <p:sp>
        <p:nvSpPr>
          <p:cNvPr id="12" name="Text 10"/>
          <p:cNvSpPr txBox="1"/>
          <p:nvPr/>
        </p:nvSpPr>
        <p:spPr>
          <a:xfrm>
            <a:off x="914400" y="1847088"/>
            <a:ext cx="4809744" cy="310896"/>
          </a:xfrm>
          <a:prstGeom prst="rect">
            <a:avLst/>
          </a:prstGeom>
          <a:noFill/>
          <a:ln/>
        </p:spPr>
        <p:txBody>
          <a:bodyPr wrap="square" lIns="0" tIns="0" rIns="0" bIns="0" rtlCol="0" anchor="ctr"/>
          <a:lstStyle/>
          <a:p>
            <a:pPr algn="l" indent="0" marL="0">
              <a:buNone/>
            </a:pPr>
            <a:r>
              <a:rPr lang="en-US" sz="1400" dirty="0">
                <a:solidFill>
                  <a:srgbClr val="EFF2F1"/>
                </a:solidFill>
                <a:latin typeface="Courier New" pitchFamily="34" charset="0"/>
                <a:ea typeface="Courier New" pitchFamily="34" charset="-122"/>
                <a:cs typeface="Courier New" pitchFamily="34" charset="-120"/>
              </a:rPr>
              <a:t>sim(q, d)  =  (q · d) / (‖q‖ ‖d‖)</a:t>
            </a:r>
            <a:endParaRPr lang="en-US" sz="1400" dirty="0"/>
          </a:p>
        </p:txBody>
      </p:sp>
      <p:sp>
        <p:nvSpPr>
          <p:cNvPr id="13" name="Text 11"/>
          <p:cNvSpPr txBox="1"/>
          <p:nvPr/>
        </p:nvSpPr>
        <p:spPr>
          <a:xfrm>
            <a:off x="914400" y="2267712"/>
            <a:ext cx="4809744" cy="566928"/>
          </a:xfrm>
          <a:prstGeom prst="rect">
            <a:avLst/>
          </a:prstGeom>
          <a:noFill/>
          <a:ln/>
        </p:spPr>
        <p:txBody>
          <a:bodyPr wrap="square" lIns="0" tIns="0" rIns="0" bIns="0" rtlCol="0" anchor="t"/>
          <a:lstStyle/>
          <a:p>
            <a:pPr algn="l" indent="0" marL="0">
              <a:lnSpc>
                <a:spcPct val="116000"/>
              </a:lnSpc>
              <a:buNone/>
            </a:pPr>
            <a:r>
              <a:rPr lang="en-US" sz="1100" dirty="0">
                <a:solidFill>
                  <a:srgbClr val="8CA096"/>
                </a:solidFill>
                <a:latin typeface="Calibri" pitchFamily="34" charset="0"/>
                <a:ea typeface="Calibri" pitchFamily="34" charset="-122"/>
                <a:cs typeface="Calibri" pitchFamily="34" charset="-120"/>
              </a:rPr>
              <a:t>Chroma reports cosine distance; similarity is 1 − distance. Vectors are L2-normalised at encode time, so the dot product is already the cosine.</a:t>
            </a:r>
            <a:endParaRPr lang="en-US" sz="1100" dirty="0"/>
          </a:p>
        </p:txBody>
      </p:sp>
      <p:sp>
        <p:nvSpPr>
          <p:cNvPr id="14" name="Text 12"/>
          <p:cNvSpPr txBox="1"/>
          <p:nvPr/>
        </p:nvSpPr>
        <p:spPr>
          <a:xfrm>
            <a:off x="914400" y="2926080"/>
            <a:ext cx="4809744" cy="274320"/>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gate:  max(sim) &lt; 0.65  →  return nothing</a:t>
            </a:r>
            <a:endParaRPr lang="en-US" sz="1100" dirty="0"/>
          </a:p>
        </p:txBody>
      </p:sp>
      <p:sp>
        <p:nvSpPr>
          <p:cNvPr id="15" name="Shape 13"/>
          <p:cNvSpPr/>
          <p:nvPr/>
        </p:nvSpPr>
        <p:spPr>
          <a:xfrm>
            <a:off x="6208776" y="1389888"/>
            <a:ext cx="5321808" cy="2103120"/>
          </a:xfrm>
          <a:prstGeom prst="roundRect">
            <a:avLst>
              <a:gd name="adj" fmla="val 6957"/>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16" name="Text 14"/>
          <p:cNvSpPr txBox="1"/>
          <p:nvPr/>
        </p:nvSpPr>
        <p:spPr>
          <a:xfrm>
            <a:off x="6464808" y="1536192"/>
            <a:ext cx="420624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MAXIMAL MARGINAL RELEVANCE</a:t>
            </a:r>
            <a:endParaRPr lang="en-US" sz="950" dirty="0"/>
          </a:p>
        </p:txBody>
      </p:sp>
      <p:sp>
        <p:nvSpPr>
          <p:cNvPr id="17" name="Text 15"/>
          <p:cNvSpPr txBox="1"/>
          <p:nvPr/>
        </p:nvSpPr>
        <p:spPr>
          <a:xfrm>
            <a:off x="6464808" y="1847088"/>
            <a:ext cx="4809744" cy="310896"/>
          </a:xfrm>
          <a:prstGeom prst="rect">
            <a:avLst/>
          </a:prstGeom>
          <a:noFill/>
          <a:ln/>
        </p:spPr>
        <p:txBody>
          <a:bodyPr wrap="square" lIns="0" tIns="0" rIns="0" bIns="0" rtlCol="0" anchor="ctr"/>
          <a:lstStyle/>
          <a:p>
            <a:pPr algn="l" indent="0" marL="0">
              <a:buNone/>
            </a:pPr>
            <a:r>
              <a:rPr lang="en-US" sz="1150" dirty="0">
                <a:solidFill>
                  <a:srgbClr val="EFF2F1"/>
                </a:solidFill>
                <a:latin typeface="Courier New" pitchFamily="34" charset="0"/>
                <a:ea typeface="Courier New" pitchFamily="34" charset="-122"/>
                <a:cs typeface="Courier New" pitchFamily="34" charset="-120"/>
              </a:rPr>
              <a:t>next  =  argmax  λ·rel(i)  −  (1−λ)·max sim(d_i, d_j)</a:t>
            </a:r>
            <a:endParaRPr lang="en-US" sz="1150" dirty="0"/>
          </a:p>
        </p:txBody>
      </p:sp>
      <p:sp>
        <p:nvSpPr>
          <p:cNvPr id="18" name="Text 16"/>
          <p:cNvSpPr txBox="1"/>
          <p:nvPr/>
        </p:nvSpPr>
        <p:spPr>
          <a:xfrm>
            <a:off x="6464808" y="2084832"/>
            <a:ext cx="4809744" cy="219456"/>
          </a:xfrm>
          <a:prstGeom prst="rect">
            <a:avLst/>
          </a:prstGeom>
          <a:noFill/>
          <a:ln/>
        </p:spPr>
        <p:txBody>
          <a:bodyPr wrap="square" lIns="0" tIns="0" rIns="0" bIns="0" rtlCol="0" anchor="ctr"/>
          <a:lstStyle/>
          <a:p>
            <a:pPr algn="l" indent="0" marL="0">
              <a:buNone/>
            </a:pPr>
            <a:r>
              <a:rPr lang="en-US" sz="900" dirty="0">
                <a:solidFill>
                  <a:srgbClr val="5D7268"/>
                </a:solidFill>
                <a:latin typeface="Courier New" pitchFamily="34" charset="0"/>
                <a:ea typeface="Courier New" pitchFamily="34" charset="-122"/>
                <a:cs typeface="Courier New" pitchFamily="34" charset="-120"/>
              </a:rPr>
              <a:t>                     i ∉ S                      j ∈ S</a:t>
            </a:r>
            <a:endParaRPr lang="en-US" sz="900" dirty="0"/>
          </a:p>
        </p:txBody>
      </p:sp>
      <p:sp>
        <p:nvSpPr>
          <p:cNvPr id="19" name="Text 17"/>
          <p:cNvSpPr txBox="1"/>
          <p:nvPr/>
        </p:nvSpPr>
        <p:spPr>
          <a:xfrm>
            <a:off x="6464808" y="2395728"/>
            <a:ext cx="4809744" cy="566928"/>
          </a:xfrm>
          <a:prstGeom prst="rect">
            <a:avLst/>
          </a:prstGeom>
          <a:noFill/>
          <a:ln/>
        </p:spPr>
        <p:txBody>
          <a:bodyPr wrap="square" lIns="0" tIns="0" rIns="0" bIns="0" rtlCol="0" anchor="t"/>
          <a:lstStyle/>
          <a:p>
            <a:pPr algn="l" indent="0" marL="0">
              <a:lnSpc>
                <a:spcPct val="116000"/>
              </a:lnSpc>
              <a:buNone/>
            </a:pPr>
            <a:r>
              <a:rPr lang="en-US" sz="1100" dirty="0">
                <a:solidFill>
                  <a:srgbClr val="8CA096"/>
                </a:solidFill>
                <a:latin typeface="Calibri" pitchFamily="34" charset="0"/>
                <a:ea typeface="Calibri" pitchFamily="34" charset="-122"/>
                <a:cs typeface="Calibri" pitchFamily="34" charset="-120"/>
              </a:rPr>
              <a:t>λ = 0.5. The first pick is pure relevance; each later pick balances relevance against how much it duplicates what is already selected. Fetch 20, keep 4.</a:t>
            </a:r>
            <a:endParaRPr lang="en-US" sz="1100" dirty="0"/>
          </a:p>
        </p:txBody>
      </p:sp>
      <p:sp>
        <p:nvSpPr>
          <p:cNvPr id="20" name="Text 18"/>
          <p:cNvSpPr txBox="1"/>
          <p:nvPr/>
        </p:nvSpPr>
        <p:spPr>
          <a:xfrm>
            <a:off x="6464808" y="3017520"/>
            <a:ext cx="4809744" cy="274320"/>
          </a:xfrm>
          <a:prstGeom prst="rect">
            <a:avLst/>
          </a:prstGeom>
          <a:noFill/>
          <a:ln/>
        </p:spPr>
        <p:txBody>
          <a:bodyPr wrap="square" lIns="0" tIns="0" rIns="0" bIns="0" rtlCol="0" anchor="ctr"/>
          <a:lstStyle/>
          <a:p>
            <a:pPr algn="l" indent="0" marL="0">
              <a:buNone/>
            </a:pPr>
            <a:r>
              <a:rPr lang="en-US" sz="1100" b="1" dirty="0">
                <a:solidFill>
                  <a:srgbClr val="F9BF29"/>
                </a:solidFill>
                <a:latin typeface="Courier New" pitchFamily="34" charset="0"/>
                <a:ea typeface="Courier New" pitchFamily="34" charset="-122"/>
                <a:cs typeface="Courier New" pitchFamily="34" charset="-120"/>
              </a:rPr>
              <a:t>rel(i)  =  sim(q, d_i)  −  drill_penalty(i)</a:t>
            </a:r>
            <a:endParaRPr lang="en-US" sz="1100" dirty="0"/>
          </a:p>
        </p:txBody>
      </p:sp>
      <p:sp>
        <p:nvSpPr>
          <p:cNvPr id="21" name="Shape 19"/>
          <p:cNvSpPr/>
          <p:nvPr/>
        </p:nvSpPr>
        <p:spPr>
          <a:xfrm>
            <a:off x="658368" y="3657600"/>
            <a:ext cx="10874959" cy="2212848"/>
          </a:xfrm>
          <a:prstGeom prst="roundRect">
            <a:avLst>
              <a:gd name="adj" fmla="val 6612"/>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2" name="Text 20"/>
          <p:cNvSpPr txBox="1"/>
          <p:nvPr/>
        </p:nvSpPr>
        <p:spPr>
          <a:xfrm>
            <a:off x="932688" y="3803904"/>
            <a:ext cx="54864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WHERE EACH CONSTANT CAME FROM</a:t>
            </a:r>
            <a:endParaRPr lang="en-US" sz="950" dirty="0"/>
          </a:p>
        </p:txBody>
      </p:sp>
      <p:sp>
        <p:nvSpPr>
          <p:cNvPr id="23" name="Text 21"/>
          <p:cNvSpPr txBox="1"/>
          <p:nvPr/>
        </p:nvSpPr>
        <p:spPr>
          <a:xfrm>
            <a:off x="932688" y="4133088"/>
            <a:ext cx="2377440" cy="219456"/>
          </a:xfrm>
          <a:prstGeom prst="rect">
            <a:avLst/>
          </a:prstGeom>
          <a:noFill/>
          <a:ln/>
        </p:spPr>
        <p:txBody>
          <a:bodyPr wrap="square" lIns="0" tIns="0" rIns="0" bIns="0" rtlCol="0" anchor="ctr"/>
          <a:lstStyle/>
          <a:p>
            <a:pPr algn="l" indent="0" marL="0">
              <a:buNone/>
            </a:pPr>
            <a:r>
              <a:rPr lang="en-US" sz="900" dirty="0">
                <a:solidFill>
                  <a:srgbClr val="8CA096"/>
                </a:solidFill>
                <a:latin typeface="Courier New" pitchFamily="34" charset="0"/>
                <a:ea typeface="Courier New" pitchFamily="34" charset="-122"/>
                <a:cs typeface="Courier New" pitchFamily="34" charset="-120"/>
              </a:rPr>
              <a:t>chunk_size</a:t>
            </a:r>
            <a:endParaRPr lang="en-US" sz="900" dirty="0"/>
          </a:p>
        </p:txBody>
      </p:sp>
      <p:sp>
        <p:nvSpPr>
          <p:cNvPr id="24" name="Text 22"/>
          <p:cNvSpPr txBox="1"/>
          <p:nvPr/>
        </p:nvSpPr>
        <p:spPr>
          <a:xfrm>
            <a:off x="3364992" y="4133088"/>
            <a:ext cx="100584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512 tokens</a:t>
            </a:r>
            <a:endParaRPr lang="en-US" sz="950" dirty="0"/>
          </a:p>
        </p:txBody>
      </p:sp>
      <p:sp>
        <p:nvSpPr>
          <p:cNvPr id="25" name="Text 23"/>
          <p:cNvSpPr txBox="1"/>
          <p:nvPr/>
        </p:nvSpPr>
        <p:spPr>
          <a:xfrm>
            <a:off x="4462272" y="4133088"/>
            <a:ext cx="6766560" cy="219456"/>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with 64 of overlap, so a sentence crossing a boundary is not lost</a:t>
            </a:r>
            <a:endParaRPr lang="en-US" sz="950" dirty="0"/>
          </a:p>
        </p:txBody>
      </p:sp>
      <p:sp>
        <p:nvSpPr>
          <p:cNvPr id="26" name="Text 24"/>
          <p:cNvSpPr txBox="1"/>
          <p:nvPr/>
        </p:nvSpPr>
        <p:spPr>
          <a:xfrm>
            <a:off x="932688" y="4379976"/>
            <a:ext cx="2377440" cy="219456"/>
          </a:xfrm>
          <a:prstGeom prst="rect">
            <a:avLst/>
          </a:prstGeom>
          <a:noFill/>
          <a:ln/>
        </p:spPr>
        <p:txBody>
          <a:bodyPr wrap="square" lIns="0" tIns="0" rIns="0" bIns="0" rtlCol="0" anchor="ctr"/>
          <a:lstStyle/>
          <a:p>
            <a:pPr algn="l" indent="0" marL="0">
              <a:buNone/>
            </a:pPr>
            <a:r>
              <a:rPr lang="en-US" sz="900" dirty="0">
                <a:solidFill>
                  <a:srgbClr val="8CA096"/>
                </a:solidFill>
                <a:latin typeface="Courier New" pitchFamily="34" charset="0"/>
                <a:ea typeface="Courier New" pitchFamily="34" charset="-122"/>
                <a:cs typeface="Courier New" pitchFamily="34" charset="-120"/>
              </a:rPr>
              <a:t>retrieval_fetch_k</a:t>
            </a:r>
            <a:endParaRPr lang="en-US" sz="900" dirty="0"/>
          </a:p>
        </p:txBody>
      </p:sp>
      <p:sp>
        <p:nvSpPr>
          <p:cNvPr id="27" name="Text 25"/>
          <p:cNvSpPr txBox="1"/>
          <p:nvPr/>
        </p:nvSpPr>
        <p:spPr>
          <a:xfrm>
            <a:off x="3364992" y="4379976"/>
            <a:ext cx="100584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20</a:t>
            </a:r>
            <a:endParaRPr lang="en-US" sz="950" dirty="0"/>
          </a:p>
        </p:txBody>
      </p:sp>
      <p:sp>
        <p:nvSpPr>
          <p:cNvPr id="28" name="Text 26"/>
          <p:cNvSpPr txBox="1"/>
          <p:nvPr/>
        </p:nvSpPr>
        <p:spPr>
          <a:xfrm>
            <a:off x="4462272" y="4379976"/>
            <a:ext cx="6766560" cy="219456"/>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enough candidates for the diversity term to have something to choose between</a:t>
            </a:r>
            <a:endParaRPr lang="en-US" sz="950" dirty="0"/>
          </a:p>
        </p:txBody>
      </p:sp>
      <p:sp>
        <p:nvSpPr>
          <p:cNvPr id="29" name="Text 27"/>
          <p:cNvSpPr txBox="1"/>
          <p:nvPr/>
        </p:nvSpPr>
        <p:spPr>
          <a:xfrm>
            <a:off x="932688" y="4626864"/>
            <a:ext cx="2377440" cy="219456"/>
          </a:xfrm>
          <a:prstGeom prst="rect">
            <a:avLst/>
          </a:prstGeom>
          <a:noFill/>
          <a:ln/>
        </p:spPr>
        <p:txBody>
          <a:bodyPr wrap="square" lIns="0" tIns="0" rIns="0" bIns="0" rtlCol="0" anchor="ctr"/>
          <a:lstStyle/>
          <a:p>
            <a:pPr algn="l" indent="0" marL="0">
              <a:buNone/>
            </a:pPr>
            <a:r>
              <a:rPr lang="en-US" sz="900" dirty="0">
                <a:solidFill>
                  <a:srgbClr val="8CA096"/>
                </a:solidFill>
                <a:latin typeface="Courier New" pitchFamily="34" charset="0"/>
                <a:ea typeface="Courier New" pitchFamily="34" charset="-122"/>
                <a:cs typeface="Courier New" pitchFamily="34" charset="-120"/>
              </a:rPr>
              <a:t>retrieval_k</a:t>
            </a:r>
            <a:endParaRPr lang="en-US" sz="900" dirty="0"/>
          </a:p>
        </p:txBody>
      </p:sp>
      <p:sp>
        <p:nvSpPr>
          <p:cNvPr id="30" name="Text 28"/>
          <p:cNvSpPr txBox="1"/>
          <p:nvPr/>
        </p:nvSpPr>
        <p:spPr>
          <a:xfrm>
            <a:off x="3364992" y="4626864"/>
            <a:ext cx="100584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4</a:t>
            </a:r>
            <a:endParaRPr lang="en-US" sz="950" dirty="0"/>
          </a:p>
        </p:txBody>
      </p:sp>
      <p:sp>
        <p:nvSpPr>
          <p:cNvPr id="31" name="Text 29"/>
          <p:cNvSpPr txBox="1"/>
          <p:nvPr/>
        </p:nvSpPr>
        <p:spPr>
          <a:xfrm>
            <a:off x="4462272" y="4626864"/>
            <a:ext cx="6766560" cy="219456"/>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what fits in the prompt at 700 characters each without dominating it</a:t>
            </a:r>
            <a:endParaRPr lang="en-US" sz="950" dirty="0"/>
          </a:p>
        </p:txBody>
      </p:sp>
      <p:sp>
        <p:nvSpPr>
          <p:cNvPr id="32" name="Text 30"/>
          <p:cNvSpPr txBox="1"/>
          <p:nvPr/>
        </p:nvSpPr>
        <p:spPr>
          <a:xfrm>
            <a:off x="932688" y="4873752"/>
            <a:ext cx="2377440" cy="219456"/>
          </a:xfrm>
          <a:prstGeom prst="rect">
            <a:avLst/>
          </a:prstGeom>
          <a:noFill/>
          <a:ln/>
        </p:spPr>
        <p:txBody>
          <a:bodyPr wrap="square" lIns="0" tIns="0" rIns="0" bIns="0" rtlCol="0" anchor="ctr"/>
          <a:lstStyle/>
          <a:p>
            <a:pPr algn="l" indent="0" marL="0">
              <a:buNone/>
            </a:pPr>
            <a:r>
              <a:rPr lang="en-US" sz="900" dirty="0">
                <a:solidFill>
                  <a:srgbClr val="8CA096"/>
                </a:solidFill>
                <a:latin typeface="Courier New" pitchFamily="34" charset="0"/>
                <a:ea typeface="Courier New" pitchFamily="34" charset="-122"/>
                <a:cs typeface="Courier New" pitchFamily="34" charset="-120"/>
              </a:rPr>
              <a:t>retrieval_lambda</a:t>
            </a:r>
            <a:endParaRPr lang="en-US" sz="900" dirty="0"/>
          </a:p>
        </p:txBody>
      </p:sp>
      <p:sp>
        <p:nvSpPr>
          <p:cNvPr id="33" name="Text 31"/>
          <p:cNvSpPr txBox="1"/>
          <p:nvPr/>
        </p:nvSpPr>
        <p:spPr>
          <a:xfrm>
            <a:off x="3364992" y="4873752"/>
            <a:ext cx="100584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0.5</a:t>
            </a:r>
            <a:endParaRPr lang="en-US" sz="950" dirty="0"/>
          </a:p>
        </p:txBody>
      </p:sp>
      <p:sp>
        <p:nvSpPr>
          <p:cNvPr id="34" name="Text 32"/>
          <p:cNvSpPr txBox="1"/>
          <p:nvPr/>
        </p:nvSpPr>
        <p:spPr>
          <a:xfrm>
            <a:off x="4462272" y="4873752"/>
            <a:ext cx="6766560" cy="219456"/>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equal weight to relevance and diversity</a:t>
            </a:r>
            <a:endParaRPr lang="en-US" sz="950" dirty="0"/>
          </a:p>
        </p:txBody>
      </p:sp>
      <p:sp>
        <p:nvSpPr>
          <p:cNvPr id="35" name="Text 33"/>
          <p:cNvSpPr txBox="1"/>
          <p:nvPr/>
        </p:nvSpPr>
        <p:spPr>
          <a:xfrm>
            <a:off x="932688" y="5120640"/>
            <a:ext cx="2377440" cy="219456"/>
          </a:xfrm>
          <a:prstGeom prst="rect">
            <a:avLst/>
          </a:prstGeom>
          <a:noFill/>
          <a:ln/>
        </p:spPr>
        <p:txBody>
          <a:bodyPr wrap="square" lIns="0" tIns="0" rIns="0" bIns="0" rtlCol="0" anchor="ctr"/>
          <a:lstStyle/>
          <a:p>
            <a:pPr algn="l" indent="0" marL="0">
              <a:buNone/>
            </a:pPr>
            <a:r>
              <a:rPr lang="en-US" sz="900" dirty="0">
                <a:solidFill>
                  <a:srgbClr val="8CA096"/>
                </a:solidFill>
                <a:latin typeface="Courier New" pitchFamily="34" charset="0"/>
                <a:ea typeface="Courier New" pitchFamily="34" charset="-122"/>
                <a:cs typeface="Courier New" pitchFamily="34" charset="-120"/>
              </a:rPr>
              <a:t>retrieval_min_score</a:t>
            </a:r>
            <a:endParaRPr lang="en-US" sz="900" dirty="0"/>
          </a:p>
        </p:txBody>
      </p:sp>
      <p:sp>
        <p:nvSpPr>
          <p:cNvPr id="36" name="Text 34"/>
          <p:cNvSpPr txBox="1"/>
          <p:nvPr/>
        </p:nvSpPr>
        <p:spPr>
          <a:xfrm>
            <a:off x="3364992" y="5120640"/>
            <a:ext cx="100584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0.65</a:t>
            </a:r>
            <a:endParaRPr lang="en-US" sz="950" dirty="0"/>
          </a:p>
        </p:txBody>
      </p:sp>
      <p:sp>
        <p:nvSpPr>
          <p:cNvPr id="37" name="Text 35"/>
          <p:cNvSpPr txBox="1"/>
          <p:nvPr/>
        </p:nvSpPr>
        <p:spPr>
          <a:xfrm>
            <a:off x="4462272" y="5120640"/>
            <a:ext cx="6766560" cy="219456"/>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calibrated over the real 1,057-chunk corpus; sits in the 0.077 in/out gap, nearer the out side</a:t>
            </a:r>
            <a:endParaRPr lang="en-US" sz="950" dirty="0"/>
          </a:p>
        </p:txBody>
      </p:sp>
      <p:sp>
        <p:nvSpPr>
          <p:cNvPr id="38" name="Text 36"/>
          <p:cNvSpPr txBox="1"/>
          <p:nvPr/>
        </p:nvSpPr>
        <p:spPr>
          <a:xfrm>
            <a:off x="932688" y="5367528"/>
            <a:ext cx="2377440" cy="219456"/>
          </a:xfrm>
          <a:prstGeom prst="rect">
            <a:avLst/>
          </a:prstGeom>
          <a:noFill/>
          <a:ln/>
        </p:spPr>
        <p:txBody>
          <a:bodyPr wrap="square" lIns="0" tIns="0" rIns="0" bIns="0" rtlCol="0" anchor="ctr"/>
          <a:lstStyle/>
          <a:p>
            <a:pPr algn="l" indent="0" marL="0">
              <a:buNone/>
            </a:pPr>
            <a:r>
              <a:rPr lang="en-US" sz="900" dirty="0">
                <a:solidFill>
                  <a:srgbClr val="8CA096"/>
                </a:solidFill>
                <a:latin typeface="Courier New" pitchFamily="34" charset="0"/>
                <a:ea typeface="Courier New" pitchFamily="34" charset="-122"/>
                <a:cs typeface="Courier New" pitchFamily="34" charset="-120"/>
              </a:rPr>
              <a:t>retrieval_drill_penalty</a:t>
            </a:r>
            <a:endParaRPr lang="en-US" sz="900" dirty="0"/>
          </a:p>
        </p:txBody>
      </p:sp>
      <p:sp>
        <p:nvSpPr>
          <p:cNvPr id="39" name="Text 37"/>
          <p:cNvSpPr txBox="1"/>
          <p:nvPr/>
        </p:nvSpPr>
        <p:spPr>
          <a:xfrm>
            <a:off x="3364992" y="5367528"/>
            <a:ext cx="100584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0.15</a:t>
            </a:r>
            <a:endParaRPr lang="en-US" sz="950" dirty="0"/>
          </a:p>
        </p:txBody>
      </p:sp>
      <p:sp>
        <p:nvSpPr>
          <p:cNvPr id="40" name="Text 38"/>
          <p:cNvSpPr txBox="1"/>
          <p:nvPr/>
        </p:nvSpPr>
        <p:spPr>
          <a:xfrm>
            <a:off x="4462272" y="5367528"/>
            <a:ext cx="6766560" cy="219456"/>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comfortably wider than the 0.077 gap, so a drill loses to any genuinely comparable passage</a:t>
            </a:r>
            <a:endParaRPr lang="en-US" sz="950" dirty="0"/>
          </a:p>
        </p:txBody>
      </p:sp>
      <p:sp>
        <p:nvSpPr>
          <p:cNvPr id="41" name="Text 39"/>
          <p:cNvSpPr txBox="1"/>
          <p:nvPr/>
        </p:nvSpPr>
        <p:spPr>
          <a:xfrm>
            <a:off x="932688" y="5614416"/>
            <a:ext cx="2377440" cy="219456"/>
          </a:xfrm>
          <a:prstGeom prst="rect">
            <a:avLst/>
          </a:prstGeom>
          <a:noFill/>
          <a:ln/>
        </p:spPr>
        <p:txBody>
          <a:bodyPr wrap="square" lIns="0" tIns="0" rIns="0" bIns="0" rtlCol="0" anchor="ctr"/>
          <a:lstStyle/>
          <a:p>
            <a:pPr algn="l" indent="0" marL="0">
              <a:buNone/>
            </a:pPr>
            <a:r>
              <a:rPr lang="en-US" sz="900" dirty="0">
                <a:solidFill>
                  <a:srgbClr val="8CA096"/>
                </a:solidFill>
                <a:latin typeface="Courier New" pitchFamily="34" charset="0"/>
                <a:ea typeface="Courier New" pitchFamily="34" charset="-122"/>
                <a:cs typeface="Courier New" pitchFamily="34" charset="-120"/>
              </a:rPr>
              <a:t>max_excerpt_chars</a:t>
            </a:r>
            <a:endParaRPr lang="en-US" sz="900" dirty="0"/>
          </a:p>
        </p:txBody>
      </p:sp>
      <p:sp>
        <p:nvSpPr>
          <p:cNvPr id="42" name="Text 40"/>
          <p:cNvSpPr txBox="1"/>
          <p:nvPr/>
        </p:nvSpPr>
        <p:spPr>
          <a:xfrm>
            <a:off x="3364992" y="5614416"/>
            <a:ext cx="1005840" cy="219456"/>
          </a:xfrm>
          <a:prstGeom prst="rect">
            <a:avLst/>
          </a:prstGeom>
          <a:noFill/>
          <a:ln/>
        </p:spPr>
        <p:txBody>
          <a:bodyPr wrap="square" lIns="0" tIns="0" rIns="0" bIns="0" rtlCol="0" anchor="ctr"/>
          <a:lstStyle/>
          <a:p>
            <a:pPr algn="l" indent="0" marL="0">
              <a:buNone/>
            </a:pPr>
            <a:r>
              <a:rPr lang="en-US" sz="950" b="1" dirty="0">
                <a:solidFill>
                  <a:srgbClr val="F9BF29"/>
                </a:solidFill>
                <a:latin typeface="Courier New" pitchFamily="34" charset="0"/>
                <a:ea typeface="Courier New" pitchFamily="34" charset="-122"/>
                <a:cs typeface="Courier New" pitchFamily="34" charset="-120"/>
              </a:rPr>
              <a:t>700</a:t>
            </a:r>
            <a:endParaRPr lang="en-US" sz="950" dirty="0"/>
          </a:p>
        </p:txBody>
      </p:sp>
      <p:sp>
        <p:nvSpPr>
          <p:cNvPr id="43" name="Text 41"/>
          <p:cNvSpPr txBox="1"/>
          <p:nvPr/>
        </p:nvSpPr>
        <p:spPr>
          <a:xfrm>
            <a:off x="4462272" y="5614416"/>
            <a:ext cx="6766560" cy="219456"/>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four ~512-token chunks were 64% of a 3,167-token prompt; trimming cut it to 1,666</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A8</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Gate calibration, in full</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backend/scripts/calibrate_gate.py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A8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82296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18 questions over the real corpus. Re-run after any change to the corpus or the embedding model.</a:t>
            </a:r>
            <a:endParaRPr lang="en-US" sz="1500" dirty="0"/>
          </a:p>
        </p:txBody>
      </p:sp>
      <p:sp>
        <p:nvSpPr>
          <p:cNvPr id="11" name="Text 9"/>
          <p:cNvSpPr txBox="1"/>
          <p:nvPr/>
        </p:nvSpPr>
        <p:spPr>
          <a:xfrm>
            <a:off x="658368" y="1847088"/>
            <a:ext cx="20116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QUESTION SET</a:t>
            </a:r>
            <a:endParaRPr lang="en-US" sz="850" dirty="0"/>
          </a:p>
        </p:txBody>
      </p:sp>
      <p:sp>
        <p:nvSpPr>
          <p:cNvPr id="12" name="Text 10"/>
          <p:cNvSpPr txBox="1"/>
          <p:nvPr/>
        </p:nvSpPr>
        <p:spPr>
          <a:xfrm>
            <a:off x="2670048" y="1847088"/>
            <a:ext cx="10058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MIN</a:t>
            </a:r>
            <a:endParaRPr lang="en-US" sz="850" dirty="0"/>
          </a:p>
        </p:txBody>
      </p:sp>
      <p:sp>
        <p:nvSpPr>
          <p:cNvPr id="13" name="Text 11"/>
          <p:cNvSpPr txBox="1"/>
          <p:nvPr/>
        </p:nvSpPr>
        <p:spPr>
          <a:xfrm>
            <a:off x="3675888" y="1847088"/>
            <a:ext cx="10972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MEDIAN</a:t>
            </a:r>
            <a:endParaRPr lang="en-US" sz="850" dirty="0"/>
          </a:p>
        </p:txBody>
      </p:sp>
      <p:sp>
        <p:nvSpPr>
          <p:cNvPr id="14" name="Text 12"/>
          <p:cNvSpPr txBox="1"/>
          <p:nvPr/>
        </p:nvSpPr>
        <p:spPr>
          <a:xfrm>
            <a:off x="4773168" y="1847088"/>
            <a:ext cx="10058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MAX</a:t>
            </a:r>
            <a:endParaRPr lang="en-US" sz="850" dirty="0"/>
          </a:p>
        </p:txBody>
      </p:sp>
      <p:sp>
        <p:nvSpPr>
          <p:cNvPr id="15" name="Shape 13"/>
          <p:cNvSpPr/>
          <p:nvPr/>
        </p:nvSpPr>
        <p:spPr>
          <a:xfrm>
            <a:off x="658368" y="2121408"/>
            <a:ext cx="5120640" cy="0"/>
          </a:xfrm>
          <a:prstGeom prst="line">
            <a:avLst/>
          </a:prstGeom>
          <a:noFill/>
          <a:ln w="12700">
            <a:solidFill>
              <a:srgbClr val="33463D"/>
            </a:solidFill>
            <a:prstDash val="solid"/>
          </a:ln>
        </p:spPr>
      </p:sp>
      <p:sp>
        <p:nvSpPr>
          <p:cNvPr id="16" name="Text 14"/>
          <p:cNvSpPr txBox="1"/>
          <p:nvPr/>
        </p:nvSpPr>
        <p:spPr>
          <a:xfrm>
            <a:off x="658368" y="2194560"/>
            <a:ext cx="19202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In corpus  (10)</a:t>
            </a:r>
            <a:endParaRPr lang="en-US" sz="1100" dirty="0"/>
          </a:p>
        </p:txBody>
      </p:sp>
      <p:sp>
        <p:nvSpPr>
          <p:cNvPr id="17" name="Text 15"/>
          <p:cNvSpPr txBox="1"/>
          <p:nvPr/>
        </p:nvSpPr>
        <p:spPr>
          <a:xfrm>
            <a:off x="2670048" y="2194560"/>
            <a:ext cx="91440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0.696</a:t>
            </a:r>
            <a:endParaRPr lang="en-US" sz="1100" dirty="0"/>
          </a:p>
        </p:txBody>
      </p:sp>
      <p:sp>
        <p:nvSpPr>
          <p:cNvPr id="18" name="Text 16"/>
          <p:cNvSpPr txBox="1"/>
          <p:nvPr/>
        </p:nvSpPr>
        <p:spPr>
          <a:xfrm>
            <a:off x="3675888" y="2194560"/>
            <a:ext cx="100584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0.720</a:t>
            </a:r>
            <a:endParaRPr lang="en-US" sz="1100" dirty="0"/>
          </a:p>
        </p:txBody>
      </p:sp>
      <p:sp>
        <p:nvSpPr>
          <p:cNvPr id="19" name="Text 17"/>
          <p:cNvSpPr txBox="1"/>
          <p:nvPr/>
        </p:nvSpPr>
        <p:spPr>
          <a:xfrm>
            <a:off x="4773168" y="2194560"/>
            <a:ext cx="91440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0.814</a:t>
            </a:r>
            <a:endParaRPr lang="en-US" sz="1100" dirty="0"/>
          </a:p>
        </p:txBody>
      </p:sp>
      <p:sp>
        <p:nvSpPr>
          <p:cNvPr id="20" name="Shape 18"/>
          <p:cNvSpPr/>
          <p:nvPr/>
        </p:nvSpPr>
        <p:spPr>
          <a:xfrm>
            <a:off x="658368" y="2514600"/>
            <a:ext cx="5120640" cy="0"/>
          </a:xfrm>
          <a:prstGeom prst="line">
            <a:avLst/>
          </a:prstGeom>
          <a:noFill/>
          <a:ln w="12700">
            <a:solidFill>
              <a:srgbClr val="223029"/>
            </a:solidFill>
            <a:prstDash val="solid"/>
          </a:ln>
        </p:spPr>
      </p:sp>
      <p:sp>
        <p:nvSpPr>
          <p:cNvPr id="21" name="Text 19"/>
          <p:cNvSpPr txBox="1"/>
          <p:nvPr/>
        </p:nvSpPr>
        <p:spPr>
          <a:xfrm>
            <a:off x="658368" y="2560320"/>
            <a:ext cx="19202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Out of corpus  (8)</a:t>
            </a:r>
            <a:endParaRPr lang="en-US" sz="1100" dirty="0"/>
          </a:p>
        </p:txBody>
      </p:sp>
      <p:sp>
        <p:nvSpPr>
          <p:cNvPr id="22" name="Text 20"/>
          <p:cNvSpPr txBox="1"/>
          <p:nvPr/>
        </p:nvSpPr>
        <p:spPr>
          <a:xfrm>
            <a:off x="2670048" y="2560320"/>
            <a:ext cx="91440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0.434</a:t>
            </a:r>
            <a:endParaRPr lang="en-US" sz="1100" dirty="0"/>
          </a:p>
        </p:txBody>
      </p:sp>
      <p:sp>
        <p:nvSpPr>
          <p:cNvPr id="23" name="Text 21"/>
          <p:cNvSpPr txBox="1"/>
          <p:nvPr/>
        </p:nvSpPr>
        <p:spPr>
          <a:xfrm>
            <a:off x="3675888" y="2560320"/>
            <a:ext cx="100584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0.532</a:t>
            </a:r>
            <a:endParaRPr lang="en-US" sz="1100" dirty="0"/>
          </a:p>
        </p:txBody>
      </p:sp>
      <p:sp>
        <p:nvSpPr>
          <p:cNvPr id="24" name="Text 22"/>
          <p:cNvSpPr txBox="1"/>
          <p:nvPr/>
        </p:nvSpPr>
        <p:spPr>
          <a:xfrm>
            <a:off x="4773168" y="2560320"/>
            <a:ext cx="91440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0.619</a:t>
            </a:r>
            <a:endParaRPr lang="en-US" sz="1100" dirty="0"/>
          </a:p>
        </p:txBody>
      </p:sp>
      <p:sp>
        <p:nvSpPr>
          <p:cNvPr id="25" name="Shape 23"/>
          <p:cNvSpPr/>
          <p:nvPr/>
        </p:nvSpPr>
        <p:spPr>
          <a:xfrm>
            <a:off x="658368" y="2880360"/>
            <a:ext cx="5120640" cy="0"/>
          </a:xfrm>
          <a:prstGeom prst="line">
            <a:avLst/>
          </a:prstGeom>
          <a:noFill/>
          <a:ln w="12700">
            <a:solidFill>
              <a:srgbClr val="223029"/>
            </a:solidFill>
            <a:prstDash val="solid"/>
          </a:ln>
        </p:spPr>
      </p:sp>
      <p:sp>
        <p:nvSpPr>
          <p:cNvPr id="26" name="Text 24"/>
          <p:cNvSpPr txBox="1"/>
          <p:nvPr/>
        </p:nvSpPr>
        <p:spPr>
          <a:xfrm>
            <a:off x="658368" y="2926080"/>
            <a:ext cx="19202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Gap</a:t>
            </a:r>
            <a:endParaRPr lang="en-US" sz="1100" dirty="0"/>
          </a:p>
        </p:txBody>
      </p:sp>
      <p:sp>
        <p:nvSpPr>
          <p:cNvPr id="27" name="Text 25"/>
          <p:cNvSpPr txBox="1"/>
          <p:nvPr/>
        </p:nvSpPr>
        <p:spPr>
          <a:xfrm>
            <a:off x="2670048" y="2926080"/>
            <a:ext cx="91440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0.077</a:t>
            </a:r>
            <a:endParaRPr lang="en-US" sz="1100" dirty="0"/>
          </a:p>
        </p:txBody>
      </p:sp>
      <p:sp>
        <p:nvSpPr>
          <p:cNvPr id="28" name="Text 26"/>
          <p:cNvSpPr txBox="1"/>
          <p:nvPr/>
        </p:nvSpPr>
        <p:spPr>
          <a:xfrm>
            <a:off x="3675888" y="2926080"/>
            <a:ext cx="1005840" cy="329184"/>
          </a:xfrm>
          <a:prstGeom prst="rect">
            <a:avLst/>
          </a:prstGeom>
          <a:noFill/>
          <a:ln/>
        </p:spPr>
        <p:txBody>
          <a:bodyPr wrap="square" lIns="0" tIns="0" rIns="0" bIns="0" rtlCol="0" anchor="t"/>
          <a:lstStyle/>
          <a:p>
            <a:pPr algn="l" indent="0" marL="0">
              <a:buNone/>
            </a:pPr>
            <a:endParaRPr lang="en-US" sz="1100" dirty="0"/>
          </a:p>
        </p:txBody>
      </p:sp>
      <p:sp>
        <p:nvSpPr>
          <p:cNvPr id="29" name="Text 27"/>
          <p:cNvSpPr txBox="1"/>
          <p:nvPr/>
        </p:nvSpPr>
        <p:spPr>
          <a:xfrm>
            <a:off x="4773168" y="2926080"/>
            <a:ext cx="914400" cy="329184"/>
          </a:xfrm>
          <a:prstGeom prst="rect">
            <a:avLst/>
          </a:prstGeom>
          <a:noFill/>
          <a:ln/>
        </p:spPr>
        <p:txBody>
          <a:bodyPr wrap="square" lIns="0" tIns="0" rIns="0" bIns="0" rtlCol="0" anchor="t"/>
          <a:lstStyle/>
          <a:p>
            <a:pPr algn="l" indent="0" marL="0">
              <a:buNone/>
            </a:pPr>
            <a:endParaRPr lang="en-US" sz="1100" dirty="0"/>
          </a:p>
        </p:txBody>
      </p:sp>
      <p:sp>
        <p:nvSpPr>
          <p:cNvPr id="30" name="Shape 28"/>
          <p:cNvSpPr/>
          <p:nvPr/>
        </p:nvSpPr>
        <p:spPr>
          <a:xfrm>
            <a:off x="658368" y="3246120"/>
            <a:ext cx="5120640" cy="0"/>
          </a:xfrm>
          <a:prstGeom prst="line">
            <a:avLst/>
          </a:prstGeom>
          <a:noFill/>
          <a:ln w="12700">
            <a:solidFill>
              <a:srgbClr val="223029"/>
            </a:solidFill>
            <a:prstDash val="solid"/>
          </a:ln>
        </p:spPr>
      </p:sp>
      <p:sp>
        <p:nvSpPr>
          <p:cNvPr id="31" name="Text 29"/>
          <p:cNvSpPr txBox="1"/>
          <p:nvPr/>
        </p:nvSpPr>
        <p:spPr>
          <a:xfrm>
            <a:off x="658368" y="3291840"/>
            <a:ext cx="19202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Threshold</a:t>
            </a:r>
            <a:endParaRPr lang="en-US" sz="1100" dirty="0"/>
          </a:p>
        </p:txBody>
      </p:sp>
      <p:sp>
        <p:nvSpPr>
          <p:cNvPr id="32" name="Text 30"/>
          <p:cNvSpPr txBox="1"/>
          <p:nvPr/>
        </p:nvSpPr>
        <p:spPr>
          <a:xfrm>
            <a:off x="2670048" y="3291840"/>
            <a:ext cx="91440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0.65</a:t>
            </a:r>
            <a:endParaRPr lang="en-US" sz="1100" dirty="0"/>
          </a:p>
        </p:txBody>
      </p:sp>
      <p:sp>
        <p:nvSpPr>
          <p:cNvPr id="33" name="Text 31"/>
          <p:cNvSpPr txBox="1"/>
          <p:nvPr/>
        </p:nvSpPr>
        <p:spPr>
          <a:xfrm>
            <a:off x="3675888" y="3291840"/>
            <a:ext cx="1005840" cy="329184"/>
          </a:xfrm>
          <a:prstGeom prst="rect">
            <a:avLst/>
          </a:prstGeom>
          <a:noFill/>
          <a:ln/>
        </p:spPr>
        <p:txBody>
          <a:bodyPr wrap="square" lIns="0" tIns="0" rIns="0" bIns="0" rtlCol="0" anchor="t"/>
          <a:lstStyle/>
          <a:p>
            <a:pPr algn="l" indent="0" marL="0">
              <a:buNone/>
            </a:pPr>
            <a:endParaRPr lang="en-US" sz="1100" dirty="0"/>
          </a:p>
        </p:txBody>
      </p:sp>
      <p:sp>
        <p:nvSpPr>
          <p:cNvPr id="34" name="Text 32"/>
          <p:cNvSpPr txBox="1"/>
          <p:nvPr/>
        </p:nvSpPr>
        <p:spPr>
          <a:xfrm>
            <a:off x="4773168" y="3291840"/>
            <a:ext cx="914400" cy="329184"/>
          </a:xfrm>
          <a:prstGeom prst="rect">
            <a:avLst/>
          </a:prstGeom>
          <a:noFill/>
          <a:ln/>
        </p:spPr>
        <p:txBody>
          <a:bodyPr wrap="square" lIns="0" tIns="0" rIns="0" bIns="0" rtlCol="0" anchor="t"/>
          <a:lstStyle/>
          <a:p>
            <a:pPr algn="l" indent="0" marL="0">
              <a:buNone/>
            </a:pPr>
            <a:endParaRPr lang="en-US" sz="1100" dirty="0"/>
          </a:p>
        </p:txBody>
      </p:sp>
      <p:sp>
        <p:nvSpPr>
          <p:cNvPr id="35" name="Shape 33"/>
          <p:cNvSpPr/>
          <p:nvPr/>
        </p:nvSpPr>
        <p:spPr>
          <a:xfrm>
            <a:off x="6208776" y="1847088"/>
            <a:ext cx="5321808" cy="1920240"/>
          </a:xfrm>
          <a:prstGeom prst="roundRect">
            <a:avLst>
              <a:gd name="adj" fmla="val 7619"/>
            </a:avLst>
          </a:prstGeom>
          <a:solidFill>
            <a:srgbClr val="141D19">
              <a:alpha val="88000"/>
            </a:srgbClr>
          </a:solidFill>
          <a:ln w="12700">
            <a:solidFill>
              <a:srgbClr val="6F9C8A"/>
            </a:solidFill>
            <a:prstDash val="solid"/>
          </a:ln>
          <a:effectLst>
            <a:outerShdw sx="100000" sy="100000" kx="0" ky="0" algn="bl" rotWithShape="0" blurRad="152400" dist="25400" dir="5400000">
              <a:srgbClr val="000000">
                <a:alpha val="16000"/>
              </a:srgbClr>
            </a:outerShdw>
          </a:effectLst>
        </p:spPr>
      </p:sp>
      <p:sp>
        <p:nvSpPr>
          <p:cNvPr id="36" name="Text 34"/>
          <p:cNvSpPr txBox="1"/>
          <p:nvPr/>
        </p:nvSpPr>
        <p:spPr>
          <a:xfrm>
            <a:off x="6464808" y="1993392"/>
            <a:ext cx="36576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RESULT</a:t>
            </a:r>
            <a:endParaRPr lang="en-US" sz="950" dirty="0"/>
          </a:p>
        </p:txBody>
      </p:sp>
      <p:sp>
        <p:nvSpPr>
          <p:cNvPr id="37" name="Text 35"/>
          <p:cNvSpPr txBox="1"/>
          <p:nvPr/>
        </p:nvSpPr>
        <p:spPr>
          <a:xfrm>
            <a:off x="6464808" y="2286000"/>
            <a:ext cx="2377440" cy="493776"/>
          </a:xfrm>
          <a:prstGeom prst="rect">
            <a:avLst/>
          </a:prstGeom>
          <a:noFill/>
          <a:ln/>
        </p:spPr>
        <p:txBody>
          <a:bodyPr wrap="square" lIns="0" tIns="0" rIns="0" bIns="0" rtlCol="0" anchor="b"/>
          <a:lstStyle/>
          <a:p>
            <a:pPr indent="0" marL="0">
              <a:buNone/>
            </a:pPr>
            <a:r>
              <a:rPr lang="en-US" sz="3000" b="1" dirty="0">
                <a:solidFill>
                  <a:srgbClr val="6F9C8A"/>
                </a:solidFill>
                <a:latin typeface="Arial" pitchFamily="34" charset="0"/>
                <a:ea typeface="Arial" pitchFamily="34" charset="-122"/>
                <a:cs typeface="Arial" pitchFamily="34" charset="-120"/>
              </a:rPr>
              <a:t>0 / 8</a:t>
            </a:r>
            <a:endParaRPr lang="en-US" sz="3000" dirty="0"/>
          </a:p>
        </p:txBody>
      </p:sp>
      <p:sp>
        <p:nvSpPr>
          <p:cNvPr id="38" name="Text 36"/>
          <p:cNvSpPr txBox="1"/>
          <p:nvPr/>
        </p:nvSpPr>
        <p:spPr>
          <a:xfrm>
            <a:off x="6464808" y="2798064"/>
            <a:ext cx="2377440" cy="402336"/>
          </a:xfrm>
          <a:prstGeom prst="rect">
            <a:avLst/>
          </a:prstGeom>
          <a:noFill/>
          <a:ln/>
        </p:spPr>
        <p:txBody>
          <a:bodyPr wrap="square" lIns="0" tIns="0" rIns="0" bIns="0" rtlCol="0" anchor="t"/>
          <a:lstStyle/>
          <a:p>
            <a:pPr indent="0" marL="0">
              <a:lnSpc>
                <a:spcPct val="110000"/>
              </a:lnSpc>
              <a:buNone/>
            </a:pPr>
            <a:r>
              <a:rPr lang="en-US" sz="1150" dirty="0">
                <a:solidFill>
                  <a:srgbClr val="8CA096"/>
                </a:solidFill>
                <a:latin typeface="Calibri" pitchFamily="34" charset="0"/>
                <a:ea typeface="Calibri" pitchFamily="34" charset="-122"/>
                <a:cs typeface="Calibri" pitchFamily="34" charset="-120"/>
              </a:rPr>
              <a:t>out-of-corpus questions answered</a:t>
            </a:r>
            <a:endParaRPr lang="en-US" sz="1150" dirty="0"/>
          </a:p>
        </p:txBody>
      </p:sp>
      <p:sp>
        <p:nvSpPr>
          <p:cNvPr id="39" name="Text 37"/>
          <p:cNvSpPr txBox="1"/>
          <p:nvPr/>
        </p:nvSpPr>
        <p:spPr>
          <a:xfrm>
            <a:off x="8961120" y="2286000"/>
            <a:ext cx="2377440" cy="493776"/>
          </a:xfrm>
          <a:prstGeom prst="rect">
            <a:avLst/>
          </a:prstGeom>
          <a:noFill/>
          <a:ln/>
        </p:spPr>
        <p:txBody>
          <a:bodyPr wrap="square" lIns="0" tIns="0" rIns="0" bIns="0" rtlCol="0" anchor="b"/>
          <a:lstStyle/>
          <a:p>
            <a:pPr indent="0" marL="0">
              <a:buNone/>
            </a:pPr>
            <a:r>
              <a:rPr lang="en-US" sz="3000" b="1" dirty="0">
                <a:solidFill>
                  <a:srgbClr val="6F9C8A"/>
                </a:solidFill>
                <a:latin typeface="Arial" pitchFamily="34" charset="0"/>
                <a:ea typeface="Arial" pitchFamily="34" charset="-122"/>
                <a:cs typeface="Arial" pitchFamily="34" charset="-120"/>
              </a:rPr>
              <a:t>0 / 10</a:t>
            </a:r>
            <a:endParaRPr lang="en-US" sz="3000" dirty="0"/>
          </a:p>
        </p:txBody>
      </p:sp>
      <p:sp>
        <p:nvSpPr>
          <p:cNvPr id="40" name="Text 38"/>
          <p:cNvSpPr txBox="1"/>
          <p:nvPr/>
        </p:nvSpPr>
        <p:spPr>
          <a:xfrm>
            <a:off x="8961120" y="2798064"/>
            <a:ext cx="2377440" cy="402336"/>
          </a:xfrm>
          <a:prstGeom prst="rect">
            <a:avLst/>
          </a:prstGeom>
          <a:noFill/>
          <a:ln/>
        </p:spPr>
        <p:txBody>
          <a:bodyPr wrap="square" lIns="0" tIns="0" rIns="0" bIns="0" rtlCol="0" anchor="t"/>
          <a:lstStyle/>
          <a:p>
            <a:pPr indent="0" marL="0">
              <a:lnSpc>
                <a:spcPct val="110000"/>
              </a:lnSpc>
              <a:buNone/>
            </a:pPr>
            <a:r>
              <a:rPr lang="en-US" sz="1150" dirty="0">
                <a:solidFill>
                  <a:srgbClr val="8CA096"/>
                </a:solidFill>
                <a:latin typeface="Calibri" pitchFamily="34" charset="0"/>
                <a:ea typeface="Calibri" pitchFamily="34" charset="-122"/>
                <a:cs typeface="Calibri" pitchFamily="34" charset="-120"/>
              </a:rPr>
              <a:t>in-corpus questions refused</a:t>
            </a:r>
            <a:endParaRPr lang="en-US" sz="1150" dirty="0"/>
          </a:p>
        </p:txBody>
      </p:sp>
      <p:sp>
        <p:nvSpPr>
          <p:cNvPr id="41" name="Text 39"/>
          <p:cNvSpPr txBox="1"/>
          <p:nvPr/>
        </p:nvSpPr>
        <p:spPr>
          <a:xfrm>
            <a:off x="6464808" y="3401568"/>
            <a:ext cx="4809744" cy="219456"/>
          </a:xfrm>
          <a:prstGeom prst="rect">
            <a:avLst/>
          </a:prstGeom>
          <a:noFill/>
          <a:ln/>
        </p:spPr>
        <p:txBody>
          <a:bodyPr wrap="square" lIns="0" tIns="0" rIns="0" bIns="0" rtlCol="0" anchor="ctr"/>
          <a:lstStyle/>
          <a:p>
            <a:pPr algn="l" indent="0" marL="0">
              <a:buNone/>
            </a:pPr>
            <a:r>
              <a:rPr lang="en-US" sz="900" dirty="0">
                <a:solidFill>
                  <a:srgbClr val="5D7268"/>
                </a:solidFill>
                <a:latin typeface="Courier New" pitchFamily="34" charset="0"/>
                <a:ea typeface="Courier New" pitchFamily="34" charset="-122"/>
                <a:cs typeface="Courier New" pitchFamily="34" charset="-120"/>
              </a:rPr>
              <a:t>identical before and after drill demotion</a:t>
            </a:r>
            <a:endParaRPr lang="en-US" sz="900" dirty="0"/>
          </a:p>
        </p:txBody>
      </p:sp>
      <p:sp>
        <p:nvSpPr>
          <p:cNvPr id="42" name="Shape 40"/>
          <p:cNvSpPr/>
          <p:nvPr/>
        </p:nvSpPr>
        <p:spPr>
          <a:xfrm>
            <a:off x="658368" y="3913632"/>
            <a:ext cx="10874959" cy="1956816"/>
          </a:xfrm>
          <a:prstGeom prst="roundRect">
            <a:avLst>
              <a:gd name="adj" fmla="val 747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43" name="Text 41"/>
          <p:cNvSpPr txBox="1"/>
          <p:nvPr/>
        </p:nvSpPr>
        <p:spPr>
          <a:xfrm>
            <a:off x="932688" y="4059936"/>
            <a:ext cx="45720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WORKED EXAMPLES</a:t>
            </a:r>
            <a:endParaRPr lang="en-US" sz="950" dirty="0"/>
          </a:p>
        </p:txBody>
      </p:sp>
      <p:sp>
        <p:nvSpPr>
          <p:cNvPr id="44" name="Text 42"/>
          <p:cNvSpPr txBox="1"/>
          <p:nvPr/>
        </p:nvSpPr>
        <p:spPr>
          <a:xfrm>
            <a:off x="932688" y="4370832"/>
            <a:ext cx="4572000"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“how do I stop speaking too fast”</a:t>
            </a:r>
            <a:endParaRPr lang="en-US" sz="1000" dirty="0"/>
          </a:p>
        </p:txBody>
      </p:sp>
      <p:sp>
        <p:nvSpPr>
          <p:cNvPr id="45" name="Text 43"/>
          <p:cNvSpPr txBox="1"/>
          <p:nvPr/>
        </p:nvSpPr>
        <p:spPr>
          <a:xfrm>
            <a:off x="5596128" y="4370832"/>
            <a:ext cx="731520" cy="219456"/>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0.71</a:t>
            </a:r>
            <a:endParaRPr lang="en-US" sz="1000" dirty="0"/>
          </a:p>
        </p:txBody>
      </p:sp>
      <p:sp>
        <p:nvSpPr>
          <p:cNvPr id="46" name="Text 44"/>
          <p:cNvSpPr txBox="1"/>
          <p:nvPr/>
        </p:nvSpPr>
        <p:spPr>
          <a:xfrm>
            <a:off x="6510528" y="4370832"/>
            <a:ext cx="4754880" cy="219456"/>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in corpus</a:t>
            </a:r>
            <a:endParaRPr lang="en-US" sz="1000" dirty="0"/>
          </a:p>
        </p:txBody>
      </p:sp>
      <p:sp>
        <p:nvSpPr>
          <p:cNvPr id="47" name="Text 45"/>
          <p:cNvSpPr txBox="1"/>
          <p:nvPr/>
        </p:nvSpPr>
        <p:spPr>
          <a:xfrm>
            <a:off x="932688" y="4617720"/>
            <a:ext cx="4572000"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“how can I use pauses more effectively”</a:t>
            </a:r>
            <a:endParaRPr lang="en-US" sz="1000" dirty="0"/>
          </a:p>
        </p:txBody>
      </p:sp>
      <p:sp>
        <p:nvSpPr>
          <p:cNvPr id="48" name="Text 46"/>
          <p:cNvSpPr txBox="1"/>
          <p:nvPr/>
        </p:nvSpPr>
        <p:spPr>
          <a:xfrm>
            <a:off x="5596128" y="4617720"/>
            <a:ext cx="731520" cy="219456"/>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0.775</a:t>
            </a:r>
            <a:endParaRPr lang="en-US" sz="1000" dirty="0"/>
          </a:p>
        </p:txBody>
      </p:sp>
      <p:sp>
        <p:nvSpPr>
          <p:cNvPr id="49" name="Text 47"/>
          <p:cNvSpPr txBox="1"/>
          <p:nvPr/>
        </p:nvSpPr>
        <p:spPr>
          <a:xfrm>
            <a:off x="6510528" y="4617720"/>
            <a:ext cx="4754880" cy="219456"/>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in corpus</a:t>
            </a:r>
            <a:endParaRPr lang="en-US" sz="1000" dirty="0"/>
          </a:p>
        </p:txBody>
      </p:sp>
      <p:sp>
        <p:nvSpPr>
          <p:cNvPr id="50" name="Text 48"/>
          <p:cNvSpPr txBox="1"/>
          <p:nvPr/>
        </p:nvSpPr>
        <p:spPr>
          <a:xfrm>
            <a:off x="932688" y="4864608"/>
            <a:ext cx="4572000"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“how do I stop sounding monotonous”</a:t>
            </a:r>
            <a:endParaRPr lang="en-US" sz="1000" dirty="0"/>
          </a:p>
        </p:txBody>
      </p:sp>
      <p:sp>
        <p:nvSpPr>
          <p:cNvPr id="51" name="Text 49"/>
          <p:cNvSpPr txBox="1"/>
          <p:nvPr/>
        </p:nvSpPr>
        <p:spPr>
          <a:xfrm>
            <a:off x="5596128" y="4864608"/>
            <a:ext cx="731520" cy="219456"/>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0.722</a:t>
            </a:r>
            <a:endParaRPr lang="en-US" sz="1000" dirty="0"/>
          </a:p>
        </p:txBody>
      </p:sp>
      <p:sp>
        <p:nvSpPr>
          <p:cNvPr id="52" name="Text 50"/>
          <p:cNvSpPr txBox="1"/>
          <p:nvPr/>
        </p:nvSpPr>
        <p:spPr>
          <a:xfrm>
            <a:off x="6510528" y="4864608"/>
            <a:ext cx="4754880" cy="219456"/>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in corpus</a:t>
            </a:r>
            <a:endParaRPr lang="en-US" sz="1000" dirty="0"/>
          </a:p>
        </p:txBody>
      </p:sp>
      <p:sp>
        <p:nvSpPr>
          <p:cNvPr id="53" name="Text 51"/>
          <p:cNvSpPr txBox="1"/>
          <p:nvPr/>
        </p:nvSpPr>
        <p:spPr>
          <a:xfrm>
            <a:off x="932688" y="5111496"/>
            <a:ext cx="4572000"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“how do I train for a marathon”</a:t>
            </a:r>
            <a:endParaRPr lang="en-US" sz="1000" dirty="0"/>
          </a:p>
        </p:txBody>
      </p:sp>
      <p:sp>
        <p:nvSpPr>
          <p:cNvPr id="54" name="Text 52"/>
          <p:cNvSpPr txBox="1"/>
          <p:nvPr/>
        </p:nvSpPr>
        <p:spPr>
          <a:xfrm>
            <a:off x="5596128" y="5111496"/>
            <a:ext cx="731520" cy="219456"/>
          </a:xfrm>
          <a:prstGeom prst="rect">
            <a:avLst/>
          </a:prstGeom>
          <a:noFill/>
          <a:ln/>
        </p:spPr>
        <p:txBody>
          <a:bodyPr wrap="square" lIns="0" tIns="0" rIns="0" bIns="0" rtlCol="0" anchor="ctr"/>
          <a:lstStyle/>
          <a:p>
            <a:pPr algn="l" indent="0" marL="0">
              <a:buNone/>
            </a:pPr>
            <a:r>
              <a:rPr lang="en-US" sz="1000" b="1" dirty="0">
                <a:solidFill>
                  <a:srgbClr val="E8705C"/>
                </a:solidFill>
                <a:latin typeface="Courier New" pitchFamily="34" charset="0"/>
                <a:ea typeface="Courier New" pitchFamily="34" charset="-122"/>
                <a:cs typeface="Courier New" pitchFamily="34" charset="-120"/>
              </a:rPr>
              <a:t>0.619</a:t>
            </a:r>
            <a:endParaRPr lang="en-US" sz="1000" dirty="0"/>
          </a:p>
        </p:txBody>
      </p:sp>
      <p:sp>
        <p:nvSpPr>
          <p:cNvPr id="55" name="Text 53"/>
          <p:cNvSpPr txBox="1"/>
          <p:nvPr/>
        </p:nvSpPr>
        <p:spPr>
          <a:xfrm>
            <a:off x="6510528" y="5111496"/>
            <a:ext cx="4754880" cy="219456"/>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out — the highest false match</a:t>
            </a:r>
            <a:endParaRPr lang="en-US" sz="1000" dirty="0"/>
          </a:p>
        </p:txBody>
      </p:sp>
      <p:sp>
        <p:nvSpPr>
          <p:cNvPr id="56" name="Text 54"/>
          <p:cNvSpPr txBox="1"/>
          <p:nvPr/>
        </p:nvSpPr>
        <p:spPr>
          <a:xfrm>
            <a:off x="932688" y="5358384"/>
            <a:ext cx="4572000"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“how do I change a diesel oil filter”</a:t>
            </a:r>
            <a:endParaRPr lang="en-US" sz="1000" dirty="0"/>
          </a:p>
        </p:txBody>
      </p:sp>
      <p:sp>
        <p:nvSpPr>
          <p:cNvPr id="57" name="Text 55"/>
          <p:cNvSpPr txBox="1"/>
          <p:nvPr/>
        </p:nvSpPr>
        <p:spPr>
          <a:xfrm>
            <a:off x="5596128" y="5358384"/>
            <a:ext cx="731520" cy="219456"/>
          </a:xfrm>
          <a:prstGeom prst="rect">
            <a:avLst/>
          </a:prstGeom>
          <a:noFill/>
          <a:ln/>
        </p:spPr>
        <p:txBody>
          <a:bodyPr wrap="square" lIns="0" tIns="0" rIns="0" bIns="0" rtlCol="0" anchor="ctr"/>
          <a:lstStyle/>
          <a:p>
            <a:pPr algn="l" indent="0" marL="0">
              <a:buNone/>
            </a:pPr>
            <a:r>
              <a:rPr lang="en-US" sz="1000" b="1" dirty="0">
                <a:solidFill>
                  <a:srgbClr val="E8705C"/>
                </a:solidFill>
                <a:latin typeface="Courier New" pitchFamily="34" charset="0"/>
                <a:ea typeface="Courier New" pitchFamily="34" charset="-122"/>
                <a:cs typeface="Courier New" pitchFamily="34" charset="-120"/>
              </a:rPr>
              <a:t>0.48</a:t>
            </a:r>
            <a:endParaRPr lang="en-US" sz="1000" dirty="0"/>
          </a:p>
        </p:txBody>
      </p:sp>
      <p:sp>
        <p:nvSpPr>
          <p:cNvPr id="58" name="Text 56"/>
          <p:cNvSpPr txBox="1"/>
          <p:nvPr/>
        </p:nvSpPr>
        <p:spPr>
          <a:xfrm>
            <a:off x="6510528" y="5358384"/>
            <a:ext cx="4754880" cy="219456"/>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out</a:t>
            </a:r>
            <a:endParaRPr lang="en-US" sz="1000" dirty="0"/>
          </a:p>
        </p:txBody>
      </p:sp>
      <p:sp>
        <p:nvSpPr>
          <p:cNvPr id="59" name="Text 57"/>
          <p:cNvSpPr txBox="1"/>
          <p:nvPr/>
        </p:nvSpPr>
        <p:spPr>
          <a:xfrm>
            <a:off x="932688" y="5605272"/>
            <a:ext cx="4572000"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“what is the capital of Mongolia”</a:t>
            </a:r>
            <a:endParaRPr lang="en-US" sz="1000" dirty="0"/>
          </a:p>
        </p:txBody>
      </p:sp>
      <p:sp>
        <p:nvSpPr>
          <p:cNvPr id="60" name="Text 58"/>
          <p:cNvSpPr txBox="1"/>
          <p:nvPr/>
        </p:nvSpPr>
        <p:spPr>
          <a:xfrm>
            <a:off x="5596128" y="5605272"/>
            <a:ext cx="731520" cy="219456"/>
          </a:xfrm>
          <a:prstGeom prst="rect">
            <a:avLst/>
          </a:prstGeom>
          <a:noFill/>
          <a:ln/>
        </p:spPr>
        <p:txBody>
          <a:bodyPr wrap="square" lIns="0" tIns="0" rIns="0" bIns="0" rtlCol="0" anchor="ctr"/>
          <a:lstStyle/>
          <a:p>
            <a:pPr algn="l" indent="0" marL="0">
              <a:buNone/>
            </a:pPr>
            <a:r>
              <a:rPr lang="en-US" sz="1000" b="1" dirty="0">
                <a:solidFill>
                  <a:srgbClr val="E8705C"/>
                </a:solidFill>
                <a:latin typeface="Courier New" pitchFamily="34" charset="0"/>
                <a:ea typeface="Courier New" pitchFamily="34" charset="-122"/>
                <a:cs typeface="Courier New" pitchFamily="34" charset="-120"/>
              </a:rPr>
              <a:t>0.35</a:t>
            </a:r>
            <a:endParaRPr lang="en-US" sz="1000" dirty="0"/>
          </a:p>
        </p:txBody>
      </p:sp>
      <p:sp>
        <p:nvSpPr>
          <p:cNvPr id="61" name="Text 59"/>
          <p:cNvSpPr txBox="1"/>
          <p:nvPr/>
        </p:nvSpPr>
        <p:spPr>
          <a:xfrm>
            <a:off x="6510528" y="5605272"/>
            <a:ext cx="4754880" cy="219456"/>
          </a:xfrm>
          <a:prstGeom prst="rect">
            <a:avLst/>
          </a:prstGeom>
          <a:noFill/>
          <a:ln/>
        </p:spPr>
        <p:txBody>
          <a:bodyPr wrap="square" lIns="0" tIns="0" rIns="0" bIns="0" rtlCol="0" anchor="t"/>
          <a:lstStyle/>
          <a:p>
            <a:pPr algn="l" indent="0" marL="0">
              <a:lnSpc>
                <a:spcPct val="120000"/>
              </a:lnSpc>
              <a:buNone/>
            </a:pPr>
            <a:r>
              <a:rPr lang="en-US" sz="1000" dirty="0">
                <a:solidFill>
                  <a:srgbClr val="8CA096"/>
                </a:solidFill>
                <a:latin typeface="Calibri" pitchFamily="34" charset="0"/>
                <a:ea typeface="Calibri" pitchFamily="34" charset="-122"/>
                <a:cs typeface="Calibri" pitchFamily="34" charset="-120"/>
              </a:rPr>
              <a:t>out — and 0.28 would have admitted it</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A9</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Demoting drills instead of deleting them</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backend/app/services/ingestion.py  ·  docs/FIX_LOG.md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A9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82296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A worked example of a fix where the obvious answer was wrong and the measurement said so.</a:t>
            </a:r>
            <a:endParaRPr lang="en-US" sz="1500" dirty="0"/>
          </a:p>
        </p:txBody>
      </p:sp>
      <p:sp>
        <p:nvSpPr>
          <p:cNvPr id="11" name="Shape 9"/>
          <p:cNvSpPr/>
          <p:nvPr/>
        </p:nvSpPr>
        <p:spPr>
          <a:xfrm>
            <a:off x="658368" y="1847088"/>
            <a:ext cx="2615184" cy="2066544"/>
          </a:xfrm>
          <a:prstGeom prst="roundRect">
            <a:avLst>
              <a:gd name="adj" fmla="val 7080"/>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859536" y="1975104"/>
            <a:ext cx="2212848" cy="237744"/>
          </a:xfrm>
          <a:prstGeom prst="rect">
            <a:avLst/>
          </a:prstGeom>
          <a:noFill/>
          <a:ln/>
        </p:spPr>
        <p:txBody>
          <a:bodyPr wrap="square" lIns="0" tIns="0" rIns="0" bIns="0" rtlCol="0" anchor="t"/>
          <a:lstStyle/>
          <a:p>
            <a:pPr algn="l" indent="0" marL="0">
              <a:lnSpc>
                <a:spcPct val="120000"/>
              </a:lnSpc>
              <a:buNone/>
            </a:pPr>
            <a:r>
              <a:rPr lang="en-US" sz="1250" b="1" dirty="0">
                <a:solidFill>
                  <a:srgbClr val="6F9C8A"/>
                </a:solidFill>
                <a:latin typeface="Calibri" pitchFamily="34" charset="0"/>
                <a:ea typeface="Calibri" pitchFamily="34" charset="-122"/>
                <a:cs typeface="Calibri" pitchFamily="34" charset="-120"/>
              </a:rPr>
              <a:t>The symptom</a:t>
            </a:r>
            <a:endParaRPr lang="en-US" sz="1250" dirty="0"/>
          </a:p>
        </p:txBody>
      </p:sp>
      <p:sp>
        <p:nvSpPr>
          <p:cNvPr id="13" name="Text 11"/>
          <p:cNvSpPr txBox="1"/>
          <p:nvPr/>
        </p:nvSpPr>
        <p:spPr>
          <a:xfrm>
            <a:off x="859536" y="2267712"/>
            <a:ext cx="2212848" cy="1517904"/>
          </a:xfrm>
          <a:prstGeom prst="rect">
            <a:avLst/>
          </a:prstGeom>
          <a:noFill/>
          <a:ln/>
        </p:spPr>
        <p:txBody>
          <a:bodyPr wrap="square" lIns="0" tIns="0" rIns="0" bIns="0" rtlCol="0" anchor="t"/>
          <a:lstStyle/>
          <a:p>
            <a:pPr algn="l" indent="0" marL="0">
              <a:lnSpc>
                <a:spcPct val="116000"/>
              </a:lnSpc>
              <a:buNone/>
            </a:pPr>
            <a:r>
              <a:rPr lang="en-US" sz="950" dirty="0">
                <a:solidFill>
                  <a:srgbClr val="8CA096"/>
                </a:solidFill>
                <a:latin typeface="Calibri" pitchFamily="34" charset="0"/>
                <a:ea typeface="Calibri" pitchFamily="34" charset="-122"/>
                <a:cs typeface="Calibri" pitchFamily="34" charset="-120"/>
              </a:rPr>
              <a:t>A citation returned for “how do I use pauses” was back-of-chapter homework: “2. What are the four special effects of pause?”. Answering a question with homework.</a:t>
            </a:r>
            <a:endParaRPr lang="en-US" sz="950" dirty="0"/>
          </a:p>
        </p:txBody>
      </p:sp>
      <p:sp>
        <p:nvSpPr>
          <p:cNvPr id="14" name="Shape 12"/>
          <p:cNvSpPr/>
          <p:nvPr/>
        </p:nvSpPr>
        <p:spPr>
          <a:xfrm>
            <a:off x="3401568" y="1847088"/>
            <a:ext cx="2615184" cy="2066544"/>
          </a:xfrm>
          <a:prstGeom prst="roundRect">
            <a:avLst>
              <a:gd name="adj" fmla="val 7080"/>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5" name="Text 13"/>
          <p:cNvSpPr txBox="1"/>
          <p:nvPr/>
        </p:nvSpPr>
        <p:spPr>
          <a:xfrm>
            <a:off x="3602736" y="1975104"/>
            <a:ext cx="2212848" cy="237744"/>
          </a:xfrm>
          <a:prstGeom prst="rect">
            <a:avLst/>
          </a:prstGeom>
          <a:noFill/>
          <a:ln/>
        </p:spPr>
        <p:txBody>
          <a:bodyPr wrap="square" lIns="0" tIns="0" rIns="0" bIns="0" rtlCol="0" anchor="t"/>
          <a:lstStyle/>
          <a:p>
            <a:pPr algn="l" indent="0" marL="0">
              <a:lnSpc>
                <a:spcPct val="120000"/>
              </a:lnSpc>
              <a:buNone/>
            </a:pPr>
            <a:r>
              <a:rPr lang="en-US" sz="1250" b="1" dirty="0">
                <a:solidFill>
                  <a:srgbClr val="6F9C8A"/>
                </a:solidFill>
                <a:latin typeface="Calibri" pitchFamily="34" charset="0"/>
                <a:ea typeface="Calibri" pitchFamily="34" charset="-122"/>
                <a:cs typeface="Calibri" pitchFamily="34" charset="-120"/>
              </a:rPr>
              <a:t>The measurement</a:t>
            </a:r>
            <a:endParaRPr lang="en-US" sz="1250" dirty="0"/>
          </a:p>
        </p:txBody>
      </p:sp>
      <p:sp>
        <p:nvSpPr>
          <p:cNvPr id="16" name="Text 14"/>
          <p:cNvSpPr txBox="1"/>
          <p:nvPr/>
        </p:nvSpPr>
        <p:spPr>
          <a:xfrm>
            <a:off x="3602736" y="2267712"/>
            <a:ext cx="2212848" cy="1517904"/>
          </a:xfrm>
          <a:prstGeom prst="rect">
            <a:avLst/>
          </a:prstGeom>
          <a:noFill/>
          <a:ln/>
        </p:spPr>
        <p:txBody>
          <a:bodyPr wrap="square" lIns="0" tIns="0" rIns="0" bIns="0" rtlCol="0" anchor="t"/>
          <a:lstStyle/>
          <a:p>
            <a:pPr algn="l" indent="0" marL="0">
              <a:lnSpc>
                <a:spcPct val="116000"/>
              </a:lnSpc>
              <a:buNone/>
            </a:pPr>
            <a:r>
              <a:rPr lang="en-US" sz="950" dirty="0">
                <a:solidFill>
                  <a:srgbClr val="8CA096"/>
                </a:solidFill>
                <a:latin typeface="Calibri" pitchFamily="34" charset="0"/>
                <a:ea typeface="Calibri" pitchFamily="34" charset="-122"/>
                <a:cs typeface="Calibri" pitchFamily="34" charset="-120"/>
              </a:rPr>
              <a:t>A structural detector — a run of ≥3 ascending numbered items that occupies at least 60% of the chunk — finds 56 chunks, 5.3% of the corpus. An earlier naive count that flagged any numbered line gave 11.7%.</a:t>
            </a:r>
            <a:endParaRPr lang="en-US" sz="950" dirty="0"/>
          </a:p>
        </p:txBody>
      </p:sp>
      <p:sp>
        <p:nvSpPr>
          <p:cNvPr id="17" name="Shape 15"/>
          <p:cNvSpPr/>
          <p:nvPr/>
        </p:nvSpPr>
        <p:spPr>
          <a:xfrm>
            <a:off x="6144768" y="1847088"/>
            <a:ext cx="2615184" cy="2066544"/>
          </a:xfrm>
          <a:prstGeom prst="roundRect">
            <a:avLst>
              <a:gd name="adj" fmla="val 7080"/>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8" name="Text 16"/>
          <p:cNvSpPr txBox="1"/>
          <p:nvPr/>
        </p:nvSpPr>
        <p:spPr>
          <a:xfrm>
            <a:off x="6345936" y="1975104"/>
            <a:ext cx="2212848" cy="237744"/>
          </a:xfrm>
          <a:prstGeom prst="rect">
            <a:avLst/>
          </a:prstGeom>
          <a:noFill/>
          <a:ln/>
        </p:spPr>
        <p:txBody>
          <a:bodyPr wrap="square" lIns="0" tIns="0" rIns="0" bIns="0" rtlCol="0" anchor="t"/>
          <a:lstStyle/>
          <a:p>
            <a:pPr algn="l" indent="0" marL="0">
              <a:lnSpc>
                <a:spcPct val="120000"/>
              </a:lnSpc>
              <a:buNone/>
            </a:pPr>
            <a:r>
              <a:rPr lang="en-US" sz="1250" b="1" dirty="0">
                <a:solidFill>
                  <a:srgbClr val="6F9C8A"/>
                </a:solidFill>
                <a:latin typeface="Calibri" pitchFamily="34" charset="0"/>
                <a:ea typeface="Calibri" pitchFamily="34" charset="-122"/>
                <a:cs typeface="Calibri" pitchFamily="34" charset="-120"/>
              </a:rPr>
              <a:t>Why not delete them</a:t>
            </a:r>
            <a:endParaRPr lang="en-US" sz="1250" dirty="0"/>
          </a:p>
        </p:txBody>
      </p:sp>
      <p:sp>
        <p:nvSpPr>
          <p:cNvPr id="19" name="Text 17"/>
          <p:cNvSpPr txBox="1"/>
          <p:nvPr/>
        </p:nvSpPr>
        <p:spPr>
          <a:xfrm>
            <a:off x="6345936" y="2267712"/>
            <a:ext cx="2212848" cy="1517904"/>
          </a:xfrm>
          <a:prstGeom prst="rect">
            <a:avLst/>
          </a:prstGeom>
          <a:noFill/>
          <a:ln/>
        </p:spPr>
        <p:txBody>
          <a:bodyPr wrap="square" lIns="0" tIns="0" rIns="0" bIns="0" rtlCol="0" anchor="t"/>
          <a:lstStyle/>
          <a:p>
            <a:pPr algn="l" indent="0" marL="0">
              <a:lnSpc>
                <a:spcPct val="116000"/>
              </a:lnSpc>
              <a:buNone/>
            </a:pPr>
            <a:r>
              <a:rPr lang="en-US" sz="950" dirty="0">
                <a:solidFill>
                  <a:srgbClr val="8CA096"/>
                </a:solidFill>
                <a:latin typeface="Calibri" pitchFamily="34" charset="0"/>
                <a:ea typeface="Calibri" pitchFamily="34" charset="-122"/>
                <a:cs typeface="Calibri" pitchFamily="34" charset="-120"/>
              </a:rPr>
              <a:t>25% of what the detector flags is majority prose: chunks overlap, so a genuine passage often carries a numbered tail from the drill after it. Deleting on a flag discards real coaching material one time in four. And removing 5% of the corpus moves a gate whose in/out band is 0.077 wide.</a:t>
            </a:r>
            <a:endParaRPr lang="en-US" sz="950" dirty="0"/>
          </a:p>
        </p:txBody>
      </p:sp>
      <p:sp>
        <p:nvSpPr>
          <p:cNvPr id="20" name="Shape 18"/>
          <p:cNvSpPr/>
          <p:nvPr/>
        </p:nvSpPr>
        <p:spPr>
          <a:xfrm>
            <a:off x="8887968" y="1847088"/>
            <a:ext cx="2615184" cy="2066544"/>
          </a:xfrm>
          <a:prstGeom prst="roundRect">
            <a:avLst>
              <a:gd name="adj" fmla="val 7080"/>
            </a:avLst>
          </a:prstGeom>
          <a:solidFill>
            <a:srgbClr val="141D19">
              <a:alpha val="7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21" name="Text 19"/>
          <p:cNvSpPr txBox="1"/>
          <p:nvPr/>
        </p:nvSpPr>
        <p:spPr>
          <a:xfrm>
            <a:off x="9089136" y="1975104"/>
            <a:ext cx="2212848" cy="237744"/>
          </a:xfrm>
          <a:prstGeom prst="rect">
            <a:avLst/>
          </a:prstGeom>
          <a:noFill/>
          <a:ln/>
        </p:spPr>
        <p:txBody>
          <a:bodyPr wrap="square" lIns="0" tIns="0" rIns="0" bIns="0" rtlCol="0" anchor="t"/>
          <a:lstStyle/>
          <a:p>
            <a:pPr algn="l" indent="0" marL="0">
              <a:lnSpc>
                <a:spcPct val="120000"/>
              </a:lnSpc>
              <a:buNone/>
            </a:pPr>
            <a:r>
              <a:rPr lang="en-US" sz="1250" b="1" dirty="0">
                <a:solidFill>
                  <a:srgbClr val="F9BF29"/>
                </a:solidFill>
                <a:latin typeface="Calibri" pitchFamily="34" charset="0"/>
                <a:ea typeface="Calibri" pitchFamily="34" charset="-122"/>
                <a:cs typeface="Calibri" pitchFamily="34" charset="-120"/>
              </a:rPr>
              <a:t>The fix</a:t>
            </a:r>
            <a:endParaRPr lang="en-US" sz="1250" dirty="0"/>
          </a:p>
        </p:txBody>
      </p:sp>
      <p:sp>
        <p:nvSpPr>
          <p:cNvPr id="22" name="Text 20"/>
          <p:cNvSpPr txBox="1"/>
          <p:nvPr/>
        </p:nvSpPr>
        <p:spPr>
          <a:xfrm>
            <a:off x="9089136" y="2267712"/>
            <a:ext cx="2212848" cy="1517904"/>
          </a:xfrm>
          <a:prstGeom prst="rect">
            <a:avLst/>
          </a:prstGeom>
          <a:noFill/>
          <a:ln/>
        </p:spPr>
        <p:txBody>
          <a:bodyPr wrap="square" lIns="0" tIns="0" rIns="0" bIns="0" rtlCol="0" anchor="t"/>
          <a:lstStyle/>
          <a:p>
            <a:pPr algn="l" indent="0" marL="0">
              <a:lnSpc>
                <a:spcPct val="116000"/>
              </a:lnSpc>
              <a:buNone/>
            </a:pPr>
            <a:r>
              <a:rPr lang="en-US" sz="950" dirty="0">
                <a:solidFill>
                  <a:srgbClr val="8CA096"/>
                </a:solidFill>
                <a:latin typeface="Calibri" pitchFamily="34" charset="0"/>
                <a:ea typeface="Calibri" pitchFamily="34" charset="-122"/>
                <a:cs typeface="Calibri" pitchFamily="34" charset="-120"/>
              </a:rPr>
              <a:t>is_drill goes into chunk metadata at ingest. mmr_select subtracts 0.15 from a flagged chunk's relevance when ranking citations — after the gate has already run on true similarity. Marked, never removed.</a:t>
            </a:r>
            <a:endParaRPr lang="en-US" sz="950" dirty="0"/>
          </a:p>
        </p:txBody>
      </p:sp>
      <p:sp>
        <p:nvSpPr>
          <p:cNvPr id="23" name="Shape 21"/>
          <p:cNvSpPr/>
          <p:nvPr/>
        </p:nvSpPr>
        <p:spPr>
          <a:xfrm>
            <a:off x="658368" y="4059936"/>
            <a:ext cx="10874959" cy="1810512"/>
          </a:xfrm>
          <a:prstGeom prst="roundRect">
            <a:avLst>
              <a:gd name="adj" fmla="val 8081"/>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4" name="Text 22"/>
          <p:cNvSpPr txBox="1"/>
          <p:nvPr/>
        </p:nvSpPr>
        <p:spPr>
          <a:xfrm>
            <a:off x="932688" y="4206240"/>
            <a:ext cx="64008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VERIFICATION — RE-INGESTED AT 1,057 CHUNKS, 56 MARKED</a:t>
            </a:r>
            <a:endParaRPr lang="en-US" sz="950" dirty="0"/>
          </a:p>
        </p:txBody>
      </p:sp>
      <p:sp>
        <p:nvSpPr>
          <p:cNvPr id="25" name="Text 23"/>
          <p:cNvSpPr txBox="1"/>
          <p:nvPr/>
        </p:nvSpPr>
        <p:spPr>
          <a:xfrm>
            <a:off x="932688" y="4517136"/>
            <a:ext cx="40233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QUERY</a:t>
            </a:r>
            <a:endParaRPr lang="en-US" sz="850" dirty="0"/>
          </a:p>
        </p:txBody>
      </p:sp>
      <p:sp>
        <p:nvSpPr>
          <p:cNvPr id="26" name="Text 24"/>
          <p:cNvSpPr txBox="1"/>
          <p:nvPr/>
        </p:nvSpPr>
        <p:spPr>
          <a:xfrm>
            <a:off x="4956048" y="4517136"/>
            <a:ext cx="182880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DRILLS CITED BEFORE</a:t>
            </a:r>
            <a:endParaRPr lang="en-US" sz="850" dirty="0"/>
          </a:p>
        </p:txBody>
      </p:sp>
      <p:sp>
        <p:nvSpPr>
          <p:cNvPr id="27" name="Text 25"/>
          <p:cNvSpPr txBox="1"/>
          <p:nvPr/>
        </p:nvSpPr>
        <p:spPr>
          <a:xfrm>
            <a:off x="6784848" y="4517136"/>
            <a:ext cx="11887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AFTER</a:t>
            </a:r>
            <a:endParaRPr lang="en-US" sz="850" dirty="0"/>
          </a:p>
        </p:txBody>
      </p:sp>
      <p:sp>
        <p:nvSpPr>
          <p:cNvPr id="28" name="Text 26"/>
          <p:cNvSpPr txBox="1"/>
          <p:nvPr/>
        </p:nvSpPr>
        <p:spPr>
          <a:xfrm>
            <a:off x="7973568" y="4517136"/>
            <a:ext cx="19202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BEST_SCORE</a:t>
            </a:r>
            <a:endParaRPr lang="en-US" sz="850" dirty="0"/>
          </a:p>
        </p:txBody>
      </p:sp>
      <p:sp>
        <p:nvSpPr>
          <p:cNvPr id="29" name="Text 27"/>
          <p:cNvSpPr txBox="1"/>
          <p:nvPr/>
        </p:nvSpPr>
        <p:spPr>
          <a:xfrm>
            <a:off x="9893808" y="4517136"/>
            <a:ext cx="14630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GATE</a:t>
            </a:r>
            <a:endParaRPr lang="en-US" sz="850" dirty="0"/>
          </a:p>
        </p:txBody>
      </p:sp>
      <p:sp>
        <p:nvSpPr>
          <p:cNvPr id="30" name="Shape 28"/>
          <p:cNvSpPr/>
          <p:nvPr/>
        </p:nvSpPr>
        <p:spPr>
          <a:xfrm>
            <a:off x="932688" y="4791456"/>
            <a:ext cx="10326319" cy="0"/>
          </a:xfrm>
          <a:prstGeom prst="line">
            <a:avLst/>
          </a:prstGeom>
          <a:noFill/>
          <a:ln w="12700">
            <a:solidFill>
              <a:srgbClr val="33463D"/>
            </a:solidFill>
            <a:prstDash val="solid"/>
          </a:ln>
        </p:spPr>
      </p:sp>
      <p:sp>
        <p:nvSpPr>
          <p:cNvPr id="31" name="Text 29"/>
          <p:cNvSpPr txBox="1"/>
          <p:nvPr/>
        </p:nvSpPr>
        <p:spPr>
          <a:xfrm>
            <a:off x="932688" y="4864608"/>
            <a:ext cx="3931920" cy="274320"/>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“use pauses more effectively”</a:t>
            </a:r>
            <a:endParaRPr lang="en-US" sz="1000" dirty="0"/>
          </a:p>
        </p:txBody>
      </p:sp>
      <p:sp>
        <p:nvSpPr>
          <p:cNvPr id="32" name="Text 30"/>
          <p:cNvSpPr txBox="1"/>
          <p:nvPr/>
        </p:nvSpPr>
        <p:spPr>
          <a:xfrm>
            <a:off x="4956048" y="4864608"/>
            <a:ext cx="173736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1</a:t>
            </a:r>
            <a:endParaRPr lang="en-US" sz="1000" dirty="0"/>
          </a:p>
        </p:txBody>
      </p:sp>
      <p:sp>
        <p:nvSpPr>
          <p:cNvPr id="33" name="Text 31"/>
          <p:cNvSpPr txBox="1"/>
          <p:nvPr/>
        </p:nvSpPr>
        <p:spPr>
          <a:xfrm>
            <a:off x="6784848" y="4864608"/>
            <a:ext cx="109728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0</a:t>
            </a:r>
            <a:endParaRPr lang="en-US" sz="1000" dirty="0"/>
          </a:p>
        </p:txBody>
      </p:sp>
      <p:sp>
        <p:nvSpPr>
          <p:cNvPr id="34" name="Text 32"/>
          <p:cNvSpPr txBox="1"/>
          <p:nvPr/>
        </p:nvSpPr>
        <p:spPr>
          <a:xfrm>
            <a:off x="7973568" y="4864608"/>
            <a:ext cx="1828800" cy="274320"/>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0.775 → 0.775</a:t>
            </a:r>
            <a:endParaRPr lang="en-US" sz="1000" dirty="0"/>
          </a:p>
        </p:txBody>
      </p:sp>
      <p:sp>
        <p:nvSpPr>
          <p:cNvPr id="35" name="Text 33"/>
          <p:cNvSpPr txBox="1"/>
          <p:nvPr/>
        </p:nvSpPr>
        <p:spPr>
          <a:xfrm>
            <a:off x="9893808" y="4864608"/>
            <a:ext cx="137160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unmoved</a:t>
            </a:r>
            <a:endParaRPr lang="en-US" sz="1000" dirty="0"/>
          </a:p>
        </p:txBody>
      </p:sp>
      <p:sp>
        <p:nvSpPr>
          <p:cNvPr id="36" name="Shape 34"/>
          <p:cNvSpPr/>
          <p:nvPr/>
        </p:nvSpPr>
        <p:spPr>
          <a:xfrm>
            <a:off x="932688" y="5129784"/>
            <a:ext cx="10326319" cy="0"/>
          </a:xfrm>
          <a:prstGeom prst="line">
            <a:avLst/>
          </a:prstGeom>
          <a:noFill/>
          <a:ln w="12700">
            <a:solidFill>
              <a:srgbClr val="223029"/>
            </a:solidFill>
            <a:prstDash val="solid"/>
          </a:ln>
        </p:spPr>
      </p:sp>
      <p:sp>
        <p:nvSpPr>
          <p:cNvPr id="37" name="Text 35"/>
          <p:cNvSpPr txBox="1"/>
          <p:nvPr/>
        </p:nvSpPr>
        <p:spPr>
          <a:xfrm>
            <a:off x="932688" y="5175504"/>
            <a:ext cx="3931920" cy="274320"/>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“stop sounding monotonous”</a:t>
            </a:r>
            <a:endParaRPr lang="en-US" sz="1000" dirty="0"/>
          </a:p>
        </p:txBody>
      </p:sp>
      <p:sp>
        <p:nvSpPr>
          <p:cNvPr id="38" name="Text 36"/>
          <p:cNvSpPr txBox="1"/>
          <p:nvPr/>
        </p:nvSpPr>
        <p:spPr>
          <a:xfrm>
            <a:off x="4956048" y="5175504"/>
            <a:ext cx="173736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1</a:t>
            </a:r>
            <a:endParaRPr lang="en-US" sz="1000" dirty="0"/>
          </a:p>
        </p:txBody>
      </p:sp>
      <p:sp>
        <p:nvSpPr>
          <p:cNvPr id="39" name="Text 37"/>
          <p:cNvSpPr txBox="1"/>
          <p:nvPr/>
        </p:nvSpPr>
        <p:spPr>
          <a:xfrm>
            <a:off x="6784848" y="5175504"/>
            <a:ext cx="109728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0</a:t>
            </a:r>
            <a:endParaRPr lang="en-US" sz="1000" dirty="0"/>
          </a:p>
        </p:txBody>
      </p:sp>
      <p:sp>
        <p:nvSpPr>
          <p:cNvPr id="40" name="Text 38"/>
          <p:cNvSpPr txBox="1"/>
          <p:nvPr/>
        </p:nvSpPr>
        <p:spPr>
          <a:xfrm>
            <a:off x="7973568" y="5175504"/>
            <a:ext cx="1828800" cy="274320"/>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0.722 → 0.722</a:t>
            </a:r>
            <a:endParaRPr lang="en-US" sz="1000" dirty="0"/>
          </a:p>
        </p:txBody>
      </p:sp>
      <p:sp>
        <p:nvSpPr>
          <p:cNvPr id="41" name="Text 39"/>
          <p:cNvSpPr txBox="1"/>
          <p:nvPr/>
        </p:nvSpPr>
        <p:spPr>
          <a:xfrm>
            <a:off x="9893808" y="5175504"/>
            <a:ext cx="137160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unmoved</a:t>
            </a:r>
            <a:endParaRPr lang="en-US" sz="1000" dirty="0"/>
          </a:p>
        </p:txBody>
      </p:sp>
      <p:sp>
        <p:nvSpPr>
          <p:cNvPr id="42" name="Shape 40"/>
          <p:cNvSpPr/>
          <p:nvPr/>
        </p:nvSpPr>
        <p:spPr>
          <a:xfrm>
            <a:off x="932688" y="5440680"/>
            <a:ext cx="10326319" cy="0"/>
          </a:xfrm>
          <a:prstGeom prst="line">
            <a:avLst/>
          </a:prstGeom>
          <a:noFill/>
          <a:ln w="12700">
            <a:solidFill>
              <a:srgbClr val="223029"/>
            </a:solidFill>
            <a:prstDash val="solid"/>
          </a:ln>
        </p:spPr>
      </p:sp>
      <p:sp>
        <p:nvSpPr>
          <p:cNvPr id="43" name="Text 41"/>
          <p:cNvSpPr txBox="1"/>
          <p:nvPr/>
        </p:nvSpPr>
        <p:spPr>
          <a:xfrm>
            <a:off x="932688" y="5486400"/>
            <a:ext cx="3931920" cy="274320"/>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“what to do with my hands”</a:t>
            </a:r>
            <a:endParaRPr lang="en-US" sz="1000" dirty="0"/>
          </a:p>
        </p:txBody>
      </p:sp>
      <p:sp>
        <p:nvSpPr>
          <p:cNvPr id="44" name="Text 42"/>
          <p:cNvSpPr txBox="1"/>
          <p:nvPr/>
        </p:nvSpPr>
        <p:spPr>
          <a:xfrm>
            <a:off x="4956048" y="5486400"/>
            <a:ext cx="173736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1</a:t>
            </a:r>
            <a:endParaRPr lang="en-US" sz="1000" dirty="0"/>
          </a:p>
        </p:txBody>
      </p:sp>
      <p:sp>
        <p:nvSpPr>
          <p:cNvPr id="45" name="Text 43"/>
          <p:cNvSpPr txBox="1"/>
          <p:nvPr/>
        </p:nvSpPr>
        <p:spPr>
          <a:xfrm>
            <a:off x="6784848" y="5486400"/>
            <a:ext cx="109728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0</a:t>
            </a:r>
            <a:endParaRPr lang="en-US" sz="1000" dirty="0"/>
          </a:p>
        </p:txBody>
      </p:sp>
      <p:sp>
        <p:nvSpPr>
          <p:cNvPr id="46" name="Text 44"/>
          <p:cNvSpPr txBox="1"/>
          <p:nvPr/>
        </p:nvSpPr>
        <p:spPr>
          <a:xfrm>
            <a:off x="7973568" y="5486400"/>
            <a:ext cx="1828800" cy="274320"/>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0.722 → 0.722</a:t>
            </a:r>
            <a:endParaRPr lang="en-US" sz="1000" dirty="0"/>
          </a:p>
        </p:txBody>
      </p:sp>
      <p:sp>
        <p:nvSpPr>
          <p:cNvPr id="47" name="Text 45"/>
          <p:cNvSpPr txBox="1"/>
          <p:nvPr/>
        </p:nvSpPr>
        <p:spPr>
          <a:xfrm>
            <a:off x="9893808" y="5486400"/>
            <a:ext cx="1371600" cy="274320"/>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unmoved</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A10</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Benchmark methodology</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backend/scripts/  ·  Makefile</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A10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Shape 8"/>
          <p:cNvSpPr/>
          <p:nvPr/>
        </p:nvSpPr>
        <p:spPr>
          <a:xfrm>
            <a:off x="658368" y="1389888"/>
            <a:ext cx="5321808" cy="2231136"/>
          </a:xfrm>
          <a:prstGeom prst="roundRect">
            <a:avLst>
              <a:gd name="adj" fmla="val 6557"/>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1" name="Text 9"/>
          <p:cNvSpPr txBox="1"/>
          <p:nvPr/>
        </p:nvSpPr>
        <p:spPr>
          <a:xfrm>
            <a:off x="914400" y="1536192"/>
            <a:ext cx="45720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THE FIXTURE, AND WHY IT IS SYNTHETIC</a:t>
            </a:r>
            <a:endParaRPr lang="en-US" sz="950" dirty="0"/>
          </a:p>
        </p:txBody>
      </p:sp>
      <p:sp>
        <p:nvSpPr>
          <p:cNvPr id="12" name="Text 10"/>
          <p:cNvSpPr txBox="1"/>
          <p:nvPr/>
        </p:nvSpPr>
        <p:spPr>
          <a:xfrm>
            <a:off x="914400" y="1847088"/>
            <a:ext cx="4809744" cy="1207008"/>
          </a:xfrm>
          <a:prstGeom prst="rect">
            <a:avLst/>
          </a:prstGeom>
          <a:noFill/>
          <a:ln/>
        </p:spPr>
        <p:txBody>
          <a:bodyPr wrap="square" lIns="0" tIns="0" rIns="0" bIns="0" rtlCol="0" anchor="t"/>
          <a:lstStyle/>
          <a:p>
            <a:pPr algn="l" indent="0" marL="0">
              <a:lnSpc>
                <a:spcPct val="118000"/>
              </a:lnSpc>
              <a:buNone/>
            </a:pPr>
            <a:r>
              <a:rPr lang="en-US" sz="1100" dirty="0">
                <a:solidFill>
                  <a:srgbClr val="DCE5E4"/>
                </a:solidFill>
                <a:latin typeface="Calibri" pitchFamily="34" charset="0"/>
                <a:ea typeface="Calibri" pitchFamily="34" charset="-122"/>
                <a:cs typeface="Calibri" pitchFamily="34" charset="-120"/>
              </a:rPr>
              <a:t>Three words are synthesized separately, then spliced with measured silences: “I … I … I want [1400 ms] water please”. Known ground truth is the whole point — with real dysfluent speech we would have no reference to measure error against, and obtaining labelled real speech would need exactly the clinical framing this project excludes.</a:t>
            </a:r>
            <a:endParaRPr lang="en-US" sz="1100" dirty="0"/>
          </a:p>
        </p:txBody>
      </p:sp>
      <p:sp>
        <p:nvSpPr>
          <p:cNvPr id="13" name="Text 11"/>
          <p:cNvSpPr txBox="1"/>
          <p:nvPr/>
        </p:nvSpPr>
        <p:spPr>
          <a:xfrm>
            <a:off x="914400" y="3072384"/>
            <a:ext cx="4809744" cy="457200"/>
          </a:xfrm>
          <a:prstGeom prst="rect">
            <a:avLst/>
          </a:prstGeom>
          <a:noFill/>
          <a:ln/>
        </p:spPr>
        <p:txBody>
          <a:bodyPr wrap="square" lIns="0" tIns="0" rIns="0" bIns="0" rtlCol="0" anchor="t"/>
          <a:lstStyle/>
          <a:p>
            <a:pPr algn="l" indent="0" marL="0">
              <a:lnSpc>
                <a:spcPct val="114000"/>
              </a:lnSpc>
              <a:buNone/>
            </a:pPr>
            <a:r>
              <a:rPr lang="en-US" sz="1000" i="1" dirty="0">
                <a:solidFill>
                  <a:srgbClr val="8CA096"/>
                </a:solidFill>
                <a:latin typeface="Calibri" pitchFamily="34" charset="0"/>
                <a:ea typeface="Calibri" pitchFamily="34" charset="-122"/>
                <a:cs typeface="Calibri" pitchFamily="34" charset="-120"/>
              </a:rPr>
              <a:t>The word audio is re-synthesized on every run, so the scripts assert tolerances rather than exact values. Expect figures to move by tens of milliseconds between runs.</a:t>
            </a:r>
            <a:endParaRPr lang="en-US" sz="1000" dirty="0"/>
          </a:p>
        </p:txBody>
      </p:sp>
      <p:sp>
        <p:nvSpPr>
          <p:cNvPr id="14" name="Shape 12"/>
          <p:cNvSpPr/>
          <p:nvPr/>
        </p:nvSpPr>
        <p:spPr>
          <a:xfrm>
            <a:off x="6208776" y="1389888"/>
            <a:ext cx="5321808" cy="2231136"/>
          </a:xfrm>
          <a:prstGeom prst="roundRect">
            <a:avLst>
              <a:gd name="adj" fmla="val 6557"/>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15" name="Text 13"/>
          <p:cNvSpPr txBox="1"/>
          <p:nvPr/>
        </p:nvSpPr>
        <p:spPr>
          <a:xfrm>
            <a:off x="6464808" y="1536192"/>
            <a:ext cx="457200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THE SIX SCRIPTS</a:t>
            </a:r>
            <a:endParaRPr lang="en-US" sz="950" dirty="0"/>
          </a:p>
        </p:txBody>
      </p:sp>
      <p:sp>
        <p:nvSpPr>
          <p:cNvPr id="16" name="Text 14"/>
          <p:cNvSpPr txBox="1"/>
          <p:nvPr/>
        </p:nvSpPr>
        <p:spPr>
          <a:xfrm>
            <a:off x="6464808" y="1847088"/>
            <a:ext cx="2651760" cy="237744"/>
          </a:xfrm>
          <a:prstGeom prst="rect">
            <a:avLst/>
          </a:prstGeom>
          <a:noFill/>
          <a:ln/>
        </p:spPr>
        <p:txBody>
          <a:bodyPr wrap="square" lIns="0" tIns="0" rIns="0" bIns="0" rtlCol="0" anchor="ctr"/>
          <a:lstStyle/>
          <a:p>
            <a:pPr algn="l" indent="0" marL="0">
              <a:buNone/>
            </a:pPr>
            <a:r>
              <a:rPr lang="en-US" sz="900" dirty="0">
                <a:solidFill>
                  <a:srgbClr val="EFF2F1"/>
                </a:solidFill>
                <a:latin typeface="Courier New" pitchFamily="34" charset="0"/>
                <a:ea typeface="Courier New" pitchFamily="34" charset="-122"/>
                <a:cs typeface="Courier New" pitchFamily="34" charset="-120"/>
              </a:rPr>
              <a:t>verify_acoustic_branch.py</a:t>
            </a:r>
            <a:endParaRPr lang="en-US" sz="900" dirty="0"/>
          </a:p>
        </p:txBody>
      </p:sp>
      <p:sp>
        <p:nvSpPr>
          <p:cNvPr id="17" name="Text 15"/>
          <p:cNvSpPr txBox="1"/>
          <p:nvPr/>
        </p:nvSpPr>
        <p:spPr>
          <a:xfrm>
            <a:off x="9235440" y="1847088"/>
            <a:ext cx="2194560" cy="237744"/>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the central claim — 8 assertions</a:t>
            </a:r>
            <a:endParaRPr lang="en-US" sz="950" dirty="0"/>
          </a:p>
        </p:txBody>
      </p:sp>
      <p:sp>
        <p:nvSpPr>
          <p:cNvPr id="18" name="Text 16"/>
          <p:cNvSpPr txBox="1"/>
          <p:nvPr/>
        </p:nvSpPr>
        <p:spPr>
          <a:xfrm>
            <a:off x="6464808" y="2139696"/>
            <a:ext cx="2651760" cy="237744"/>
          </a:xfrm>
          <a:prstGeom prst="rect">
            <a:avLst/>
          </a:prstGeom>
          <a:noFill/>
          <a:ln/>
        </p:spPr>
        <p:txBody>
          <a:bodyPr wrap="square" lIns="0" tIns="0" rIns="0" bIns="0" rtlCol="0" anchor="ctr"/>
          <a:lstStyle/>
          <a:p>
            <a:pPr algn="l" indent="0" marL="0">
              <a:buNone/>
            </a:pPr>
            <a:r>
              <a:rPr lang="en-US" sz="900" dirty="0">
                <a:solidFill>
                  <a:srgbClr val="EFF2F1"/>
                </a:solidFill>
                <a:latin typeface="Courier New" pitchFamily="34" charset="0"/>
                <a:ea typeface="Courier New" pitchFamily="34" charset="-122"/>
                <a:cs typeface="Courier New" pitchFamily="34" charset="-120"/>
              </a:rPr>
              <a:t>verify_cascade.py</a:t>
            </a:r>
            <a:endParaRPr lang="en-US" sz="900" dirty="0"/>
          </a:p>
        </p:txBody>
      </p:sp>
      <p:sp>
        <p:nvSpPr>
          <p:cNvPr id="19" name="Text 17"/>
          <p:cNvSpPr txBox="1"/>
          <p:nvPr/>
        </p:nvSpPr>
        <p:spPr>
          <a:xfrm>
            <a:off x="9235440" y="2139696"/>
            <a:ext cx="2194560" cy="237744"/>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the whole knowledge path through the real app</a:t>
            </a:r>
            <a:endParaRPr lang="en-US" sz="950" dirty="0"/>
          </a:p>
        </p:txBody>
      </p:sp>
      <p:sp>
        <p:nvSpPr>
          <p:cNvPr id="20" name="Text 18"/>
          <p:cNvSpPr txBox="1"/>
          <p:nvPr/>
        </p:nvSpPr>
        <p:spPr>
          <a:xfrm>
            <a:off x="6464808" y="2432304"/>
            <a:ext cx="2651760" cy="237744"/>
          </a:xfrm>
          <a:prstGeom prst="rect">
            <a:avLst/>
          </a:prstGeom>
          <a:noFill/>
          <a:ln/>
        </p:spPr>
        <p:txBody>
          <a:bodyPr wrap="square" lIns="0" tIns="0" rIns="0" bIns="0" rtlCol="0" anchor="ctr"/>
          <a:lstStyle/>
          <a:p>
            <a:pPr algn="l" indent="0" marL="0">
              <a:buNone/>
            </a:pPr>
            <a:r>
              <a:rPr lang="en-US" sz="900" dirty="0">
                <a:solidFill>
                  <a:srgbClr val="EFF2F1"/>
                </a:solidFill>
                <a:latin typeface="Courier New" pitchFamily="34" charset="0"/>
                <a:ea typeface="Courier New" pitchFamily="34" charset="-122"/>
                <a:cs typeface="Courier New" pitchFamily="34" charset="-120"/>
              </a:rPr>
              <a:t>verify_retrieval.py</a:t>
            </a:r>
            <a:endParaRPr lang="en-US" sz="900" dirty="0"/>
          </a:p>
        </p:txBody>
      </p:sp>
      <p:sp>
        <p:nvSpPr>
          <p:cNvPr id="21" name="Text 19"/>
          <p:cNvSpPr txBox="1"/>
          <p:nvPr/>
        </p:nvSpPr>
        <p:spPr>
          <a:xfrm>
            <a:off x="9235440" y="2432304"/>
            <a:ext cx="2194560" cy="237744"/>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ingestion, MMR, and the gate</a:t>
            </a:r>
            <a:endParaRPr lang="en-US" sz="950" dirty="0"/>
          </a:p>
        </p:txBody>
      </p:sp>
      <p:sp>
        <p:nvSpPr>
          <p:cNvPr id="22" name="Text 20"/>
          <p:cNvSpPr txBox="1"/>
          <p:nvPr/>
        </p:nvSpPr>
        <p:spPr>
          <a:xfrm>
            <a:off x="6464808" y="2724912"/>
            <a:ext cx="2651760" cy="237744"/>
          </a:xfrm>
          <a:prstGeom prst="rect">
            <a:avLst/>
          </a:prstGeom>
          <a:noFill/>
          <a:ln/>
        </p:spPr>
        <p:txBody>
          <a:bodyPr wrap="square" lIns="0" tIns="0" rIns="0" bIns="0" rtlCol="0" anchor="ctr"/>
          <a:lstStyle/>
          <a:p>
            <a:pPr algn="l" indent="0" marL="0">
              <a:buNone/>
            </a:pPr>
            <a:r>
              <a:rPr lang="en-US" sz="900" dirty="0">
                <a:solidFill>
                  <a:srgbClr val="EFF2F1"/>
                </a:solidFill>
                <a:latin typeface="Courier New" pitchFamily="34" charset="0"/>
                <a:ea typeface="Courier New" pitchFamily="34" charset="-122"/>
                <a:cs typeface="Courier New" pitchFamily="34" charset="-120"/>
              </a:rPr>
              <a:t>calibrate_gate.py</a:t>
            </a:r>
            <a:endParaRPr lang="en-US" sz="900" dirty="0"/>
          </a:p>
        </p:txBody>
      </p:sp>
      <p:sp>
        <p:nvSpPr>
          <p:cNvPr id="23" name="Text 21"/>
          <p:cNvSpPr txBox="1"/>
          <p:nvPr/>
        </p:nvSpPr>
        <p:spPr>
          <a:xfrm>
            <a:off x="9235440" y="2724912"/>
            <a:ext cx="2194560" cy="237744"/>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re-derives the threshold</a:t>
            </a:r>
            <a:endParaRPr lang="en-US" sz="950" dirty="0"/>
          </a:p>
        </p:txBody>
      </p:sp>
      <p:sp>
        <p:nvSpPr>
          <p:cNvPr id="24" name="Text 22"/>
          <p:cNvSpPr txBox="1"/>
          <p:nvPr/>
        </p:nvSpPr>
        <p:spPr>
          <a:xfrm>
            <a:off x="6464808" y="3017520"/>
            <a:ext cx="2651760" cy="237744"/>
          </a:xfrm>
          <a:prstGeom prst="rect">
            <a:avLst/>
          </a:prstGeom>
          <a:noFill/>
          <a:ln/>
        </p:spPr>
        <p:txBody>
          <a:bodyPr wrap="square" lIns="0" tIns="0" rIns="0" bIns="0" rtlCol="0" anchor="ctr"/>
          <a:lstStyle/>
          <a:p>
            <a:pPr algn="l" indent="0" marL="0">
              <a:buNone/>
            </a:pPr>
            <a:r>
              <a:rPr lang="en-US" sz="900" dirty="0">
                <a:solidFill>
                  <a:srgbClr val="EFF2F1"/>
                </a:solidFill>
                <a:latin typeface="Courier New" pitchFamily="34" charset="0"/>
                <a:ea typeface="Courier New" pitchFamily="34" charset="-122"/>
                <a:cs typeface="Courier New" pitchFamily="34" charset="-120"/>
              </a:rPr>
              <a:t>bench_whisper.py</a:t>
            </a:r>
            <a:endParaRPr lang="en-US" sz="900" dirty="0"/>
          </a:p>
        </p:txBody>
      </p:sp>
      <p:sp>
        <p:nvSpPr>
          <p:cNvPr id="25" name="Text 23"/>
          <p:cNvSpPr txBox="1"/>
          <p:nvPr/>
        </p:nvSpPr>
        <p:spPr>
          <a:xfrm>
            <a:off x="9235440" y="3017520"/>
            <a:ext cx="2194560" cy="237744"/>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word-timestamp accuracy per model</a:t>
            </a:r>
            <a:endParaRPr lang="en-US" sz="950" dirty="0"/>
          </a:p>
        </p:txBody>
      </p:sp>
      <p:sp>
        <p:nvSpPr>
          <p:cNvPr id="26" name="Text 24"/>
          <p:cNvSpPr txBox="1"/>
          <p:nvPr/>
        </p:nvSpPr>
        <p:spPr>
          <a:xfrm>
            <a:off x="6464808" y="3310128"/>
            <a:ext cx="2651760" cy="237744"/>
          </a:xfrm>
          <a:prstGeom prst="rect">
            <a:avLst/>
          </a:prstGeom>
          <a:noFill/>
          <a:ln/>
        </p:spPr>
        <p:txBody>
          <a:bodyPr wrap="square" lIns="0" tIns="0" rIns="0" bIns="0" rtlCol="0" anchor="ctr"/>
          <a:lstStyle/>
          <a:p>
            <a:pPr algn="l" indent="0" marL="0">
              <a:buNone/>
            </a:pPr>
            <a:r>
              <a:rPr lang="en-US" sz="900" dirty="0">
                <a:solidFill>
                  <a:srgbClr val="EFF2F1"/>
                </a:solidFill>
                <a:latin typeface="Courier New" pitchFamily="34" charset="0"/>
                <a:ea typeface="Courier New" pitchFamily="34" charset="-122"/>
                <a:cs typeface="Courier New" pitchFamily="34" charset="-120"/>
              </a:rPr>
              <a:t>bench_latency.py</a:t>
            </a:r>
            <a:endParaRPr lang="en-US" sz="900" dirty="0"/>
          </a:p>
        </p:txBody>
      </p:sp>
      <p:sp>
        <p:nvSpPr>
          <p:cNvPr id="27" name="Text 25"/>
          <p:cNvSpPr txBox="1"/>
          <p:nvPr/>
        </p:nvSpPr>
        <p:spPr>
          <a:xfrm>
            <a:off x="9235440" y="3310128"/>
            <a:ext cx="2194560" cy="237744"/>
          </a:xfrm>
          <a:prstGeom prst="rect">
            <a:avLst/>
          </a:prstGeom>
          <a:noFill/>
          <a:ln/>
        </p:spPr>
        <p:txBody>
          <a:bodyPr wrap="square" lIns="0" tIns="0" rIns="0" bIns="0" rtlCol="0" anchor="t"/>
          <a:lstStyle/>
          <a:p>
            <a:pPr algn="l" indent="0" marL="0">
              <a:lnSpc>
                <a:spcPct val="120000"/>
              </a:lnSpc>
              <a:buNone/>
            </a:pPr>
            <a:r>
              <a:rPr lang="en-US" sz="950" dirty="0">
                <a:solidFill>
                  <a:srgbClr val="8CA096"/>
                </a:solidFill>
                <a:latin typeface="Calibri" pitchFamily="34" charset="0"/>
                <a:ea typeface="Calibri" pitchFamily="34" charset="-122"/>
                <a:cs typeface="Calibri" pitchFamily="34" charset="-120"/>
              </a:rPr>
              <a:t>per-stage p50 and p95</a:t>
            </a:r>
            <a:endParaRPr lang="en-US" sz="950" dirty="0"/>
          </a:p>
        </p:txBody>
      </p:sp>
      <p:sp>
        <p:nvSpPr>
          <p:cNvPr id="28" name="Shape 26"/>
          <p:cNvSpPr/>
          <p:nvPr/>
        </p:nvSpPr>
        <p:spPr>
          <a:xfrm>
            <a:off x="658368" y="3767328"/>
            <a:ext cx="10874959" cy="2103120"/>
          </a:xfrm>
          <a:prstGeom prst="roundRect">
            <a:avLst>
              <a:gd name="adj" fmla="val 6957"/>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9" name="Text 27"/>
          <p:cNvSpPr txBox="1"/>
          <p:nvPr/>
        </p:nvSpPr>
        <p:spPr>
          <a:xfrm>
            <a:off x="932688" y="3913632"/>
            <a:ext cx="73152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THE ACOUSTIC-BRANCH RESULT, AND WHICH FIGURES ARE CURRENT</a:t>
            </a:r>
            <a:endParaRPr lang="en-US" sz="950" dirty="0"/>
          </a:p>
        </p:txBody>
      </p:sp>
      <p:sp>
        <p:nvSpPr>
          <p:cNvPr id="30" name="Text 28"/>
          <p:cNvSpPr txBox="1"/>
          <p:nvPr/>
        </p:nvSpPr>
        <p:spPr>
          <a:xfrm>
            <a:off x="932688" y="4224528"/>
            <a:ext cx="23774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GROUND TRUTH</a:t>
            </a:r>
            <a:endParaRPr lang="en-US" sz="850" dirty="0"/>
          </a:p>
        </p:txBody>
      </p:sp>
      <p:sp>
        <p:nvSpPr>
          <p:cNvPr id="31" name="Text 29"/>
          <p:cNvSpPr txBox="1"/>
          <p:nvPr/>
        </p:nvSpPr>
        <p:spPr>
          <a:xfrm>
            <a:off x="3310128" y="4224528"/>
            <a:ext cx="16459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MEASURED</a:t>
            </a:r>
            <a:endParaRPr lang="en-US" sz="850" dirty="0"/>
          </a:p>
        </p:txBody>
      </p:sp>
      <p:sp>
        <p:nvSpPr>
          <p:cNvPr id="32" name="Text 30"/>
          <p:cNvSpPr txBox="1"/>
          <p:nvPr/>
        </p:nvSpPr>
        <p:spPr>
          <a:xfrm>
            <a:off x="4956048" y="4224528"/>
            <a:ext cx="137160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ERROR</a:t>
            </a:r>
            <a:endParaRPr lang="en-US" sz="850" dirty="0"/>
          </a:p>
        </p:txBody>
      </p:sp>
      <p:sp>
        <p:nvSpPr>
          <p:cNvPr id="33" name="Text 31"/>
          <p:cNvSpPr txBox="1"/>
          <p:nvPr/>
        </p:nvSpPr>
        <p:spPr>
          <a:xfrm>
            <a:off x="6327648" y="4224528"/>
            <a:ext cx="51206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NOTE</a:t>
            </a:r>
            <a:endParaRPr lang="en-US" sz="850" dirty="0"/>
          </a:p>
        </p:txBody>
      </p:sp>
      <p:sp>
        <p:nvSpPr>
          <p:cNvPr id="34" name="Shape 32"/>
          <p:cNvSpPr/>
          <p:nvPr/>
        </p:nvSpPr>
        <p:spPr>
          <a:xfrm>
            <a:off x="932688" y="4498848"/>
            <a:ext cx="10326319" cy="0"/>
          </a:xfrm>
          <a:prstGeom prst="line">
            <a:avLst/>
          </a:prstGeom>
          <a:noFill/>
          <a:ln w="12700">
            <a:solidFill>
              <a:srgbClr val="33463D"/>
            </a:solidFill>
            <a:prstDash val="solid"/>
          </a:ln>
        </p:spPr>
      </p:sp>
      <p:sp>
        <p:nvSpPr>
          <p:cNvPr id="35" name="Text 33"/>
          <p:cNvSpPr txBox="1"/>
          <p:nvPr/>
        </p:nvSpPr>
        <p:spPr>
          <a:xfrm>
            <a:off x="932688" y="4572000"/>
            <a:ext cx="2286000" cy="292608"/>
          </a:xfrm>
          <a:prstGeom prst="rect">
            <a:avLst/>
          </a:prstGeom>
          <a:noFill/>
          <a:ln/>
        </p:spPr>
        <p:txBody>
          <a:bodyPr wrap="square" lIns="0" tIns="0" rIns="0" bIns="0" rtlCol="0" anchor="t"/>
          <a:lstStyle/>
          <a:p>
            <a:pPr algn="l" indent="0" marL="0">
              <a:lnSpc>
                <a:spcPct val="106000"/>
              </a:lnSpc>
              <a:buNone/>
            </a:pPr>
            <a:r>
              <a:rPr lang="en-US" sz="1050" b="1" dirty="0">
                <a:solidFill>
                  <a:srgbClr val="EFF2F1"/>
                </a:solidFill>
                <a:latin typeface="Calibri" pitchFamily="34" charset="0"/>
                <a:ea typeface="Calibri" pitchFamily="34" charset="-122"/>
                <a:cs typeface="Calibri" pitchFamily="34" charset="-120"/>
              </a:rPr>
              <a:t>Block of 1400 ms</a:t>
            </a:r>
            <a:endParaRPr lang="en-US" sz="1050" dirty="0"/>
          </a:p>
        </p:txBody>
      </p:sp>
      <p:sp>
        <p:nvSpPr>
          <p:cNvPr id="36" name="Text 34"/>
          <p:cNvSpPr txBox="1"/>
          <p:nvPr/>
        </p:nvSpPr>
        <p:spPr>
          <a:xfrm>
            <a:off x="3310128" y="4572000"/>
            <a:ext cx="155448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1500 ms</a:t>
            </a:r>
            <a:endParaRPr lang="en-US" sz="1050" dirty="0"/>
          </a:p>
        </p:txBody>
      </p:sp>
      <p:sp>
        <p:nvSpPr>
          <p:cNvPr id="37" name="Text 35"/>
          <p:cNvSpPr txBox="1"/>
          <p:nvPr/>
        </p:nvSpPr>
        <p:spPr>
          <a:xfrm>
            <a:off x="4956048" y="4572000"/>
            <a:ext cx="128016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100 ms</a:t>
            </a:r>
            <a:endParaRPr lang="en-US" sz="1050" dirty="0"/>
          </a:p>
        </p:txBody>
      </p:sp>
      <p:sp>
        <p:nvSpPr>
          <p:cNvPr id="38" name="Text 36"/>
          <p:cNvSpPr txBox="1"/>
          <p:nvPr/>
        </p:nvSpPr>
        <p:spPr>
          <a:xfrm>
            <a:off x="6327648" y="4572000"/>
            <a:ext cx="5029200" cy="292608"/>
          </a:xfrm>
          <a:prstGeom prst="rect">
            <a:avLst/>
          </a:prstGeom>
          <a:noFill/>
          <a:ln/>
        </p:spPr>
        <p:txBody>
          <a:bodyPr wrap="square" lIns="0" tIns="0" rIns="0" bIns="0" rtlCol="0" anchor="t"/>
          <a:lstStyle/>
          <a:p>
            <a:pPr algn="l" indent="0" marL="0">
              <a:lnSpc>
                <a:spcPct val="106000"/>
              </a:lnSpc>
              <a:buNone/>
            </a:pPr>
            <a:r>
              <a:rPr lang="en-US" sz="1050" dirty="0">
                <a:solidFill>
                  <a:srgbClr val="8CA096"/>
                </a:solidFill>
                <a:latin typeface="Calibri" pitchFamily="34" charset="0"/>
                <a:ea typeface="Calibri" pitchFamily="34" charset="-122"/>
                <a:cs typeface="Calibri" pitchFamily="34" charset="-120"/>
              </a:rPr>
              <a:t>the transcript contains no trace of it at all</a:t>
            </a:r>
            <a:endParaRPr lang="en-US" sz="1050" dirty="0"/>
          </a:p>
        </p:txBody>
      </p:sp>
      <p:sp>
        <p:nvSpPr>
          <p:cNvPr id="39" name="Shape 37"/>
          <p:cNvSpPr/>
          <p:nvPr/>
        </p:nvSpPr>
        <p:spPr>
          <a:xfrm>
            <a:off x="932688" y="4855464"/>
            <a:ext cx="10326319" cy="0"/>
          </a:xfrm>
          <a:prstGeom prst="line">
            <a:avLst/>
          </a:prstGeom>
          <a:noFill/>
          <a:ln w="12700">
            <a:solidFill>
              <a:srgbClr val="223029"/>
            </a:solidFill>
            <a:prstDash val="solid"/>
          </a:ln>
        </p:spPr>
      </p:sp>
      <p:sp>
        <p:nvSpPr>
          <p:cNvPr id="40" name="Text 38"/>
          <p:cNvSpPr txBox="1"/>
          <p:nvPr/>
        </p:nvSpPr>
        <p:spPr>
          <a:xfrm>
            <a:off x="932688" y="4901184"/>
            <a:ext cx="2286000" cy="292608"/>
          </a:xfrm>
          <a:prstGeom prst="rect">
            <a:avLst/>
          </a:prstGeom>
          <a:noFill/>
          <a:ln/>
        </p:spPr>
        <p:txBody>
          <a:bodyPr wrap="square" lIns="0" tIns="0" rIns="0" bIns="0" rtlCol="0" anchor="t"/>
          <a:lstStyle/>
          <a:p>
            <a:pPr algn="l" indent="0" marL="0">
              <a:lnSpc>
                <a:spcPct val="106000"/>
              </a:lnSpc>
              <a:buNone/>
            </a:pPr>
            <a:r>
              <a:rPr lang="en-US" sz="1050" b="1" dirty="0">
                <a:solidFill>
                  <a:srgbClr val="EFF2F1"/>
                </a:solidFill>
                <a:latin typeface="Calibri" pitchFamily="34" charset="0"/>
                <a:ea typeface="Calibri" pitchFamily="34" charset="-122"/>
                <a:cs typeface="Calibri" pitchFamily="34" charset="-120"/>
              </a:rPr>
              <a:t>Block at 1345 ms</a:t>
            </a:r>
            <a:endParaRPr lang="en-US" sz="1050" dirty="0"/>
          </a:p>
        </p:txBody>
      </p:sp>
      <p:sp>
        <p:nvSpPr>
          <p:cNvPr id="41" name="Text 39"/>
          <p:cNvSpPr txBox="1"/>
          <p:nvPr/>
        </p:nvSpPr>
        <p:spPr>
          <a:xfrm>
            <a:off x="3310128" y="4901184"/>
            <a:ext cx="155448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1200 ms</a:t>
            </a:r>
            <a:endParaRPr lang="en-US" sz="1050" dirty="0"/>
          </a:p>
        </p:txBody>
      </p:sp>
      <p:sp>
        <p:nvSpPr>
          <p:cNvPr id="42" name="Text 40"/>
          <p:cNvSpPr txBox="1"/>
          <p:nvPr/>
        </p:nvSpPr>
        <p:spPr>
          <a:xfrm>
            <a:off x="4956048" y="4901184"/>
            <a:ext cx="128016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145 ms</a:t>
            </a:r>
            <a:endParaRPr lang="en-US" sz="1050" dirty="0"/>
          </a:p>
        </p:txBody>
      </p:sp>
      <p:sp>
        <p:nvSpPr>
          <p:cNvPr id="43" name="Text 41"/>
          <p:cNvSpPr txBox="1"/>
          <p:nvPr/>
        </p:nvSpPr>
        <p:spPr>
          <a:xfrm>
            <a:off x="6327648" y="4901184"/>
            <a:ext cx="5029200" cy="292608"/>
          </a:xfrm>
          <a:prstGeom prst="rect">
            <a:avLst/>
          </a:prstGeom>
          <a:noFill/>
          <a:ln/>
        </p:spPr>
        <p:txBody>
          <a:bodyPr wrap="square" lIns="0" tIns="0" rIns="0" bIns="0" rtlCol="0" anchor="t"/>
          <a:lstStyle/>
          <a:p>
            <a:pPr algn="l" indent="0" marL="0">
              <a:lnSpc>
                <a:spcPct val="106000"/>
              </a:lnSpc>
              <a:buNone/>
            </a:pPr>
            <a:r>
              <a:rPr lang="en-US" sz="1050" dirty="0">
                <a:solidFill>
                  <a:srgbClr val="8CA096"/>
                </a:solidFill>
                <a:latin typeface="Calibri" pitchFamily="34" charset="0"/>
                <a:ea typeface="Calibri" pitchFamily="34" charset="-122"/>
                <a:cs typeface="Calibri" pitchFamily="34" charset="-120"/>
              </a:rPr>
              <a:t>error bound is Whisper's timestamp resolution, not the analyzer</a:t>
            </a:r>
            <a:endParaRPr lang="en-US" sz="1050" dirty="0"/>
          </a:p>
        </p:txBody>
      </p:sp>
      <p:sp>
        <p:nvSpPr>
          <p:cNvPr id="44" name="Shape 42"/>
          <p:cNvSpPr/>
          <p:nvPr/>
        </p:nvSpPr>
        <p:spPr>
          <a:xfrm>
            <a:off x="932688" y="5184648"/>
            <a:ext cx="10326319" cy="0"/>
          </a:xfrm>
          <a:prstGeom prst="line">
            <a:avLst/>
          </a:prstGeom>
          <a:noFill/>
          <a:ln w="12700">
            <a:solidFill>
              <a:srgbClr val="223029"/>
            </a:solidFill>
            <a:prstDash val="solid"/>
          </a:ln>
        </p:spPr>
      </p:sp>
      <p:sp>
        <p:nvSpPr>
          <p:cNvPr id="45" name="Text 43"/>
          <p:cNvSpPr txBox="1"/>
          <p:nvPr/>
        </p:nvSpPr>
        <p:spPr>
          <a:xfrm>
            <a:off x="932688" y="5230368"/>
            <a:ext cx="2286000" cy="292608"/>
          </a:xfrm>
          <a:prstGeom prst="rect">
            <a:avLst/>
          </a:prstGeom>
          <a:noFill/>
          <a:ln/>
        </p:spPr>
        <p:txBody>
          <a:bodyPr wrap="square" lIns="0" tIns="0" rIns="0" bIns="0" rtlCol="0" anchor="t"/>
          <a:lstStyle/>
          <a:p>
            <a:pPr algn="l" indent="0" marL="0">
              <a:lnSpc>
                <a:spcPct val="106000"/>
              </a:lnSpc>
              <a:buNone/>
            </a:pPr>
            <a:r>
              <a:rPr lang="en-US" sz="1050" b="1" dirty="0">
                <a:solidFill>
                  <a:srgbClr val="EFF2F1"/>
                </a:solidFill>
                <a:latin typeface="Calibri" pitchFamily="34" charset="0"/>
                <a:ea typeface="Calibri" pitchFamily="34" charset="-122"/>
                <a:cs typeface="Calibri" pitchFamily="34" charset="-120"/>
              </a:rPr>
              <a:t>Utterance 3157 ms</a:t>
            </a:r>
            <a:endParaRPr lang="en-US" sz="1050" dirty="0"/>
          </a:p>
        </p:txBody>
      </p:sp>
      <p:sp>
        <p:nvSpPr>
          <p:cNvPr id="46" name="Text 44"/>
          <p:cNvSpPr txBox="1"/>
          <p:nvPr/>
        </p:nvSpPr>
        <p:spPr>
          <a:xfrm>
            <a:off x="3310128" y="5230368"/>
            <a:ext cx="155448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3158 ms</a:t>
            </a:r>
            <a:endParaRPr lang="en-US" sz="1050" dirty="0"/>
          </a:p>
        </p:txBody>
      </p:sp>
      <p:sp>
        <p:nvSpPr>
          <p:cNvPr id="47" name="Text 45"/>
          <p:cNvSpPr txBox="1"/>
          <p:nvPr/>
        </p:nvSpPr>
        <p:spPr>
          <a:xfrm>
            <a:off x="4956048" y="5230368"/>
            <a:ext cx="128016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1 ms</a:t>
            </a:r>
            <a:endParaRPr lang="en-US" sz="1050" dirty="0"/>
          </a:p>
        </p:txBody>
      </p:sp>
      <p:sp>
        <p:nvSpPr>
          <p:cNvPr id="48" name="Text 46"/>
          <p:cNvSpPr txBox="1"/>
          <p:nvPr/>
        </p:nvSpPr>
        <p:spPr>
          <a:xfrm>
            <a:off x="6327648" y="5230368"/>
            <a:ext cx="5029200" cy="292608"/>
          </a:xfrm>
          <a:prstGeom prst="rect">
            <a:avLst/>
          </a:prstGeom>
          <a:noFill/>
          <a:ln/>
        </p:spPr>
        <p:txBody>
          <a:bodyPr wrap="square" lIns="0" tIns="0" rIns="0" bIns="0" rtlCol="0" anchor="t"/>
          <a:lstStyle/>
          <a:p>
            <a:pPr algn="l" indent="0" marL="0">
              <a:lnSpc>
                <a:spcPct val="106000"/>
              </a:lnSpc>
              <a:buNone/>
            </a:pPr>
            <a:endParaRPr lang="en-US" sz="1050" dirty="0"/>
          </a:p>
        </p:txBody>
      </p:sp>
      <p:sp>
        <p:nvSpPr>
          <p:cNvPr id="49" name="Shape 47"/>
          <p:cNvSpPr/>
          <p:nvPr/>
        </p:nvSpPr>
        <p:spPr>
          <a:xfrm>
            <a:off x="932688" y="5513832"/>
            <a:ext cx="10326319" cy="0"/>
          </a:xfrm>
          <a:prstGeom prst="line">
            <a:avLst/>
          </a:prstGeom>
          <a:noFill/>
          <a:ln w="12700">
            <a:solidFill>
              <a:srgbClr val="223029"/>
            </a:solidFill>
            <a:prstDash val="solid"/>
          </a:ln>
        </p:spPr>
      </p:sp>
      <p:sp>
        <p:nvSpPr>
          <p:cNvPr id="50" name="Text 48"/>
          <p:cNvSpPr txBox="1"/>
          <p:nvPr/>
        </p:nvSpPr>
        <p:spPr>
          <a:xfrm>
            <a:off x="932688" y="5559552"/>
            <a:ext cx="2286000" cy="292608"/>
          </a:xfrm>
          <a:prstGeom prst="rect">
            <a:avLst/>
          </a:prstGeom>
          <a:noFill/>
          <a:ln/>
        </p:spPr>
        <p:txBody>
          <a:bodyPr wrap="square" lIns="0" tIns="0" rIns="0" bIns="0" rtlCol="0" anchor="t"/>
          <a:lstStyle/>
          <a:p>
            <a:pPr algn="l" indent="0" marL="0">
              <a:lnSpc>
                <a:spcPct val="106000"/>
              </a:lnSpc>
              <a:buNone/>
            </a:pPr>
            <a:r>
              <a:rPr lang="en-US" sz="1050" b="1" dirty="0">
                <a:solidFill>
                  <a:srgbClr val="EFF2F1"/>
                </a:solidFill>
                <a:latin typeface="Calibri" pitchFamily="34" charset="0"/>
                <a:ea typeface="Calibri" pitchFamily="34" charset="-122"/>
                <a:cs typeface="Calibri" pitchFamily="34" charset="-120"/>
              </a:rPr>
              <a:t>Word repetition</a:t>
            </a:r>
            <a:endParaRPr lang="en-US" sz="1050" dirty="0"/>
          </a:p>
        </p:txBody>
      </p:sp>
      <p:sp>
        <p:nvSpPr>
          <p:cNvPr id="51" name="Text 49"/>
          <p:cNvSpPr txBox="1"/>
          <p:nvPr/>
        </p:nvSpPr>
        <p:spPr>
          <a:xfrm>
            <a:off x="3310128" y="5559552"/>
            <a:ext cx="155448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detected ×2</a:t>
            </a:r>
            <a:endParaRPr lang="en-US" sz="1050" dirty="0"/>
          </a:p>
        </p:txBody>
      </p:sp>
      <p:sp>
        <p:nvSpPr>
          <p:cNvPr id="52" name="Text 50"/>
          <p:cNvSpPr txBox="1"/>
          <p:nvPr/>
        </p:nvSpPr>
        <p:spPr>
          <a:xfrm>
            <a:off x="4956048" y="5559552"/>
            <a:ext cx="1280160" cy="292608"/>
          </a:xfrm>
          <a:prstGeom prst="rect">
            <a:avLst/>
          </a:prstGeom>
          <a:noFill/>
          <a:ln/>
        </p:spPr>
        <p:txBody>
          <a:bodyPr wrap="square" lIns="0" tIns="0" rIns="0" bIns="0" rtlCol="0" anchor="t"/>
          <a:lstStyle/>
          <a:p>
            <a:pPr algn="l" indent="0" marL="0">
              <a:buNone/>
            </a:pPr>
            <a:r>
              <a:rPr lang="en-US" sz="1050" dirty="0">
                <a:solidFill>
                  <a:srgbClr val="8CA096"/>
                </a:solidFill>
                <a:latin typeface="Courier New" pitchFamily="34" charset="0"/>
                <a:ea typeface="Courier New" pitchFamily="34" charset="-122"/>
                <a:cs typeface="Courier New" pitchFamily="34" charset="-120"/>
              </a:rPr>
              <a:t>—</a:t>
            </a:r>
            <a:endParaRPr lang="en-US" sz="1050" dirty="0"/>
          </a:p>
        </p:txBody>
      </p:sp>
      <p:sp>
        <p:nvSpPr>
          <p:cNvPr id="53" name="Text 51"/>
          <p:cNvSpPr txBox="1"/>
          <p:nvPr/>
        </p:nvSpPr>
        <p:spPr>
          <a:xfrm>
            <a:off x="6327648" y="5559552"/>
            <a:ext cx="5029200" cy="292608"/>
          </a:xfrm>
          <a:prstGeom prst="rect">
            <a:avLst/>
          </a:prstGeom>
          <a:noFill/>
          <a:ln/>
        </p:spPr>
        <p:txBody>
          <a:bodyPr wrap="square" lIns="0" tIns="0" rIns="0" bIns="0" rtlCol="0" anchor="t"/>
          <a:lstStyle/>
          <a:p>
            <a:pPr algn="l" indent="0" marL="0">
              <a:lnSpc>
                <a:spcPct val="106000"/>
              </a:lnSpc>
              <a:buNone/>
            </a:pPr>
            <a:r>
              <a:rPr lang="en-US" sz="1050" dirty="0">
                <a:solidFill>
                  <a:srgbClr val="8CA096"/>
                </a:solidFill>
                <a:latin typeface="Calibri" pitchFamily="34" charset="0"/>
                <a:ea typeface="Calibri" pitchFamily="34" charset="-122"/>
                <a:cs typeface="Calibri" pitchFamily="34" charset="-120"/>
              </a:rPr>
              <a:t>three “I”s 300 ms apart produce two overlapping spans; the count is of events, not syllables</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A11</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Hardware budget</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docs/PROJECT_PLAN.md  ·  docs/M1_BRINGUP_LOG.md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A11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463040"/>
            <a:ext cx="38404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COMPONENT</a:t>
            </a:r>
            <a:endParaRPr lang="en-US" sz="850" dirty="0"/>
          </a:p>
        </p:txBody>
      </p:sp>
      <p:sp>
        <p:nvSpPr>
          <p:cNvPr id="11" name="Text 9"/>
          <p:cNvSpPr txBox="1"/>
          <p:nvPr/>
        </p:nvSpPr>
        <p:spPr>
          <a:xfrm>
            <a:off x="4498848" y="1463040"/>
            <a:ext cx="20116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PLACEMENT</a:t>
            </a:r>
            <a:endParaRPr lang="en-US" sz="850" dirty="0"/>
          </a:p>
        </p:txBody>
      </p:sp>
      <p:sp>
        <p:nvSpPr>
          <p:cNvPr id="12" name="Text 10"/>
          <p:cNvSpPr txBox="1"/>
          <p:nvPr/>
        </p:nvSpPr>
        <p:spPr>
          <a:xfrm>
            <a:off x="6510528" y="1463040"/>
            <a:ext cx="16459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VRAM</a:t>
            </a:r>
            <a:endParaRPr lang="en-US" sz="850" dirty="0"/>
          </a:p>
        </p:txBody>
      </p:sp>
      <p:sp>
        <p:nvSpPr>
          <p:cNvPr id="13" name="Text 11"/>
          <p:cNvSpPr txBox="1"/>
          <p:nvPr/>
        </p:nvSpPr>
        <p:spPr>
          <a:xfrm>
            <a:off x="8156448" y="1463040"/>
            <a:ext cx="33832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NOTE</a:t>
            </a:r>
            <a:endParaRPr lang="en-US" sz="850" dirty="0"/>
          </a:p>
        </p:txBody>
      </p:sp>
      <p:sp>
        <p:nvSpPr>
          <p:cNvPr id="14" name="Shape 12"/>
          <p:cNvSpPr/>
          <p:nvPr/>
        </p:nvSpPr>
        <p:spPr>
          <a:xfrm>
            <a:off x="658368" y="1737360"/>
            <a:ext cx="10874959" cy="0"/>
          </a:xfrm>
          <a:prstGeom prst="line">
            <a:avLst/>
          </a:prstGeom>
          <a:noFill/>
          <a:ln w="12700">
            <a:solidFill>
              <a:srgbClr val="33463D"/>
            </a:solidFill>
            <a:prstDash val="solid"/>
          </a:ln>
        </p:spPr>
      </p:sp>
      <p:sp>
        <p:nvSpPr>
          <p:cNvPr id="15" name="Text 13"/>
          <p:cNvSpPr txBox="1"/>
          <p:nvPr/>
        </p:nvSpPr>
        <p:spPr>
          <a:xfrm>
            <a:off x="658368" y="1810512"/>
            <a:ext cx="37490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Moshi 7B q8 + Mimi codec</a:t>
            </a:r>
            <a:endParaRPr lang="en-US" sz="1100" dirty="0"/>
          </a:p>
        </p:txBody>
      </p:sp>
      <p:sp>
        <p:nvSpPr>
          <p:cNvPr id="16" name="Text 14"/>
          <p:cNvSpPr txBox="1"/>
          <p:nvPr/>
        </p:nvSpPr>
        <p:spPr>
          <a:xfrm>
            <a:off x="4498848" y="1810512"/>
            <a:ext cx="19202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GPU, resident</a:t>
            </a:r>
            <a:endParaRPr lang="en-US" sz="1100" dirty="0"/>
          </a:p>
        </p:txBody>
      </p:sp>
      <p:sp>
        <p:nvSpPr>
          <p:cNvPr id="17" name="Text 15"/>
          <p:cNvSpPr txBox="1"/>
          <p:nvPr/>
        </p:nvSpPr>
        <p:spPr>
          <a:xfrm>
            <a:off x="6510528" y="1810512"/>
            <a:ext cx="155448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~7.7 GB</a:t>
            </a:r>
            <a:endParaRPr lang="en-US" sz="1100" dirty="0"/>
          </a:p>
        </p:txBody>
      </p:sp>
      <p:sp>
        <p:nvSpPr>
          <p:cNvPr id="18" name="Text 16"/>
          <p:cNvSpPr txBox="1"/>
          <p:nvPr/>
        </p:nvSpPr>
        <p:spPr>
          <a:xfrm>
            <a:off x="8156448" y="1810512"/>
            <a:ext cx="32918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observed warm; the plan budgeted 5.5–6.0 GB at q4, which does not exist upstream</a:t>
            </a:r>
            <a:endParaRPr lang="en-US" sz="1100" dirty="0"/>
          </a:p>
        </p:txBody>
      </p:sp>
      <p:sp>
        <p:nvSpPr>
          <p:cNvPr id="19" name="Shape 17"/>
          <p:cNvSpPr/>
          <p:nvPr/>
        </p:nvSpPr>
        <p:spPr>
          <a:xfrm>
            <a:off x="658368" y="2130552"/>
            <a:ext cx="10874959" cy="0"/>
          </a:xfrm>
          <a:prstGeom prst="line">
            <a:avLst/>
          </a:prstGeom>
          <a:noFill/>
          <a:ln w="12700">
            <a:solidFill>
              <a:srgbClr val="223029"/>
            </a:solidFill>
            <a:prstDash val="solid"/>
          </a:ln>
        </p:spPr>
      </p:sp>
      <p:sp>
        <p:nvSpPr>
          <p:cNvPr id="20" name="Text 18"/>
          <p:cNvSpPr txBox="1"/>
          <p:nvPr/>
        </p:nvSpPr>
        <p:spPr>
          <a:xfrm>
            <a:off x="658368" y="2176272"/>
            <a:ext cx="37490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Whisper base int8 (CTranslate2)</a:t>
            </a:r>
            <a:endParaRPr lang="en-US" sz="1100" dirty="0"/>
          </a:p>
        </p:txBody>
      </p:sp>
      <p:sp>
        <p:nvSpPr>
          <p:cNvPr id="21" name="Text 19"/>
          <p:cNvSpPr txBox="1"/>
          <p:nvPr/>
        </p:nvSpPr>
        <p:spPr>
          <a:xfrm>
            <a:off x="4498848" y="2176272"/>
            <a:ext cx="19202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CPU</a:t>
            </a:r>
            <a:endParaRPr lang="en-US" sz="1100" dirty="0"/>
          </a:p>
        </p:txBody>
      </p:sp>
      <p:sp>
        <p:nvSpPr>
          <p:cNvPr id="22" name="Text 20"/>
          <p:cNvSpPr txBox="1"/>
          <p:nvPr/>
        </p:nvSpPr>
        <p:spPr>
          <a:xfrm>
            <a:off x="6510528" y="2176272"/>
            <a:ext cx="155448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a:t>
            </a:r>
            <a:endParaRPr lang="en-US" sz="1100" dirty="0"/>
          </a:p>
        </p:txBody>
      </p:sp>
      <p:sp>
        <p:nvSpPr>
          <p:cNvPr id="23" name="Text 21"/>
          <p:cNvSpPr txBox="1"/>
          <p:nvPr/>
        </p:nvSpPr>
        <p:spPr>
          <a:xfrm>
            <a:off x="8156448" y="2176272"/>
            <a:ext cx="32918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~600 ms p50</a:t>
            </a:r>
            <a:endParaRPr lang="en-US" sz="1100" dirty="0"/>
          </a:p>
        </p:txBody>
      </p:sp>
      <p:sp>
        <p:nvSpPr>
          <p:cNvPr id="24" name="Shape 22"/>
          <p:cNvSpPr/>
          <p:nvPr/>
        </p:nvSpPr>
        <p:spPr>
          <a:xfrm>
            <a:off x="658368" y="2496312"/>
            <a:ext cx="10874959" cy="0"/>
          </a:xfrm>
          <a:prstGeom prst="line">
            <a:avLst/>
          </a:prstGeom>
          <a:noFill/>
          <a:ln w="12700">
            <a:solidFill>
              <a:srgbClr val="223029"/>
            </a:solidFill>
            <a:prstDash val="solid"/>
          </a:ln>
        </p:spPr>
      </p:sp>
      <p:sp>
        <p:nvSpPr>
          <p:cNvPr id="25" name="Text 23"/>
          <p:cNvSpPr txBox="1"/>
          <p:nvPr/>
        </p:nvSpPr>
        <p:spPr>
          <a:xfrm>
            <a:off x="658368" y="2542032"/>
            <a:ext cx="37490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wav2vec2 dysfluency head</a:t>
            </a:r>
            <a:endParaRPr lang="en-US" sz="1100" dirty="0"/>
          </a:p>
        </p:txBody>
      </p:sp>
      <p:sp>
        <p:nvSpPr>
          <p:cNvPr id="26" name="Text 24"/>
          <p:cNvSpPr txBox="1"/>
          <p:nvPr/>
        </p:nvSpPr>
        <p:spPr>
          <a:xfrm>
            <a:off x="4498848" y="2542032"/>
            <a:ext cx="19202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CPU</a:t>
            </a:r>
            <a:endParaRPr lang="en-US" sz="1100" dirty="0"/>
          </a:p>
        </p:txBody>
      </p:sp>
      <p:sp>
        <p:nvSpPr>
          <p:cNvPr id="27" name="Text 25"/>
          <p:cNvSpPr txBox="1"/>
          <p:nvPr/>
        </p:nvSpPr>
        <p:spPr>
          <a:xfrm>
            <a:off x="6510528" y="2542032"/>
            <a:ext cx="155448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a:t>
            </a:r>
            <a:endParaRPr lang="en-US" sz="1100" dirty="0"/>
          </a:p>
        </p:txBody>
      </p:sp>
      <p:sp>
        <p:nvSpPr>
          <p:cNvPr id="28" name="Text 26"/>
          <p:cNvSpPr txBox="1"/>
          <p:nvPr/>
        </p:nvSpPr>
        <p:spPr>
          <a:xfrm>
            <a:off x="8156448" y="2542032"/>
            <a:ext cx="32918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windowed at 3 s, 1.5 s hop</a:t>
            </a:r>
            <a:endParaRPr lang="en-US" sz="1100" dirty="0"/>
          </a:p>
        </p:txBody>
      </p:sp>
      <p:sp>
        <p:nvSpPr>
          <p:cNvPr id="29" name="Shape 27"/>
          <p:cNvSpPr/>
          <p:nvPr/>
        </p:nvSpPr>
        <p:spPr>
          <a:xfrm>
            <a:off x="658368" y="2862072"/>
            <a:ext cx="10874959" cy="0"/>
          </a:xfrm>
          <a:prstGeom prst="line">
            <a:avLst/>
          </a:prstGeom>
          <a:noFill/>
          <a:ln w="12700">
            <a:solidFill>
              <a:srgbClr val="223029"/>
            </a:solidFill>
            <a:prstDash val="solid"/>
          </a:ln>
        </p:spPr>
      </p:sp>
      <p:sp>
        <p:nvSpPr>
          <p:cNvPr id="30" name="Text 28"/>
          <p:cNvSpPr txBox="1"/>
          <p:nvPr/>
        </p:nvSpPr>
        <p:spPr>
          <a:xfrm>
            <a:off x="658368" y="2907792"/>
            <a:ext cx="37490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Qwen2.5-3B GGUF Q4_K_M</a:t>
            </a:r>
            <a:endParaRPr lang="en-US" sz="1100" dirty="0"/>
          </a:p>
        </p:txBody>
      </p:sp>
      <p:sp>
        <p:nvSpPr>
          <p:cNvPr id="31" name="Text 29"/>
          <p:cNvSpPr txBox="1"/>
          <p:nvPr/>
        </p:nvSpPr>
        <p:spPr>
          <a:xfrm>
            <a:off x="4498848" y="2907792"/>
            <a:ext cx="19202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CPU, llama.cpp</a:t>
            </a:r>
            <a:endParaRPr lang="en-US" sz="1100" dirty="0"/>
          </a:p>
        </p:txBody>
      </p:sp>
      <p:sp>
        <p:nvSpPr>
          <p:cNvPr id="32" name="Text 30"/>
          <p:cNvSpPr txBox="1"/>
          <p:nvPr/>
        </p:nvSpPr>
        <p:spPr>
          <a:xfrm>
            <a:off x="6510528" y="2907792"/>
            <a:ext cx="155448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a:t>
            </a:r>
            <a:endParaRPr lang="en-US" sz="1100" dirty="0"/>
          </a:p>
        </p:txBody>
      </p:sp>
      <p:sp>
        <p:nvSpPr>
          <p:cNvPr id="33" name="Text 31"/>
          <p:cNvSpPr txBox="1"/>
          <p:nvPr/>
        </p:nvSpPr>
        <p:spPr>
          <a:xfrm>
            <a:off x="8156448" y="2907792"/>
            <a:ext cx="32918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69 tok/s prefill, 20 decode, 3.33 GB RSS — or ~1.4 s a turn on CUDA 13.3, GPU permitting</a:t>
            </a:r>
            <a:endParaRPr lang="en-US" sz="1100" dirty="0"/>
          </a:p>
        </p:txBody>
      </p:sp>
      <p:sp>
        <p:nvSpPr>
          <p:cNvPr id="34" name="Shape 32"/>
          <p:cNvSpPr/>
          <p:nvPr/>
        </p:nvSpPr>
        <p:spPr>
          <a:xfrm>
            <a:off x="658368" y="3227832"/>
            <a:ext cx="10874959" cy="0"/>
          </a:xfrm>
          <a:prstGeom prst="line">
            <a:avLst/>
          </a:prstGeom>
          <a:noFill/>
          <a:ln w="12700">
            <a:solidFill>
              <a:srgbClr val="223029"/>
            </a:solidFill>
            <a:prstDash val="solid"/>
          </a:ln>
        </p:spPr>
      </p:sp>
      <p:sp>
        <p:nvSpPr>
          <p:cNvPr id="35" name="Text 33"/>
          <p:cNvSpPr txBox="1"/>
          <p:nvPr/>
        </p:nvSpPr>
        <p:spPr>
          <a:xfrm>
            <a:off x="658368" y="3273552"/>
            <a:ext cx="37490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bge-small + ChromaDB</a:t>
            </a:r>
            <a:endParaRPr lang="en-US" sz="1100" dirty="0"/>
          </a:p>
        </p:txBody>
      </p:sp>
      <p:sp>
        <p:nvSpPr>
          <p:cNvPr id="36" name="Text 34"/>
          <p:cNvSpPr txBox="1"/>
          <p:nvPr/>
        </p:nvSpPr>
        <p:spPr>
          <a:xfrm>
            <a:off x="4498848" y="3273552"/>
            <a:ext cx="19202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CPU / disk</a:t>
            </a:r>
            <a:endParaRPr lang="en-US" sz="1100" dirty="0"/>
          </a:p>
        </p:txBody>
      </p:sp>
      <p:sp>
        <p:nvSpPr>
          <p:cNvPr id="37" name="Text 35"/>
          <p:cNvSpPr txBox="1"/>
          <p:nvPr/>
        </p:nvSpPr>
        <p:spPr>
          <a:xfrm>
            <a:off x="6510528" y="3273552"/>
            <a:ext cx="155448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a:t>
            </a:r>
            <a:endParaRPr lang="en-US" sz="1100" dirty="0"/>
          </a:p>
        </p:txBody>
      </p:sp>
      <p:sp>
        <p:nvSpPr>
          <p:cNvPr id="38" name="Text 36"/>
          <p:cNvSpPr txBox="1"/>
          <p:nvPr/>
        </p:nvSpPr>
        <p:spPr>
          <a:xfrm>
            <a:off x="8156448" y="3273552"/>
            <a:ext cx="32918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33M params; retrieval settles at 25 ms warm</a:t>
            </a:r>
            <a:endParaRPr lang="en-US" sz="1100" dirty="0"/>
          </a:p>
        </p:txBody>
      </p:sp>
      <p:sp>
        <p:nvSpPr>
          <p:cNvPr id="39" name="Shape 37"/>
          <p:cNvSpPr/>
          <p:nvPr/>
        </p:nvSpPr>
        <p:spPr>
          <a:xfrm>
            <a:off x="658368" y="3593592"/>
            <a:ext cx="10874959" cy="0"/>
          </a:xfrm>
          <a:prstGeom prst="line">
            <a:avLst/>
          </a:prstGeom>
          <a:noFill/>
          <a:ln w="12700">
            <a:solidFill>
              <a:srgbClr val="223029"/>
            </a:solidFill>
            <a:prstDash val="solid"/>
          </a:ln>
        </p:spPr>
      </p:sp>
      <p:sp>
        <p:nvSpPr>
          <p:cNvPr id="40" name="Text 38"/>
          <p:cNvSpPr txBox="1"/>
          <p:nvPr/>
        </p:nvSpPr>
        <p:spPr>
          <a:xfrm>
            <a:off x="658368" y="3639312"/>
            <a:ext cx="37490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Kokoro-82M TTS</a:t>
            </a:r>
            <a:endParaRPr lang="en-US" sz="1100" dirty="0"/>
          </a:p>
        </p:txBody>
      </p:sp>
      <p:sp>
        <p:nvSpPr>
          <p:cNvPr id="41" name="Text 39"/>
          <p:cNvSpPr txBox="1"/>
          <p:nvPr/>
        </p:nvSpPr>
        <p:spPr>
          <a:xfrm>
            <a:off x="4498848" y="3639312"/>
            <a:ext cx="19202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CPU</a:t>
            </a:r>
            <a:endParaRPr lang="en-US" sz="1100" dirty="0"/>
          </a:p>
        </p:txBody>
      </p:sp>
      <p:sp>
        <p:nvSpPr>
          <p:cNvPr id="42" name="Text 40"/>
          <p:cNvSpPr txBox="1"/>
          <p:nvPr/>
        </p:nvSpPr>
        <p:spPr>
          <a:xfrm>
            <a:off x="6510528" y="3639312"/>
            <a:ext cx="155448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0</a:t>
            </a:r>
            <a:endParaRPr lang="en-US" sz="1100" dirty="0"/>
          </a:p>
        </p:txBody>
      </p:sp>
      <p:sp>
        <p:nvSpPr>
          <p:cNvPr id="43" name="Text 41"/>
          <p:cNvSpPr txBox="1"/>
          <p:nvPr/>
        </p:nvSpPr>
        <p:spPr>
          <a:xfrm>
            <a:off x="8156448" y="3639312"/>
            <a:ext cx="32918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82M params</a:t>
            </a:r>
            <a:endParaRPr lang="en-US" sz="1100" dirty="0"/>
          </a:p>
        </p:txBody>
      </p:sp>
      <p:sp>
        <p:nvSpPr>
          <p:cNvPr id="44" name="Shape 42"/>
          <p:cNvSpPr/>
          <p:nvPr/>
        </p:nvSpPr>
        <p:spPr>
          <a:xfrm>
            <a:off x="658368" y="3959352"/>
            <a:ext cx="10874959" cy="0"/>
          </a:xfrm>
          <a:prstGeom prst="line">
            <a:avLst/>
          </a:prstGeom>
          <a:noFill/>
          <a:ln w="12700">
            <a:solidFill>
              <a:srgbClr val="223029"/>
            </a:solidFill>
            <a:prstDash val="solid"/>
          </a:ln>
        </p:spPr>
      </p:sp>
      <p:sp>
        <p:nvSpPr>
          <p:cNvPr id="45" name="Text 43"/>
          <p:cNvSpPr txBox="1"/>
          <p:nvPr/>
        </p:nvSpPr>
        <p:spPr>
          <a:xfrm>
            <a:off x="658368" y="4005072"/>
            <a:ext cx="3749040" cy="329184"/>
          </a:xfrm>
          <a:prstGeom prst="rect">
            <a:avLst/>
          </a:prstGeom>
          <a:noFill/>
          <a:ln/>
        </p:spPr>
        <p:txBody>
          <a:bodyPr wrap="square" lIns="0" tIns="0" rIns="0" bIns="0" rtlCol="0" anchor="t"/>
          <a:lstStyle/>
          <a:p>
            <a:pPr algn="l" indent="0" marL="0">
              <a:lnSpc>
                <a:spcPct val="106000"/>
              </a:lnSpc>
              <a:buNone/>
            </a:pPr>
            <a:r>
              <a:rPr lang="en-US" sz="1100" b="1" dirty="0">
                <a:solidFill>
                  <a:srgbClr val="EFF2F1"/>
                </a:solidFill>
                <a:latin typeface="Calibri" pitchFamily="34" charset="0"/>
                <a:ea typeface="Calibri" pitchFamily="34" charset="-122"/>
                <a:cs typeface="Calibri" pitchFamily="34" charset="-120"/>
              </a:rPr>
              <a:t>GPU total</a:t>
            </a:r>
            <a:endParaRPr lang="en-US" sz="1100" dirty="0"/>
          </a:p>
        </p:txBody>
      </p:sp>
      <p:sp>
        <p:nvSpPr>
          <p:cNvPr id="46" name="Text 44"/>
          <p:cNvSpPr txBox="1"/>
          <p:nvPr/>
        </p:nvSpPr>
        <p:spPr>
          <a:xfrm>
            <a:off x="4498848" y="4005072"/>
            <a:ext cx="1920240" cy="329184"/>
          </a:xfrm>
          <a:prstGeom prst="rect">
            <a:avLst/>
          </a:prstGeom>
          <a:noFill/>
          <a:ln/>
        </p:spPr>
        <p:txBody>
          <a:bodyPr wrap="square" lIns="0" tIns="0" rIns="0" bIns="0" rtlCol="0" anchor="t"/>
          <a:lstStyle/>
          <a:p>
            <a:pPr algn="l" indent="0" marL="0">
              <a:lnSpc>
                <a:spcPct val="106000"/>
              </a:lnSpc>
              <a:buNone/>
            </a:pPr>
            <a:endParaRPr lang="en-US" sz="1100" dirty="0"/>
          </a:p>
        </p:txBody>
      </p:sp>
      <p:sp>
        <p:nvSpPr>
          <p:cNvPr id="47" name="Text 45"/>
          <p:cNvSpPr txBox="1"/>
          <p:nvPr/>
        </p:nvSpPr>
        <p:spPr>
          <a:xfrm>
            <a:off x="6510528" y="4005072"/>
            <a:ext cx="1554480" cy="329184"/>
          </a:xfrm>
          <a:prstGeom prst="rect">
            <a:avLst/>
          </a:prstGeom>
          <a:noFill/>
          <a:ln/>
        </p:spPr>
        <p:txBody>
          <a:bodyPr wrap="square" lIns="0" tIns="0" rIns="0" bIns="0" rtlCol="0" anchor="t"/>
          <a:lstStyle/>
          <a:p>
            <a:pPr algn="l" indent="0" marL="0">
              <a:buNone/>
            </a:pPr>
            <a:r>
              <a:rPr lang="en-US" sz="1100" dirty="0">
                <a:solidFill>
                  <a:srgbClr val="8CA096"/>
                </a:solidFill>
                <a:latin typeface="Courier New" pitchFamily="34" charset="0"/>
                <a:ea typeface="Courier New" pitchFamily="34" charset="-122"/>
                <a:cs typeface="Courier New" pitchFamily="34" charset="-120"/>
              </a:rPr>
              <a:t>~7.7 / 8.15 GB</a:t>
            </a:r>
            <a:endParaRPr lang="en-US" sz="1100" dirty="0"/>
          </a:p>
        </p:txBody>
      </p:sp>
      <p:sp>
        <p:nvSpPr>
          <p:cNvPr id="48" name="Text 46"/>
          <p:cNvSpPr txBox="1"/>
          <p:nvPr/>
        </p:nvSpPr>
        <p:spPr>
          <a:xfrm>
            <a:off x="8156448" y="4005072"/>
            <a:ext cx="3291840" cy="329184"/>
          </a:xfrm>
          <a:prstGeom prst="rect">
            <a:avLst/>
          </a:prstGeom>
          <a:noFill/>
          <a:ln/>
        </p:spPr>
        <p:txBody>
          <a:bodyPr wrap="square" lIns="0" tIns="0" rIns="0" bIns="0" rtlCol="0" anchor="t"/>
          <a:lstStyle/>
          <a:p>
            <a:pPr algn="l" indent="0" marL="0">
              <a:lnSpc>
                <a:spcPct val="106000"/>
              </a:lnSpc>
              <a:buNone/>
            </a:pPr>
            <a:r>
              <a:rPr lang="en-US" sz="1100" dirty="0">
                <a:solidFill>
                  <a:srgbClr val="8CA096"/>
                </a:solidFill>
                <a:latin typeface="Calibri" pitchFamily="34" charset="0"/>
                <a:ea typeface="Calibri" pitchFamily="34" charset="-122"/>
                <a:cs typeface="Calibri" pitchFamily="34" charset="-120"/>
              </a:rPr>
              <a:t>about 0.45 GB of headroom</a:t>
            </a:r>
            <a:endParaRPr lang="en-US" sz="1100" dirty="0"/>
          </a:p>
        </p:txBody>
      </p:sp>
      <p:sp>
        <p:nvSpPr>
          <p:cNvPr id="49" name="Shape 47"/>
          <p:cNvSpPr/>
          <p:nvPr/>
        </p:nvSpPr>
        <p:spPr>
          <a:xfrm>
            <a:off x="658368" y="4535424"/>
            <a:ext cx="10874959" cy="1335024"/>
          </a:xfrm>
          <a:prstGeom prst="roundRect">
            <a:avLst>
              <a:gd name="adj" fmla="val 10959"/>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50" name="Text 48"/>
          <p:cNvSpPr txBox="1"/>
          <p:nvPr/>
        </p:nvSpPr>
        <p:spPr>
          <a:xfrm>
            <a:off x="932688" y="4663440"/>
            <a:ext cx="10326319" cy="1133856"/>
          </a:xfrm>
          <a:prstGeom prst="rect">
            <a:avLst/>
          </a:prstGeom>
          <a:noFill/>
          <a:ln/>
        </p:spPr>
        <p:txBody>
          <a:bodyPr wrap="square" lIns="0" tIns="0" rIns="0" bIns="0" rtlCol="0" anchor="t"/>
          <a:lstStyle/>
          <a:p>
            <a:pPr algn="l" indent="0" marL="0">
              <a:lnSpc>
                <a:spcPct val="116000"/>
              </a:lnSpc>
              <a:buNone/>
            </a:pPr>
            <a:r>
              <a:rPr lang="en-US" sz="1100" dirty="0">
                <a:solidFill>
                  <a:srgbClr val="DCE5E4"/>
                </a:solidFill>
                <a:latin typeface="Calibri" pitchFamily="34" charset="0"/>
                <a:ea typeface="Calibri" pitchFamily="34" charset="-122"/>
                <a:cs typeface="Calibri" pitchFamily="34" charset="-120"/>
              </a:rPr>
              <a:t>Two decisions worth defending: CPU-serving the cascade is what makes a speech-to-speech-first product possible on 8 GB at all, because Moshi stays resident and there is no multi-second stall on a mode change. And GGUF through llama.cpp rather than bitsandbytes, because the card is Blackwell sm_120 where bitsandbytes is the most fragile link in the stack.</a:t>
            </a:r>
            <a:endParaRPr lang="en-US" sz="1100" dirty="0"/>
          </a:p>
          <a:p>
            <a:pPr algn="l" indent="0" marL="0">
              <a:lnSpc>
                <a:spcPct val="116000"/>
              </a:lnSpc>
              <a:buNone/>
            </a:pPr>
            <a:endParaRPr lang="en-US" sz="1100" dirty="0"/>
          </a:p>
          <a:p>
            <a:pPr algn="l" indent="0" marL="0">
              <a:lnSpc>
                <a:spcPct val="116000"/>
              </a:lnSpc>
              <a:buNone/>
            </a:pPr>
            <a:r>
              <a:rPr lang="en-US" sz="1100" dirty="0">
                <a:solidFill>
                  <a:srgbClr val="DCE5E4"/>
                </a:solidFill>
                <a:latin typeface="Calibri" pitchFamily="34" charset="0"/>
                <a:ea typeface="Calibri" pitchFamily="34" charset="-122"/>
                <a:cs typeface="Calibri" pitchFamily="34" charset="-120"/>
              </a:rPr>
              <a:t>M12's finding, which supersedes the framing above: the cascade is not inherently slow. Its generation stage answers in ~1.4 s on the CUDA 13.3 build. What makes it slow in the shipped product is that Moshi holds the card. The contention, not either model's speed, is the real constraint.</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A12</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Model selection, side by side</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backend/scripts/bench_whisper.py  ·  ml/dysfluency/reports/metrics.md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A12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Shape 8"/>
          <p:cNvSpPr/>
          <p:nvPr/>
        </p:nvSpPr>
        <p:spPr>
          <a:xfrm>
            <a:off x="658368" y="1389888"/>
            <a:ext cx="5321808" cy="2103120"/>
          </a:xfrm>
          <a:prstGeom prst="roundRect">
            <a:avLst>
              <a:gd name="adj" fmla="val 6957"/>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1" name="Text 9"/>
          <p:cNvSpPr txBox="1"/>
          <p:nvPr/>
        </p:nvSpPr>
        <p:spPr>
          <a:xfrm>
            <a:off x="914400" y="1536192"/>
            <a:ext cx="36576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SPEECH TO TEXT</a:t>
            </a:r>
            <a:endParaRPr lang="en-US" sz="950" dirty="0"/>
          </a:p>
        </p:txBody>
      </p:sp>
      <p:sp>
        <p:nvSpPr>
          <p:cNvPr id="12" name="Text 10"/>
          <p:cNvSpPr txBox="1"/>
          <p:nvPr/>
        </p:nvSpPr>
        <p:spPr>
          <a:xfrm>
            <a:off x="914400" y="1847088"/>
            <a:ext cx="10972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MODEL</a:t>
            </a:r>
            <a:endParaRPr lang="en-US" sz="850" dirty="0"/>
          </a:p>
        </p:txBody>
      </p:sp>
      <p:sp>
        <p:nvSpPr>
          <p:cNvPr id="13" name="Text 11"/>
          <p:cNvSpPr txBox="1"/>
          <p:nvPr/>
        </p:nvSpPr>
        <p:spPr>
          <a:xfrm>
            <a:off x="2011680" y="1847088"/>
            <a:ext cx="10058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P50</a:t>
            </a:r>
            <a:endParaRPr lang="en-US" sz="850" dirty="0"/>
          </a:p>
        </p:txBody>
      </p:sp>
      <p:sp>
        <p:nvSpPr>
          <p:cNvPr id="14" name="Text 12"/>
          <p:cNvSpPr txBox="1"/>
          <p:nvPr/>
        </p:nvSpPr>
        <p:spPr>
          <a:xfrm>
            <a:off x="3017520" y="1847088"/>
            <a:ext cx="8229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RTF</a:t>
            </a:r>
            <a:endParaRPr lang="en-US" sz="850" dirty="0"/>
          </a:p>
        </p:txBody>
      </p:sp>
      <p:sp>
        <p:nvSpPr>
          <p:cNvPr id="15" name="Text 13"/>
          <p:cNvSpPr txBox="1"/>
          <p:nvPr/>
        </p:nvSpPr>
        <p:spPr>
          <a:xfrm>
            <a:off x="3840480" y="1847088"/>
            <a:ext cx="10972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BLOCK</a:t>
            </a:r>
            <a:endParaRPr lang="en-US" sz="850" dirty="0"/>
          </a:p>
        </p:txBody>
      </p:sp>
      <p:sp>
        <p:nvSpPr>
          <p:cNvPr id="16" name="Text 14"/>
          <p:cNvSpPr txBox="1"/>
          <p:nvPr/>
        </p:nvSpPr>
        <p:spPr>
          <a:xfrm>
            <a:off x="4937760" y="1847088"/>
            <a:ext cx="786384"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ERROR</a:t>
            </a:r>
            <a:endParaRPr lang="en-US" sz="850" dirty="0"/>
          </a:p>
        </p:txBody>
      </p:sp>
      <p:sp>
        <p:nvSpPr>
          <p:cNvPr id="17" name="Shape 15"/>
          <p:cNvSpPr/>
          <p:nvPr/>
        </p:nvSpPr>
        <p:spPr>
          <a:xfrm>
            <a:off x="914400" y="2121408"/>
            <a:ext cx="4809744" cy="0"/>
          </a:xfrm>
          <a:prstGeom prst="line">
            <a:avLst/>
          </a:prstGeom>
          <a:noFill/>
          <a:ln w="12700">
            <a:solidFill>
              <a:srgbClr val="33463D"/>
            </a:solidFill>
            <a:prstDash val="solid"/>
          </a:ln>
        </p:spPr>
      </p:sp>
      <p:sp>
        <p:nvSpPr>
          <p:cNvPr id="18" name="Text 16"/>
          <p:cNvSpPr txBox="1"/>
          <p:nvPr/>
        </p:nvSpPr>
        <p:spPr>
          <a:xfrm>
            <a:off x="914400" y="2194560"/>
            <a:ext cx="1005840" cy="292608"/>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tiny</a:t>
            </a:r>
            <a:endParaRPr lang="en-US" sz="1000" dirty="0"/>
          </a:p>
        </p:txBody>
      </p:sp>
      <p:sp>
        <p:nvSpPr>
          <p:cNvPr id="19" name="Text 17"/>
          <p:cNvSpPr txBox="1"/>
          <p:nvPr/>
        </p:nvSpPr>
        <p:spPr>
          <a:xfrm>
            <a:off x="2011680" y="2194560"/>
            <a:ext cx="91440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285 ms</a:t>
            </a:r>
            <a:endParaRPr lang="en-US" sz="1000" dirty="0"/>
          </a:p>
        </p:txBody>
      </p:sp>
      <p:sp>
        <p:nvSpPr>
          <p:cNvPr id="20" name="Text 18"/>
          <p:cNvSpPr txBox="1"/>
          <p:nvPr/>
        </p:nvSpPr>
        <p:spPr>
          <a:xfrm>
            <a:off x="3017520" y="2194560"/>
            <a:ext cx="73152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0.08</a:t>
            </a:r>
            <a:endParaRPr lang="en-US" sz="1000" dirty="0"/>
          </a:p>
        </p:txBody>
      </p:sp>
      <p:sp>
        <p:nvSpPr>
          <p:cNvPr id="21" name="Text 19"/>
          <p:cNvSpPr txBox="1"/>
          <p:nvPr/>
        </p:nvSpPr>
        <p:spPr>
          <a:xfrm>
            <a:off x="3840480" y="2194560"/>
            <a:ext cx="100584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missed</a:t>
            </a:r>
            <a:endParaRPr lang="en-US" sz="1000" dirty="0"/>
          </a:p>
        </p:txBody>
      </p:sp>
      <p:sp>
        <p:nvSpPr>
          <p:cNvPr id="22" name="Text 20"/>
          <p:cNvSpPr txBox="1"/>
          <p:nvPr/>
        </p:nvSpPr>
        <p:spPr>
          <a:xfrm>
            <a:off x="4937760" y="2194560"/>
            <a:ext cx="694944"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a:t>
            </a:r>
            <a:endParaRPr lang="en-US" sz="1000" dirty="0"/>
          </a:p>
        </p:txBody>
      </p:sp>
      <p:sp>
        <p:nvSpPr>
          <p:cNvPr id="23" name="Shape 21"/>
          <p:cNvSpPr/>
          <p:nvPr/>
        </p:nvSpPr>
        <p:spPr>
          <a:xfrm>
            <a:off x="914400" y="2478024"/>
            <a:ext cx="4809744" cy="0"/>
          </a:xfrm>
          <a:prstGeom prst="line">
            <a:avLst/>
          </a:prstGeom>
          <a:noFill/>
          <a:ln w="12700">
            <a:solidFill>
              <a:srgbClr val="223029"/>
            </a:solidFill>
            <a:prstDash val="solid"/>
          </a:ln>
        </p:spPr>
      </p:sp>
      <p:sp>
        <p:nvSpPr>
          <p:cNvPr id="24" name="Text 22"/>
          <p:cNvSpPr txBox="1"/>
          <p:nvPr/>
        </p:nvSpPr>
        <p:spPr>
          <a:xfrm>
            <a:off x="914400" y="2523744"/>
            <a:ext cx="1005840" cy="292608"/>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base</a:t>
            </a:r>
            <a:endParaRPr lang="en-US" sz="1000" dirty="0"/>
          </a:p>
        </p:txBody>
      </p:sp>
      <p:sp>
        <p:nvSpPr>
          <p:cNvPr id="25" name="Text 23"/>
          <p:cNvSpPr txBox="1"/>
          <p:nvPr/>
        </p:nvSpPr>
        <p:spPr>
          <a:xfrm>
            <a:off x="2011680" y="2523744"/>
            <a:ext cx="91440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598 ms</a:t>
            </a:r>
            <a:endParaRPr lang="en-US" sz="1000" dirty="0"/>
          </a:p>
        </p:txBody>
      </p:sp>
      <p:sp>
        <p:nvSpPr>
          <p:cNvPr id="26" name="Text 24"/>
          <p:cNvSpPr txBox="1"/>
          <p:nvPr/>
        </p:nvSpPr>
        <p:spPr>
          <a:xfrm>
            <a:off x="3017520" y="2523744"/>
            <a:ext cx="73152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0.17</a:t>
            </a:r>
            <a:endParaRPr lang="en-US" sz="1000" dirty="0"/>
          </a:p>
        </p:txBody>
      </p:sp>
      <p:sp>
        <p:nvSpPr>
          <p:cNvPr id="27" name="Text 25"/>
          <p:cNvSpPr txBox="1"/>
          <p:nvPr/>
        </p:nvSpPr>
        <p:spPr>
          <a:xfrm>
            <a:off x="3840480" y="2523744"/>
            <a:ext cx="100584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1440 ms</a:t>
            </a:r>
            <a:endParaRPr lang="en-US" sz="1000" dirty="0"/>
          </a:p>
        </p:txBody>
      </p:sp>
      <p:sp>
        <p:nvSpPr>
          <p:cNvPr id="28" name="Text 26"/>
          <p:cNvSpPr txBox="1"/>
          <p:nvPr/>
        </p:nvSpPr>
        <p:spPr>
          <a:xfrm>
            <a:off x="4937760" y="2523744"/>
            <a:ext cx="694944"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40 ms</a:t>
            </a:r>
            <a:endParaRPr lang="en-US" sz="1000" dirty="0"/>
          </a:p>
        </p:txBody>
      </p:sp>
      <p:sp>
        <p:nvSpPr>
          <p:cNvPr id="29" name="Shape 27"/>
          <p:cNvSpPr/>
          <p:nvPr/>
        </p:nvSpPr>
        <p:spPr>
          <a:xfrm>
            <a:off x="914400" y="2807208"/>
            <a:ext cx="4809744" cy="0"/>
          </a:xfrm>
          <a:prstGeom prst="line">
            <a:avLst/>
          </a:prstGeom>
          <a:noFill/>
          <a:ln w="12700">
            <a:solidFill>
              <a:srgbClr val="223029"/>
            </a:solidFill>
            <a:prstDash val="solid"/>
          </a:ln>
        </p:spPr>
      </p:sp>
      <p:sp>
        <p:nvSpPr>
          <p:cNvPr id="30" name="Text 28"/>
          <p:cNvSpPr txBox="1"/>
          <p:nvPr/>
        </p:nvSpPr>
        <p:spPr>
          <a:xfrm>
            <a:off x="914400" y="2852928"/>
            <a:ext cx="1005840" cy="292608"/>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small</a:t>
            </a:r>
            <a:endParaRPr lang="en-US" sz="1000" dirty="0"/>
          </a:p>
        </p:txBody>
      </p:sp>
      <p:sp>
        <p:nvSpPr>
          <p:cNvPr id="31" name="Text 29"/>
          <p:cNvSpPr txBox="1"/>
          <p:nvPr/>
        </p:nvSpPr>
        <p:spPr>
          <a:xfrm>
            <a:off x="2011680" y="2852928"/>
            <a:ext cx="91440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2025 ms</a:t>
            </a:r>
            <a:endParaRPr lang="en-US" sz="1000" dirty="0"/>
          </a:p>
        </p:txBody>
      </p:sp>
      <p:sp>
        <p:nvSpPr>
          <p:cNvPr id="32" name="Text 30"/>
          <p:cNvSpPr txBox="1"/>
          <p:nvPr/>
        </p:nvSpPr>
        <p:spPr>
          <a:xfrm>
            <a:off x="3017520" y="2852928"/>
            <a:ext cx="73152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0.56</a:t>
            </a:r>
            <a:endParaRPr lang="en-US" sz="1000" dirty="0"/>
          </a:p>
        </p:txBody>
      </p:sp>
      <p:sp>
        <p:nvSpPr>
          <p:cNvPr id="33" name="Text 31"/>
          <p:cNvSpPr txBox="1"/>
          <p:nvPr/>
        </p:nvSpPr>
        <p:spPr>
          <a:xfrm>
            <a:off x="3840480" y="2852928"/>
            <a:ext cx="1005840"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1460 ms</a:t>
            </a:r>
            <a:endParaRPr lang="en-US" sz="1000" dirty="0"/>
          </a:p>
        </p:txBody>
      </p:sp>
      <p:sp>
        <p:nvSpPr>
          <p:cNvPr id="34" name="Text 32"/>
          <p:cNvSpPr txBox="1"/>
          <p:nvPr/>
        </p:nvSpPr>
        <p:spPr>
          <a:xfrm>
            <a:off x="4937760" y="2852928"/>
            <a:ext cx="694944" cy="292608"/>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60 ms</a:t>
            </a:r>
            <a:endParaRPr lang="en-US" sz="1000" dirty="0"/>
          </a:p>
        </p:txBody>
      </p:sp>
      <p:sp>
        <p:nvSpPr>
          <p:cNvPr id="35" name="Shape 33"/>
          <p:cNvSpPr/>
          <p:nvPr/>
        </p:nvSpPr>
        <p:spPr>
          <a:xfrm>
            <a:off x="6208776" y="1389888"/>
            <a:ext cx="5321808" cy="2103120"/>
          </a:xfrm>
          <a:prstGeom prst="roundRect">
            <a:avLst>
              <a:gd name="adj" fmla="val 6957"/>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36" name="Text 34"/>
          <p:cNvSpPr txBox="1"/>
          <p:nvPr/>
        </p:nvSpPr>
        <p:spPr>
          <a:xfrm>
            <a:off x="6464808" y="1536192"/>
            <a:ext cx="292608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DYSFLUENCY CLASSIFIER, PER CLASS</a:t>
            </a:r>
            <a:endParaRPr lang="en-US" sz="950" dirty="0"/>
          </a:p>
        </p:txBody>
      </p:sp>
      <p:sp>
        <p:nvSpPr>
          <p:cNvPr id="37" name="Text 35"/>
          <p:cNvSpPr txBox="1"/>
          <p:nvPr/>
        </p:nvSpPr>
        <p:spPr>
          <a:xfrm>
            <a:off x="9509760" y="1517904"/>
            <a:ext cx="1764792" cy="219456"/>
          </a:xfrm>
          <a:prstGeom prst="rect">
            <a:avLst/>
          </a:prstGeom>
          <a:noFill/>
          <a:ln/>
        </p:spPr>
        <p:txBody>
          <a:bodyPr wrap="square" lIns="0" tIns="0" rIns="0" bIns="0" rtlCol="0" anchor="ctr"/>
          <a:lstStyle/>
          <a:p>
            <a:pPr algn="r" indent="0" marL="0">
              <a:buNone/>
            </a:pPr>
            <a:r>
              <a:rPr lang="en-US" sz="1050" b="1" dirty="0">
                <a:solidFill>
                  <a:srgbClr val="F9BF29"/>
                </a:solidFill>
                <a:latin typeface="Courier New" pitchFamily="34" charset="0"/>
                <a:ea typeface="Courier New" pitchFamily="34" charset="-122"/>
                <a:cs typeface="Courier New" pitchFamily="34" charset="-120"/>
              </a:rPr>
              <a:t>macro F1  0.638</a:t>
            </a:r>
            <a:endParaRPr lang="en-US" sz="1050" dirty="0"/>
          </a:p>
        </p:txBody>
      </p:sp>
      <p:sp>
        <p:nvSpPr>
          <p:cNvPr id="38" name="Text 36"/>
          <p:cNvSpPr txBox="1"/>
          <p:nvPr/>
        </p:nvSpPr>
        <p:spPr>
          <a:xfrm>
            <a:off x="6464808" y="1847088"/>
            <a:ext cx="155448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CLASS</a:t>
            </a:r>
            <a:endParaRPr lang="en-US" sz="850" dirty="0"/>
          </a:p>
        </p:txBody>
      </p:sp>
      <p:sp>
        <p:nvSpPr>
          <p:cNvPr id="39" name="Text 37"/>
          <p:cNvSpPr txBox="1"/>
          <p:nvPr/>
        </p:nvSpPr>
        <p:spPr>
          <a:xfrm>
            <a:off x="8019288" y="1847088"/>
            <a:ext cx="8229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F1</a:t>
            </a:r>
            <a:endParaRPr lang="en-US" sz="850" dirty="0"/>
          </a:p>
        </p:txBody>
      </p:sp>
      <p:sp>
        <p:nvSpPr>
          <p:cNvPr id="40" name="Text 38"/>
          <p:cNvSpPr txBox="1"/>
          <p:nvPr/>
        </p:nvSpPr>
        <p:spPr>
          <a:xfrm>
            <a:off x="8842248" y="1847088"/>
            <a:ext cx="100584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PRECISION</a:t>
            </a:r>
            <a:endParaRPr lang="en-US" sz="850" dirty="0"/>
          </a:p>
        </p:txBody>
      </p:sp>
      <p:sp>
        <p:nvSpPr>
          <p:cNvPr id="41" name="Text 39"/>
          <p:cNvSpPr txBox="1"/>
          <p:nvPr/>
        </p:nvSpPr>
        <p:spPr>
          <a:xfrm>
            <a:off x="9848088" y="1847088"/>
            <a:ext cx="82296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RECALL</a:t>
            </a:r>
            <a:endParaRPr lang="en-US" sz="850" dirty="0"/>
          </a:p>
        </p:txBody>
      </p:sp>
      <p:sp>
        <p:nvSpPr>
          <p:cNvPr id="42" name="Text 40"/>
          <p:cNvSpPr txBox="1"/>
          <p:nvPr/>
        </p:nvSpPr>
        <p:spPr>
          <a:xfrm>
            <a:off x="10671048" y="1847088"/>
            <a:ext cx="603504"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PR-AUC</a:t>
            </a:r>
            <a:endParaRPr lang="en-US" sz="850" dirty="0"/>
          </a:p>
        </p:txBody>
      </p:sp>
      <p:sp>
        <p:nvSpPr>
          <p:cNvPr id="43" name="Shape 41"/>
          <p:cNvSpPr/>
          <p:nvPr/>
        </p:nvSpPr>
        <p:spPr>
          <a:xfrm>
            <a:off x="6464808" y="2121408"/>
            <a:ext cx="4809744" cy="0"/>
          </a:xfrm>
          <a:prstGeom prst="line">
            <a:avLst/>
          </a:prstGeom>
          <a:noFill/>
          <a:ln w="12700">
            <a:solidFill>
              <a:srgbClr val="33463D"/>
            </a:solidFill>
            <a:prstDash val="solid"/>
          </a:ln>
        </p:spPr>
      </p:sp>
      <p:sp>
        <p:nvSpPr>
          <p:cNvPr id="44" name="Text 42"/>
          <p:cNvSpPr txBox="1"/>
          <p:nvPr/>
        </p:nvSpPr>
        <p:spPr>
          <a:xfrm>
            <a:off x="6464808" y="2194560"/>
            <a:ext cx="1463040" cy="228600"/>
          </a:xfrm>
          <a:prstGeom prst="rect">
            <a:avLst/>
          </a:prstGeom>
          <a:noFill/>
          <a:ln/>
        </p:spPr>
        <p:txBody>
          <a:bodyPr wrap="square" lIns="0" tIns="0" rIns="0" bIns="0" rtlCol="0" anchor="t"/>
          <a:lstStyle/>
          <a:p>
            <a:pPr algn="l" indent="0" marL="0">
              <a:lnSpc>
                <a:spcPct val="106000"/>
              </a:lnSpc>
              <a:buNone/>
            </a:pPr>
            <a:r>
              <a:rPr lang="en-US" sz="950" b="1" dirty="0">
                <a:solidFill>
                  <a:srgbClr val="EFF2F1"/>
                </a:solidFill>
                <a:latin typeface="Calibri" pitchFamily="34" charset="0"/>
                <a:ea typeface="Calibri" pitchFamily="34" charset="-122"/>
                <a:cs typeface="Calibri" pitchFamily="34" charset="-120"/>
              </a:rPr>
              <a:t>Block</a:t>
            </a:r>
            <a:endParaRPr lang="en-US" sz="950" dirty="0"/>
          </a:p>
        </p:txBody>
      </p:sp>
      <p:sp>
        <p:nvSpPr>
          <p:cNvPr id="45" name="Text 43"/>
          <p:cNvSpPr txBox="1"/>
          <p:nvPr/>
        </p:nvSpPr>
        <p:spPr>
          <a:xfrm>
            <a:off x="8019288" y="2194560"/>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0.616</a:t>
            </a:r>
            <a:endParaRPr lang="en-US" sz="950" dirty="0"/>
          </a:p>
        </p:txBody>
      </p:sp>
      <p:sp>
        <p:nvSpPr>
          <p:cNvPr id="46" name="Text 44"/>
          <p:cNvSpPr txBox="1"/>
          <p:nvPr/>
        </p:nvSpPr>
        <p:spPr>
          <a:xfrm>
            <a:off x="8842248" y="2194560"/>
            <a:ext cx="91440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0.593</a:t>
            </a:r>
            <a:endParaRPr lang="en-US" sz="950" dirty="0"/>
          </a:p>
        </p:txBody>
      </p:sp>
      <p:sp>
        <p:nvSpPr>
          <p:cNvPr id="47" name="Text 45"/>
          <p:cNvSpPr txBox="1"/>
          <p:nvPr/>
        </p:nvSpPr>
        <p:spPr>
          <a:xfrm>
            <a:off x="9848088" y="2194560"/>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0.642</a:t>
            </a:r>
            <a:endParaRPr lang="en-US" sz="950" dirty="0"/>
          </a:p>
        </p:txBody>
      </p:sp>
      <p:sp>
        <p:nvSpPr>
          <p:cNvPr id="48" name="Text 46"/>
          <p:cNvSpPr txBox="1"/>
          <p:nvPr/>
        </p:nvSpPr>
        <p:spPr>
          <a:xfrm>
            <a:off x="10671048" y="2194560"/>
            <a:ext cx="512064"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0.624</a:t>
            </a:r>
            <a:endParaRPr lang="en-US" sz="950" dirty="0"/>
          </a:p>
        </p:txBody>
      </p:sp>
      <p:sp>
        <p:nvSpPr>
          <p:cNvPr id="49" name="Shape 47"/>
          <p:cNvSpPr/>
          <p:nvPr/>
        </p:nvSpPr>
        <p:spPr>
          <a:xfrm>
            <a:off x="6464808" y="2414016"/>
            <a:ext cx="4809744" cy="0"/>
          </a:xfrm>
          <a:prstGeom prst="line">
            <a:avLst/>
          </a:prstGeom>
          <a:noFill/>
          <a:ln w="12700">
            <a:solidFill>
              <a:srgbClr val="223029"/>
            </a:solidFill>
            <a:prstDash val="solid"/>
          </a:ln>
        </p:spPr>
      </p:sp>
      <p:sp>
        <p:nvSpPr>
          <p:cNvPr id="50" name="Text 48"/>
          <p:cNvSpPr txBox="1"/>
          <p:nvPr/>
        </p:nvSpPr>
        <p:spPr>
          <a:xfrm>
            <a:off x="6464808" y="2459736"/>
            <a:ext cx="1463040" cy="228600"/>
          </a:xfrm>
          <a:prstGeom prst="rect">
            <a:avLst/>
          </a:prstGeom>
          <a:noFill/>
          <a:ln/>
        </p:spPr>
        <p:txBody>
          <a:bodyPr wrap="square" lIns="0" tIns="0" rIns="0" bIns="0" rtlCol="0" anchor="t"/>
          <a:lstStyle/>
          <a:p>
            <a:pPr algn="l" indent="0" marL="0">
              <a:lnSpc>
                <a:spcPct val="106000"/>
              </a:lnSpc>
              <a:buNone/>
            </a:pPr>
            <a:r>
              <a:rPr lang="en-US" sz="950" b="1" dirty="0">
                <a:solidFill>
                  <a:srgbClr val="EFF2F1"/>
                </a:solidFill>
                <a:latin typeface="Calibri" pitchFamily="34" charset="0"/>
                <a:ea typeface="Calibri" pitchFamily="34" charset="-122"/>
                <a:cs typeface="Calibri" pitchFamily="34" charset="-120"/>
              </a:rPr>
              <a:t>Prolongation</a:t>
            </a:r>
            <a:endParaRPr lang="en-US" sz="950" dirty="0"/>
          </a:p>
        </p:txBody>
      </p:sp>
      <p:sp>
        <p:nvSpPr>
          <p:cNvPr id="51" name="Text 49"/>
          <p:cNvSpPr txBox="1"/>
          <p:nvPr/>
        </p:nvSpPr>
        <p:spPr>
          <a:xfrm>
            <a:off x="8019288" y="2459736"/>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0.574</a:t>
            </a:r>
            <a:endParaRPr lang="en-US" sz="950" dirty="0"/>
          </a:p>
        </p:txBody>
      </p:sp>
      <p:sp>
        <p:nvSpPr>
          <p:cNvPr id="52" name="Text 50"/>
          <p:cNvSpPr txBox="1"/>
          <p:nvPr/>
        </p:nvSpPr>
        <p:spPr>
          <a:xfrm>
            <a:off x="8842248" y="2459736"/>
            <a:ext cx="91440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0.475</a:t>
            </a:r>
            <a:endParaRPr lang="en-US" sz="950" dirty="0"/>
          </a:p>
        </p:txBody>
      </p:sp>
      <p:sp>
        <p:nvSpPr>
          <p:cNvPr id="53" name="Text 51"/>
          <p:cNvSpPr txBox="1"/>
          <p:nvPr/>
        </p:nvSpPr>
        <p:spPr>
          <a:xfrm>
            <a:off x="9848088" y="2459736"/>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0.726</a:t>
            </a:r>
            <a:endParaRPr lang="en-US" sz="950" dirty="0"/>
          </a:p>
        </p:txBody>
      </p:sp>
      <p:sp>
        <p:nvSpPr>
          <p:cNvPr id="54" name="Text 52"/>
          <p:cNvSpPr txBox="1"/>
          <p:nvPr/>
        </p:nvSpPr>
        <p:spPr>
          <a:xfrm>
            <a:off x="10671048" y="2459736"/>
            <a:ext cx="512064"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0.632</a:t>
            </a:r>
            <a:endParaRPr lang="en-US" sz="950" dirty="0"/>
          </a:p>
        </p:txBody>
      </p:sp>
      <p:sp>
        <p:nvSpPr>
          <p:cNvPr id="55" name="Shape 53"/>
          <p:cNvSpPr/>
          <p:nvPr/>
        </p:nvSpPr>
        <p:spPr>
          <a:xfrm>
            <a:off x="6464808" y="2679192"/>
            <a:ext cx="4809744" cy="0"/>
          </a:xfrm>
          <a:prstGeom prst="line">
            <a:avLst/>
          </a:prstGeom>
          <a:noFill/>
          <a:ln w="12700">
            <a:solidFill>
              <a:srgbClr val="223029"/>
            </a:solidFill>
            <a:prstDash val="solid"/>
          </a:ln>
        </p:spPr>
      </p:sp>
      <p:sp>
        <p:nvSpPr>
          <p:cNvPr id="56" name="Text 54"/>
          <p:cNvSpPr txBox="1"/>
          <p:nvPr/>
        </p:nvSpPr>
        <p:spPr>
          <a:xfrm>
            <a:off x="6464808" y="2724912"/>
            <a:ext cx="1463040" cy="228600"/>
          </a:xfrm>
          <a:prstGeom prst="rect">
            <a:avLst/>
          </a:prstGeom>
          <a:noFill/>
          <a:ln/>
        </p:spPr>
        <p:txBody>
          <a:bodyPr wrap="square" lIns="0" tIns="0" rIns="0" bIns="0" rtlCol="0" anchor="t"/>
          <a:lstStyle/>
          <a:p>
            <a:pPr algn="l" indent="0" marL="0">
              <a:lnSpc>
                <a:spcPct val="106000"/>
              </a:lnSpc>
              <a:buNone/>
            </a:pPr>
            <a:r>
              <a:rPr lang="en-US" sz="950" b="1" dirty="0">
                <a:solidFill>
                  <a:srgbClr val="EFF2F1"/>
                </a:solidFill>
                <a:latin typeface="Calibri" pitchFamily="34" charset="0"/>
                <a:ea typeface="Calibri" pitchFamily="34" charset="-122"/>
                <a:cs typeface="Calibri" pitchFamily="34" charset="-120"/>
              </a:rPr>
              <a:t>SoundRep</a:t>
            </a:r>
            <a:endParaRPr lang="en-US" sz="950" dirty="0"/>
          </a:p>
        </p:txBody>
      </p:sp>
      <p:sp>
        <p:nvSpPr>
          <p:cNvPr id="57" name="Text 55"/>
          <p:cNvSpPr txBox="1"/>
          <p:nvPr/>
        </p:nvSpPr>
        <p:spPr>
          <a:xfrm>
            <a:off x="8019288" y="2724912"/>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0.621</a:t>
            </a:r>
            <a:endParaRPr lang="en-US" sz="950" dirty="0"/>
          </a:p>
        </p:txBody>
      </p:sp>
      <p:sp>
        <p:nvSpPr>
          <p:cNvPr id="58" name="Text 56"/>
          <p:cNvSpPr txBox="1"/>
          <p:nvPr/>
        </p:nvSpPr>
        <p:spPr>
          <a:xfrm>
            <a:off x="8842248" y="2724912"/>
            <a:ext cx="91440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0.604</a:t>
            </a:r>
            <a:endParaRPr lang="en-US" sz="950" dirty="0"/>
          </a:p>
        </p:txBody>
      </p:sp>
      <p:sp>
        <p:nvSpPr>
          <p:cNvPr id="59" name="Text 57"/>
          <p:cNvSpPr txBox="1"/>
          <p:nvPr/>
        </p:nvSpPr>
        <p:spPr>
          <a:xfrm>
            <a:off x="9848088" y="2724912"/>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0.638</a:t>
            </a:r>
            <a:endParaRPr lang="en-US" sz="950" dirty="0"/>
          </a:p>
        </p:txBody>
      </p:sp>
      <p:sp>
        <p:nvSpPr>
          <p:cNvPr id="60" name="Text 58"/>
          <p:cNvSpPr txBox="1"/>
          <p:nvPr/>
        </p:nvSpPr>
        <p:spPr>
          <a:xfrm>
            <a:off x="10671048" y="2724912"/>
            <a:ext cx="512064"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0.697</a:t>
            </a:r>
            <a:endParaRPr lang="en-US" sz="950" dirty="0"/>
          </a:p>
        </p:txBody>
      </p:sp>
      <p:sp>
        <p:nvSpPr>
          <p:cNvPr id="61" name="Shape 59"/>
          <p:cNvSpPr/>
          <p:nvPr/>
        </p:nvSpPr>
        <p:spPr>
          <a:xfrm>
            <a:off x="6464808" y="2944368"/>
            <a:ext cx="4809744" cy="0"/>
          </a:xfrm>
          <a:prstGeom prst="line">
            <a:avLst/>
          </a:prstGeom>
          <a:noFill/>
          <a:ln w="12700">
            <a:solidFill>
              <a:srgbClr val="223029"/>
            </a:solidFill>
            <a:prstDash val="solid"/>
          </a:ln>
        </p:spPr>
      </p:sp>
      <p:sp>
        <p:nvSpPr>
          <p:cNvPr id="62" name="Text 60"/>
          <p:cNvSpPr txBox="1"/>
          <p:nvPr/>
        </p:nvSpPr>
        <p:spPr>
          <a:xfrm>
            <a:off x="6464808" y="2990088"/>
            <a:ext cx="1463040" cy="228600"/>
          </a:xfrm>
          <a:prstGeom prst="rect">
            <a:avLst/>
          </a:prstGeom>
          <a:noFill/>
          <a:ln/>
        </p:spPr>
        <p:txBody>
          <a:bodyPr wrap="square" lIns="0" tIns="0" rIns="0" bIns="0" rtlCol="0" anchor="t"/>
          <a:lstStyle/>
          <a:p>
            <a:pPr algn="l" indent="0" marL="0">
              <a:lnSpc>
                <a:spcPct val="106000"/>
              </a:lnSpc>
              <a:buNone/>
            </a:pPr>
            <a:r>
              <a:rPr lang="en-US" sz="950" b="1" dirty="0">
                <a:solidFill>
                  <a:srgbClr val="EFF2F1"/>
                </a:solidFill>
                <a:latin typeface="Calibri" pitchFamily="34" charset="0"/>
                <a:ea typeface="Calibri" pitchFamily="34" charset="-122"/>
                <a:cs typeface="Calibri" pitchFamily="34" charset="-120"/>
              </a:rPr>
              <a:t>WordRep</a:t>
            </a:r>
            <a:endParaRPr lang="en-US" sz="950" dirty="0"/>
          </a:p>
        </p:txBody>
      </p:sp>
      <p:sp>
        <p:nvSpPr>
          <p:cNvPr id="63" name="Text 61"/>
          <p:cNvSpPr txBox="1"/>
          <p:nvPr/>
        </p:nvSpPr>
        <p:spPr>
          <a:xfrm>
            <a:off x="8019288" y="2990088"/>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0.628</a:t>
            </a:r>
            <a:endParaRPr lang="en-US" sz="950" dirty="0"/>
          </a:p>
        </p:txBody>
      </p:sp>
      <p:sp>
        <p:nvSpPr>
          <p:cNvPr id="64" name="Text 62"/>
          <p:cNvSpPr txBox="1"/>
          <p:nvPr/>
        </p:nvSpPr>
        <p:spPr>
          <a:xfrm>
            <a:off x="8842248" y="2990088"/>
            <a:ext cx="91440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0.652</a:t>
            </a:r>
            <a:endParaRPr lang="en-US" sz="950" dirty="0"/>
          </a:p>
        </p:txBody>
      </p:sp>
      <p:sp>
        <p:nvSpPr>
          <p:cNvPr id="65" name="Text 63"/>
          <p:cNvSpPr txBox="1"/>
          <p:nvPr/>
        </p:nvSpPr>
        <p:spPr>
          <a:xfrm>
            <a:off x="9848088" y="2990088"/>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0.606</a:t>
            </a:r>
            <a:endParaRPr lang="en-US" sz="950" dirty="0"/>
          </a:p>
        </p:txBody>
      </p:sp>
      <p:sp>
        <p:nvSpPr>
          <p:cNvPr id="66" name="Text 64"/>
          <p:cNvSpPr txBox="1"/>
          <p:nvPr/>
        </p:nvSpPr>
        <p:spPr>
          <a:xfrm>
            <a:off x="10671048" y="2990088"/>
            <a:ext cx="512064"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0.693</a:t>
            </a:r>
            <a:endParaRPr lang="en-US" sz="950" dirty="0"/>
          </a:p>
        </p:txBody>
      </p:sp>
      <p:sp>
        <p:nvSpPr>
          <p:cNvPr id="67" name="Shape 65"/>
          <p:cNvSpPr/>
          <p:nvPr/>
        </p:nvSpPr>
        <p:spPr>
          <a:xfrm>
            <a:off x="6464808" y="3209544"/>
            <a:ext cx="4809744" cy="0"/>
          </a:xfrm>
          <a:prstGeom prst="line">
            <a:avLst/>
          </a:prstGeom>
          <a:noFill/>
          <a:ln w="12700">
            <a:solidFill>
              <a:srgbClr val="223029"/>
            </a:solidFill>
            <a:prstDash val="solid"/>
          </a:ln>
        </p:spPr>
      </p:sp>
      <p:sp>
        <p:nvSpPr>
          <p:cNvPr id="68" name="Text 66"/>
          <p:cNvSpPr txBox="1"/>
          <p:nvPr/>
        </p:nvSpPr>
        <p:spPr>
          <a:xfrm>
            <a:off x="6464808" y="3255264"/>
            <a:ext cx="1463040" cy="228600"/>
          </a:xfrm>
          <a:prstGeom prst="rect">
            <a:avLst/>
          </a:prstGeom>
          <a:noFill/>
          <a:ln/>
        </p:spPr>
        <p:txBody>
          <a:bodyPr wrap="square" lIns="0" tIns="0" rIns="0" bIns="0" rtlCol="0" anchor="t"/>
          <a:lstStyle/>
          <a:p>
            <a:pPr algn="l" indent="0" marL="0">
              <a:lnSpc>
                <a:spcPct val="106000"/>
              </a:lnSpc>
              <a:buNone/>
            </a:pPr>
            <a:r>
              <a:rPr lang="en-US" sz="950" b="1" dirty="0">
                <a:solidFill>
                  <a:srgbClr val="EFF2F1"/>
                </a:solidFill>
                <a:latin typeface="Calibri" pitchFamily="34" charset="0"/>
                <a:ea typeface="Calibri" pitchFamily="34" charset="-122"/>
                <a:cs typeface="Calibri" pitchFamily="34" charset="-120"/>
              </a:rPr>
              <a:t>Interjection</a:t>
            </a:r>
            <a:endParaRPr lang="en-US" sz="950" dirty="0"/>
          </a:p>
        </p:txBody>
      </p:sp>
      <p:sp>
        <p:nvSpPr>
          <p:cNvPr id="69" name="Text 67"/>
          <p:cNvSpPr txBox="1"/>
          <p:nvPr/>
        </p:nvSpPr>
        <p:spPr>
          <a:xfrm>
            <a:off x="8019288" y="3255264"/>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0.751</a:t>
            </a:r>
            <a:endParaRPr lang="en-US" sz="950" dirty="0"/>
          </a:p>
        </p:txBody>
      </p:sp>
      <p:sp>
        <p:nvSpPr>
          <p:cNvPr id="70" name="Text 68"/>
          <p:cNvSpPr txBox="1"/>
          <p:nvPr/>
        </p:nvSpPr>
        <p:spPr>
          <a:xfrm>
            <a:off x="8842248" y="3255264"/>
            <a:ext cx="91440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0.763</a:t>
            </a:r>
            <a:endParaRPr lang="en-US" sz="950" dirty="0"/>
          </a:p>
        </p:txBody>
      </p:sp>
      <p:sp>
        <p:nvSpPr>
          <p:cNvPr id="71" name="Text 69"/>
          <p:cNvSpPr txBox="1"/>
          <p:nvPr/>
        </p:nvSpPr>
        <p:spPr>
          <a:xfrm>
            <a:off x="9848088" y="3255264"/>
            <a:ext cx="731520"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0.739</a:t>
            </a:r>
            <a:endParaRPr lang="en-US" sz="950" dirty="0"/>
          </a:p>
        </p:txBody>
      </p:sp>
      <p:sp>
        <p:nvSpPr>
          <p:cNvPr id="72" name="Text 70"/>
          <p:cNvSpPr txBox="1"/>
          <p:nvPr/>
        </p:nvSpPr>
        <p:spPr>
          <a:xfrm>
            <a:off x="10671048" y="3255264"/>
            <a:ext cx="512064" cy="228600"/>
          </a:xfrm>
          <a:prstGeom prst="rect">
            <a:avLst/>
          </a:prstGeom>
          <a:noFill/>
          <a:ln/>
        </p:spPr>
        <p:txBody>
          <a:bodyPr wrap="square" lIns="0" tIns="0" rIns="0" bIns="0" rtlCol="0" anchor="t"/>
          <a:lstStyle/>
          <a:p>
            <a:pPr algn="l" indent="0" marL="0">
              <a:buNone/>
            </a:pPr>
            <a:r>
              <a:rPr lang="en-US" sz="950" dirty="0">
                <a:solidFill>
                  <a:srgbClr val="8CA096"/>
                </a:solidFill>
                <a:latin typeface="Courier New" pitchFamily="34" charset="0"/>
                <a:ea typeface="Courier New" pitchFamily="34" charset="-122"/>
                <a:cs typeface="Courier New" pitchFamily="34" charset="-120"/>
              </a:rPr>
              <a:t>0.857</a:t>
            </a:r>
            <a:endParaRPr lang="en-US" sz="950" dirty="0"/>
          </a:p>
        </p:txBody>
      </p:sp>
      <p:sp>
        <p:nvSpPr>
          <p:cNvPr id="73" name="Shape 71"/>
          <p:cNvSpPr/>
          <p:nvPr/>
        </p:nvSpPr>
        <p:spPr>
          <a:xfrm>
            <a:off x="658368" y="3639312"/>
            <a:ext cx="10874959" cy="2231136"/>
          </a:xfrm>
          <a:prstGeom prst="roundRect">
            <a:avLst>
              <a:gd name="adj" fmla="val 6557"/>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74" name="Text 72"/>
          <p:cNvSpPr txBox="1"/>
          <p:nvPr/>
        </p:nvSpPr>
        <p:spPr>
          <a:xfrm>
            <a:off x="932688" y="3785616"/>
            <a:ext cx="676656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M9 — THE FULL BEHAVIOURAL COMPARISON, BOTH CHECKPOINTS AT Q4_K_M</a:t>
            </a:r>
            <a:endParaRPr lang="en-US" sz="950" dirty="0"/>
          </a:p>
        </p:txBody>
      </p:sp>
      <p:sp>
        <p:nvSpPr>
          <p:cNvPr id="75" name="Text 73"/>
          <p:cNvSpPr txBox="1"/>
          <p:nvPr/>
        </p:nvSpPr>
        <p:spPr>
          <a:xfrm>
            <a:off x="6778447" y="3785616"/>
            <a:ext cx="4480560" cy="201168"/>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125 generations per model  ·  5 runs × 25 held-out cases  ·  prompt a12-v5</a:t>
            </a:r>
            <a:endParaRPr lang="en-US" sz="850" dirty="0"/>
          </a:p>
        </p:txBody>
      </p:sp>
      <p:sp>
        <p:nvSpPr>
          <p:cNvPr id="76" name="Text 74"/>
          <p:cNvSpPr txBox="1"/>
          <p:nvPr/>
        </p:nvSpPr>
        <p:spPr>
          <a:xfrm>
            <a:off x="932688" y="4059936"/>
            <a:ext cx="3108960" cy="201168"/>
          </a:xfrm>
          <a:prstGeom prst="rect">
            <a:avLst/>
          </a:prstGeom>
          <a:noFill/>
          <a:ln/>
        </p:spPr>
        <p:txBody>
          <a:bodyPr wrap="square" lIns="0" tIns="0" rIns="0" bIns="0" rtlCol="0" anchor="ctr"/>
          <a:lstStyle/>
          <a:p>
            <a:pPr algn="l" indent="0" marL="0">
              <a:buNone/>
            </a:pPr>
            <a:r>
              <a:rPr lang="en-US" sz="950" b="1" spc="180" kern="0" dirty="0">
                <a:solidFill>
                  <a:srgbClr val="5D7268"/>
                </a:solidFill>
                <a:latin typeface="Courier New" pitchFamily="34" charset="0"/>
                <a:ea typeface="Courier New" pitchFamily="34" charset="-122"/>
                <a:cs typeface="Courier New" pitchFamily="34" charset="-120"/>
              </a:rPr>
              <a:t>CHECK</a:t>
            </a:r>
            <a:endParaRPr lang="en-US" sz="950" dirty="0"/>
          </a:p>
        </p:txBody>
      </p:sp>
      <p:sp>
        <p:nvSpPr>
          <p:cNvPr id="77" name="Text 75"/>
          <p:cNvSpPr txBox="1"/>
          <p:nvPr/>
        </p:nvSpPr>
        <p:spPr>
          <a:xfrm>
            <a:off x="4370832" y="4059936"/>
            <a:ext cx="768096" cy="201168"/>
          </a:xfrm>
          <a:prstGeom prst="rect">
            <a:avLst/>
          </a:prstGeom>
          <a:noFill/>
          <a:ln/>
        </p:spPr>
        <p:txBody>
          <a:bodyPr wrap="square" lIns="0" tIns="0" rIns="0" bIns="0" rtlCol="0" anchor="ctr"/>
          <a:lstStyle/>
          <a:p>
            <a:pPr algn="r" indent="0" marL="0">
              <a:buNone/>
            </a:pPr>
            <a:r>
              <a:rPr lang="en-US" sz="950" b="1" spc="180" kern="0" dirty="0">
                <a:solidFill>
                  <a:srgbClr val="5D7268"/>
                </a:solidFill>
                <a:latin typeface="Courier New" pitchFamily="34" charset="0"/>
                <a:ea typeface="Courier New" pitchFamily="34" charset="-122"/>
                <a:cs typeface="Courier New" pitchFamily="34" charset="-120"/>
              </a:rPr>
              <a:t>BASE</a:t>
            </a:r>
            <a:endParaRPr lang="en-US" sz="950" dirty="0"/>
          </a:p>
        </p:txBody>
      </p:sp>
      <p:sp>
        <p:nvSpPr>
          <p:cNvPr id="78" name="Text 76"/>
          <p:cNvSpPr txBox="1"/>
          <p:nvPr/>
        </p:nvSpPr>
        <p:spPr>
          <a:xfrm>
            <a:off x="5239512" y="4059936"/>
            <a:ext cx="768096" cy="201168"/>
          </a:xfrm>
          <a:prstGeom prst="rect">
            <a:avLst/>
          </a:prstGeom>
          <a:noFill/>
          <a:ln/>
        </p:spPr>
        <p:txBody>
          <a:bodyPr wrap="square" lIns="0" tIns="0" rIns="0" bIns="0" rtlCol="0" anchor="ctr"/>
          <a:lstStyle/>
          <a:p>
            <a:pPr algn="r" indent="0" marL="0">
              <a:buNone/>
            </a:pPr>
            <a:r>
              <a:rPr lang="en-US" sz="950" b="1" spc="180" kern="0" dirty="0">
                <a:solidFill>
                  <a:srgbClr val="5D7268"/>
                </a:solidFill>
                <a:latin typeface="Courier New" pitchFamily="34" charset="0"/>
                <a:ea typeface="Courier New" pitchFamily="34" charset="-122"/>
                <a:cs typeface="Courier New" pitchFamily="34" charset="-120"/>
              </a:rPr>
              <a:t>TUNED</a:t>
            </a:r>
            <a:endParaRPr lang="en-US" sz="950" dirty="0"/>
          </a:p>
        </p:txBody>
      </p:sp>
      <p:sp>
        <p:nvSpPr>
          <p:cNvPr id="79" name="Text 77"/>
          <p:cNvSpPr txBox="1"/>
          <p:nvPr/>
        </p:nvSpPr>
        <p:spPr>
          <a:xfrm>
            <a:off x="932688" y="4297680"/>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Produced a usable reply</a:t>
            </a:r>
            <a:endParaRPr lang="en-US" sz="850" dirty="0"/>
          </a:p>
        </p:txBody>
      </p:sp>
      <p:sp>
        <p:nvSpPr>
          <p:cNvPr id="80" name="Text 78"/>
          <p:cNvSpPr txBox="1"/>
          <p:nvPr/>
        </p:nvSpPr>
        <p:spPr>
          <a:xfrm>
            <a:off x="4370832" y="4297680"/>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100%</a:t>
            </a:r>
            <a:endParaRPr lang="en-US" sz="850" dirty="0"/>
          </a:p>
        </p:txBody>
      </p:sp>
      <p:sp>
        <p:nvSpPr>
          <p:cNvPr id="81" name="Text 79"/>
          <p:cNvSpPr txBox="1"/>
          <p:nvPr/>
        </p:nvSpPr>
        <p:spPr>
          <a:xfrm>
            <a:off x="5239512" y="4297680"/>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100%</a:t>
            </a:r>
            <a:endParaRPr lang="en-US" sz="850" dirty="0"/>
          </a:p>
        </p:txBody>
      </p:sp>
      <p:sp>
        <p:nvSpPr>
          <p:cNvPr id="82" name="Text 80"/>
          <p:cNvSpPr txBox="1"/>
          <p:nvPr/>
        </p:nvSpPr>
        <p:spPr>
          <a:xfrm>
            <a:off x="932688" y="4439412"/>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Avoided clinical vocabulary</a:t>
            </a:r>
            <a:endParaRPr lang="en-US" sz="850" dirty="0"/>
          </a:p>
        </p:txBody>
      </p:sp>
      <p:sp>
        <p:nvSpPr>
          <p:cNvPr id="83" name="Text 81"/>
          <p:cNvSpPr txBox="1"/>
          <p:nvPr/>
        </p:nvSpPr>
        <p:spPr>
          <a:xfrm>
            <a:off x="4370832" y="4439412"/>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93%</a:t>
            </a:r>
            <a:endParaRPr lang="en-US" sz="850" dirty="0"/>
          </a:p>
        </p:txBody>
      </p:sp>
      <p:sp>
        <p:nvSpPr>
          <p:cNvPr id="84" name="Text 82"/>
          <p:cNvSpPr txBox="1"/>
          <p:nvPr/>
        </p:nvSpPr>
        <p:spPr>
          <a:xfrm>
            <a:off x="5239512" y="4439412"/>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95%</a:t>
            </a:r>
            <a:endParaRPr lang="en-US" sz="850" dirty="0"/>
          </a:p>
        </p:txBody>
      </p:sp>
      <p:sp>
        <p:nvSpPr>
          <p:cNvPr id="85" name="Text 83"/>
          <p:cNvSpPr txBox="1"/>
          <p:nvPr/>
        </p:nvSpPr>
        <p:spPr>
          <a:xfrm>
            <a:off x="932688" y="4581144"/>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Did not name the dysfluency unprompted</a:t>
            </a:r>
            <a:endParaRPr lang="en-US" sz="850" dirty="0"/>
          </a:p>
        </p:txBody>
      </p:sp>
      <p:sp>
        <p:nvSpPr>
          <p:cNvPr id="86" name="Text 84"/>
          <p:cNvSpPr txBox="1"/>
          <p:nvPr/>
        </p:nvSpPr>
        <p:spPr>
          <a:xfrm>
            <a:off x="4370832" y="4581144"/>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88%</a:t>
            </a:r>
            <a:endParaRPr lang="en-US" sz="850" dirty="0"/>
          </a:p>
        </p:txBody>
      </p:sp>
      <p:sp>
        <p:nvSpPr>
          <p:cNvPr id="87" name="Text 85"/>
          <p:cNvSpPr txBox="1"/>
          <p:nvPr/>
        </p:nvSpPr>
        <p:spPr>
          <a:xfrm>
            <a:off x="5239512" y="4581144"/>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97%</a:t>
            </a:r>
            <a:endParaRPr lang="en-US" sz="850" dirty="0"/>
          </a:p>
        </p:txBody>
      </p:sp>
      <p:sp>
        <p:nvSpPr>
          <p:cNvPr id="88" name="Text 86"/>
          <p:cNvSpPr txBox="1"/>
          <p:nvPr/>
        </p:nvSpPr>
        <p:spPr>
          <a:xfrm>
            <a:off x="932688" y="4722876"/>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Gave feedback when asked</a:t>
            </a:r>
            <a:endParaRPr lang="en-US" sz="850" dirty="0"/>
          </a:p>
        </p:txBody>
      </p:sp>
      <p:sp>
        <p:nvSpPr>
          <p:cNvPr id="89" name="Text 87"/>
          <p:cNvSpPr txBox="1"/>
          <p:nvPr/>
        </p:nvSpPr>
        <p:spPr>
          <a:xfrm>
            <a:off x="4370832" y="4722876"/>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87%</a:t>
            </a:r>
            <a:endParaRPr lang="en-US" sz="850" dirty="0"/>
          </a:p>
        </p:txBody>
      </p:sp>
      <p:sp>
        <p:nvSpPr>
          <p:cNvPr id="90" name="Text 88"/>
          <p:cNvSpPr txBox="1"/>
          <p:nvPr/>
        </p:nvSpPr>
        <p:spPr>
          <a:xfrm>
            <a:off x="5239512" y="4722876"/>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93%</a:t>
            </a:r>
            <a:endParaRPr lang="en-US" sz="850" dirty="0"/>
          </a:p>
        </p:txBody>
      </p:sp>
      <p:sp>
        <p:nvSpPr>
          <p:cNvPr id="91" name="Text 89"/>
          <p:cNvSpPr txBox="1"/>
          <p:nvPr/>
        </p:nvSpPr>
        <p:spPr>
          <a:xfrm>
            <a:off x="932688" y="4864608"/>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Kept it short under acoustic strain</a:t>
            </a:r>
            <a:endParaRPr lang="en-US" sz="850" dirty="0"/>
          </a:p>
        </p:txBody>
      </p:sp>
      <p:sp>
        <p:nvSpPr>
          <p:cNvPr id="92" name="Text 90"/>
          <p:cNvSpPr txBox="1"/>
          <p:nvPr/>
        </p:nvSpPr>
        <p:spPr>
          <a:xfrm>
            <a:off x="4370832" y="4864608"/>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100%</a:t>
            </a:r>
            <a:endParaRPr lang="en-US" sz="850" dirty="0"/>
          </a:p>
        </p:txBody>
      </p:sp>
      <p:sp>
        <p:nvSpPr>
          <p:cNvPr id="93" name="Text 91"/>
          <p:cNvSpPr txBox="1"/>
          <p:nvPr/>
        </p:nvSpPr>
        <p:spPr>
          <a:xfrm>
            <a:off x="5239512" y="4864608"/>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100%</a:t>
            </a:r>
            <a:endParaRPr lang="en-US" sz="850" dirty="0"/>
          </a:p>
        </p:txBody>
      </p:sp>
      <p:sp>
        <p:nvSpPr>
          <p:cNvPr id="94" name="Text 92"/>
          <p:cNvSpPr txBox="1"/>
          <p:nvPr/>
        </p:nvSpPr>
        <p:spPr>
          <a:xfrm>
            <a:off x="932688" y="5006340"/>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Stayed within a spoken length</a:t>
            </a:r>
            <a:endParaRPr lang="en-US" sz="850" dirty="0"/>
          </a:p>
        </p:txBody>
      </p:sp>
      <p:sp>
        <p:nvSpPr>
          <p:cNvPr id="95" name="Text 93"/>
          <p:cNvSpPr txBox="1"/>
          <p:nvPr/>
        </p:nvSpPr>
        <p:spPr>
          <a:xfrm>
            <a:off x="4370832" y="5006340"/>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99%</a:t>
            </a:r>
            <a:endParaRPr lang="en-US" sz="850" dirty="0"/>
          </a:p>
        </p:txBody>
      </p:sp>
      <p:sp>
        <p:nvSpPr>
          <p:cNvPr id="96" name="Text 94"/>
          <p:cNvSpPr txBox="1"/>
          <p:nvPr/>
        </p:nvSpPr>
        <p:spPr>
          <a:xfrm>
            <a:off x="5239512" y="5006340"/>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100%</a:t>
            </a:r>
            <a:endParaRPr lang="en-US" sz="850" dirty="0"/>
          </a:p>
        </p:txBody>
      </p:sp>
      <p:sp>
        <p:nvSpPr>
          <p:cNvPr id="97" name="Text 95"/>
          <p:cNvSpPr txBox="1"/>
          <p:nvPr/>
        </p:nvSpPr>
        <p:spPr>
          <a:xfrm>
            <a:off x="932688" y="5148072"/>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Speakable — no lists or headings</a:t>
            </a:r>
            <a:endParaRPr lang="en-US" sz="850" dirty="0"/>
          </a:p>
        </p:txBody>
      </p:sp>
      <p:sp>
        <p:nvSpPr>
          <p:cNvPr id="98" name="Text 96"/>
          <p:cNvSpPr txBox="1"/>
          <p:nvPr/>
        </p:nvSpPr>
        <p:spPr>
          <a:xfrm>
            <a:off x="4370832" y="5148072"/>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99%</a:t>
            </a:r>
            <a:endParaRPr lang="en-US" sz="850" dirty="0"/>
          </a:p>
        </p:txBody>
      </p:sp>
      <p:sp>
        <p:nvSpPr>
          <p:cNvPr id="99" name="Text 97"/>
          <p:cNvSpPr txBox="1"/>
          <p:nvPr/>
        </p:nvSpPr>
        <p:spPr>
          <a:xfrm>
            <a:off x="5239512" y="5148072"/>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100%</a:t>
            </a:r>
            <a:endParaRPr lang="en-US" sz="850" dirty="0"/>
          </a:p>
        </p:txBody>
      </p:sp>
      <p:sp>
        <p:nvSpPr>
          <p:cNvPr id="100" name="Text 98"/>
          <p:cNvSpPr txBox="1"/>
          <p:nvPr/>
        </p:nvSpPr>
        <p:spPr>
          <a:xfrm>
            <a:off x="932688" y="5289804"/>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Asked at most one question</a:t>
            </a:r>
            <a:endParaRPr lang="en-US" sz="850" dirty="0"/>
          </a:p>
        </p:txBody>
      </p:sp>
      <p:sp>
        <p:nvSpPr>
          <p:cNvPr id="101" name="Text 99"/>
          <p:cNvSpPr txBox="1"/>
          <p:nvPr/>
        </p:nvSpPr>
        <p:spPr>
          <a:xfrm>
            <a:off x="4370832" y="5289804"/>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93%</a:t>
            </a:r>
            <a:endParaRPr lang="en-US" sz="850" dirty="0"/>
          </a:p>
        </p:txBody>
      </p:sp>
      <p:sp>
        <p:nvSpPr>
          <p:cNvPr id="102" name="Text 100"/>
          <p:cNvSpPr txBox="1"/>
          <p:nvPr/>
        </p:nvSpPr>
        <p:spPr>
          <a:xfrm>
            <a:off x="5239512" y="5289804"/>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99%</a:t>
            </a:r>
            <a:endParaRPr lang="en-US" sz="850" dirty="0"/>
          </a:p>
        </p:txBody>
      </p:sp>
      <p:sp>
        <p:nvSpPr>
          <p:cNvPr id="103" name="Text 101"/>
          <p:cNvSpPr txBox="1"/>
          <p:nvPr/>
        </p:nvSpPr>
        <p:spPr>
          <a:xfrm>
            <a:off x="932688" y="5431536"/>
            <a:ext cx="3383280" cy="137160"/>
          </a:xfrm>
          <a:prstGeom prst="rect">
            <a:avLst/>
          </a:prstGeom>
          <a:noFill/>
          <a:ln/>
        </p:spPr>
        <p:txBody>
          <a:bodyPr wrap="square" lIns="0" tIns="0" rIns="0" bIns="0" rtlCol="0" anchor="t"/>
          <a:lstStyle/>
          <a:p>
            <a:pPr algn="l" indent="0" marL="0">
              <a:lnSpc>
                <a:spcPct val="120000"/>
              </a:lnSpc>
              <a:buNone/>
            </a:pPr>
            <a:r>
              <a:rPr lang="en-US" sz="850" dirty="0">
                <a:solidFill>
                  <a:srgbClr val="8CA096"/>
                </a:solidFill>
                <a:latin typeface="Calibri" pitchFamily="34" charset="0"/>
                <a:ea typeface="Calibri" pitchFamily="34" charset="-122"/>
                <a:cs typeface="Calibri" pitchFamily="34" charset="-120"/>
              </a:rPr>
              <a:t>Admitted when it had no material</a:t>
            </a:r>
            <a:endParaRPr lang="en-US" sz="850" dirty="0"/>
          </a:p>
        </p:txBody>
      </p:sp>
      <p:sp>
        <p:nvSpPr>
          <p:cNvPr id="104" name="Text 102"/>
          <p:cNvSpPr txBox="1"/>
          <p:nvPr/>
        </p:nvSpPr>
        <p:spPr>
          <a:xfrm>
            <a:off x="4370832" y="5431536"/>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10%</a:t>
            </a:r>
            <a:endParaRPr lang="en-US" sz="850" dirty="0"/>
          </a:p>
        </p:txBody>
      </p:sp>
      <p:sp>
        <p:nvSpPr>
          <p:cNvPr id="105" name="Text 103"/>
          <p:cNvSpPr txBox="1"/>
          <p:nvPr/>
        </p:nvSpPr>
        <p:spPr>
          <a:xfrm>
            <a:off x="5239512" y="5431536"/>
            <a:ext cx="768096" cy="137160"/>
          </a:xfrm>
          <a:prstGeom prst="rect">
            <a:avLst/>
          </a:prstGeom>
          <a:noFill/>
          <a:ln/>
        </p:spPr>
        <p:txBody>
          <a:bodyPr wrap="square" lIns="0" tIns="0" rIns="0" bIns="0" rtlCol="0" anchor="ctr"/>
          <a:lstStyle/>
          <a:p>
            <a:pPr algn="r" indent="0" marL="0">
              <a:buNone/>
            </a:pPr>
            <a:r>
              <a:rPr lang="en-US" sz="850" dirty="0">
                <a:solidFill>
                  <a:srgbClr val="6F9C8A"/>
                </a:solidFill>
                <a:latin typeface="Courier New" pitchFamily="34" charset="0"/>
                <a:ea typeface="Courier New" pitchFamily="34" charset="-122"/>
                <a:cs typeface="Courier New" pitchFamily="34" charset="-120"/>
              </a:rPr>
              <a:t>20%</a:t>
            </a:r>
            <a:endParaRPr lang="en-US" sz="850" dirty="0"/>
          </a:p>
        </p:txBody>
      </p:sp>
      <p:sp>
        <p:nvSpPr>
          <p:cNvPr id="106" name="Text 104"/>
          <p:cNvSpPr txBox="1"/>
          <p:nvPr/>
        </p:nvSpPr>
        <p:spPr>
          <a:xfrm>
            <a:off x="932688" y="5573268"/>
            <a:ext cx="3383280" cy="137160"/>
          </a:xfrm>
          <a:prstGeom prst="rect">
            <a:avLst/>
          </a:prstGeom>
          <a:noFill/>
          <a:ln/>
        </p:spPr>
        <p:txBody>
          <a:bodyPr wrap="square" lIns="0" tIns="0" rIns="0" bIns="0" rtlCol="0" anchor="t"/>
          <a:lstStyle/>
          <a:p>
            <a:pPr algn="l" indent="0" marL="0">
              <a:lnSpc>
                <a:spcPct val="120000"/>
              </a:lnSpc>
              <a:buNone/>
            </a:pPr>
            <a:r>
              <a:rPr lang="en-US" sz="850" b="1" dirty="0">
                <a:solidFill>
                  <a:srgbClr val="EFF2F1"/>
                </a:solidFill>
                <a:latin typeface="Calibri" pitchFamily="34" charset="0"/>
                <a:ea typeface="Calibri" pitchFamily="34" charset="-122"/>
                <a:cs typeface="Calibri" pitchFamily="34" charset="-120"/>
              </a:rPr>
              <a:t>Declined to assess or diagnose</a:t>
            </a:r>
            <a:endParaRPr lang="en-US" sz="850" dirty="0"/>
          </a:p>
        </p:txBody>
      </p:sp>
      <p:sp>
        <p:nvSpPr>
          <p:cNvPr id="107" name="Text 105"/>
          <p:cNvSpPr txBox="1"/>
          <p:nvPr/>
        </p:nvSpPr>
        <p:spPr>
          <a:xfrm>
            <a:off x="4370832" y="5573268"/>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53%</a:t>
            </a:r>
            <a:endParaRPr lang="en-US" sz="850" dirty="0"/>
          </a:p>
        </p:txBody>
      </p:sp>
      <p:sp>
        <p:nvSpPr>
          <p:cNvPr id="108" name="Text 106"/>
          <p:cNvSpPr txBox="1"/>
          <p:nvPr/>
        </p:nvSpPr>
        <p:spPr>
          <a:xfrm>
            <a:off x="5239512" y="5573268"/>
            <a:ext cx="768096" cy="137160"/>
          </a:xfrm>
          <a:prstGeom prst="rect">
            <a:avLst/>
          </a:prstGeom>
          <a:noFill/>
          <a:ln/>
        </p:spPr>
        <p:txBody>
          <a:bodyPr wrap="square" lIns="0" tIns="0" rIns="0" bIns="0" rtlCol="0" anchor="ctr"/>
          <a:lstStyle/>
          <a:p>
            <a:pPr algn="r" indent="0" marL="0">
              <a:buNone/>
            </a:pPr>
            <a:r>
              <a:rPr lang="en-US" sz="850" b="1" dirty="0">
                <a:solidFill>
                  <a:srgbClr val="E8705C"/>
                </a:solidFill>
                <a:latin typeface="Courier New" pitchFamily="34" charset="0"/>
                <a:ea typeface="Courier New" pitchFamily="34" charset="-122"/>
                <a:cs typeface="Courier New" pitchFamily="34" charset="-120"/>
              </a:rPr>
              <a:t>20%</a:t>
            </a:r>
            <a:endParaRPr lang="en-US" sz="850" dirty="0"/>
          </a:p>
        </p:txBody>
      </p:sp>
      <p:sp>
        <p:nvSpPr>
          <p:cNvPr id="109" name="Text 107"/>
          <p:cNvSpPr txBox="1"/>
          <p:nvPr/>
        </p:nvSpPr>
        <p:spPr>
          <a:xfrm>
            <a:off x="932688" y="5715000"/>
            <a:ext cx="3383280" cy="137160"/>
          </a:xfrm>
          <a:prstGeom prst="rect">
            <a:avLst/>
          </a:prstGeom>
          <a:noFill/>
          <a:ln/>
        </p:spPr>
        <p:txBody>
          <a:bodyPr wrap="square" lIns="0" tIns="0" rIns="0" bIns="0" rtlCol="0" anchor="t"/>
          <a:lstStyle/>
          <a:p>
            <a:pPr algn="l" indent="0" marL="0">
              <a:lnSpc>
                <a:spcPct val="120000"/>
              </a:lnSpc>
              <a:buNone/>
            </a:pPr>
            <a:r>
              <a:rPr lang="en-US" sz="850" b="1" dirty="0">
                <a:solidFill>
                  <a:srgbClr val="EFF2F1"/>
                </a:solidFill>
                <a:latin typeface="Calibri" pitchFamily="34" charset="0"/>
                <a:ea typeface="Calibri" pitchFamily="34" charset="-122"/>
                <a:cs typeface="Calibri" pitchFamily="34" charset="-120"/>
              </a:rPr>
              <a:t>Pointed to a qualified professional</a:t>
            </a:r>
            <a:endParaRPr lang="en-US" sz="850" dirty="0"/>
          </a:p>
        </p:txBody>
      </p:sp>
      <p:sp>
        <p:nvSpPr>
          <p:cNvPr id="110" name="Text 108"/>
          <p:cNvSpPr txBox="1"/>
          <p:nvPr/>
        </p:nvSpPr>
        <p:spPr>
          <a:xfrm>
            <a:off x="4370832" y="5715000"/>
            <a:ext cx="768096" cy="137160"/>
          </a:xfrm>
          <a:prstGeom prst="rect">
            <a:avLst/>
          </a:prstGeom>
          <a:noFill/>
          <a:ln/>
        </p:spPr>
        <p:txBody>
          <a:bodyPr wrap="square" lIns="0" tIns="0" rIns="0" bIns="0" rtlCol="0" anchor="ctr"/>
          <a:lstStyle/>
          <a:p>
            <a:pPr algn="r" indent="0" marL="0">
              <a:buNone/>
            </a:pPr>
            <a:r>
              <a:rPr lang="en-US" sz="850" dirty="0">
                <a:solidFill>
                  <a:srgbClr val="8CA096"/>
                </a:solidFill>
                <a:latin typeface="Courier New" pitchFamily="34" charset="0"/>
                <a:ea typeface="Courier New" pitchFamily="34" charset="-122"/>
                <a:cs typeface="Courier New" pitchFamily="34" charset="-120"/>
              </a:rPr>
              <a:t>60%</a:t>
            </a:r>
            <a:endParaRPr lang="en-US" sz="850" dirty="0"/>
          </a:p>
        </p:txBody>
      </p:sp>
      <p:sp>
        <p:nvSpPr>
          <p:cNvPr id="111" name="Text 109"/>
          <p:cNvSpPr txBox="1"/>
          <p:nvPr/>
        </p:nvSpPr>
        <p:spPr>
          <a:xfrm>
            <a:off x="5239512" y="5715000"/>
            <a:ext cx="768096" cy="137160"/>
          </a:xfrm>
          <a:prstGeom prst="rect">
            <a:avLst/>
          </a:prstGeom>
          <a:noFill/>
          <a:ln/>
        </p:spPr>
        <p:txBody>
          <a:bodyPr wrap="square" lIns="0" tIns="0" rIns="0" bIns="0" rtlCol="0" anchor="ctr"/>
          <a:lstStyle/>
          <a:p>
            <a:pPr algn="r" indent="0" marL="0">
              <a:buNone/>
            </a:pPr>
            <a:r>
              <a:rPr lang="en-US" sz="850" b="1" dirty="0">
                <a:solidFill>
                  <a:srgbClr val="E8705C"/>
                </a:solidFill>
                <a:latin typeface="Courier New" pitchFamily="34" charset="0"/>
                <a:ea typeface="Courier New" pitchFamily="34" charset="-122"/>
                <a:cs typeface="Courier New" pitchFamily="34" charset="-120"/>
              </a:rPr>
              <a:t>33%</a:t>
            </a:r>
            <a:endParaRPr lang="en-US" sz="850" dirty="0"/>
          </a:p>
        </p:txBody>
      </p:sp>
      <p:sp>
        <p:nvSpPr>
          <p:cNvPr id="112" name="Text 110"/>
          <p:cNvSpPr txBox="1"/>
          <p:nvPr/>
        </p:nvSpPr>
        <p:spPr>
          <a:xfrm>
            <a:off x="6126480" y="4059936"/>
            <a:ext cx="5120640" cy="1097280"/>
          </a:xfrm>
          <a:prstGeom prst="rect">
            <a:avLst/>
          </a:prstGeom>
          <a:noFill/>
          <a:ln/>
        </p:spPr>
        <p:txBody>
          <a:bodyPr wrap="square" lIns="0" tIns="0" rIns="0" bIns="0" rtlCol="0" anchor="t"/>
          <a:lstStyle/>
          <a:p>
            <a:pPr algn="l" indent="0" marL="0">
              <a:lnSpc>
                <a:spcPct val="116000"/>
              </a:lnSpc>
              <a:buNone/>
            </a:pPr>
            <a:r>
              <a:rPr lang="en-US" sz="1000" dirty="0">
                <a:solidFill>
                  <a:srgbClr val="DCE5E4"/>
                </a:solidFill>
                <a:latin typeface="Calibri" pitchFamily="34" charset="0"/>
                <a:ea typeface="Calibri" pitchFamily="34" charset="-122"/>
                <a:cs typeface="Calibri" pitchFamily="34" charset="-120"/>
              </a:rPr>
              <a:t>Style improved. Both safety-critical checks regressed, and the gap survives re-scoring with deliberately broadened refusal markers (73% vs 40%). The fine-tune deflects — “that's not how we measure things here” — without referring out. Traceable to M6's dataset, which the evaluation README had already warned should be weighted toward exactly these behaviours.</a:t>
            </a:r>
            <a:endParaRPr lang="en-US" sz="1000" dirty="0"/>
          </a:p>
        </p:txBody>
      </p:sp>
      <p:sp>
        <p:nvSpPr>
          <p:cNvPr id="113" name="Shape 111"/>
          <p:cNvSpPr/>
          <p:nvPr/>
        </p:nvSpPr>
        <p:spPr>
          <a:xfrm>
            <a:off x="6126480" y="5248656"/>
            <a:ext cx="5120640" cy="493776"/>
          </a:xfrm>
          <a:prstGeom prst="roundRect">
            <a:avLst>
              <a:gd name="adj" fmla="val 29630"/>
            </a:avLst>
          </a:prstGeom>
          <a:solidFill>
            <a:srgbClr val="E8705C">
              <a:alpha val="18000"/>
            </a:srgbClr>
          </a:solidFill>
          <a:ln w="12700">
            <a:solidFill>
              <a:srgbClr val="223029"/>
            </a:solidFill>
            <a:prstDash val="solid"/>
          </a:ln>
        </p:spPr>
      </p:sp>
      <p:sp>
        <p:nvSpPr>
          <p:cNvPr id="114" name="Text 112"/>
          <p:cNvSpPr txBox="1"/>
          <p:nvPr/>
        </p:nvSpPr>
        <p:spPr>
          <a:xfrm>
            <a:off x="6272784" y="5248656"/>
            <a:ext cx="4846320" cy="493776"/>
          </a:xfrm>
          <a:prstGeom prst="rect">
            <a:avLst/>
          </a:prstGeom>
          <a:noFill/>
          <a:ln/>
        </p:spPr>
        <p:txBody>
          <a:bodyPr wrap="square" lIns="0" tIns="0" rIns="0" bIns="0" rtlCol="0" anchor="ctr"/>
          <a:lstStyle/>
          <a:p>
            <a:pPr algn="l" indent="0" marL="0">
              <a:lnSpc>
                <a:spcPct val="120000"/>
              </a:lnSpc>
              <a:buNone/>
            </a:pPr>
            <a:r>
              <a:rPr lang="en-US" sz="1100" b="1" dirty="0">
                <a:solidFill>
                  <a:srgbClr val="E8705C"/>
                </a:solidFill>
                <a:latin typeface="Calibri" pitchFamily="34" charset="0"/>
                <a:ea typeface="Calibri" pitchFamily="34" charset="-122"/>
                <a:cs typeface="Calibri" pitchFamily="34" charset="-120"/>
              </a:rPr>
              <a:t>Conclusion: the fine-tune should not ship as default without mitigation.</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A13</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Testing matrix, and the ethics boundary</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backend/tests/  ·  frontend/src/  ·  docs/ETHICS.md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A13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Shape 8"/>
          <p:cNvSpPr/>
          <p:nvPr/>
        </p:nvSpPr>
        <p:spPr>
          <a:xfrm>
            <a:off x="658368" y="1389888"/>
            <a:ext cx="5321808" cy="4480560"/>
          </a:xfrm>
          <a:prstGeom prst="roundRect">
            <a:avLst>
              <a:gd name="adj" fmla="val 3265"/>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1" name="Text 9"/>
          <p:cNvSpPr txBox="1"/>
          <p:nvPr/>
        </p:nvSpPr>
        <p:spPr>
          <a:xfrm>
            <a:off x="914400" y="1536192"/>
            <a:ext cx="36576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WHAT IS COVERED</a:t>
            </a:r>
            <a:endParaRPr lang="en-US" sz="950" dirty="0"/>
          </a:p>
        </p:txBody>
      </p:sp>
      <p:sp>
        <p:nvSpPr>
          <p:cNvPr id="12" name="Text 10"/>
          <p:cNvSpPr txBox="1"/>
          <p:nvPr/>
        </p:nvSpPr>
        <p:spPr>
          <a:xfrm>
            <a:off x="914400" y="1847088"/>
            <a:ext cx="2048256"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SUITE</a:t>
            </a:r>
            <a:endParaRPr lang="en-US" sz="850" dirty="0"/>
          </a:p>
        </p:txBody>
      </p:sp>
      <p:sp>
        <p:nvSpPr>
          <p:cNvPr id="13" name="Text 11"/>
          <p:cNvSpPr txBox="1"/>
          <p:nvPr/>
        </p:nvSpPr>
        <p:spPr>
          <a:xfrm>
            <a:off x="2962656" y="1847088"/>
            <a:ext cx="658368"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TESTS</a:t>
            </a:r>
            <a:endParaRPr lang="en-US" sz="850" dirty="0"/>
          </a:p>
        </p:txBody>
      </p:sp>
      <p:sp>
        <p:nvSpPr>
          <p:cNvPr id="14" name="Text 12"/>
          <p:cNvSpPr txBox="1"/>
          <p:nvPr/>
        </p:nvSpPr>
        <p:spPr>
          <a:xfrm>
            <a:off x="3621024" y="1847088"/>
            <a:ext cx="2103120" cy="201168"/>
          </a:xfrm>
          <a:prstGeom prst="rect">
            <a:avLst/>
          </a:prstGeom>
          <a:noFill/>
          <a:ln/>
        </p:spPr>
        <p:txBody>
          <a:bodyPr wrap="square" lIns="0" tIns="0" rIns="0" bIns="0" rtlCol="0" anchor="ctr"/>
          <a:lstStyle/>
          <a:p>
            <a:pPr algn="l" indent="0" marL="0">
              <a:buNone/>
            </a:pPr>
            <a:r>
              <a:rPr lang="en-US" sz="850" b="1" spc="180" kern="0" dirty="0">
                <a:solidFill>
                  <a:srgbClr val="5D7268"/>
                </a:solidFill>
                <a:latin typeface="Courier New" pitchFamily="34" charset="0"/>
                <a:ea typeface="Courier New" pitchFamily="34" charset="-122"/>
                <a:cs typeface="Courier New" pitchFamily="34" charset="-120"/>
              </a:rPr>
              <a:t>COVERS</a:t>
            </a:r>
            <a:endParaRPr lang="en-US" sz="850" dirty="0"/>
          </a:p>
        </p:txBody>
      </p:sp>
      <p:sp>
        <p:nvSpPr>
          <p:cNvPr id="15" name="Shape 13"/>
          <p:cNvSpPr/>
          <p:nvPr/>
        </p:nvSpPr>
        <p:spPr>
          <a:xfrm>
            <a:off x="914400" y="2121408"/>
            <a:ext cx="4809744" cy="0"/>
          </a:xfrm>
          <a:prstGeom prst="line">
            <a:avLst/>
          </a:prstGeom>
          <a:noFill/>
          <a:ln w="12700">
            <a:solidFill>
              <a:srgbClr val="33463D"/>
            </a:solidFill>
            <a:prstDash val="solid"/>
          </a:ln>
        </p:spPr>
      </p:sp>
      <p:sp>
        <p:nvSpPr>
          <p:cNvPr id="16" name="Text 14"/>
          <p:cNvSpPr txBox="1"/>
          <p:nvPr/>
        </p:nvSpPr>
        <p:spPr>
          <a:xfrm>
            <a:off x="914400" y="2194560"/>
            <a:ext cx="1956816" cy="265176"/>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test_acoustic.py</a:t>
            </a:r>
            <a:endParaRPr lang="en-US" sz="1000" dirty="0"/>
          </a:p>
        </p:txBody>
      </p:sp>
      <p:sp>
        <p:nvSpPr>
          <p:cNvPr id="17" name="Text 15"/>
          <p:cNvSpPr txBox="1"/>
          <p:nvPr/>
        </p:nvSpPr>
        <p:spPr>
          <a:xfrm>
            <a:off x="2962656" y="2194560"/>
            <a:ext cx="566928" cy="265176"/>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21</a:t>
            </a:r>
            <a:endParaRPr lang="en-US" sz="1000" dirty="0"/>
          </a:p>
        </p:txBody>
      </p:sp>
      <p:sp>
        <p:nvSpPr>
          <p:cNvPr id="18" name="Text 16"/>
          <p:cNvSpPr txBox="1"/>
          <p:nvPr/>
        </p:nvSpPr>
        <p:spPr>
          <a:xfrm>
            <a:off x="3621024" y="2194560"/>
            <a:ext cx="2011680" cy="265176"/>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profile maths, dominance, blocks</a:t>
            </a:r>
            <a:endParaRPr lang="en-US" sz="1000" dirty="0"/>
          </a:p>
        </p:txBody>
      </p:sp>
      <p:sp>
        <p:nvSpPr>
          <p:cNvPr id="19" name="Shape 17"/>
          <p:cNvSpPr/>
          <p:nvPr/>
        </p:nvSpPr>
        <p:spPr>
          <a:xfrm>
            <a:off x="914400" y="2450592"/>
            <a:ext cx="4809744" cy="0"/>
          </a:xfrm>
          <a:prstGeom prst="line">
            <a:avLst/>
          </a:prstGeom>
          <a:noFill/>
          <a:ln w="12700">
            <a:solidFill>
              <a:srgbClr val="223029"/>
            </a:solidFill>
            <a:prstDash val="solid"/>
          </a:ln>
        </p:spPr>
      </p:sp>
      <p:sp>
        <p:nvSpPr>
          <p:cNvPr id="20" name="Text 18"/>
          <p:cNvSpPr txBox="1"/>
          <p:nvPr/>
        </p:nvSpPr>
        <p:spPr>
          <a:xfrm>
            <a:off x="914400" y="2496312"/>
            <a:ext cx="1956816" cy="265176"/>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test_auth.py</a:t>
            </a:r>
            <a:endParaRPr lang="en-US" sz="1000" dirty="0"/>
          </a:p>
        </p:txBody>
      </p:sp>
      <p:sp>
        <p:nvSpPr>
          <p:cNvPr id="21" name="Text 19"/>
          <p:cNvSpPr txBox="1"/>
          <p:nvPr/>
        </p:nvSpPr>
        <p:spPr>
          <a:xfrm>
            <a:off x="2962656" y="2496312"/>
            <a:ext cx="566928" cy="265176"/>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17</a:t>
            </a:r>
            <a:endParaRPr lang="en-US" sz="1000" dirty="0"/>
          </a:p>
        </p:txBody>
      </p:sp>
      <p:sp>
        <p:nvSpPr>
          <p:cNvPr id="22" name="Text 20"/>
          <p:cNvSpPr txBox="1"/>
          <p:nvPr/>
        </p:nvSpPr>
        <p:spPr>
          <a:xfrm>
            <a:off x="3621024" y="2496312"/>
            <a:ext cx="2011680" cy="265176"/>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hashing, rotation, reuse, lockout</a:t>
            </a:r>
            <a:endParaRPr lang="en-US" sz="1000" dirty="0"/>
          </a:p>
        </p:txBody>
      </p:sp>
      <p:sp>
        <p:nvSpPr>
          <p:cNvPr id="23" name="Shape 21"/>
          <p:cNvSpPr/>
          <p:nvPr/>
        </p:nvSpPr>
        <p:spPr>
          <a:xfrm>
            <a:off x="914400" y="2752344"/>
            <a:ext cx="4809744" cy="0"/>
          </a:xfrm>
          <a:prstGeom prst="line">
            <a:avLst/>
          </a:prstGeom>
          <a:noFill/>
          <a:ln w="12700">
            <a:solidFill>
              <a:srgbClr val="223029"/>
            </a:solidFill>
            <a:prstDash val="solid"/>
          </a:ln>
        </p:spPr>
      </p:sp>
      <p:sp>
        <p:nvSpPr>
          <p:cNvPr id="24" name="Text 22"/>
          <p:cNvSpPr txBox="1"/>
          <p:nvPr/>
        </p:nvSpPr>
        <p:spPr>
          <a:xfrm>
            <a:off x="914400" y="2798064"/>
            <a:ext cx="1956816" cy="265176"/>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test_api.py</a:t>
            </a:r>
            <a:endParaRPr lang="en-US" sz="1000" dirty="0"/>
          </a:p>
        </p:txBody>
      </p:sp>
      <p:sp>
        <p:nvSpPr>
          <p:cNvPr id="25" name="Text 23"/>
          <p:cNvSpPr txBox="1"/>
          <p:nvPr/>
        </p:nvSpPr>
        <p:spPr>
          <a:xfrm>
            <a:off x="2962656" y="2798064"/>
            <a:ext cx="566928" cy="265176"/>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14</a:t>
            </a:r>
            <a:endParaRPr lang="en-US" sz="1000" dirty="0"/>
          </a:p>
        </p:txBody>
      </p:sp>
      <p:sp>
        <p:nvSpPr>
          <p:cNvPr id="26" name="Text 24"/>
          <p:cNvSpPr txBox="1"/>
          <p:nvPr/>
        </p:nvSpPr>
        <p:spPr>
          <a:xfrm>
            <a:off x="3621024" y="2798064"/>
            <a:ext cx="2011680" cy="265176"/>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routes, envelopes, degradation</a:t>
            </a:r>
            <a:endParaRPr lang="en-US" sz="1000" dirty="0"/>
          </a:p>
        </p:txBody>
      </p:sp>
      <p:sp>
        <p:nvSpPr>
          <p:cNvPr id="27" name="Shape 25"/>
          <p:cNvSpPr/>
          <p:nvPr/>
        </p:nvSpPr>
        <p:spPr>
          <a:xfrm>
            <a:off x="914400" y="3054096"/>
            <a:ext cx="4809744" cy="0"/>
          </a:xfrm>
          <a:prstGeom prst="line">
            <a:avLst/>
          </a:prstGeom>
          <a:noFill/>
          <a:ln w="12700">
            <a:solidFill>
              <a:srgbClr val="223029"/>
            </a:solidFill>
            <a:prstDash val="solid"/>
          </a:ln>
        </p:spPr>
      </p:sp>
      <p:sp>
        <p:nvSpPr>
          <p:cNvPr id="28" name="Text 26"/>
          <p:cNvSpPr txBox="1"/>
          <p:nvPr/>
        </p:nvSpPr>
        <p:spPr>
          <a:xfrm>
            <a:off x="914400" y="3099816"/>
            <a:ext cx="1956816" cy="265176"/>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test_retrieval.py</a:t>
            </a:r>
            <a:endParaRPr lang="en-US" sz="1000" dirty="0"/>
          </a:p>
        </p:txBody>
      </p:sp>
      <p:sp>
        <p:nvSpPr>
          <p:cNvPr id="29" name="Text 27"/>
          <p:cNvSpPr txBox="1"/>
          <p:nvPr/>
        </p:nvSpPr>
        <p:spPr>
          <a:xfrm>
            <a:off x="2962656" y="3099816"/>
            <a:ext cx="566928" cy="265176"/>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12</a:t>
            </a:r>
            <a:endParaRPr lang="en-US" sz="1000" dirty="0"/>
          </a:p>
        </p:txBody>
      </p:sp>
      <p:sp>
        <p:nvSpPr>
          <p:cNvPr id="30" name="Text 28"/>
          <p:cNvSpPr txBox="1"/>
          <p:nvPr/>
        </p:nvSpPr>
        <p:spPr>
          <a:xfrm>
            <a:off x="3621024" y="3099816"/>
            <a:ext cx="2011680" cy="265176"/>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MMR, gate, unreadable index</a:t>
            </a:r>
            <a:endParaRPr lang="en-US" sz="1000" dirty="0"/>
          </a:p>
        </p:txBody>
      </p:sp>
      <p:sp>
        <p:nvSpPr>
          <p:cNvPr id="31" name="Shape 29"/>
          <p:cNvSpPr/>
          <p:nvPr/>
        </p:nvSpPr>
        <p:spPr>
          <a:xfrm>
            <a:off x="914400" y="3355848"/>
            <a:ext cx="4809744" cy="0"/>
          </a:xfrm>
          <a:prstGeom prst="line">
            <a:avLst/>
          </a:prstGeom>
          <a:noFill/>
          <a:ln w="12700">
            <a:solidFill>
              <a:srgbClr val="223029"/>
            </a:solidFill>
            <a:prstDash val="solid"/>
          </a:ln>
        </p:spPr>
      </p:sp>
      <p:sp>
        <p:nvSpPr>
          <p:cNvPr id="32" name="Text 30"/>
          <p:cNvSpPr txBox="1"/>
          <p:nvPr/>
        </p:nvSpPr>
        <p:spPr>
          <a:xfrm>
            <a:off x="914400" y="3401568"/>
            <a:ext cx="1956816" cy="265176"/>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test_speech.py</a:t>
            </a:r>
            <a:endParaRPr lang="en-US" sz="1000" dirty="0"/>
          </a:p>
        </p:txBody>
      </p:sp>
      <p:sp>
        <p:nvSpPr>
          <p:cNvPr id="33" name="Text 31"/>
          <p:cNvSpPr txBox="1"/>
          <p:nvPr/>
        </p:nvSpPr>
        <p:spPr>
          <a:xfrm>
            <a:off x="2962656" y="3401568"/>
            <a:ext cx="566928" cy="265176"/>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10</a:t>
            </a:r>
            <a:endParaRPr lang="en-US" sz="1000" dirty="0"/>
          </a:p>
        </p:txBody>
      </p:sp>
      <p:sp>
        <p:nvSpPr>
          <p:cNvPr id="34" name="Text 32"/>
          <p:cNvSpPr txBox="1"/>
          <p:nvPr/>
        </p:nvSpPr>
        <p:spPr>
          <a:xfrm>
            <a:off x="3621024" y="3401568"/>
            <a:ext cx="2011680" cy="265176"/>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STT, VAD, TTS, endpointing</a:t>
            </a:r>
            <a:endParaRPr lang="en-US" sz="1000" dirty="0"/>
          </a:p>
        </p:txBody>
      </p:sp>
      <p:sp>
        <p:nvSpPr>
          <p:cNvPr id="35" name="Shape 33"/>
          <p:cNvSpPr/>
          <p:nvPr/>
        </p:nvSpPr>
        <p:spPr>
          <a:xfrm>
            <a:off x="914400" y="3657600"/>
            <a:ext cx="4809744" cy="0"/>
          </a:xfrm>
          <a:prstGeom prst="line">
            <a:avLst/>
          </a:prstGeom>
          <a:noFill/>
          <a:ln w="12700">
            <a:solidFill>
              <a:srgbClr val="223029"/>
            </a:solidFill>
            <a:prstDash val="solid"/>
          </a:ln>
        </p:spPr>
      </p:sp>
      <p:sp>
        <p:nvSpPr>
          <p:cNvPr id="36" name="Text 34"/>
          <p:cNvSpPr txBox="1"/>
          <p:nvPr/>
        </p:nvSpPr>
        <p:spPr>
          <a:xfrm>
            <a:off x="914400" y="3703320"/>
            <a:ext cx="1956816" cy="265176"/>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test_ownership.py</a:t>
            </a:r>
            <a:endParaRPr lang="en-US" sz="1000" dirty="0"/>
          </a:p>
        </p:txBody>
      </p:sp>
      <p:sp>
        <p:nvSpPr>
          <p:cNvPr id="37" name="Text 35"/>
          <p:cNvSpPr txBox="1"/>
          <p:nvPr/>
        </p:nvSpPr>
        <p:spPr>
          <a:xfrm>
            <a:off x="2962656" y="3703320"/>
            <a:ext cx="566928" cy="265176"/>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8</a:t>
            </a:r>
            <a:endParaRPr lang="en-US" sz="1000" dirty="0"/>
          </a:p>
        </p:txBody>
      </p:sp>
      <p:sp>
        <p:nvSpPr>
          <p:cNvPr id="38" name="Text 36"/>
          <p:cNvSpPr txBox="1"/>
          <p:nvPr/>
        </p:nvSpPr>
        <p:spPr>
          <a:xfrm>
            <a:off x="3621024" y="3703320"/>
            <a:ext cx="2011680" cy="265176"/>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404-not-403, cross-account access</a:t>
            </a:r>
            <a:endParaRPr lang="en-US" sz="1000" dirty="0"/>
          </a:p>
        </p:txBody>
      </p:sp>
      <p:sp>
        <p:nvSpPr>
          <p:cNvPr id="39" name="Shape 37"/>
          <p:cNvSpPr/>
          <p:nvPr/>
        </p:nvSpPr>
        <p:spPr>
          <a:xfrm>
            <a:off x="914400" y="3959352"/>
            <a:ext cx="4809744" cy="0"/>
          </a:xfrm>
          <a:prstGeom prst="line">
            <a:avLst/>
          </a:prstGeom>
          <a:noFill/>
          <a:ln w="12700">
            <a:solidFill>
              <a:srgbClr val="223029"/>
            </a:solidFill>
            <a:prstDash val="solid"/>
          </a:ln>
        </p:spPr>
      </p:sp>
      <p:sp>
        <p:nvSpPr>
          <p:cNvPr id="40" name="Text 38"/>
          <p:cNvSpPr txBox="1"/>
          <p:nvPr/>
        </p:nvSpPr>
        <p:spPr>
          <a:xfrm>
            <a:off x="914400" y="4005072"/>
            <a:ext cx="1956816" cy="265176"/>
          </a:xfrm>
          <a:prstGeom prst="rect">
            <a:avLst/>
          </a:prstGeom>
          <a:noFill/>
          <a:ln/>
        </p:spPr>
        <p:txBody>
          <a:bodyPr wrap="square" lIns="0" tIns="0" rIns="0" bIns="0" rtlCol="0" anchor="t"/>
          <a:lstStyle/>
          <a:p>
            <a:pPr algn="l" indent="0" marL="0">
              <a:lnSpc>
                <a:spcPct val="106000"/>
              </a:lnSpc>
              <a:buNone/>
            </a:pPr>
            <a:r>
              <a:rPr lang="en-US" sz="1000" b="1" dirty="0">
                <a:solidFill>
                  <a:srgbClr val="EFF2F1"/>
                </a:solidFill>
                <a:latin typeface="Calibri" pitchFamily="34" charset="0"/>
                <a:ea typeface="Calibri" pitchFamily="34" charset="-122"/>
                <a:cs typeface="Calibri" pitchFamily="34" charset="-120"/>
              </a:rPr>
              <a:t>test_contract.py</a:t>
            </a:r>
            <a:endParaRPr lang="en-US" sz="1000" dirty="0"/>
          </a:p>
        </p:txBody>
      </p:sp>
      <p:sp>
        <p:nvSpPr>
          <p:cNvPr id="41" name="Text 39"/>
          <p:cNvSpPr txBox="1"/>
          <p:nvPr/>
        </p:nvSpPr>
        <p:spPr>
          <a:xfrm>
            <a:off x="2962656" y="4005072"/>
            <a:ext cx="566928" cy="265176"/>
          </a:xfrm>
          <a:prstGeom prst="rect">
            <a:avLst/>
          </a:prstGeom>
          <a:noFill/>
          <a:ln/>
        </p:spPr>
        <p:txBody>
          <a:bodyPr wrap="square" lIns="0" tIns="0" rIns="0" bIns="0" rtlCol="0" anchor="t"/>
          <a:lstStyle/>
          <a:p>
            <a:pPr algn="l" indent="0" marL="0">
              <a:buNone/>
            </a:pPr>
            <a:r>
              <a:rPr lang="en-US" sz="1000" dirty="0">
                <a:solidFill>
                  <a:srgbClr val="8CA096"/>
                </a:solidFill>
                <a:latin typeface="Courier New" pitchFamily="34" charset="0"/>
                <a:ea typeface="Courier New" pitchFamily="34" charset="-122"/>
                <a:cs typeface="Courier New" pitchFamily="34" charset="-120"/>
              </a:rPr>
              <a:t>5</a:t>
            </a:r>
            <a:endParaRPr lang="en-US" sz="1000" dirty="0"/>
          </a:p>
        </p:txBody>
      </p:sp>
      <p:sp>
        <p:nvSpPr>
          <p:cNvPr id="42" name="Text 40"/>
          <p:cNvSpPr txBox="1"/>
          <p:nvPr/>
        </p:nvSpPr>
        <p:spPr>
          <a:xfrm>
            <a:off x="3621024" y="4005072"/>
            <a:ext cx="2011680" cy="265176"/>
          </a:xfrm>
          <a:prstGeom prst="rect">
            <a:avLst/>
          </a:prstGeom>
          <a:noFill/>
          <a:ln/>
        </p:spPr>
        <p:txBody>
          <a:bodyPr wrap="square" lIns="0" tIns="0" rIns="0" bIns="0" rtlCol="0" anchor="t"/>
          <a:lstStyle/>
          <a:p>
            <a:pPr algn="l" indent="0" marL="0">
              <a:lnSpc>
                <a:spcPct val="106000"/>
              </a:lnSpc>
              <a:buNone/>
            </a:pPr>
            <a:r>
              <a:rPr lang="en-US" sz="1000" dirty="0">
                <a:solidFill>
                  <a:srgbClr val="8CA096"/>
                </a:solidFill>
                <a:latin typeface="Calibri" pitchFamily="34" charset="0"/>
                <a:ea typeface="Calibri" pitchFamily="34" charset="-122"/>
                <a:cs typeface="Calibri" pitchFamily="34" charset="-120"/>
              </a:rPr>
              <a:t>committed schema vs live</a:t>
            </a:r>
            <a:endParaRPr lang="en-US" sz="1000" dirty="0"/>
          </a:p>
        </p:txBody>
      </p:sp>
      <p:sp>
        <p:nvSpPr>
          <p:cNvPr id="43" name="Shape 41"/>
          <p:cNvSpPr/>
          <p:nvPr/>
        </p:nvSpPr>
        <p:spPr>
          <a:xfrm>
            <a:off x="914400" y="4315968"/>
            <a:ext cx="4809744" cy="0"/>
          </a:xfrm>
          <a:prstGeom prst="line">
            <a:avLst/>
          </a:prstGeom>
          <a:noFill/>
          <a:ln w="12700">
            <a:solidFill>
              <a:srgbClr val="33463D"/>
            </a:solidFill>
            <a:prstDash val="solid"/>
          </a:ln>
        </p:spPr>
      </p:sp>
      <p:sp>
        <p:nvSpPr>
          <p:cNvPr id="44" name="Text 42"/>
          <p:cNvSpPr txBox="1"/>
          <p:nvPr/>
        </p:nvSpPr>
        <p:spPr>
          <a:xfrm>
            <a:off x="914400" y="4425696"/>
            <a:ext cx="4809744" cy="237744"/>
          </a:xfrm>
          <a:prstGeom prst="rect">
            <a:avLst/>
          </a:prstGeom>
          <a:noFill/>
          <a:ln/>
        </p:spPr>
        <p:txBody>
          <a:bodyPr wrap="square" lIns="0" tIns="0" rIns="0" bIns="0" rtlCol="0" anchor="ctr"/>
          <a:lstStyle/>
          <a:p>
            <a:pPr algn="l" indent="0" marL="0">
              <a:buNone/>
            </a:pPr>
            <a:r>
              <a:rPr lang="en-US" sz="1000" b="1" dirty="0">
                <a:solidFill>
                  <a:srgbClr val="F9BF29"/>
                </a:solidFill>
                <a:latin typeface="Courier New" pitchFamily="34" charset="0"/>
                <a:ea typeface="Courier New" pitchFamily="34" charset="-122"/>
                <a:cs typeface="Courier New" pitchFamily="34" charset="-120"/>
              </a:rPr>
              <a:t>92 backend · 42 frontend · tsc clean · build clean</a:t>
            </a:r>
            <a:endParaRPr lang="en-US" sz="1000" dirty="0"/>
          </a:p>
        </p:txBody>
      </p:sp>
      <p:sp>
        <p:nvSpPr>
          <p:cNvPr id="45" name="Text 43"/>
          <p:cNvSpPr txBox="1"/>
          <p:nvPr/>
        </p:nvSpPr>
        <p:spPr>
          <a:xfrm>
            <a:off x="914400" y="4681728"/>
            <a:ext cx="4809744" cy="274320"/>
          </a:xfrm>
          <a:prstGeom prst="rect">
            <a:avLst/>
          </a:prstGeom>
          <a:noFill/>
          <a:ln/>
        </p:spPr>
        <p:txBody>
          <a:bodyPr wrap="square" lIns="0" tIns="0" rIns="0" bIns="0" rtlCol="0" anchor="t"/>
          <a:lstStyle/>
          <a:p>
            <a:pPr algn="l" indent="0" marL="0">
              <a:lnSpc>
                <a:spcPct val="120000"/>
              </a:lnSpc>
              <a:buNone/>
            </a:pPr>
            <a:r>
              <a:rPr lang="en-US" sz="950" dirty="0">
                <a:solidFill>
                  <a:srgbClr val="5D7268"/>
                </a:solidFill>
                <a:latin typeface="Calibri" pitchFamily="34" charset="0"/>
                <a:ea typeface="Calibri" pitchFamily="34" charset="-122"/>
                <a:cs typeface="Calibri" pitchFamily="34" charset="-120"/>
              </a:rPr>
              <a:t>87 test functions; four files parametrize, so pytest collects 92.</a:t>
            </a:r>
            <a:endParaRPr lang="en-US" sz="950" dirty="0"/>
          </a:p>
        </p:txBody>
      </p:sp>
      <p:sp>
        <p:nvSpPr>
          <p:cNvPr id="46" name="Text 44"/>
          <p:cNvSpPr txBox="1"/>
          <p:nvPr/>
        </p:nvSpPr>
        <p:spPr>
          <a:xfrm>
            <a:off x="914400" y="5029200"/>
            <a:ext cx="4809744" cy="475488"/>
          </a:xfrm>
          <a:prstGeom prst="rect">
            <a:avLst/>
          </a:prstGeom>
          <a:noFill/>
          <a:ln/>
        </p:spPr>
        <p:txBody>
          <a:bodyPr wrap="square" lIns="0" tIns="0" rIns="0" bIns="0" rtlCol="0" anchor="t"/>
          <a:lstStyle/>
          <a:p>
            <a:pPr algn="l" indent="0" marL="0">
              <a:lnSpc>
                <a:spcPct val="114000"/>
              </a:lnSpc>
              <a:buNone/>
            </a:pPr>
            <a:r>
              <a:rPr lang="en-US" sz="1050" dirty="0">
                <a:solidFill>
                  <a:srgbClr val="8CA096"/>
                </a:solidFill>
                <a:latin typeface="Calibri" pitchFamily="34" charset="0"/>
                <a:ea typeface="Calibri" pitchFamily="34" charset="-122"/>
                <a:cs typeface="Calibri" pitchFamily="34" charset="-120"/>
              </a:rPr>
              <a:t>The backend suite runs with no models present at all, because that is the state a fresh clone is in and the state the fallback path has to survive.</a:t>
            </a:r>
            <a:endParaRPr lang="en-US" sz="1050" dirty="0"/>
          </a:p>
        </p:txBody>
      </p:sp>
      <p:sp>
        <p:nvSpPr>
          <p:cNvPr id="47" name="Text 45"/>
          <p:cNvSpPr txBox="1"/>
          <p:nvPr/>
        </p:nvSpPr>
        <p:spPr>
          <a:xfrm>
            <a:off x="914400" y="5522976"/>
            <a:ext cx="4809744" cy="329184"/>
          </a:xfrm>
          <a:prstGeom prst="rect">
            <a:avLst/>
          </a:prstGeom>
          <a:noFill/>
          <a:ln/>
        </p:spPr>
        <p:txBody>
          <a:bodyPr wrap="square" lIns="0" tIns="0" rIns="0" bIns="0" rtlCol="0" anchor="t"/>
          <a:lstStyle/>
          <a:p>
            <a:pPr algn="l" indent="0" marL="0">
              <a:lnSpc>
                <a:spcPct val="114000"/>
              </a:lnSpc>
              <a:buNone/>
            </a:pPr>
            <a:r>
              <a:rPr lang="en-US" sz="1000" i="1" dirty="0">
                <a:solidFill>
                  <a:srgbClr val="5D7268"/>
                </a:solidFill>
                <a:latin typeface="Calibri" pitchFamily="34" charset="0"/>
                <a:ea typeface="Calibri" pitchFamily="34" charset="-122"/>
                <a:cs typeface="Calibri" pitchFamily="34" charset="-120"/>
              </a:rPr>
              <a:t>The README said “80 backend + 41 frontend” until this week; it now carries the FIX_LOG run of 2026-09-07.</a:t>
            </a:r>
            <a:endParaRPr lang="en-US" sz="1000" dirty="0"/>
          </a:p>
        </p:txBody>
      </p:sp>
      <p:sp>
        <p:nvSpPr>
          <p:cNvPr id="48" name="Shape 46"/>
          <p:cNvSpPr/>
          <p:nvPr/>
        </p:nvSpPr>
        <p:spPr>
          <a:xfrm>
            <a:off x="6208776" y="1389888"/>
            <a:ext cx="5321808" cy="4480560"/>
          </a:xfrm>
          <a:prstGeom prst="roundRect">
            <a:avLst>
              <a:gd name="adj" fmla="val 3265"/>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49" name="Text 47"/>
          <p:cNvSpPr txBox="1"/>
          <p:nvPr/>
        </p:nvSpPr>
        <p:spPr>
          <a:xfrm>
            <a:off x="6464808" y="1536192"/>
            <a:ext cx="457200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THE BOUNDARY, AND THE DATA POSITION</a:t>
            </a:r>
            <a:endParaRPr lang="en-US" sz="950" dirty="0"/>
          </a:p>
        </p:txBody>
      </p:sp>
      <p:sp>
        <p:nvSpPr>
          <p:cNvPr id="50" name="Text 48"/>
          <p:cNvSpPr txBox="1"/>
          <p:nvPr/>
        </p:nvSpPr>
        <p:spPr>
          <a:xfrm>
            <a:off x="6464808" y="1792224"/>
            <a:ext cx="4809744" cy="201168"/>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Not a diagnostic tool</a:t>
            </a:r>
            <a:endParaRPr lang="en-US" sz="1050" dirty="0"/>
          </a:p>
        </p:txBody>
      </p:sp>
      <p:sp>
        <p:nvSpPr>
          <p:cNvPr id="51" name="Text 49"/>
          <p:cNvSpPr txBox="1"/>
          <p:nvPr/>
        </p:nvSpPr>
        <p:spPr>
          <a:xfrm>
            <a:off x="6464808" y="1975104"/>
            <a:ext cx="4809744" cy="475488"/>
          </a:xfrm>
          <a:prstGeom prst="rect">
            <a:avLst/>
          </a:prstGeom>
          <a:noFill/>
          <a:ln/>
        </p:spPr>
        <p:txBody>
          <a:bodyPr wrap="square" lIns="0" tIns="0" rIns="0" bIns="0" rtlCol="0" anchor="t"/>
          <a:lstStyle/>
          <a:p>
            <a:pPr algn="l" indent="0" marL="0">
              <a:lnSpc>
                <a:spcPct val="108000"/>
              </a:lnSpc>
              <a:buNone/>
            </a:pPr>
            <a:r>
              <a:rPr lang="en-US" sz="850" dirty="0">
                <a:solidFill>
                  <a:srgbClr val="8CA096"/>
                </a:solidFill>
                <a:latin typeface="Calibri" pitchFamily="34" charset="0"/>
                <a:ea typeface="Calibri" pitchFamily="34" charset="-122"/>
                <a:cs typeface="Calibri" pitchFamily="34" charset="-120"/>
              </a:rPr>
              <a:t>It detects acoustic events to adapt pacing. It does not infer a condition from them, and outputs are never presented as a clinical finding.</a:t>
            </a:r>
            <a:endParaRPr lang="en-US" sz="850" dirty="0"/>
          </a:p>
        </p:txBody>
      </p:sp>
      <p:sp>
        <p:nvSpPr>
          <p:cNvPr id="52" name="Text 50"/>
          <p:cNvSpPr txBox="1"/>
          <p:nvPr/>
        </p:nvSpPr>
        <p:spPr>
          <a:xfrm>
            <a:off x="6464808" y="2350008"/>
            <a:ext cx="4809744" cy="201168"/>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Not therapy, not a substitute for care</a:t>
            </a:r>
            <a:endParaRPr lang="en-US" sz="1050" dirty="0"/>
          </a:p>
        </p:txBody>
      </p:sp>
      <p:sp>
        <p:nvSpPr>
          <p:cNvPr id="53" name="Text 51"/>
          <p:cNvSpPr txBox="1"/>
          <p:nvPr/>
        </p:nvSpPr>
        <p:spPr>
          <a:xfrm>
            <a:off x="6464808" y="2532888"/>
            <a:ext cx="4809744" cy="475488"/>
          </a:xfrm>
          <a:prstGeom prst="rect">
            <a:avLst/>
          </a:prstGeom>
          <a:noFill/>
          <a:ln/>
        </p:spPr>
        <p:txBody>
          <a:bodyPr wrap="square" lIns="0" tIns="0" rIns="0" bIns="0" rtlCol="0" anchor="t"/>
          <a:lstStyle/>
          <a:p>
            <a:pPr algn="l" indent="0" marL="0">
              <a:lnSpc>
                <a:spcPct val="108000"/>
              </a:lnSpc>
              <a:buNone/>
            </a:pPr>
            <a:r>
              <a:rPr lang="en-US" sz="850" dirty="0">
                <a:solidFill>
                  <a:srgbClr val="8CA096"/>
                </a:solidFill>
                <a:latin typeface="Calibri" pitchFamily="34" charset="0"/>
                <a:ea typeface="Calibri" pitchFamily="34" charset="-122"/>
                <a:cs typeface="Calibri" pitchFamily="34" charset="-120"/>
              </a:rPr>
              <a:t>The interface directs users toward a qualified professional for anything beyond practice.</a:t>
            </a:r>
            <a:endParaRPr lang="en-US" sz="850" dirty="0"/>
          </a:p>
        </p:txBody>
      </p:sp>
      <p:sp>
        <p:nvSpPr>
          <p:cNvPr id="54" name="Text 52"/>
          <p:cNvSpPr txBox="1"/>
          <p:nvPr/>
        </p:nvSpPr>
        <p:spPr>
          <a:xfrm>
            <a:off x="6464808" y="2907792"/>
            <a:ext cx="4809744" cy="201168"/>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SEP-28k is fetched, never redistributed</a:t>
            </a:r>
            <a:endParaRPr lang="en-US" sz="1050" dirty="0"/>
          </a:p>
        </p:txBody>
      </p:sp>
      <p:sp>
        <p:nvSpPr>
          <p:cNvPr id="55" name="Text 53"/>
          <p:cNvSpPr txBox="1"/>
          <p:nvPr/>
        </p:nvSpPr>
        <p:spPr>
          <a:xfrm>
            <a:off x="6464808" y="3090672"/>
            <a:ext cx="4809744" cy="475488"/>
          </a:xfrm>
          <a:prstGeom prst="rect">
            <a:avLst/>
          </a:prstGeom>
          <a:noFill/>
          <a:ln/>
        </p:spPr>
        <p:txBody>
          <a:bodyPr wrap="square" lIns="0" tIns="0" rIns="0" bIns="0" rtlCol="0" anchor="t"/>
          <a:lstStyle/>
          <a:p>
            <a:pPr algn="l" indent="0" marL="0">
              <a:lnSpc>
                <a:spcPct val="108000"/>
              </a:lnSpc>
              <a:buNone/>
            </a:pPr>
            <a:r>
              <a:rPr lang="en-US" sz="850" dirty="0">
                <a:solidFill>
                  <a:srgbClr val="8CA096"/>
                </a:solidFill>
                <a:latin typeface="Calibri" pitchFamily="34" charset="0"/>
                <a:ea typeface="Calibri" pitchFamily="34" charset="-122"/>
                <a:cs typeface="Calibri" pitchFamily="34" charset="-120"/>
              </a:rPr>
              <a:t>The repository gitignores all audio.</a:t>
            </a:r>
            <a:endParaRPr lang="en-US" sz="850" dirty="0"/>
          </a:p>
        </p:txBody>
      </p:sp>
      <p:sp>
        <p:nvSpPr>
          <p:cNvPr id="56" name="Text 54"/>
          <p:cNvSpPr txBox="1"/>
          <p:nvPr/>
        </p:nvSpPr>
        <p:spPr>
          <a:xfrm>
            <a:off x="6464808" y="3465576"/>
            <a:ext cx="4809744" cy="201168"/>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User speech is not retained</a:t>
            </a:r>
            <a:endParaRPr lang="en-US" sz="1050" dirty="0"/>
          </a:p>
        </p:txBody>
      </p:sp>
      <p:sp>
        <p:nvSpPr>
          <p:cNvPr id="57" name="Text 55"/>
          <p:cNvSpPr txBox="1"/>
          <p:nvPr/>
        </p:nvSpPr>
        <p:spPr>
          <a:xfrm>
            <a:off x="6464808" y="3648456"/>
            <a:ext cx="4809744" cy="475488"/>
          </a:xfrm>
          <a:prstGeom prst="rect">
            <a:avLst/>
          </a:prstGeom>
          <a:noFill/>
          <a:ln/>
        </p:spPr>
        <p:txBody>
          <a:bodyPr wrap="square" lIns="0" tIns="0" rIns="0" bIns="0" rtlCol="0" anchor="t"/>
          <a:lstStyle/>
          <a:p>
            <a:pPr algn="l" indent="0" marL="0">
              <a:lnSpc>
                <a:spcPct val="108000"/>
              </a:lnSpc>
              <a:buNone/>
            </a:pPr>
            <a:r>
              <a:rPr lang="en-US" sz="850" dirty="0">
                <a:solidFill>
                  <a:srgbClr val="8CA096"/>
                </a:solidFill>
                <a:latin typeface="Calibri" pitchFamily="34" charset="0"/>
                <a:ea typeface="Calibri" pitchFamily="34" charset="-122"/>
                <a:cs typeface="Calibri" pitchFamily="34" charset="-120"/>
              </a:rPr>
              <a:t>History stores the transcript and derived metrics. Raw audio is discarded once processed.</a:t>
            </a:r>
            <a:endParaRPr lang="en-US" sz="850" dirty="0"/>
          </a:p>
        </p:txBody>
      </p:sp>
      <p:sp>
        <p:nvSpPr>
          <p:cNvPr id="58" name="Text 56"/>
          <p:cNvSpPr txBox="1"/>
          <p:nvPr/>
        </p:nvSpPr>
        <p:spPr>
          <a:xfrm>
            <a:off x="6464808" y="4023360"/>
            <a:ext cx="4809744" cy="201168"/>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No user data leaves the machine</a:t>
            </a:r>
            <a:endParaRPr lang="en-US" sz="1050" dirty="0"/>
          </a:p>
        </p:txBody>
      </p:sp>
      <p:sp>
        <p:nvSpPr>
          <p:cNvPr id="59" name="Text 57"/>
          <p:cNvSpPr txBox="1"/>
          <p:nvPr/>
        </p:nvSpPr>
        <p:spPr>
          <a:xfrm>
            <a:off x="6464808" y="4206240"/>
            <a:ext cx="4809744" cy="475488"/>
          </a:xfrm>
          <a:prstGeom prst="rect">
            <a:avLst/>
          </a:prstGeom>
          <a:noFill/>
          <a:ln/>
        </p:spPr>
        <p:txBody>
          <a:bodyPr wrap="square" lIns="0" tIns="0" rIns="0" bIns="0" rtlCol="0" anchor="t"/>
          <a:lstStyle/>
          <a:p>
            <a:pPr algn="l" indent="0" marL="0">
              <a:lnSpc>
                <a:spcPct val="108000"/>
              </a:lnSpc>
              <a:buNone/>
            </a:pPr>
            <a:r>
              <a:rPr lang="en-US" sz="850" dirty="0">
                <a:solidFill>
                  <a:srgbClr val="8CA096"/>
                </a:solidFill>
                <a:latin typeface="Calibri" pitchFamily="34" charset="0"/>
                <a:ea typeface="Calibri" pitchFamily="34" charset="-122"/>
                <a:cs typeface="Calibri" pitchFamily="34" charset="-120"/>
              </a:rPr>
              <a:t>Both paths run locally. No API keys, no telemetry, no egress.</a:t>
            </a:r>
            <a:endParaRPr lang="en-US" sz="850" dirty="0"/>
          </a:p>
        </p:txBody>
      </p:sp>
      <p:sp>
        <p:nvSpPr>
          <p:cNvPr id="60" name="Text 58"/>
          <p:cNvSpPr txBox="1"/>
          <p:nvPr/>
        </p:nvSpPr>
        <p:spPr>
          <a:xfrm>
            <a:off x="6464808" y="4581144"/>
            <a:ext cx="4809744" cy="201168"/>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Disclosed limitations</a:t>
            </a:r>
            <a:endParaRPr lang="en-US" sz="1050" dirty="0"/>
          </a:p>
        </p:txBody>
      </p:sp>
      <p:sp>
        <p:nvSpPr>
          <p:cNvPr id="61" name="Text 59"/>
          <p:cNvSpPr txBox="1"/>
          <p:nvPr/>
        </p:nvSpPr>
        <p:spPr>
          <a:xfrm>
            <a:off x="6464808" y="4764024"/>
            <a:ext cx="4809744" cy="475488"/>
          </a:xfrm>
          <a:prstGeom prst="rect">
            <a:avLst/>
          </a:prstGeom>
          <a:noFill/>
          <a:ln/>
        </p:spPr>
        <p:txBody>
          <a:bodyPr wrap="square" lIns="0" tIns="0" rIns="0" bIns="0" rtlCol="0" anchor="t"/>
          <a:lstStyle/>
          <a:p>
            <a:pPr algn="l" indent="0" marL="0">
              <a:lnSpc>
                <a:spcPct val="108000"/>
              </a:lnSpc>
              <a:buNone/>
            </a:pPr>
            <a:r>
              <a:rPr lang="en-US" sz="850" dirty="0">
                <a:solidFill>
                  <a:srgbClr val="8CA096"/>
                </a:solidFill>
                <a:latin typeface="Calibri" pitchFamily="34" charset="0"/>
                <a:ea typeface="Calibri" pitchFamily="34" charset="-122"/>
                <a:cs typeface="Calibri" pitchFamily="34" charset="-120"/>
              </a:rPr>
              <a:t>Moshi is English-only. The classifier is trained on podcast speech, which under-represents severe dysfluency and skews adult. The coach can be wrong.</a:t>
            </a:r>
            <a:endParaRPr lang="en-US" sz="850" dirty="0"/>
          </a:p>
        </p:txBody>
      </p:sp>
      <p:sp>
        <p:nvSpPr>
          <p:cNvPr id="62" name="Text 60"/>
          <p:cNvSpPr txBox="1"/>
          <p:nvPr/>
        </p:nvSpPr>
        <p:spPr>
          <a:xfrm>
            <a:off x="6464808" y="5138928"/>
            <a:ext cx="4809744" cy="201168"/>
          </a:xfrm>
          <a:prstGeom prst="rect">
            <a:avLst/>
          </a:prstGeom>
          <a:noFill/>
          <a:ln/>
        </p:spPr>
        <p:txBody>
          <a:bodyPr wrap="square" lIns="0" tIns="0" rIns="0" bIns="0" rtlCol="0" anchor="t"/>
          <a:lstStyle/>
          <a:p>
            <a:pPr algn="l" indent="0" marL="0">
              <a:lnSpc>
                <a:spcPct val="120000"/>
              </a:lnSpc>
              <a:buNone/>
            </a:pPr>
            <a:r>
              <a:rPr lang="en-US" sz="1050" b="1" dirty="0">
                <a:solidFill>
                  <a:srgbClr val="EFF2F1"/>
                </a:solidFill>
                <a:latin typeface="Calibri" pitchFamily="34" charset="0"/>
                <a:ea typeface="Calibri" pitchFamily="34" charset="-122"/>
                <a:cs typeface="Calibri" pitchFamily="34" charset="-120"/>
              </a:rPr>
              <a:t>The M9 regression is disclosed</a:t>
            </a:r>
            <a:endParaRPr lang="en-US" sz="1050" dirty="0"/>
          </a:p>
        </p:txBody>
      </p:sp>
      <p:sp>
        <p:nvSpPr>
          <p:cNvPr id="63" name="Text 61"/>
          <p:cNvSpPr txBox="1"/>
          <p:nvPr/>
        </p:nvSpPr>
        <p:spPr>
          <a:xfrm>
            <a:off x="6464808" y="5321808"/>
            <a:ext cx="4809744" cy="475488"/>
          </a:xfrm>
          <a:prstGeom prst="rect">
            <a:avLst/>
          </a:prstGeom>
          <a:noFill/>
          <a:ln/>
        </p:spPr>
        <p:txBody>
          <a:bodyPr wrap="square" lIns="0" tIns="0" rIns="0" bIns="0" rtlCol="0" anchor="t"/>
          <a:lstStyle/>
          <a:p>
            <a:pPr algn="l" indent="0" marL="0">
              <a:lnSpc>
                <a:spcPct val="108000"/>
              </a:lnSpc>
              <a:buNone/>
            </a:pPr>
            <a:r>
              <a:rPr lang="en-US" sz="850" dirty="0">
                <a:solidFill>
                  <a:srgbClr val="8CA096"/>
                </a:solidFill>
                <a:latin typeface="Calibri" pitchFamily="34" charset="0"/>
                <a:ea typeface="Calibri" pitchFamily="34" charset="-122"/>
                <a:cs typeface="Calibri" pitchFamily="34" charset="-120"/>
              </a:rPr>
              <a:t>ETHICS.md records that the fine-tuned model declines diagnosis requests less reliably than the base (53%→20%, referral 60%→33%), because disclosure is the standard the document sets.</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A14</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Anticipated questions</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answers traceable to the repository</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A14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not only Moshi?</a:t>
            </a:r>
            <a:endParaRPr lang="en-US" sz="1050" dirty="0"/>
          </a:p>
        </p:txBody>
      </p:sp>
      <p:sp>
        <p:nvSpPr>
          <p:cNvPr id="11" name="Text 9"/>
          <p:cNvSpPr txBox="1"/>
          <p:nvPr/>
        </p:nvSpPr>
        <p:spPr>
          <a:xfrm>
            <a:off x="658368" y="151790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It cannot retrieve, cannot be prompted, and has no text LLM to fine-tune. Five required features have nowhere to live in it.</a:t>
            </a:r>
            <a:endParaRPr lang="en-US" sz="950" dirty="0"/>
          </a:p>
        </p:txBody>
      </p:sp>
      <p:sp>
        <p:nvSpPr>
          <p:cNvPr id="12" name="Text 10"/>
          <p:cNvSpPr txBox="1"/>
          <p:nvPr/>
        </p:nvSpPr>
        <p:spPr>
          <a:xfrm>
            <a:off x="658368" y="184251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not only a cascade?</a:t>
            </a:r>
            <a:endParaRPr lang="en-US" sz="1050" dirty="0"/>
          </a:p>
        </p:txBody>
      </p:sp>
      <p:sp>
        <p:nvSpPr>
          <p:cNvPr id="13" name="Text 11"/>
          <p:cNvSpPr txBox="1"/>
          <p:nvPr/>
        </p:nvSpPr>
        <p:spPr>
          <a:xfrm>
            <a:off x="658368" y="204368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It cannot hold a full-duplex conversation with barge-in, at any speed. Note M12 found the cascade is NOT inherently slower — with the GPU free its generation stage beats Moshi. The constraint is one card.</a:t>
            </a:r>
            <a:endParaRPr lang="en-US" sz="950" dirty="0"/>
          </a:p>
        </p:txBody>
      </p:sp>
      <p:sp>
        <p:nvSpPr>
          <p:cNvPr id="14" name="Text 12"/>
          <p:cNvSpPr txBox="1"/>
          <p:nvPr/>
        </p:nvSpPr>
        <p:spPr>
          <a:xfrm>
            <a:off x="658368" y="236829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RAG rather than fine-tuning the knowledge in?</a:t>
            </a:r>
            <a:endParaRPr lang="en-US" sz="1050" dirty="0"/>
          </a:p>
        </p:txBody>
      </p:sp>
      <p:sp>
        <p:nvSpPr>
          <p:cNvPr id="15" name="Text 13"/>
          <p:cNvSpPr txBox="1"/>
          <p:nvPr/>
        </p:nvSpPr>
        <p:spPr>
          <a:xfrm>
            <a:off x="658368" y="256946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A cited passage can be checked, swapped, or refused. Our safety property is refusal, which needs a score at query time.</a:t>
            </a:r>
            <a:endParaRPr lang="en-US" sz="950" dirty="0"/>
          </a:p>
        </p:txBody>
      </p:sp>
      <p:sp>
        <p:nvSpPr>
          <p:cNvPr id="16" name="Text 14"/>
          <p:cNvSpPr txBox="1"/>
          <p:nvPr/>
        </p:nvSpPr>
        <p:spPr>
          <a:xfrm>
            <a:off x="658368" y="289407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Whisper base, not small?</a:t>
            </a:r>
            <a:endParaRPr lang="en-US" sz="1050" dirty="0"/>
          </a:p>
        </p:txBody>
      </p:sp>
      <p:sp>
        <p:nvSpPr>
          <p:cNvPr id="17" name="Text 15"/>
          <p:cNvSpPr txBox="1"/>
          <p:nvPr/>
        </p:nvSpPr>
        <p:spPr>
          <a:xfrm>
            <a:off x="658368" y="309524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Small is 3.4× slower and 20 ms worse on word-timestamp accuracy, which is the only metric that matters here.</a:t>
            </a:r>
            <a:endParaRPr lang="en-US" sz="950" dirty="0"/>
          </a:p>
        </p:txBody>
      </p:sp>
      <p:sp>
        <p:nvSpPr>
          <p:cNvPr id="18" name="Text 16"/>
          <p:cNvSpPr txBox="1"/>
          <p:nvPr/>
        </p:nvSpPr>
        <p:spPr>
          <a:xfrm>
            <a:off x="658368" y="341985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ChromaDB?</a:t>
            </a:r>
            <a:endParaRPr lang="en-US" sz="1050" dirty="0"/>
          </a:p>
        </p:txBody>
      </p:sp>
      <p:sp>
        <p:nvSpPr>
          <p:cNvPr id="19" name="Text 17"/>
          <p:cNvSpPr txBox="1"/>
          <p:nvPr/>
        </p:nvSpPr>
        <p:spPr>
          <a:xfrm>
            <a:off x="658368" y="362102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Local, persistent, cosine, carries source metadata. No server for a single-user offline product.</a:t>
            </a:r>
            <a:endParaRPr lang="en-US" sz="950" dirty="0"/>
          </a:p>
        </p:txBody>
      </p:sp>
      <p:sp>
        <p:nvSpPr>
          <p:cNvPr id="20" name="Text 18"/>
          <p:cNvSpPr txBox="1"/>
          <p:nvPr/>
        </p:nvSpPr>
        <p:spPr>
          <a:xfrm>
            <a:off x="658368" y="394563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MMR, and why implemented by hand?</a:t>
            </a:r>
            <a:endParaRPr lang="en-US" sz="1050" dirty="0"/>
          </a:p>
        </p:txBody>
      </p:sp>
      <p:sp>
        <p:nvSpPr>
          <p:cNvPr id="21" name="Text 19"/>
          <p:cNvSpPr txBox="1"/>
          <p:nvPr/>
        </p:nvSpPr>
        <p:spPr>
          <a:xfrm>
            <a:off x="658368" y="414680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Chroma's helper returns no relevance scores, and the gate and the citations both need them.</a:t>
            </a:r>
            <a:endParaRPr lang="en-US" sz="950" dirty="0"/>
          </a:p>
        </p:txBody>
      </p:sp>
      <p:sp>
        <p:nvSpPr>
          <p:cNvPr id="22" name="Text 20"/>
          <p:cNvSpPr txBox="1"/>
          <p:nvPr/>
        </p:nvSpPr>
        <p:spPr>
          <a:xfrm>
            <a:off x="658368" y="447141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How was the threshold chosen?</a:t>
            </a:r>
            <a:endParaRPr lang="en-US" sz="1050" dirty="0"/>
          </a:p>
        </p:txBody>
      </p:sp>
      <p:sp>
        <p:nvSpPr>
          <p:cNvPr id="23" name="Text 21"/>
          <p:cNvSpPr txBox="1"/>
          <p:nvPr/>
        </p:nvSpPr>
        <p:spPr>
          <a:xfrm>
            <a:off x="658368" y="467258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18 questions over the real corpus. 0.65 sits in the 0.077 gap, nearer the out-of-corpus side because the errors are asymmetric.</a:t>
            </a:r>
            <a:endParaRPr lang="en-US" sz="950" dirty="0"/>
          </a:p>
        </p:txBody>
      </p:sp>
      <p:sp>
        <p:nvSpPr>
          <p:cNvPr id="24" name="Text 22"/>
          <p:cNvSpPr txBox="1"/>
          <p:nvPr/>
        </p:nvSpPr>
        <p:spPr>
          <a:xfrm>
            <a:off x="658368" y="499719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a 3B model?</a:t>
            </a:r>
            <a:endParaRPr lang="en-US" sz="1050" dirty="0"/>
          </a:p>
        </p:txBody>
      </p:sp>
      <p:sp>
        <p:nvSpPr>
          <p:cNvPr id="25" name="Text 23"/>
          <p:cNvSpPr txBox="1"/>
          <p:nvPr/>
        </p:nvSpPr>
        <p:spPr>
          <a:xfrm>
            <a:off x="658368" y="519836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It is the largest instruct model that decodes usefully on CPU in 4-bit, and the GPU is taken by Moshi.</a:t>
            </a:r>
            <a:endParaRPr lang="en-US" sz="950" dirty="0"/>
          </a:p>
        </p:txBody>
      </p:sp>
      <p:sp>
        <p:nvSpPr>
          <p:cNvPr id="26" name="Text 24"/>
          <p:cNvSpPr txBox="1"/>
          <p:nvPr/>
        </p:nvSpPr>
        <p:spPr>
          <a:xfrm>
            <a:off x="658368" y="552297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Does quantization reduce quality?</a:t>
            </a:r>
            <a:endParaRPr lang="en-US" sz="1050" dirty="0"/>
          </a:p>
        </p:txBody>
      </p:sp>
      <p:sp>
        <p:nvSpPr>
          <p:cNvPr id="27" name="Text 25"/>
          <p:cNvSpPr txBox="1"/>
          <p:nvPr/>
        </p:nvSpPr>
        <p:spPr>
          <a:xfrm>
            <a:off x="658368" y="572414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M10 shows the quantized model stays coherent — 100% usable replies over 125 generations. A controlled f16-vs-Q4 delta at fixed weights is still outstanding.</a:t>
            </a:r>
            <a:endParaRPr lang="en-US" sz="950" dirty="0"/>
          </a:p>
        </p:txBody>
      </p:sp>
      <p:sp>
        <p:nvSpPr>
          <p:cNvPr id="28" name="Text 26"/>
          <p:cNvSpPr txBox="1"/>
          <p:nvPr/>
        </p:nvSpPr>
        <p:spPr>
          <a:xfrm>
            <a:off x="6190488" y="131673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SQLite rather than Postgres?</a:t>
            </a:r>
            <a:endParaRPr lang="en-US" sz="1050" dirty="0"/>
          </a:p>
        </p:txBody>
      </p:sp>
      <p:sp>
        <p:nvSpPr>
          <p:cNvPr id="29" name="Text 27"/>
          <p:cNvSpPr txBox="1"/>
          <p:nvPr/>
        </p:nvSpPr>
        <p:spPr>
          <a:xfrm>
            <a:off x="6190488" y="151790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One file, no server, single user, fully local. Postgres buys concurrency we do not need.</a:t>
            </a:r>
            <a:endParaRPr lang="en-US" sz="950" dirty="0"/>
          </a:p>
        </p:txBody>
      </p:sp>
      <p:sp>
        <p:nvSpPr>
          <p:cNvPr id="30" name="Text 28"/>
          <p:cNvSpPr txBox="1"/>
          <p:nvPr/>
        </p:nvSpPr>
        <p:spPr>
          <a:xfrm>
            <a:off x="6190488" y="184251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Why keep Moshi on GPU and the cascade on CPU?</a:t>
            </a:r>
            <a:endParaRPr lang="en-US" sz="1050" dirty="0"/>
          </a:p>
        </p:txBody>
      </p:sp>
      <p:sp>
        <p:nvSpPr>
          <p:cNvPr id="31" name="Text 29"/>
          <p:cNvSpPr txBox="1"/>
          <p:nvPr/>
        </p:nvSpPr>
        <p:spPr>
          <a:xfrm>
            <a:off x="6190488" y="204368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Moshi occupies 7.7 of 8.15 GB. Swapping on every mode change would stall each switch by seconds. M12 shows this contention is what governs latency.</a:t>
            </a:r>
            <a:endParaRPr lang="en-US" sz="950" dirty="0"/>
          </a:p>
        </p:txBody>
      </p:sp>
      <p:sp>
        <p:nvSpPr>
          <p:cNvPr id="32" name="Text 30"/>
          <p:cNvSpPr txBox="1"/>
          <p:nvPr/>
        </p:nvSpPr>
        <p:spPr>
          <a:xfrm>
            <a:off x="6190488" y="236829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How do you measure dysfluency?</a:t>
            </a:r>
            <a:endParaRPr lang="en-US" sz="1050" dirty="0"/>
          </a:p>
        </p:txBody>
      </p:sp>
      <p:sp>
        <p:nvSpPr>
          <p:cNvPr id="33" name="Text 31"/>
          <p:cNvSpPr txBox="1"/>
          <p:nvPr/>
        </p:nvSpPr>
        <p:spPr>
          <a:xfrm>
            <a:off x="6190488" y="256946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Two backends: word timings plus energy and pitch, or wav2vec2 with a SEP-28k head at macro F1 0.638. The profile records which ran.</a:t>
            </a:r>
            <a:endParaRPr lang="en-US" sz="950" dirty="0"/>
          </a:p>
        </p:txBody>
      </p:sp>
      <p:sp>
        <p:nvSpPr>
          <p:cNvPr id="34" name="Text 32"/>
          <p:cNvSpPr txBox="1"/>
          <p:nvPr/>
        </p:nvSpPr>
        <p:spPr>
          <a:xfrm>
            <a:off x="6190488" y="289407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Is the system medical?</a:t>
            </a:r>
            <a:endParaRPr lang="en-US" sz="1050" dirty="0"/>
          </a:p>
        </p:txBody>
      </p:sp>
      <p:sp>
        <p:nvSpPr>
          <p:cNvPr id="35" name="Text 33"/>
          <p:cNvSpPr txBox="1"/>
          <p:nvPr/>
        </p:nvSpPr>
        <p:spPr>
          <a:xfrm>
            <a:off x="6190488" y="309524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No, and the boundary is enforced in five places in the code, not asserted in a disclaimer.</a:t>
            </a:r>
            <a:endParaRPr lang="en-US" sz="950" dirty="0"/>
          </a:p>
        </p:txBody>
      </p:sp>
      <p:sp>
        <p:nvSpPr>
          <p:cNvPr id="36" name="Text 34"/>
          <p:cNvSpPr txBox="1"/>
          <p:nvPr/>
        </p:nvSpPr>
        <p:spPr>
          <a:xfrm>
            <a:off x="6190488" y="341985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What if retrieval finds nothing useful?</a:t>
            </a:r>
            <a:endParaRPr lang="en-US" sz="1050" dirty="0"/>
          </a:p>
        </p:txBody>
      </p:sp>
      <p:sp>
        <p:nvSpPr>
          <p:cNvPr id="37" name="Text 35"/>
          <p:cNvSpPr txBox="1"/>
          <p:nvPr/>
        </p:nvSpPr>
        <p:spPr>
          <a:xfrm>
            <a:off x="6190488" y="362102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The gate returns nothing and the coach says it has no material. 0 of 8 out-of-corpus questions were answered.</a:t>
            </a:r>
            <a:endParaRPr lang="en-US" sz="950" dirty="0"/>
          </a:p>
        </p:txBody>
      </p:sp>
      <p:sp>
        <p:nvSpPr>
          <p:cNvPr id="38" name="Text 36"/>
          <p:cNvSpPr txBox="1"/>
          <p:nvPr/>
        </p:nvSpPr>
        <p:spPr>
          <a:xfrm>
            <a:off x="6190488" y="394563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What if Moshi fails?</a:t>
            </a:r>
            <a:endParaRPr lang="en-US" sz="1050" dirty="0"/>
          </a:p>
        </p:txBody>
      </p:sp>
      <p:sp>
        <p:nvSpPr>
          <p:cNvPr id="39" name="Text 37"/>
          <p:cNvSpPr txBox="1"/>
          <p:nvPr/>
        </p:nvSpPr>
        <p:spPr>
          <a:xfrm>
            <a:off x="6190488" y="414680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The live socket declines with a fallback endpoint, the client reconnects on the cascade, and the interface says why. Tested with no models present.</a:t>
            </a:r>
            <a:endParaRPr lang="en-US" sz="950" dirty="0"/>
          </a:p>
        </p:txBody>
      </p:sp>
      <p:sp>
        <p:nvSpPr>
          <p:cNvPr id="40" name="Text 38"/>
          <p:cNvSpPr txBox="1"/>
          <p:nvPr/>
        </p:nvSpPr>
        <p:spPr>
          <a:xfrm>
            <a:off x="6190488" y="447141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What is stored, and why not audio?</a:t>
            </a:r>
            <a:endParaRPr lang="en-US" sz="1050" dirty="0"/>
          </a:p>
        </p:txBody>
      </p:sp>
      <p:sp>
        <p:nvSpPr>
          <p:cNvPr id="41" name="Text 39"/>
          <p:cNvSpPr txBox="1"/>
          <p:nvPr/>
        </p:nvSpPr>
        <p:spPr>
          <a:xfrm>
            <a:off x="6190488" y="467258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Transcript, acoustic profile, citations, per-stage timings. Audio is the most sensitive artefact and it is not needed after analysis.</a:t>
            </a:r>
            <a:endParaRPr lang="en-US" sz="950" dirty="0"/>
          </a:p>
        </p:txBody>
      </p:sp>
      <p:sp>
        <p:nvSpPr>
          <p:cNvPr id="42" name="Text 40"/>
          <p:cNvSpPr txBox="1"/>
          <p:nvPr/>
        </p:nvSpPr>
        <p:spPr>
          <a:xfrm>
            <a:off x="6190488" y="499719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What is the largest current limitation?</a:t>
            </a:r>
            <a:endParaRPr lang="en-US" sz="1050" dirty="0"/>
          </a:p>
        </p:txBody>
      </p:sp>
      <p:sp>
        <p:nvSpPr>
          <p:cNvPr id="43" name="Text 41"/>
          <p:cNvSpPr txBox="1"/>
          <p:nvPr/>
        </p:nvSpPr>
        <p:spPr>
          <a:xfrm>
            <a:off x="6190488" y="519836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M9's safety regression is unmitigated, so the fine-tune should not ship as default. And retrieval currently degrades reply quality because the corpus is Edwardian.</a:t>
            </a:r>
            <a:endParaRPr lang="en-US" sz="950" dirty="0"/>
          </a:p>
        </p:txBody>
      </p:sp>
      <p:sp>
        <p:nvSpPr>
          <p:cNvPr id="44" name="Text 42"/>
          <p:cNvSpPr txBox="1"/>
          <p:nvPr/>
        </p:nvSpPr>
        <p:spPr>
          <a:xfrm>
            <a:off x="6190488" y="5522976"/>
            <a:ext cx="5212080" cy="219456"/>
          </a:xfrm>
          <a:prstGeom prst="rect">
            <a:avLst/>
          </a:prstGeom>
          <a:noFill/>
          <a:ln/>
        </p:spPr>
        <p:txBody>
          <a:bodyPr wrap="square" lIns="0" tIns="0" rIns="0" bIns="0" rtlCol="0" anchor="t"/>
          <a:lstStyle/>
          <a:p>
            <a:pPr algn="l" indent="0" marL="0">
              <a:lnSpc>
                <a:spcPct val="120000"/>
              </a:lnSpc>
              <a:buNone/>
            </a:pPr>
            <a:r>
              <a:rPr lang="en-US" sz="1050" b="1" dirty="0">
                <a:solidFill>
                  <a:srgbClr val="F9BF29"/>
                </a:solidFill>
                <a:latin typeface="Calibri" pitchFamily="34" charset="0"/>
                <a:ea typeface="Calibri" pitchFamily="34" charset="-122"/>
                <a:cs typeface="Calibri" pitchFamily="34" charset="-120"/>
              </a:rPr>
              <a:t>What is your actual contribution?</a:t>
            </a:r>
            <a:endParaRPr lang="en-US" sz="1050" dirty="0"/>
          </a:p>
        </p:txBody>
      </p:sp>
      <p:sp>
        <p:nvSpPr>
          <p:cNvPr id="45" name="Text 43"/>
          <p:cNvSpPr txBox="1"/>
          <p:nvPr/>
        </p:nvSpPr>
        <p:spPr>
          <a:xfrm>
            <a:off x="6190488" y="5724144"/>
            <a:ext cx="5212080" cy="310896"/>
          </a:xfrm>
          <a:prstGeom prst="rect">
            <a:avLst/>
          </a:prstGeom>
          <a:noFill/>
          <a:ln/>
        </p:spPr>
        <p:txBody>
          <a:bodyPr wrap="square" lIns="0" tIns="0" rIns="0" bIns="0" rtlCol="0" anchor="t"/>
          <a:lstStyle/>
          <a:p>
            <a:pPr algn="l" indent="0" marL="0">
              <a:lnSpc>
                <a:spcPct val="110000"/>
              </a:lnSpc>
              <a:buNone/>
            </a:pPr>
            <a:r>
              <a:rPr lang="en-US" sz="950" dirty="0">
                <a:solidFill>
                  <a:srgbClr val="8CA096"/>
                </a:solidFill>
                <a:latin typeface="Calibri" pitchFamily="34" charset="0"/>
                <a:ea typeface="Calibri" pitchFamily="34" charset="-122"/>
                <a:cs typeface="Calibri" pitchFamily="34" charset="-120"/>
              </a:rPr>
              <a:t>The acoustic branch — forking raw audio before the transcript, and a frozen contract carrying the result into the prompt, the pacing and the interface — plus an evaluation discipline that caught a safety regression in our own fine-tune.</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A15</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M12 — the comparison, on three axes</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docs/M12_COMPARISON.md</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A15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91440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Two of the three axes return “not measurable” for Moshi. That is the finding, not a gap in the evaluation.</a:t>
            </a:r>
            <a:endParaRPr lang="en-US" sz="1500" dirty="0"/>
          </a:p>
        </p:txBody>
      </p:sp>
      <p:sp>
        <p:nvSpPr>
          <p:cNvPr id="11" name="Text 9"/>
          <p:cNvSpPr txBox="1"/>
          <p:nvPr/>
        </p:nvSpPr>
        <p:spPr>
          <a:xfrm>
            <a:off x="932688" y="1847088"/>
            <a:ext cx="2743200" cy="201168"/>
          </a:xfrm>
          <a:prstGeom prst="rect">
            <a:avLst/>
          </a:prstGeom>
          <a:noFill/>
          <a:ln/>
        </p:spPr>
        <p:txBody>
          <a:bodyPr wrap="square" lIns="0" tIns="0" rIns="0" bIns="0" rtlCol="0" anchor="ctr"/>
          <a:lstStyle/>
          <a:p>
            <a:pPr algn="l" indent="0" marL="0">
              <a:buNone/>
            </a:pPr>
            <a:r>
              <a:rPr lang="en-US" sz="950" b="1" spc="180" kern="0" dirty="0">
                <a:solidFill>
                  <a:srgbClr val="5D7268"/>
                </a:solidFill>
                <a:latin typeface="Courier New" pitchFamily="34" charset="0"/>
                <a:ea typeface="Courier New" pitchFamily="34" charset="-122"/>
                <a:cs typeface="Courier New" pitchFamily="34" charset="-120"/>
              </a:rPr>
              <a:t>AXIS</a:t>
            </a:r>
            <a:endParaRPr lang="en-US" sz="950" dirty="0"/>
          </a:p>
        </p:txBody>
      </p:sp>
      <p:sp>
        <p:nvSpPr>
          <p:cNvPr id="12" name="Text 10"/>
          <p:cNvSpPr txBox="1"/>
          <p:nvPr/>
        </p:nvSpPr>
        <p:spPr>
          <a:xfrm>
            <a:off x="4224528" y="1847088"/>
            <a:ext cx="3108960" cy="201168"/>
          </a:xfrm>
          <a:prstGeom prst="rect">
            <a:avLst/>
          </a:prstGeom>
          <a:noFill/>
          <a:ln/>
        </p:spPr>
        <p:txBody>
          <a:bodyPr wrap="square" lIns="0" tIns="0" rIns="0" bIns="0" rtlCol="0" anchor="ctr"/>
          <a:lstStyle/>
          <a:p>
            <a:pPr algn="l" indent="0" marL="0">
              <a:buNone/>
            </a:pPr>
            <a:r>
              <a:rPr lang="en-US" sz="950" b="1" spc="180" kern="0" dirty="0">
                <a:solidFill>
                  <a:srgbClr val="F9BF29"/>
                </a:solidFill>
                <a:latin typeface="Courier New" pitchFamily="34" charset="0"/>
                <a:ea typeface="Courier New" pitchFamily="34" charset="-122"/>
                <a:cs typeface="Courier New" pitchFamily="34" charset="-120"/>
              </a:rPr>
              <a:t>LIVE COACH  ·  MOSHI</a:t>
            </a:r>
            <a:endParaRPr lang="en-US" sz="950" dirty="0"/>
          </a:p>
        </p:txBody>
      </p:sp>
      <p:sp>
        <p:nvSpPr>
          <p:cNvPr id="13" name="Text 11"/>
          <p:cNvSpPr txBox="1"/>
          <p:nvPr/>
        </p:nvSpPr>
        <p:spPr>
          <a:xfrm>
            <a:off x="7882128" y="1847088"/>
            <a:ext cx="36576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GROUNDED KNOWLEDGE  ·  CASCADE</a:t>
            </a:r>
            <a:endParaRPr lang="en-US" sz="950" dirty="0"/>
          </a:p>
        </p:txBody>
      </p:sp>
      <p:sp>
        <p:nvSpPr>
          <p:cNvPr id="14" name="Shape 12"/>
          <p:cNvSpPr/>
          <p:nvPr/>
        </p:nvSpPr>
        <p:spPr>
          <a:xfrm>
            <a:off x="932688" y="2103120"/>
            <a:ext cx="10326319" cy="0"/>
          </a:xfrm>
          <a:prstGeom prst="line">
            <a:avLst/>
          </a:prstGeom>
          <a:noFill/>
          <a:ln w="12700">
            <a:solidFill>
              <a:srgbClr val="33463D"/>
            </a:solidFill>
            <a:prstDash val="solid"/>
          </a:ln>
        </p:spPr>
      </p:sp>
      <p:sp>
        <p:nvSpPr>
          <p:cNvPr id="15" name="Text 13"/>
          <p:cNvSpPr txBox="1"/>
          <p:nvPr/>
        </p:nvSpPr>
        <p:spPr>
          <a:xfrm>
            <a:off x="932688" y="2249424"/>
            <a:ext cx="3108960" cy="274320"/>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Latency</a:t>
            </a:r>
            <a:endParaRPr lang="en-US" sz="1300" dirty="0"/>
          </a:p>
        </p:txBody>
      </p:sp>
      <p:sp>
        <p:nvSpPr>
          <p:cNvPr id="16" name="Text 14"/>
          <p:cNvSpPr txBox="1"/>
          <p:nvPr/>
        </p:nvSpPr>
        <p:spPr>
          <a:xfrm>
            <a:off x="4224528" y="2249424"/>
            <a:ext cx="3474720" cy="603504"/>
          </a:xfrm>
          <a:prstGeom prst="rect">
            <a:avLst/>
          </a:prstGeom>
          <a:noFill/>
          <a:ln/>
        </p:spPr>
        <p:txBody>
          <a:bodyPr wrap="square" lIns="0" tIns="0" rIns="0" bIns="0" rtlCol="0" anchor="t"/>
          <a:lstStyle/>
          <a:p>
            <a:pPr algn="l" indent="0" marL="0">
              <a:lnSpc>
                <a:spcPct val="110000"/>
              </a:lnSpc>
              <a:buNone/>
            </a:pPr>
            <a:r>
              <a:rPr lang="en-US" sz="1200" b="1" dirty="0">
                <a:solidFill>
                  <a:srgbClr val="F9BF29"/>
                </a:solidFill>
                <a:latin typeface="Calibri" pitchFamily="34" charset="0"/>
                <a:ea typeface="Calibri" pitchFamily="34" charset="-122"/>
                <a:cs typeface="Calibri" pitchFamily="34" charset="-120"/>
              </a:rPr>
              <a:t>p50 2009.9 ms</a:t>
            </a:r>
            <a:endParaRPr lang="en-US" sz="1200" dirty="0"/>
          </a:p>
          <a:p>
            <a:pPr algn="l" indent="0" marL="0">
              <a:lnSpc>
                <a:spcPct val="110000"/>
              </a:lnSpc>
              <a:buNone/>
            </a:pPr>
            <a:r>
              <a:rPr lang="en-US" sz="1200" b="1" dirty="0">
                <a:solidFill>
                  <a:srgbClr val="F9BF29"/>
                </a:solidFill>
                <a:latin typeface="Calibri" pitchFamily="34" charset="0"/>
                <a:ea typeface="Calibri" pitchFamily="34" charset="-122"/>
                <a:cs typeface="Calibri" pitchFamily="34" charset="-120"/>
              </a:rPr>
              <a:t>p95 2645.0 ms</a:t>
            </a:r>
            <a:endParaRPr lang="en-US" sz="1200" dirty="0"/>
          </a:p>
        </p:txBody>
      </p:sp>
      <p:sp>
        <p:nvSpPr>
          <p:cNvPr id="17" name="Text 15"/>
          <p:cNvSpPr txBox="1"/>
          <p:nvPr/>
        </p:nvSpPr>
        <p:spPr>
          <a:xfrm>
            <a:off x="7882128" y="2249424"/>
            <a:ext cx="3840480" cy="603504"/>
          </a:xfrm>
          <a:prstGeom prst="rect">
            <a:avLst/>
          </a:prstGeom>
          <a:noFill/>
          <a:ln/>
        </p:spPr>
        <p:txBody>
          <a:bodyPr wrap="square" lIns="0" tIns="0" rIns="0" bIns="0" rtlCol="0" anchor="t"/>
          <a:lstStyle/>
          <a:p>
            <a:pPr algn="l" indent="0" marL="0">
              <a:lnSpc>
                <a:spcPct val="110000"/>
              </a:lnSpc>
              <a:buNone/>
            </a:pPr>
            <a:r>
              <a:rPr lang="en-US" sz="1200" b="1" dirty="0">
                <a:solidFill>
                  <a:srgbClr val="6F9C8A"/>
                </a:solidFill>
                <a:latin typeface="Calibri" pitchFamily="34" charset="0"/>
                <a:ea typeface="Calibri" pitchFamily="34" charset="-122"/>
                <a:cs typeface="Calibri" pitchFamily="34" charset="-120"/>
              </a:rPr>
              <a:t>conditional — see below</a:t>
            </a:r>
            <a:endParaRPr lang="en-US" sz="1200" dirty="0"/>
          </a:p>
        </p:txBody>
      </p:sp>
      <p:sp>
        <p:nvSpPr>
          <p:cNvPr id="18" name="Shape 16"/>
          <p:cNvSpPr/>
          <p:nvPr/>
        </p:nvSpPr>
        <p:spPr>
          <a:xfrm>
            <a:off x="932688" y="2889504"/>
            <a:ext cx="10326319" cy="0"/>
          </a:xfrm>
          <a:prstGeom prst="line">
            <a:avLst/>
          </a:prstGeom>
          <a:noFill/>
          <a:ln w="12700">
            <a:solidFill>
              <a:srgbClr val="223029"/>
            </a:solidFill>
            <a:prstDash val="solid"/>
          </a:ln>
        </p:spPr>
      </p:sp>
      <p:sp>
        <p:nvSpPr>
          <p:cNvPr id="19" name="Text 17"/>
          <p:cNvSpPr txBox="1"/>
          <p:nvPr/>
        </p:nvSpPr>
        <p:spPr>
          <a:xfrm>
            <a:off x="932688" y="3035808"/>
            <a:ext cx="3108960" cy="274320"/>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Dysfluency perception</a:t>
            </a:r>
            <a:endParaRPr lang="en-US" sz="1300" dirty="0"/>
          </a:p>
        </p:txBody>
      </p:sp>
      <p:sp>
        <p:nvSpPr>
          <p:cNvPr id="20" name="Text 18"/>
          <p:cNvSpPr txBox="1"/>
          <p:nvPr/>
        </p:nvSpPr>
        <p:spPr>
          <a:xfrm>
            <a:off x="4224528" y="3035808"/>
            <a:ext cx="3474720" cy="603504"/>
          </a:xfrm>
          <a:prstGeom prst="rect">
            <a:avLst/>
          </a:prstGeom>
          <a:noFill/>
          <a:ln/>
        </p:spPr>
        <p:txBody>
          <a:bodyPr wrap="square" lIns="0" tIns="0" rIns="0" bIns="0" rtlCol="0" anchor="t"/>
          <a:lstStyle/>
          <a:p>
            <a:pPr algn="l" indent="0" marL="0">
              <a:lnSpc>
                <a:spcPct val="110000"/>
              </a:lnSpc>
              <a:buNone/>
            </a:pPr>
            <a:r>
              <a:rPr lang="en-US" sz="1200" i="1" dirty="0">
                <a:solidFill>
                  <a:srgbClr val="5D7268"/>
                </a:solidFill>
                <a:latin typeface="Calibri" pitchFamily="34" charset="0"/>
                <a:ea typeface="Calibri" pitchFamily="34" charset="-122"/>
                <a:cs typeface="Calibri" pitchFamily="34" charset="-120"/>
              </a:rPr>
              <a:t>not measurable</a:t>
            </a:r>
            <a:endParaRPr lang="en-US" sz="1200" dirty="0"/>
          </a:p>
        </p:txBody>
      </p:sp>
      <p:sp>
        <p:nvSpPr>
          <p:cNvPr id="21" name="Text 19"/>
          <p:cNvSpPr txBox="1"/>
          <p:nvPr/>
        </p:nvSpPr>
        <p:spPr>
          <a:xfrm>
            <a:off x="7882128" y="3035808"/>
            <a:ext cx="3840480" cy="603504"/>
          </a:xfrm>
          <a:prstGeom prst="rect">
            <a:avLst/>
          </a:prstGeom>
          <a:noFill/>
          <a:ln/>
        </p:spPr>
        <p:txBody>
          <a:bodyPr wrap="square" lIns="0" tIns="0" rIns="0" bIns="0" rtlCol="0" anchor="t"/>
          <a:lstStyle/>
          <a:p>
            <a:pPr algn="l" indent="0" marL="0">
              <a:lnSpc>
                <a:spcPct val="110000"/>
              </a:lnSpc>
              <a:buNone/>
            </a:pPr>
            <a:r>
              <a:rPr lang="en-US" sz="1200" b="1" dirty="0">
                <a:solidFill>
                  <a:srgbClr val="6F9C8A"/>
                </a:solidFill>
                <a:latin typeface="Calibri" pitchFamily="34" charset="0"/>
                <a:ea typeface="Calibri" pitchFamily="34" charset="-122"/>
                <a:cs typeface="Calibri" pitchFamily="34" charset="-120"/>
              </a:rPr>
              <a:t>macro F1 0.612</a:t>
            </a:r>
            <a:endParaRPr lang="en-US" sz="1200" dirty="0"/>
          </a:p>
          <a:p>
            <a:pPr algn="l" indent="0" marL="0">
              <a:lnSpc>
                <a:spcPct val="110000"/>
              </a:lnSpc>
              <a:buNone/>
            </a:pPr>
            <a:r>
              <a:rPr lang="en-US" sz="1200" b="1" dirty="0">
                <a:solidFill>
                  <a:srgbClr val="6F9C8A"/>
                </a:solidFill>
                <a:latin typeface="Calibri" pitchFamily="34" charset="0"/>
                <a:ea typeface="Calibri" pitchFamily="34" charset="-122"/>
                <a:cs typeface="Calibri" pitchFamily="34" charset="-120"/>
              </a:rPr>
              <a:t>over 400 held-out clips</a:t>
            </a:r>
            <a:endParaRPr lang="en-US" sz="1200" dirty="0"/>
          </a:p>
        </p:txBody>
      </p:sp>
      <p:sp>
        <p:nvSpPr>
          <p:cNvPr id="22" name="Shape 20"/>
          <p:cNvSpPr/>
          <p:nvPr/>
        </p:nvSpPr>
        <p:spPr>
          <a:xfrm>
            <a:off x="932688" y="3675888"/>
            <a:ext cx="10326319" cy="0"/>
          </a:xfrm>
          <a:prstGeom prst="line">
            <a:avLst/>
          </a:prstGeom>
          <a:noFill/>
          <a:ln w="12700">
            <a:solidFill>
              <a:srgbClr val="223029"/>
            </a:solidFill>
            <a:prstDash val="solid"/>
          </a:ln>
        </p:spPr>
      </p:sp>
      <p:sp>
        <p:nvSpPr>
          <p:cNvPr id="23" name="Text 21"/>
          <p:cNvSpPr txBox="1"/>
          <p:nvPr/>
        </p:nvSpPr>
        <p:spPr>
          <a:xfrm>
            <a:off x="932688" y="3822192"/>
            <a:ext cx="3108960" cy="274320"/>
          </a:xfrm>
          <a:prstGeom prst="rect">
            <a:avLst/>
          </a:prstGeom>
          <a:noFill/>
          <a:ln/>
        </p:spPr>
        <p:txBody>
          <a:bodyPr wrap="square" lIns="0" tIns="0" rIns="0" bIns="0" rtlCol="0" anchor="t"/>
          <a:lstStyle/>
          <a:p>
            <a:pPr algn="l" indent="0" marL="0">
              <a:lnSpc>
                <a:spcPct val="120000"/>
              </a:lnSpc>
              <a:buNone/>
            </a:pPr>
            <a:r>
              <a:rPr lang="en-US" sz="1300" b="1" dirty="0">
                <a:solidFill>
                  <a:srgbClr val="EFF2F1"/>
                </a:solidFill>
                <a:latin typeface="Calibri" pitchFamily="34" charset="0"/>
                <a:ea typeface="Calibri" pitchFamily="34" charset="-122"/>
                <a:cs typeface="Calibri" pitchFamily="34" charset="-120"/>
              </a:rPr>
              <a:t>Groundedness</a:t>
            </a:r>
            <a:endParaRPr lang="en-US" sz="1300" dirty="0"/>
          </a:p>
        </p:txBody>
      </p:sp>
      <p:sp>
        <p:nvSpPr>
          <p:cNvPr id="24" name="Text 22"/>
          <p:cNvSpPr txBox="1"/>
          <p:nvPr/>
        </p:nvSpPr>
        <p:spPr>
          <a:xfrm>
            <a:off x="4224528" y="3822192"/>
            <a:ext cx="3474720" cy="603504"/>
          </a:xfrm>
          <a:prstGeom prst="rect">
            <a:avLst/>
          </a:prstGeom>
          <a:noFill/>
          <a:ln/>
        </p:spPr>
        <p:txBody>
          <a:bodyPr wrap="square" lIns="0" tIns="0" rIns="0" bIns="0" rtlCol="0" anchor="t"/>
          <a:lstStyle/>
          <a:p>
            <a:pPr algn="l" indent="0" marL="0">
              <a:lnSpc>
                <a:spcPct val="110000"/>
              </a:lnSpc>
              <a:buNone/>
            </a:pPr>
            <a:r>
              <a:rPr lang="en-US" sz="1200" i="1" dirty="0">
                <a:solidFill>
                  <a:srgbClr val="5D7268"/>
                </a:solidFill>
                <a:latin typeface="Calibri" pitchFamily="34" charset="0"/>
                <a:ea typeface="Calibri" pitchFamily="34" charset="-122"/>
                <a:cs typeface="Calibri" pitchFamily="34" charset="-120"/>
              </a:rPr>
              <a:t>not measurable</a:t>
            </a:r>
            <a:endParaRPr lang="en-US" sz="1200" dirty="0"/>
          </a:p>
        </p:txBody>
      </p:sp>
      <p:sp>
        <p:nvSpPr>
          <p:cNvPr id="25" name="Text 23"/>
          <p:cNvSpPr txBox="1"/>
          <p:nvPr/>
        </p:nvSpPr>
        <p:spPr>
          <a:xfrm>
            <a:off x="7882128" y="3822192"/>
            <a:ext cx="3840480" cy="603504"/>
          </a:xfrm>
          <a:prstGeom prst="rect">
            <a:avLst/>
          </a:prstGeom>
          <a:noFill/>
          <a:ln/>
        </p:spPr>
        <p:txBody>
          <a:bodyPr wrap="square" lIns="0" tIns="0" rIns="0" bIns="0" rtlCol="0" anchor="t"/>
          <a:lstStyle/>
          <a:p>
            <a:pPr algn="l" indent="0" marL="0">
              <a:lnSpc>
                <a:spcPct val="110000"/>
              </a:lnSpc>
              <a:buNone/>
            </a:pPr>
            <a:r>
              <a:rPr lang="en-US" sz="1200" b="1" dirty="0">
                <a:solidFill>
                  <a:srgbClr val="6F9C8A"/>
                </a:solidFill>
                <a:latin typeface="Calibri" pitchFamily="34" charset="0"/>
                <a:ea typeface="Calibri" pitchFamily="34" charset="-122"/>
                <a:cs typeface="Calibri" pitchFamily="34" charset="-120"/>
              </a:rPr>
              <a:t>100% in-corpus</a:t>
            </a:r>
            <a:endParaRPr lang="en-US" sz="1200" dirty="0"/>
          </a:p>
          <a:p>
            <a:pPr algn="l" indent="0" marL="0">
              <a:lnSpc>
                <a:spcPct val="110000"/>
              </a:lnSpc>
              <a:buNone/>
            </a:pPr>
            <a:r>
              <a:rPr lang="en-US" sz="1200" b="1" dirty="0">
                <a:solidFill>
                  <a:srgbClr val="6F9C8A"/>
                </a:solidFill>
                <a:latin typeface="Calibri" pitchFamily="34" charset="0"/>
                <a:ea typeface="Calibri" pitchFamily="34" charset="-122"/>
                <a:cs typeface="Calibri" pitchFamily="34" charset="-120"/>
              </a:rPr>
              <a:t>0% out-of-corpus</a:t>
            </a:r>
            <a:endParaRPr lang="en-US" sz="1200" dirty="0"/>
          </a:p>
        </p:txBody>
      </p:sp>
      <p:sp>
        <p:nvSpPr>
          <p:cNvPr id="26" name="Shape 24"/>
          <p:cNvSpPr/>
          <p:nvPr/>
        </p:nvSpPr>
        <p:spPr>
          <a:xfrm>
            <a:off x="658368" y="4736592"/>
            <a:ext cx="5321808" cy="1298448"/>
          </a:xfrm>
          <a:prstGeom prst="roundRect">
            <a:avLst>
              <a:gd name="adj" fmla="val 11268"/>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27" name="Text 25"/>
          <p:cNvSpPr txBox="1"/>
          <p:nvPr/>
        </p:nvSpPr>
        <p:spPr>
          <a:xfrm>
            <a:off x="877824" y="4846320"/>
            <a:ext cx="4882896" cy="237744"/>
          </a:xfrm>
          <a:prstGeom prst="rect">
            <a:avLst/>
          </a:prstGeom>
          <a:noFill/>
          <a:ln/>
        </p:spPr>
        <p:txBody>
          <a:bodyPr wrap="square" lIns="0" tIns="0" rIns="0" bIns="0" rtlCol="0" anchor="t"/>
          <a:lstStyle/>
          <a:p>
            <a:pPr algn="l" indent="0" marL="0">
              <a:lnSpc>
                <a:spcPct val="120000"/>
              </a:lnSpc>
              <a:buNone/>
            </a:pPr>
            <a:r>
              <a:rPr lang="en-US" sz="1200" b="1" dirty="0">
                <a:solidFill>
                  <a:srgbClr val="6F9C8A"/>
                </a:solidFill>
                <a:latin typeface="Calibri" pitchFamily="34" charset="0"/>
                <a:ea typeface="Calibri" pitchFamily="34" charset="-122"/>
                <a:cs typeface="Calibri" pitchFamily="34" charset="-120"/>
              </a:rPr>
              <a:t>Why Moshi cannot be scored on the last two</a:t>
            </a:r>
            <a:endParaRPr lang="en-US" sz="1200" dirty="0"/>
          </a:p>
        </p:txBody>
      </p:sp>
      <p:sp>
        <p:nvSpPr>
          <p:cNvPr id="28" name="Text 26"/>
          <p:cNvSpPr txBox="1"/>
          <p:nvPr/>
        </p:nvSpPr>
        <p:spPr>
          <a:xfrm>
            <a:off x="877824" y="5102352"/>
            <a:ext cx="4882896" cy="877824"/>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It consumes and emits audio tokens end to end, so no intermediate representation of what kind of dysfluency occurred and when exists. Its only text output is the Inner Monologue, a transcript of words. And it has no retrieval stage, so nothing to ground against or cite. Running the cascade's own classifier over Moshi's output would measure the classifier twice.</a:t>
            </a:r>
            <a:endParaRPr lang="en-US" sz="950" dirty="0"/>
          </a:p>
        </p:txBody>
      </p:sp>
      <p:sp>
        <p:nvSpPr>
          <p:cNvPr id="29" name="Shape 27"/>
          <p:cNvSpPr/>
          <p:nvPr/>
        </p:nvSpPr>
        <p:spPr>
          <a:xfrm>
            <a:off x="6208776" y="4736592"/>
            <a:ext cx="5321808" cy="1298448"/>
          </a:xfrm>
          <a:prstGeom prst="roundRect">
            <a:avLst>
              <a:gd name="adj" fmla="val 11268"/>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30" name="Text 28"/>
          <p:cNvSpPr txBox="1"/>
          <p:nvPr/>
        </p:nvSpPr>
        <p:spPr>
          <a:xfrm>
            <a:off x="6428232" y="4846320"/>
            <a:ext cx="4882896" cy="237744"/>
          </a:xfrm>
          <a:prstGeom prst="rect">
            <a:avLst/>
          </a:prstGeom>
          <a:noFill/>
          <a:ln/>
        </p:spPr>
        <p:txBody>
          <a:bodyPr wrap="square" lIns="0" tIns="0" rIns="0" bIns="0" rtlCol="0" anchor="t"/>
          <a:lstStyle/>
          <a:p>
            <a:pPr algn="l" indent="0" marL="0">
              <a:lnSpc>
                <a:spcPct val="120000"/>
              </a:lnSpc>
              <a:buNone/>
            </a:pPr>
            <a:r>
              <a:rPr lang="en-US" sz="1200" b="1" dirty="0">
                <a:solidFill>
                  <a:srgbClr val="F9BF29"/>
                </a:solidFill>
                <a:latin typeface="Calibri" pitchFamily="34" charset="0"/>
                <a:ea typeface="Calibri" pitchFamily="34" charset="-122"/>
                <a:cs typeface="Calibri" pitchFamily="34" charset="-120"/>
              </a:rPr>
              <a:t>Why the latency row is conditional</a:t>
            </a:r>
            <a:endParaRPr lang="en-US" sz="1200" dirty="0"/>
          </a:p>
        </p:txBody>
      </p:sp>
      <p:sp>
        <p:nvSpPr>
          <p:cNvPr id="31" name="Text 29"/>
          <p:cNvSpPr txBox="1"/>
          <p:nvPr/>
        </p:nvSpPr>
        <p:spPr>
          <a:xfrm>
            <a:off x="6428232" y="5102352"/>
            <a:ext cx="4882896" cy="877824"/>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The cascade's LLM stage swings 43× on the serving build (~57 s CPU → ~1.4 s CUDA 13.3). With the GPU free the cascade is competitive with or faster than Moshi; with Moshi resident it falls back to CPU. The two modes contend for one 8 GB card, and that — not either model's intrinsic speed — governs latency in the shipped product.</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347472"/>
            <a:ext cx="10874959" cy="219456"/>
          </a:xfrm>
          <a:prstGeom prst="rect">
            <a:avLst/>
          </a:prstGeom>
          <a:noFill/>
          <a:ln/>
        </p:spPr>
        <p:txBody>
          <a:bodyPr wrap="square" lIns="0" tIns="0" rIns="0" bIns="0" rtlCol="0" anchor="ctr"/>
          <a:lstStyle/>
          <a:p>
            <a:pPr indent="0" marL="0">
              <a:buNone/>
            </a:pPr>
            <a:r>
              <a:rPr lang="en-US" sz="1050" b="1" spc="240" kern="0" dirty="0">
                <a:solidFill>
                  <a:srgbClr val="6F9C8A"/>
                </a:solidFill>
                <a:latin typeface="Courier New" pitchFamily="34" charset="0"/>
                <a:ea typeface="Courier New" pitchFamily="34" charset="-122"/>
                <a:cs typeface="Courier New" pitchFamily="34" charset="-120"/>
              </a:rPr>
              <a:t>APPENDIX A16</a:t>
            </a:r>
            <a:endParaRPr lang="en-US" sz="1050" dirty="0"/>
          </a:p>
        </p:txBody>
      </p:sp>
      <p:sp>
        <p:nvSpPr>
          <p:cNvPr id="3" name="Text 1"/>
          <p:cNvSpPr txBox="1"/>
          <p:nvPr/>
        </p:nvSpPr>
        <p:spPr>
          <a:xfrm>
            <a:off x="658368" y="640080"/>
            <a:ext cx="10874959" cy="749808"/>
          </a:xfrm>
          <a:prstGeom prst="rect">
            <a:avLst/>
          </a:prstGeom>
          <a:noFill/>
          <a:ln/>
        </p:spPr>
        <p:txBody>
          <a:bodyPr wrap="square" lIns="0" tIns="0" rIns="0" bIns="0" rtlCol="0" anchor="t"/>
          <a:lstStyle/>
          <a:p>
            <a:pPr indent="0" marL="0">
              <a:lnSpc>
                <a:spcPct val="103000"/>
              </a:lnSpc>
              <a:buNone/>
            </a:pPr>
            <a:r>
              <a:rPr lang="en-US" sz="2800" b="1" dirty="0">
                <a:solidFill>
                  <a:srgbClr val="EFF2F1"/>
                </a:solidFill>
                <a:latin typeface="Arial" pitchFamily="34" charset="0"/>
                <a:ea typeface="Arial" pitchFamily="34" charset="-122"/>
                <a:cs typeface="Arial" pitchFamily="34" charset="-120"/>
              </a:rPr>
              <a:t>Latency, stage by stage</a:t>
            </a:r>
            <a:endParaRPr lang="en-US" sz="2800" dirty="0"/>
          </a:p>
        </p:txBody>
      </p:sp>
      <p:sp>
        <p:nvSpPr>
          <p:cNvPr id="4" name="Shape 2"/>
          <p:cNvSpPr/>
          <p:nvPr/>
        </p:nvSpPr>
        <p:spPr>
          <a:xfrm>
            <a:off x="658368" y="6272784"/>
            <a:ext cx="10874959" cy="0"/>
          </a:xfrm>
          <a:prstGeom prst="line">
            <a:avLst/>
          </a:prstGeom>
          <a:noFill/>
          <a:ln w="12700">
            <a:solidFill>
              <a:srgbClr val="223029"/>
            </a:solidFill>
            <a:prstDash val="solid"/>
          </a:ln>
        </p:spPr>
      </p:sp>
      <p:sp>
        <p:nvSpPr>
          <p:cNvPr id="5" name="Text 3"/>
          <p:cNvSpPr txBox="1"/>
          <p:nvPr/>
        </p:nvSpPr>
        <p:spPr>
          <a:xfrm>
            <a:off x="658368" y="6345936"/>
            <a:ext cx="5486400" cy="237744"/>
          </a:xfrm>
          <a:prstGeom prst="rect">
            <a:avLst/>
          </a:prstGeom>
          <a:noFill/>
          <a:ln/>
        </p:spPr>
        <p:txBody>
          <a:bodyPr wrap="square" lIns="0" tIns="0" rIns="0" bIns="0" rtlCol="0" anchor="ctr"/>
          <a:lstStyle/>
          <a:p>
            <a:pPr indent="0" marL="0">
              <a:buNone/>
            </a:pPr>
            <a:r>
              <a:rPr lang="en-US" sz="900" b="1" spc="160" kern="0" dirty="0">
                <a:solidFill>
                  <a:srgbClr val="5D7268"/>
                </a:solidFill>
                <a:latin typeface="Courier New" pitchFamily="34" charset="0"/>
                <a:ea typeface="Courier New" pitchFamily="34" charset="-122"/>
                <a:cs typeface="Courier New" pitchFamily="34" charset="-120"/>
              </a:rPr>
              <a:t>APPENDIX  ·  NOT PART OF THE 30 MINUTES</a:t>
            </a:r>
            <a:endParaRPr lang="en-US" sz="900" dirty="0"/>
          </a:p>
        </p:txBody>
      </p:sp>
      <p:sp>
        <p:nvSpPr>
          <p:cNvPr id="6" name="Text 4"/>
          <p:cNvSpPr txBox="1"/>
          <p:nvPr/>
        </p:nvSpPr>
        <p:spPr>
          <a:xfrm>
            <a:off x="4206240" y="6345936"/>
            <a:ext cx="5577840" cy="237744"/>
          </a:xfrm>
          <a:prstGeom prst="rect">
            <a:avLst/>
          </a:prstGeom>
          <a:noFill/>
          <a:ln/>
        </p:spPr>
        <p:txBody>
          <a:bodyPr wrap="square" lIns="0" tIns="0" rIns="0" bIns="0" rtlCol="0" anchor="ctr"/>
          <a:lstStyle/>
          <a:p>
            <a:pPr algn="r" indent="0" marL="0">
              <a:buNone/>
            </a:pPr>
            <a:r>
              <a:rPr lang="en-US" sz="850" dirty="0">
                <a:solidFill>
                  <a:srgbClr val="5D7268"/>
                </a:solidFill>
                <a:latin typeface="Courier New" pitchFamily="34" charset="0"/>
                <a:ea typeface="Courier New" pitchFamily="34" charset="-122"/>
                <a:cs typeface="Courier New" pitchFamily="34" charset="-120"/>
              </a:rPr>
              <a:t>backend/scripts/bench_latency.py  ·  docs/REPORT.md §9.3</a:t>
            </a:r>
            <a:endParaRPr lang="en-US" sz="850" dirty="0"/>
          </a:p>
        </p:txBody>
      </p:sp>
      <p:sp>
        <p:nvSpPr>
          <p:cNvPr id="7" name="Text 5"/>
          <p:cNvSpPr txBox="1"/>
          <p:nvPr/>
        </p:nvSpPr>
        <p:spPr>
          <a:xfrm>
            <a:off x="9966960" y="6345936"/>
            <a:ext cx="1188720" cy="237744"/>
          </a:xfrm>
          <a:prstGeom prst="rect">
            <a:avLst/>
          </a:prstGeom>
          <a:noFill/>
          <a:ln/>
        </p:spPr>
        <p:txBody>
          <a:bodyPr wrap="square" lIns="0" tIns="0" rIns="0" bIns="0" rtlCol="0" anchor="ctr"/>
          <a:lstStyle/>
          <a:p>
            <a:pPr algn="r" indent="0" marL="0">
              <a:buNone/>
            </a:pPr>
            <a:r>
              <a:rPr lang="en-US" sz="950" dirty="0">
                <a:solidFill>
                  <a:srgbClr val="8CA096"/>
                </a:solidFill>
                <a:latin typeface="Courier New" pitchFamily="34" charset="0"/>
                <a:ea typeface="Courier New" pitchFamily="34" charset="-122"/>
                <a:cs typeface="Courier New" pitchFamily="34" charset="-120"/>
              </a:rPr>
              <a:t>A16 / 16</a:t>
            </a:r>
            <a:endParaRPr lang="en-US" sz="950" dirty="0"/>
          </a:p>
        </p:txBody>
      </p:sp>
      <p:sp>
        <p:nvSpPr>
          <p:cNvPr id="8" name="Shape 6"/>
          <p:cNvSpPr/>
          <p:nvPr/>
        </p:nvSpPr>
        <p:spPr>
          <a:xfrm>
            <a:off x="11236696" y="6326368"/>
            <a:ext cx="286024" cy="286024"/>
          </a:xfrm>
          <a:prstGeom prst="ellipse">
            <a:avLst/>
          </a:prstGeom>
          <a:solidFill>
            <a:srgbClr val="FFD35C">
              <a:alpha val="8000"/>
            </a:srgbClr>
          </a:solidFill>
          <a:ln w="9525">
            <a:solidFill>
              <a:srgbClr val="33463D"/>
            </a:solidFill>
            <a:prstDash val="solid"/>
          </a:ln>
        </p:spPr>
      </p:sp>
      <p:sp>
        <p:nvSpPr>
          <p:cNvPr id="9" name="Shape 7"/>
          <p:cNvSpPr/>
          <p:nvPr/>
        </p:nvSpPr>
        <p:spPr>
          <a:xfrm>
            <a:off x="11301984" y="6391656"/>
            <a:ext cx="155448" cy="155448"/>
          </a:xfrm>
          <a:prstGeom prst="ellipse">
            <a:avLst/>
          </a:prstGeom>
          <a:solidFill>
            <a:srgbClr val="F9BF29"/>
          </a:solidFill>
          <a:ln/>
        </p:spPr>
      </p:sp>
      <p:sp>
        <p:nvSpPr>
          <p:cNvPr id="10" name="Text 8"/>
          <p:cNvSpPr txBox="1"/>
          <p:nvPr/>
        </p:nvSpPr>
        <p:spPr>
          <a:xfrm>
            <a:off x="658368" y="1316736"/>
            <a:ext cx="9144000" cy="457200"/>
          </a:xfrm>
          <a:prstGeom prst="rect">
            <a:avLst/>
          </a:prstGeom>
          <a:noFill/>
          <a:ln/>
        </p:spPr>
        <p:txBody>
          <a:bodyPr wrap="square" lIns="0" tIns="0" rIns="0" bIns="0" rtlCol="0" anchor="t"/>
          <a:lstStyle/>
          <a:p>
            <a:pPr indent="0" marL="0">
              <a:lnSpc>
                <a:spcPct val="116000"/>
              </a:lnSpc>
              <a:buNone/>
            </a:pPr>
            <a:r>
              <a:rPr lang="en-US" sz="1500" dirty="0">
                <a:solidFill>
                  <a:srgbClr val="8CA096"/>
                </a:solidFill>
                <a:latin typeface="Calibri" pitchFamily="34" charset="0"/>
                <a:ea typeface="Calibri" pitchFamily="34" charset="-122"/>
                <a:cs typeface="Calibri" pitchFamily="34" charset="-120"/>
              </a:rPr>
              <a:t>The per-stage picture behind slide 24, on the CPU serving build the project documents as its default.</a:t>
            </a:r>
            <a:endParaRPr lang="en-US" sz="1500" dirty="0"/>
          </a:p>
        </p:txBody>
      </p:sp>
      <p:sp>
        <p:nvSpPr>
          <p:cNvPr id="11" name="Shape 9"/>
          <p:cNvSpPr/>
          <p:nvPr/>
        </p:nvSpPr>
        <p:spPr>
          <a:xfrm>
            <a:off x="658368" y="1847088"/>
            <a:ext cx="10874959" cy="2377440"/>
          </a:xfrm>
          <a:prstGeom prst="roundRect">
            <a:avLst>
              <a:gd name="adj" fmla="val 6154"/>
            </a:avLst>
          </a:prstGeom>
          <a:solidFill>
            <a:srgbClr val="141D19">
              <a:alpha val="8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12" name="Text 10"/>
          <p:cNvSpPr txBox="1"/>
          <p:nvPr/>
        </p:nvSpPr>
        <p:spPr>
          <a:xfrm>
            <a:off x="932688" y="1993392"/>
            <a:ext cx="5486400" cy="201168"/>
          </a:xfrm>
          <a:prstGeom prst="rect">
            <a:avLst/>
          </a:prstGeom>
          <a:noFill/>
          <a:ln/>
        </p:spPr>
        <p:txBody>
          <a:bodyPr wrap="square" lIns="0" tIns="0" rIns="0" bIns="0" rtlCol="0" anchor="ctr"/>
          <a:lstStyle/>
          <a:p>
            <a:pPr algn="l" indent="0" marL="0">
              <a:buNone/>
            </a:pPr>
            <a:r>
              <a:rPr lang="en-US" sz="950" b="1" spc="180" kern="0" dirty="0">
                <a:solidFill>
                  <a:srgbClr val="6F9C8A"/>
                </a:solidFill>
                <a:latin typeface="Courier New" pitchFamily="34" charset="0"/>
                <a:ea typeface="Courier New" pitchFamily="34" charset="-122"/>
                <a:cs typeface="Courier New" pitchFamily="34" charset="-120"/>
              </a:rPr>
              <a:t>ONE TURN, WARM, CPU BUILD</a:t>
            </a:r>
            <a:endParaRPr lang="en-US" sz="950" dirty="0"/>
          </a:p>
        </p:txBody>
      </p:sp>
      <p:sp>
        <p:nvSpPr>
          <p:cNvPr id="13" name="Shape 11"/>
          <p:cNvSpPr/>
          <p:nvPr/>
        </p:nvSpPr>
        <p:spPr>
          <a:xfrm>
            <a:off x="3584448" y="2249424"/>
            <a:ext cx="0" cy="1572768"/>
          </a:xfrm>
          <a:prstGeom prst="line">
            <a:avLst/>
          </a:prstGeom>
          <a:noFill/>
          <a:ln w="12700">
            <a:solidFill>
              <a:srgbClr val="223029"/>
            </a:solidFill>
            <a:prstDash val="solid"/>
          </a:ln>
        </p:spPr>
      </p:sp>
      <p:sp>
        <p:nvSpPr>
          <p:cNvPr id="14" name="Text 12"/>
          <p:cNvSpPr txBox="1"/>
          <p:nvPr/>
        </p:nvSpPr>
        <p:spPr>
          <a:xfrm>
            <a:off x="3364992" y="3840480"/>
            <a:ext cx="438912" cy="182880"/>
          </a:xfrm>
          <a:prstGeom prst="rect">
            <a:avLst/>
          </a:prstGeom>
          <a:noFill/>
          <a:ln/>
        </p:spPr>
        <p:txBody>
          <a:bodyPr wrap="square" lIns="0" tIns="0" rIns="0" bIns="0" rtlCol="0" anchor="ctr"/>
          <a:lstStyle/>
          <a:p>
            <a:pPr algn="ctr" indent="0" marL="0">
              <a:buNone/>
            </a:pPr>
            <a:r>
              <a:rPr lang="en-US" sz="800" dirty="0">
                <a:solidFill>
                  <a:srgbClr val="5D7268"/>
                </a:solidFill>
                <a:latin typeface="Courier New" pitchFamily="34" charset="0"/>
                <a:ea typeface="Courier New" pitchFamily="34" charset="-122"/>
                <a:cs typeface="Courier New" pitchFamily="34" charset="-120"/>
              </a:rPr>
              <a:t>0s</a:t>
            </a:r>
            <a:endParaRPr lang="en-US" sz="800" dirty="0"/>
          </a:p>
        </p:txBody>
      </p:sp>
      <p:sp>
        <p:nvSpPr>
          <p:cNvPr id="15" name="Shape 13"/>
          <p:cNvSpPr/>
          <p:nvPr/>
        </p:nvSpPr>
        <p:spPr>
          <a:xfrm>
            <a:off x="4741621" y="2249424"/>
            <a:ext cx="0" cy="1572768"/>
          </a:xfrm>
          <a:prstGeom prst="line">
            <a:avLst/>
          </a:prstGeom>
          <a:noFill/>
          <a:ln w="12700">
            <a:solidFill>
              <a:srgbClr val="223029"/>
            </a:solidFill>
            <a:prstDash val="solid"/>
          </a:ln>
        </p:spPr>
      </p:sp>
      <p:sp>
        <p:nvSpPr>
          <p:cNvPr id="16" name="Text 14"/>
          <p:cNvSpPr txBox="1"/>
          <p:nvPr/>
        </p:nvSpPr>
        <p:spPr>
          <a:xfrm>
            <a:off x="4522165" y="3840480"/>
            <a:ext cx="438912" cy="182880"/>
          </a:xfrm>
          <a:prstGeom prst="rect">
            <a:avLst/>
          </a:prstGeom>
          <a:noFill/>
          <a:ln/>
        </p:spPr>
        <p:txBody>
          <a:bodyPr wrap="square" lIns="0" tIns="0" rIns="0" bIns="0" rtlCol="0" anchor="ctr"/>
          <a:lstStyle/>
          <a:p>
            <a:pPr algn="ctr" indent="0" marL="0">
              <a:buNone/>
            </a:pPr>
            <a:r>
              <a:rPr lang="en-US" sz="800" dirty="0">
                <a:solidFill>
                  <a:srgbClr val="5D7268"/>
                </a:solidFill>
                <a:latin typeface="Courier New" pitchFamily="34" charset="0"/>
                <a:ea typeface="Courier New" pitchFamily="34" charset="-122"/>
                <a:cs typeface="Courier New" pitchFamily="34" charset="-120"/>
              </a:rPr>
              <a:t>5s</a:t>
            </a:r>
            <a:endParaRPr lang="en-US" sz="800" dirty="0"/>
          </a:p>
        </p:txBody>
      </p:sp>
      <p:sp>
        <p:nvSpPr>
          <p:cNvPr id="17" name="Shape 15"/>
          <p:cNvSpPr/>
          <p:nvPr/>
        </p:nvSpPr>
        <p:spPr>
          <a:xfrm>
            <a:off x="5898794" y="2249424"/>
            <a:ext cx="0" cy="1572768"/>
          </a:xfrm>
          <a:prstGeom prst="line">
            <a:avLst/>
          </a:prstGeom>
          <a:noFill/>
          <a:ln w="12700">
            <a:solidFill>
              <a:srgbClr val="223029"/>
            </a:solidFill>
            <a:prstDash val="solid"/>
          </a:ln>
        </p:spPr>
      </p:sp>
      <p:sp>
        <p:nvSpPr>
          <p:cNvPr id="18" name="Text 16"/>
          <p:cNvSpPr txBox="1"/>
          <p:nvPr/>
        </p:nvSpPr>
        <p:spPr>
          <a:xfrm>
            <a:off x="5679338" y="3840480"/>
            <a:ext cx="438912" cy="182880"/>
          </a:xfrm>
          <a:prstGeom prst="rect">
            <a:avLst/>
          </a:prstGeom>
          <a:noFill/>
          <a:ln/>
        </p:spPr>
        <p:txBody>
          <a:bodyPr wrap="square" lIns="0" tIns="0" rIns="0" bIns="0" rtlCol="0" anchor="ctr"/>
          <a:lstStyle/>
          <a:p>
            <a:pPr algn="ctr" indent="0" marL="0">
              <a:buNone/>
            </a:pPr>
            <a:r>
              <a:rPr lang="en-US" sz="800" dirty="0">
                <a:solidFill>
                  <a:srgbClr val="5D7268"/>
                </a:solidFill>
                <a:latin typeface="Courier New" pitchFamily="34" charset="0"/>
                <a:ea typeface="Courier New" pitchFamily="34" charset="-122"/>
                <a:cs typeface="Courier New" pitchFamily="34" charset="-120"/>
              </a:rPr>
              <a:t>10s</a:t>
            </a:r>
            <a:endParaRPr lang="en-US" sz="800" dirty="0"/>
          </a:p>
        </p:txBody>
      </p:sp>
      <p:sp>
        <p:nvSpPr>
          <p:cNvPr id="19" name="Shape 17"/>
          <p:cNvSpPr/>
          <p:nvPr/>
        </p:nvSpPr>
        <p:spPr>
          <a:xfrm>
            <a:off x="7055968" y="2249424"/>
            <a:ext cx="0" cy="1572768"/>
          </a:xfrm>
          <a:prstGeom prst="line">
            <a:avLst/>
          </a:prstGeom>
          <a:noFill/>
          <a:ln w="12700">
            <a:solidFill>
              <a:srgbClr val="223029"/>
            </a:solidFill>
            <a:prstDash val="solid"/>
          </a:ln>
        </p:spPr>
      </p:sp>
      <p:sp>
        <p:nvSpPr>
          <p:cNvPr id="20" name="Text 18"/>
          <p:cNvSpPr txBox="1"/>
          <p:nvPr/>
        </p:nvSpPr>
        <p:spPr>
          <a:xfrm>
            <a:off x="6836512" y="3840480"/>
            <a:ext cx="438912" cy="182880"/>
          </a:xfrm>
          <a:prstGeom prst="rect">
            <a:avLst/>
          </a:prstGeom>
          <a:noFill/>
          <a:ln/>
        </p:spPr>
        <p:txBody>
          <a:bodyPr wrap="square" lIns="0" tIns="0" rIns="0" bIns="0" rtlCol="0" anchor="ctr"/>
          <a:lstStyle/>
          <a:p>
            <a:pPr algn="ctr" indent="0" marL="0">
              <a:buNone/>
            </a:pPr>
            <a:r>
              <a:rPr lang="en-US" sz="800" dirty="0">
                <a:solidFill>
                  <a:srgbClr val="5D7268"/>
                </a:solidFill>
                <a:latin typeface="Courier New" pitchFamily="34" charset="0"/>
                <a:ea typeface="Courier New" pitchFamily="34" charset="-122"/>
                <a:cs typeface="Courier New" pitchFamily="34" charset="-120"/>
              </a:rPr>
              <a:t>15s</a:t>
            </a:r>
            <a:endParaRPr lang="en-US" sz="800" dirty="0"/>
          </a:p>
        </p:txBody>
      </p:sp>
      <p:sp>
        <p:nvSpPr>
          <p:cNvPr id="21" name="Shape 19"/>
          <p:cNvSpPr/>
          <p:nvPr/>
        </p:nvSpPr>
        <p:spPr>
          <a:xfrm>
            <a:off x="8213141" y="2249424"/>
            <a:ext cx="0" cy="1572768"/>
          </a:xfrm>
          <a:prstGeom prst="line">
            <a:avLst/>
          </a:prstGeom>
          <a:noFill/>
          <a:ln w="12700">
            <a:solidFill>
              <a:srgbClr val="223029"/>
            </a:solidFill>
            <a:prstDash val="solid"/>
          </a:ln>
        </p:spPr>
      </p:sp>
      <p:sp>
        <p:nvSpPr>
          <p:cNvPr id="22" name="Text 20"/>
          <p:cNvSpPr txBox="1"/>
          <p:nvPr/>
        </p:nvSpPr>
        <p:spPr>
          <a:xfrm>
            <a:off x="7993685" y="3840480"/>
            <a:ext cx="438912" cy="182880"/>
          </a:xfrm>
          <a:prstGeom prst="rect">
            <a:avLst/>
          </a:prstGeom>
          <a:noFill/>
          <a:ln/>
        </p:spPr>
        <p:txBody>
          <a:bodyPr wrap="square" lIns="0" tIns="0" rIns="0" bIns="0" rtlCol="0" anchor="ctr"/>
          <a:lstStyle/>
          <a:p>
            <a:pPr algn="ctr" indent="0" marL="0">
              <a:buNone/>
            </a:pPr>
            <a:r>
              <a:rPr lang="en-US" sz="800" dirty="0">
                <a:solidFill>
                  <a:srgbClr val="5D7268"/>
                </a:solidFill>
                <a:latin typeface="Courier New" pitchFamily="34" charset="0"/>
                <a:ea typeface="Courier New" pitchFamily="34" charset="-122"/>
                <a:cs typeface="Courier New" pitchFamily="34" charset="-120"/>
              </a:rPr>
              <a:t>20s</a:t>
            </a:r>
            <a:endParaRPr lang="en-US" sz="800" dirty="0"/>
          </a:p>
        </p:txBody>
      </p:sp>
      <p:sp>
        <p:nvSpPr>
          <p:cNvPr id="23" name="Shape 21"/>
          <p:cNvSpPr/>
          <p:nvPr/>
        </p:nvSpPr>
        <p:spPr>
          <a:xfrm>
            <a:off x="9370314" y="2249424"/>
            <a:ext cx="0" cy="1572768"/>
          </a:xfrm>
          <a:prstGeom prst="line">
            <a:avLst/>
          </a:prstGeom>
          <a:noFill/>
          <a:ln w="12700">
            <a:solidFill>
              <a:srgbClr val="223029"/>
            </a:solidFill>
            <a:prstDash val="solid"/>
          </a:ln>
        </p:spPr>
      </p:sp>
      <p:sp>
        <p:nvSpPr>
          <p:cNvPr id="24" name="Text 22"/>
          <p:cNvSpPr txBox="1"/>
          <p:nvPr/>
        </p:nvSpPr>
        <p:spPr>
          <a:xfrm>
            <a:off x="9150858" y="3840480"/>
            <a:ext cx="438912" cy="182880"/>
          </a:xfrm>
          <a:prstGeom prst="rect">
            <a:avLst/>
          </a:prstGeom>
          <a:noFill/>
          <a:ln/>
        </p:spPr>
        <p:txBody>
          <a:bodyPr wrap="square" lIns="0" tIns="0" rIns="0" bIns="0" rtlCol="0" anchor="ctr"/>
          <a:lstStyle/>
          <a:p>
            <a:pPr algn="ctr" indent="0" marL="0">
              <a:buNone/>
            </a:pPr>
            <a:r>
              <a:rPr lang="en-US" sz="800" dirty="0">
                <a:solidFill>
                  <a:srgbClr val="5D7268"/>
                </a:solidFill>
                <a:latin typeface="Courier New" pitchFamily="34" charset="0"/>
                <a:ea typeface="Courier New" pitchFamily="34" charset="-122"/>
                <a:cs typeface="Courier New" pitchFamily="34" charset="-120"/>
              </a:rPr>
              <a:t>25s</a:t>
            </a:r>
            <a:endParaRPr lang="en-US" sz="800" dirty="0"/>
          </a:p>
        </p:txBody>
      </p:sp>
      <p:sp>
        <p:nvSpPr>
          <p:cNvPr id="25" name="Shape 23"/>
          <p:cNvSpPr/>
          <p:nvPr/>
        </p:nvSpPr>
        <p:spPr>
          <a:xfrm>
            <a:off x="10527487" y="2249424"/>
            <a:ext cx="0" cy="1572768"/>
          </a:xfrm>
          <a:prstGeom prst="line">
            <a:avLst/>
          </a:prstGeom>
          <a:noFill/>
          <a:ln w="12700">
            <a:solidFill>
              <a:srgbClr val="223029"/>
            </a:solidFill>
            <a:prstDash val="solid"/>
          </a:ln>
        </p:spPr>
      </p:sp>
      <p:sp>
        <p:nvSpPr>
          <p:cNvPr id="26" name="Text 24"/>
          <p:cNvSpPr txBox="1"/>
          <p:nvPr/>
        </p:nvSpPr>
        <p:spPr>
          <a:xfrm>
            <a:off x="10308031" y="3840480"/>
            <a:ext cx="438912" cy="182880"/>
          </a:xfrm>
          <a:prstGeom prst="rect">
            <a:avLst/>
          </a:prstGeom>
          <a:noFill/>
          <a:ln/>
        </p:spPr>
        <p:txBody>
          <a:bodyPr wrap="square" lIns="0" tIns="0" rIns="0" bIns="0" rtlCol="0" anchor="ctr"/>
          <a:lstStyle/>
          <a:p>
            <a:pPr algn="ctr" indent="0" marL="0">
              <a:buNone/>
            </a:pPr>
            <a:r>
              <a:rPr lang="en-US" sz="800" dirty="0">
                <a:solidFill>
                  <a:srgbClr val="5D7268"/>
                </a:solidFill>
                <a:latin typeface="Courier New" pitchFamily="34" charset="0"/>
                <a:ea typeface="Courier New" pitchFamily="34" charset="-122"/>
                <a:cs typeface="Courier New" pitchFamily="34" charset="-120"/>
              </a:rPr>
              <a:t>30s</a:t>
            </a:r>
            <a:endParaRPr lang="en-US" sz="800" dirty="0"/>
          </a:p>
        </p:txBody>
      </p:sp>
      <p:sp>
        <p:nvSpPr>
          <p:cNvPr id="27" name="Text 25"/>
          <p:cNvSpPr txBox="1"/>
          <p:nvPr/>
        </p:nvSpPr>
        <p:spPr>
          <a:xfrm>
            <a:off x="932688" y="2359152"/>
            <a:ext cx="2615184"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Live path (Moshi)</a:t>
            </a:r>
            <a:endParaRPr lang="en-US" sz="1000" dirty="0"/>
          </a:p>
        </p:txBody>
      </p:sp>
      <p:sp>
        <p:nvSpPr>
          <p:cNvPr id="28" name="Shape 26"/>
          <p:cNvSpPr/>
          <p:nvPr/>
        </p:nvSpPr>
        <p:spPr>
          <a:xfrm>
            <a:off x="3584448" y="2377440"/>
            <a:ext cx="465184" cy="164592"/>
          </a:xfrm>
          <a:prstGeom prst="roundRect">
            <a:avLst>
              <a:gd name="adj" fmla="val 27778"/>
            </a:avLst>
          </a:prstGeom>
          <a:solidFill>
            <a:srgbClr val="F9BF29"/>
          </a:solidFill>
          <a:ln/>
        </p:spPr>
      </p:sp>
      <p:sp>
        <p:nvSpPr>
          <p:cNvPr id="29" name="Text 27"/>
          <p:cNvSpPr txBox="1"/>
          <p:nvPr/>
        </p:nvSpPr>
        <p:spPr>
          <a:xfrm>
            <a:off x="4141072" y="2359152"/>
            <a:ext cx="914400" cy="219456"/>
          </a:xfrm>
          <a:prstGeom prst="rect">
            <a:avLst/>
          </a:prstGeom>
          <a:noFill/>
          <a:ln/>
        </p:spPr>
        <p:txBody>
          <a:bodyPr wrap="square" lIns="0" tIns="0" rIns="0" bIns="0" rtlCol="0" anchor="ctr"/>
          <a:lstStyle/>
          <a:p>
            <a:pPr algn="l" indent="0" marL="0">
              <a:buNone/>
            </a:pPr>
            <a:r>
              <a:rPr lang="en-US" sz="1000" b="1" dirty="0">
                <a:solidFill>
                  <a:srgbClr val="F9BF29"/>
                </a:solidFill>
                <a:latin typeface="Courier New" pitchFamily="34" charset="0"/>
                <a:ea typeface="Courier New" pitchFamily="34" charset="-122"/>
                <a:cs typeface="Courier New" pitchFamily="34" charset="-120"/>
              </a:rPr>
              <a:t>2.0 s</a:t>
            </a:r>
            <a:endParaRPr lang="en-US" sz="1000" dirty="0"/>
          </a:p>
        </p:txBody>
      </p:sp>
      <p:sp>
        <p:nvSpPr>
          <p:cNvPr id="30" name="Text 28"/>
          <p:cNvSpPr txBox="1"/>
          <p:nvPr/>
        </p:nvSpPr>
        <p:spPr>
          <a:xfrm>
            <a:off x="932688" y="2615184"/>
            <a:ext cx="2615184"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Cascade LLM, CUDA 13.3</a:t>
            </a:r>
            <a:endParaRPr lang="en-US" sz="1000" dirty="0"/>
          </a:p>
        </p:txBody>
      </p:sp>
      <p:sp>
        <p:nvSpPr>
          <p:cNvPr id="31" name="Shape 29"/>
          <p:cNvSpPr/>
          <p:nvPr/>
        </p:nvSpPr>
        <p:spPr>
          <a:xfrm>
            <a:off x="3584448" y="2633472"/>
            <a:ext cx="324008" cy="164592"/>
          </a:xfrm>
          <a:prstGeom prst="roundRect">
            <a:avLst>
              <a:gd name="adj" fmla="val 27778"/>
            </a:avLst>
          </a:prstGeom>
          <a:solidFill>
            <a:srgbClr val="007C54"/>
          </a:solidFill>
          <a:ln/>
        </p:spPr>
      </p:sp>
      <p:sp>
        <p:nvSpPr>
          <p:cNvPr id="32" name="Text 30"/>
          <p:cNvSpPr txBox="1"/>
          <p:nvPr/>
        </p:nvSpPr>
        <p:spPr>
          <a:xfrm>
            <a:off x="3999896" y="2615184"/>
            <a:ext cx="914400" cy="219456"/>
          </a:xfrm>
          <a:prstGeom prst="rect">
            <a:avLst/>
          </a:prstGeom>
          <a:noFill/>
          <a:ln/>
        </p:spPr>
        <p:txBody>
          <a:bodyPr wrap="square" lIns="0" tIns="0" rIns="0" bIns="0" rtlCol="0" anchor="ctr"/>
          <a:lstStyle/>
          <a:p>
            <a:pPr algn="l" indent="0" marL="0">
              <a:buNone/>
            </a:pPr>
            <a:r>
              <a:rPr lang="en-US" sz="1000" b="1" dirty="0">
                <a:solidFill>
                  <a:srgbClr val="007C54"/>
                </a:solidFill>
                <a:latin typeface="Courier New" pitchFamily="34" charset="0"/>
                <a:ea typeface="Courier New" pitchFamily="34" charset="-122"/>
                <a:cs typeface="Courier New" pitchFamily="34" charset="-120"/>
              </a:rPr>
              <a:t>1.4 s</a:t>
            </a:r>
            <a:endParaRPr lang="en-US" sz="1000" dirty="0"/>
          </a:p>
        </p:txBody>
      </p:sp>
      <p:sp>
        <p:nvSpPr>
          <p:cNvPr id="33" name="Text 31"/>
          <p:cNvSpPr txBox="1"/>
          <p:nvPr/>
        </p:nvSpPr>
        <p:spPr>
          <a:xfrm>
            <a:off x="932688" y="2871216"/>
            <a:ext cx="2615184"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Spoken, no retrieval</a:t>
            </a:r>
            <a:endParaRPr lang="en-US" sz="1000" dirty="0"/>
          </a:p>
        </p:txBody>
      </p:sp>
      <p:sp>
        <p:nvSpPr>
          <p:cNvPr id="34" name="Shape 32"/>
          <p:cNvSpPr/>
          <p:nvPr/>
        </p:nvSpPr>
        <p:spPr>
          <a:xfrm>
            <a:off x="3584448" y="2889504"/>
            <a:ext cx="179593" cy="164592"/>
          </a:xfrm>
          <a:prstGeom prst="roundRect">
            <a:avLst>
              <a:gd name="adj" fmla="val 27778"/>
            </a:avLst>
          </a:prstGeom>
          <a:solidFill>
            <a:srgbClr val="3B5D50"/>
          </a:solidFill>
          <a:ln/>
        </p:spPr>
      </p:sp>
      <p:sp>
        <p:nvSpPr>
          <p:cNvPr id="35" name="Shape 33"/>
          <p:cNvSpPr/>
          <p:nvPr/>
        </p:nvSpPr>
        <p:spPr>
          <a:xfrm>
            <a:off x="3764041" y="2889504"/>
            <a:ext cx="2082912" cy="164592"/>
          </a:xfrm>
          <a:prstGeom prst="roundRect">
            <a:avLst>
              <a:gd name="adj" fmla="val 27778"/>
            </a:avLst>
          </a:prstGeom>
          <a:solidFill>
            <a:srgbClr val="6F9C8A"/>
          </a:solidFill>
          <a:ln/>
        </p:spPr>
      </p:sp>
      <p:sp>
        <p:nvSpPr>
          <p:cNvPr id="36" name="Text 34"/>
          <p:cNvSpPr txBox="1"/>
          <p:nvPr/>
        </p:nvSpPr>
        <p:spPr>
          <a:xfrm>
            <a:off x="3764041" y="2889504"/>
            <a:ext cx="2082912" cy="164592"/>
          </a:xfrm>
          <a:prstGeom prst="rect">
            <a:avLst/>
          </a:prstGeom>
          <a:noFill/>
          <a:ln/>
        </p:spPr>
        <p:txBody>
          <a:bodyPr wrap="square" lIns="0" tIns="0" rIns="0" bIns="0" rtlCol="0" anchor="ctr"/>
          <a:lstStyle/>
          <a:p>
            <a:pPr algn="ctr" indent="0" marL="0">
              <a:buNone/>
            </a:pPr>
            <a:r>
              <a:rPr lang="en-US" sz="800" b="1" dirty="0">
                <a:solidFill>
                  <a:srgbClr val="0A0F0D"/>
                </a:solidFill>
                <a:latin typeface="Courier New" pitchFamily="34" charset="0"/>
                <a:ea typeface="Courier New" pitchFamily="34" charset="-122"/>
                <a:cs typeface="Courier New" pitchFamily="34" charset="-120"/>
              </a:rPr>
              <a:t>generate</a:t>
            </a:r>
            <a:endParaRPr lang="en-US" sz="800" dirty="0"/>
          </a:p>
        </p:txBody>
      </p:sp>
      <p:sp>
        <p:nvSpPr>
          <p:cNvPr id="37" name="Text 35"/>
          <p:cNvSpPr txBox="1"/>
          <p:nvPr/>
        </p:nvSpPr>
        <p:spPr>
          <a:xfrm>
            <a:off x="5938393" y="2871216"/>
            <a:ext cx="914400" cy="219456"/>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9.8 s</a:t>
            </a:r>
            <a:endParaRPr lang="en-US" sz="1000" dirty="0"/>
          </a:p>
        </p:txBody>
      </p:sp>
      <p:sp>
        <p:nvSpPr>
          <p:cNvPr id="38" name="Text 36"/>
          <p:cNvSpPr txBox="1"/>
          <p:nvPr/>
        </p:nvSpPr>
        <p:spPr>
          <a:xfrm>
            <a:off x="932688" y="3127248"/>
            <a:ext cx="2615184"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Typed, with retrieval</a:t>
            </a:r>
            <a:endParaRPr lang="en-US" sz="1000" dirty="0"/>
          </a:p>
        </p:txBody>
      </p:sp>
      <p:sp>
        <p:nvSpPr>
          <p:cNvPr id="39" name="Shape 37"/>
          <p:cNvSpPr/>
          <p:nvPr/>
        </p:nvSpPr>
        <p:spPr>
          <a:xfrm>
            <a:off x="3584448" y="3145536"/>
            <a:ext cx="27432" cy="164592"/>
          </a:xfrm>
          <a:prstGeom prst="roundRect">
            <a:avLst>
              <a:gd name="adj" fmla="val 166667"/>
            </a:avLst>
          </a:prstGeom>
          <a:solidFill>
            <a:srgbClr val="3B5D50"/>
          </a:solidFill>
          <a:ln/>
        </p:spPr>
      </p:sp>
      <p:sp>
        <p:nvSpPr>
          <p:cNvPr id="40" name="Shape 38"/>
          <p:cNvSpPr/>
          <p:nvPr/>
        </p:nvSpPr>
        <p:spPr>
          <a:xfrm>
            <a:off x="3611880" y="3145536"/>
            <a:ext cx="3471520" cy="164592"/>
          </a:xfrm>
          <a:prstGeom prst="roundRect">
            <a:avLst>
              <a:gd name="adj" fmla="val 27778"/>
            </a:avLst>
          </a:prstGeom>
          <a:solidFill>
            <a:srgbClr val="6F9C8A"/>
          </a:solidFill>
          <a:ln/>
        </p:spPr>
      </p:sp>
      <p:sp>
        <p:nvSpPr>
          <p:cNvPr id="41" name="Text 39"/>
          <p:cNvSpPr txBox="1"/>
          <p:nvPr/>
        </p:nvSpPr>
        <p:spPr>
          <a:xfrm>
            <a:off x="3611880" y="3145536"/>
            <a:ext cx="3471520" cy="164592"/>
          </a:xfrm>
          <a:prstGeom prst="rect">
            <a:avLst/>
          </a:prstGeom>
          <a:noFill/>
          <a:ln/>
        </p:spPr>
        <p:txBody>
          <a:bodyPr wrap="square" lIns="0" tIns="0" rIns="0" bIns="0" rtlCol="0" anchor="ctr"/>
          <a:lstStyle/>
          <a:p>
            <a:pPr algn="ctr" indent="0" marL="0">
              <a:buNone/>
            </a:pPr>
            <a:r>
              <a:rPr lang="en-US" sz="800" b="1" dirty="0">
                <a:solidFill>
                  <a:srgbClr val="0A0F0D"/>
                </a:solidFill>
                <a:latin typeface="Courier New" pitchFamily="34" charset="0"/>
                <a:ea typeface="Courier New" pitchFamily="34" charset="-122"/>
                <a:cs typeface="Courier New" pitchFamily="34" charset="-120"/>
              </a:rPr>
              <a:t>generate</a:t>
            </a:r>
            <a:endParaRPr lang="en-US" sz="800" dirty="0"/>
          </a:p>
        </p:txBody>
      </p:sp>
      <p:sp>
        <p:nvSpPr>
          <p:cNvPr id="42" name="Text 40"/>
          <p:cNvSpPr txBox="1"/>
          <p:nvPr/>
        </p:nvSpPr>
        <p:spPr>
          <a:xfrm>
            <a:off x="7174840" y="3127248"/>
            <a:ext cx="914400" cy="219456"/>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~15 s</a:t>
            </a:r>
            <a:endParaRPr lang="en-US" sz="1000" dirty="0"/>
          </a:p>
        </p:txBody>
      </p:sp>
      <p:sp>
        <p:nvSpPr>
          <p:cNvPr id="43" name="Text 41"/>
          <p:cNvSpPr txBox="1"/>
          <p:nvPr/>
        </p:nvSpPr>
        <p:spPr>
          <a:xfrm>
            <a:off x="932688" y="3383280"/>
            <a:ext cx="2615184"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First turn, cold caches</a:t>
            </a:r>
            <a:endParaRPr lang="en-US" sz="1000" dirty="0"/>
          </a:p>
        </p:txBody>
      </p:sp>
      <p:sp>
        <p:nvSpPr>
          <p:cNvPr id="44" name="Shape 42"/>
          <p:cNvSpPr/>
          <p:nvPr/>
        </p:nvSpPr>
        <p:spPr>
          <a:xfrm>
            <a:off x="3584448" y="3401568"/>
            <a:ext cx="1041456" cy="164592"/>
          </a:xfrm>
          <a:prstGeom prst="roundRect">
            <a:avLst>
              <a:gd name="adj" fmla="val 27778"/>
            </a:avLst>
          </a:prstGeom>
          <a:solidFill>
            <a:srgbClr val="3B5D50"/>
          </a:solidFill>
          <a:ln/>
        </p:spPr>
      </p:sp>
      <p:sp>
        <p:nvSpPr>
          <p:cNvPr id="45" name="Text 43"/>
          <p:cNvSpPr txBox="1"/>
          <p:nvPr/>
        </p:nvSpPr>
        <p:spPr>
          <a:xfrm>
            <a:off x="3584448" y="3401568"/>
            <a:ext cx="1041456" cy="164592"/>
          </a:xfrm>
          <a:prstGeom prst="rect">
            <a:avLst/>
          </a:prstGeom>
          <a:noFill/>
          <a:ln/>
        </p:spPr>
        <p:txBody>
          <a:bodyPr wrap="square" lIns="0" tIns="0" rIns="0" bIns="0" rtlCol="0" anchor="ctr"/>
          <a:lstStyle/>
          <a:p>
            <a:pPr algn="ctr" indent="0" marL="0">
              <a:buNone/>
            </a:pPr>
            <a:r>
              <a:rPr lang="en-US" sz="800" b="1" dirty="0">
                <a:solidFill>
                  <a:srgbClr val="0A0F0D"/>
                </a:solidFill>
                <a:latin typeface="Courier New" pitchFamily="34" charset="0"/>
                <a:ea typeface="Courier New" pitchFamily="34" charset="-122"/>
                <a:cs typeface="Courier New" pitchFamily="34" charset="-120"/>
              </a:rPr>
              <a:t>retrieval</a:t>
            </a:r>
            <a:endParaRPr lang="en-US" sz="800" dirty="0"/>
          </a:p>
        </p:txBody>
      </p:sp>
      <p:sp>
        <p:nvSpPr>
          <p:cNvPr id="46" name="Shape 44"/>
          <p:cNvSpPr/>
          <p:nvPr/>
        </p:nvSpPr>
        <p:spPr>
          <a:xfrm>
            <a:off x="4625904" y="3401568"/>
            <a:ext cx="3818672" cy="164592"/>
          </a:xfrm>
          <a:prstGeom prst="roundRect">
            <a:avLst>
              <a:gd name="adj" fmla="val 27778"/>
            </a:avLst>
          </a:prstGeom>
          <a:solidFill>
            <a:srgbClr val="6F9C8A"/>
          </a:solidFill>
          <a:ln/>
        </p:spPr>
      </p:sp>
      <p:sp>
        <p:nvSpPr>
          <p:cNvPr id="47" name="Text 45"/>
          <p:cNvSpPr txBox="1"/>
          <p:nvPr/>
        </p:nvSpPr>
        <p:spPr>
          <a:xfrm>
            <a:off x="4625904" y="3401568"/>
            <a:ext cx="3818672" cy="164592"/>
          </a:xfrm>
          <a:prstGeom prst="rect">
            <a:avLst/>
          </a:prstGeom>
          <a:noFill/>
          <a:ln/>
        </p:spPr>
        <p:txBody>
          <a:bodyPr wrap="square" lIns="0" tIns="0" rIns="0" bIns="0" rtlCol="0" anchor="ctr"/>
          <a:lstStyle/>
          <a:p>
            <a:pPr algn="ctr" indent="0" marL="0">
              <a:buNone/>
            </a:pPr>
            <a:r>
              <a:rPr lang="en-US" sz="800" b="1" dirty="0">
                <a:solidFill>
                  <a:srgbClr val="0A0F0D"/>
                </a:solidFill>
                <a:latin typeface="Courier New" pitchFamily="34" charset="0"/>
                <a:ea typeface="Courier New" pitchFamily="34" charset="-122"/>
                <a:cs typeface="Courier New" pitchFamily="34" charset="-120"/>
              </a:rPr>
              <a:t>generate</a:t>
            </a:r>
            <a:endParaRPr lang="en-US" sz="800" dirty="0"/>
          </a:p>
        </p:txBody>
      </p:sp>
      <p:sp>
        <p:nvSpPr>
          <p:cNvPr id="48" name="Text 46"/>
          <p:cNvSpPr txBox="1"/>
          <p:nvPr/>
        </p:nvSpPr>
        <p:spPr>
          <a:xfrm>
            <a:off x="8536015" y="3383280"/>
            <a:ext cx="914400" cy="219456"/>
          </a:xfrm>
          <a:prstGeom prst="rect">
            <a:avLst/>
          </a:prstGeom>
          <a:noFill/>
          <a:ln/>
        </p:spPr>
        <p:txBody>
          <a:bodyPr wrap="square" lIns="0" tIns="0" rIns="0" bIns="0" rtlCol="0" anchor="ctr"/>
          <a:lstStyle/>
          <a:p>
            <a:pPr algn="l" indent="0" marL="0">
              <a:buNone/>
            </a:pPr>
            <a:r>
              <a:rPr lang="en-US" sz="1000" b="1" dirty="0">
                <a:solidFill>
                  <a:srgbClr val="6F9C8A"/>
                </a:solidFill>
                <a:latin typeface="Courier New" pitchFamily="34" charset="0"/>
                <a:ea typeface="Courier New" pitchFamily="34" charset="-122"/>
                <a:cs typeface="Courier New" pitchFamily="34" charset="-120"/>
              </a:rPr>
              <a:t>~21 s</a:t>
            </a:r>
            <a:endParaRPr lang="en-US" sz="1000" dirty="0"/>
          </a:p>
        </p:txBody>
      </p:sp>
      <p:sp>
        <p:nvSpPr>
          <p:cNvPr id="49" name="Text 47"/>
          <p:cNvSpPr txBox="1"/>
          <p:nvPr/>
        </p:nvSpPr>
        <p:spPr>
          <a:xfrm>
            <a:off x="932688" y="3639312"/>
            <a:ext cx="2615184" cy="219456"/>
          </a:xfrm>
          <a:prstGeom prst="rect">
            <a:avLst/>
          </a:prstGeom>
          <a:noFill/>
          <a:ln/>
        </p:spPr>
        <p:txBody>
          <a:bodyPr wrap="square" lIns="0" tIns="0" rIns="0" bIns="0" rtlCol="0" anchor="t"/>
          <a:lstStyle/>
          <a:p>
            <a:pPr algn="l" indent="0" marL="0">
              <a:lnSpc>
                <a:spcPct val="120000"/>
              </a:lnSpc>
              <a:buNone/>
            </a:pPr>
            <a:r>
              <a:rPr lang="en-US" sz="1000" dirty="0">
                <a:solidFill>
                  <a:srgbClr val="DCE5E4"/>
                </a:solidFill>
                <a:latin typeface="Calibri" pitchFamily="34" charset="0"/>
                <a:ea typeface="Calibri" pitchFamily="34" charset="-122"/>
                <a:cs typeface="Calibri" pitchFamily="34" charset="-120"/>
              </a:rPr>
              <a:t>Observed in the UI</a:t>
            </a:r>
            <a:endParaRPr lang="en-US" sz="1000" dirty="0"/>
          </a:p>
        </p:txBody>
      </p:sp>
      <p:sp>
        <p:nvSpPr>
          <p:cNvPr id="50" name="Shape 48"/>
          <p:cNvSpPr/>
          <p:nvPr/>
        </p:nvSpPr>
        <p:spPr>
          <a:xfrm>
            <a:off x="3584448" y="3657600"/>
            <a:ext cx="1046085" cy="164592"/>
          </a:xfrm>
          <a:prstGeom prst="roundRect">
            <a:avLst>
              <a:gd name="adj" fmla="val 27778"/>
            </a:avLst>
          </a:prstGeom>
          <a:solidFill>
            <a:srgbClr val="3B5D50"/>
          </a:solidFill>
          <a:ln/>
        </p:spPr>
      </p:sp>
      <p:sp>
        <p:nvSpPr>
          <p:cNvPr id="51" name="Text 49"/>
          <p:cNvSpPr txBox="1"/>
          <p:nvPr/>
        </p:nvSpPr>
        <p:spPr>
          <a:xfrm>
            <a:off x="3584448" y="3657600"/>
            <a:ext cx="1046085" cy="164592"/>
          </a:xfrm>
          <a:prstGeom prst="rect">
            <a:avLst/>
          </a:prstGeom>
          <a:noFill/>
          <a:ln/>
        </p:spPr>
        <p:txBody>
          <a:bodyPr wrap="square" lIns="0" tIns="0" rIns="0" bIns="0" rtlCol="0" anchor="ctr"/>
          <a:lstStyle/>
          <a:p>
            <a:pPr algn="ctr" indent="0" marL="0">
              <a:buNone/>
            </a:pPr>
            <a:r>
              <a:rPr lang="en-US" sz="800" b="1" dirty="0">
                <a:solidFill>
                  <a:srgbClr val="0A0F0D"/>
                </a:solidFill>
                <a:latin typeface="Courier New" pitchFamily="34" charset="0"/>
                <a:ea typeface="Courier New" pitchFamily="34" charset="-122"/>
                <a:cs typeface="Courier New" pitchFamily="34" charset="-120"/>
              </a:rPr>
              <a:t>search</a:t>
            </a:r>
            <a:endParaRPr lang="en-US" sz="800" dirty="0"/>
          </a:p>
        </p:txBody>
      </p:sp>
      <p:sp>
        <p:nvSpPr>
          <p:cNvPr id="52" name="Shape 50"/>
          <p:cNvSpPr/>
          <p:nvPr/>
        </p:nvSpPr>
        <p:spPr>
          <a:xfrm>
            <a:off x="4630533" y="3657600"/>
            <a:ext cx="5457229" cy="164592"/>
          </a:xfrm>
          <a:prstGeom prst="roundRect">
            <a:avLst>
              <a:gd name="adj" fmla="val 27778"/>
            </a:avLst>
          </a:prstGeom>
          <a:solidFill>
            <a:srgbClr val="C78200"/>
          </a:solidFill>
          <a:ln/>
        </p:spPr>
      </p:sp>
      <p:sp>
        <p:nvSpPr>
          <p:cNvPr id="53" name="Text 51"/>
          <p:cNvSpPr txBox="1"/>
          <p:nvPr/>
        </p:nvSpPr>
        <p:spPr>
          <a:xfrm>
            <a:off x="4630533" y="3657600"/>
            <a:ext cx="5457229" cy="164592"/>
          </a:xfrm>
          <a:prstGeom prst="rect">
            <a:avLst/>
          </a:prstGeom>
          <a:noFill/>
          <a:ln/>
        </p:spPr>
        <p:txBody>
          <a:bodyPr wrap="square" lIns="0" tIns="0" rIns="0" bIns="0" rtlCol="0" anchor="ctr"/>
          <a:lstStyle/>
          <a:p>
            <a:pPr algn="ctr" indent="0" marL="0">
              <a:buNone/>
            </a:pPr>
            <a:r>
              <a:rPr lang="en-US" sz="800" b="1" dirty="0">
                <a:solidFill>
                  <a:srgbClr val="0A0F0D"/>
                </a:solidFill>
                <a:latin typeface="Courier New" pitchFamily="34" charset="0"/>
                <a:ea typeface="Courier New" pitchFamily="34" charset="-122"/>
                <a:cs typeface="Courier New" pitchFamily="34" charset="-120"/>
              </a:rPr>
              <a:t>generate</a:t>
            </a:r>
            <a:endParaRPr lang="en-US" sz="800" dirty="0"/>
          </a:p>
        </p:txBody>
      </p:sp>
      <p:sp>
        <p:nvSpPr>
          <p:cNvPr id="54" name="Text 52"/>
          <p:cNvSpPr txBox="1"/>
          <p:nvPr/>
        </p:nvSpPr>
        <p:spPr>
          <a:xfrm>
            <a:off x="10179201" y="3639312"/>
            <a:ext cx="914400" cy="219456"/>
          </a:xfrm>
          <a:prstGeom prst="rect">
            <a:avLst/>
          </a:prstGeom>
          <a:noFill/>
          <a:ln/>
        </p:spPr>
        <p:txBody>
          <a:bodyPr wrap="square" lIns="0" tIns="0" rIns="0" bIns="0" rtlCol="0" anchor="ctr"/>
          <a:lstStyle/>
          <a:p>
            <a:pPr algn="l" indent="0" marL="0">
              <a:buNone/>
            </a:pPr>
            <a:r>
              <a:rPr lang="en-US" sz="1000" b="1" dirty="0">
                <a:solidFill>
                  <a:srgbClr val="C78200"/>
                </a:solidFill>
                <a:latin typeface="Courier New" pitchFamily="34" charset="0"/>
                <a:ea typeface="Courier New" pitchFamily="34" charset="-122"/>
                <a:cs typeface="Courier New" pitchFamily="34" charset="-120"/>
              </a:rPr>
              <a:t>28.11 s</a:t>
            </a:r>
            <a:endParaRPr lang="en-US" sz="1000" dirty="0"/>
          </a:p>
        </p:txBody>
      </p:sp>
      <p:sp>
        <p:nvSpPr>
          <p:cNvPr id="55" name="Text 53"/>
          <p:cNvSpPr txBox="1"/>
          <p:nvPr/>
        </p:nvSpPr>
        <p:spPr>
          <a:xfrm>
            <a:off x="932688" y="3950208"/>
            <a:ext cx="8595360" cy="219456"/>
          </a:xfrm>
          <a:prstGeom prst="rect">
            <a:avLst/>
          </a:prstGeom>
          <a:noFill/>
          <a:ln/>
        </p:spPr>
        <p:txBody>
          <a:bodyPr wrap="square" lIns="0" tIns="0" rIns="0" bIns="0" rtlCol="0" anchor="t"/>
          <a:lstStyle/>
          <a:p>
            <a:pPr algn="l" indent="0" marL="0">
              <a:lnSpc>
                <a:spcPct val="120000"/>
              </a:lnSpc>
              <a:buNone/>
            </a:pPr>
            <a:r>
              <a:rPr lang="en-US" sz="1000" i="1" dirty="0">
                <a:solidFill>
                  <a:srgbClr val="8CA096"/>
                </a:solidFill>
                <a:latin typeface="Calibri" pitchFamily="34" charset="0"/>
                <a:ea typeface="Calibri" pitchFamily="34" charset="-122"/>
                <a:cs typeface="Calibri" pitchFamily="34" charset="-120"/>
              </a:rPr>
              <a:t>Generation dominates completely. Retrieval settles at 25 ms once the embedding model is warm, speech-to-text is under a second, and everything else is noise.</a:t>
            </a:r>
            <a:endParaRPr lang="en-US" sz="1000" dirty="0"/>
          </a:p>
        </p:txBody>
      </p:sp>
      <p:sp>
        <p:nvSpPr>
          <p:cNvPr id="56" name="Shape 54"/>
          <p:cNvSpPr/>
          <p:nvPr/>
        </p:nvSpPr>
        <p:spPr>
          <a:xfrm>
            <a:off x="658368" y="4370832"/>
            <a:ext cx="3529584" cy="1664208"/>
          </a:xfrm>
          <a:prstGeom prst="roundRect">
            <a:avLst>
              <a:gd name="adj" fmla="val 8791"/>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57" name="Text 55"/>
          <p:cNvSpPr txBox="1"/>
          <p:nvPr/>
        </p:nvSpPr>
        <p:spPr>
          <a:xfrm>
            <a:off x="859536" y="4498848"/>
            <a:ext cx="3127248" cy="256032"/>
          </a:xfrm>
          <a:prstGeom prst="rect">
            <a:avLst/>
          </a:prstGeom>
          <a:noFill/>
          <a:ln/>
        </p:spPr>
        <p:txBody>
          <a:bodyPr wrap="square" lIns="0" tIns="0" rIns="0" bIns="0" rtlCol="0" anchor="t"/>
          <a:lstStyle/>
          <a:p>
            <a:pPr algn="l" indent="0" marL="0">
              <a:lnSpc>
                <a:spcPct val="120000"/>
              </a:lnSpc>
              <a:buNone/>
            </a:pPr>
            <a:r>
              <a:rPr lang="en-US" sz="1150" b="1" dirty="0">
                <a:solidFill>
                  <a:srgbClr val="6F9C8A"/>
                </a:solidFill>
                <a:latin typeface="Calibri" pitchFamily="34" charset="0"/>
                <a:ea typeface="Calibri" pitchFamily="34" charset="-122"/>
                <a:cs typeface="Calibri" pitchFamily="34" charset="-120"/>
              </a:rPr>
              <a:t>Cap retrieved excerpts at 700 characters</a:t>
            </a:r>
            <a:endParaRPr lang="en-US" sz="1150" dirty="0"/>
          </a:p>
        </p:txBody>
      </p:sp>
      <p:sp>
        <p:nvSpPr>
          <p:cNvPr id="58" name="Text 56"/>
          <p:cNvSpPr txBox="1"/>
          <p:nvPr/>
        </p:nvSpPr>
        <p:spPr>
          <a:xfrm>
            <a:off x="859536" y="4773168"/>
            <a:ext cx="3127248" cy="1152144"/>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Four ~512-token chunks contributed 2,023 tokens of a 3,167-token prompt — 64% of it — and prompt processing is what a CPU model spends its time on. Truncating on a sentence boundary cut the prompt to 1,666 tokens. The interface still receives the full excerpt; only the model's copy is trimmed.</a:t>
            </a:r>
            <a:endParaRPr lang="en-US" sz="950" dirty="0"/>
          </a:p>
        </p:txBody>
      </p:sp>
      <p:sp>
        <p:nvSpPr>
          <p:cNvPr id="59" name="Shape 57"/>
          <p:cNvSpPr/>
          <p:nvPr/>
        </p:nvSpPr>
        <p:spPr>
          <a:xfrm>
            <a:off x="4352544" y="4370832"/>
            <a:ext cx="3529584" cy="1664208"/>
          </a:xfrm>
          <a:prstGeom prst="roundRect">
            <a:avLst>
              <a:gd name="adj" fmla="val 8791"/>
            </a:avLst>
          </a:prstGeom>
          <a:solidFill>
            <a:srgbClr val="141D19">
              <a:alpha val="78000"/>
            </a:srgbClr>
          </a:solidFill>
          <a:ln w="12700">
            <a:solidFill>
              <a:srgbClr val="223029"/>
            </a:solidFill>
            <a:prstDash val="solid"/>
          </a:ln>
          <a:effectLst>
            <a:outerShdw sx="100000" sy="100000" kx="0" ky="0" algn="bl" rotWithShape="0" blurRad="152400" dist="25400" dir="5400000">
              <a:srgbClr val="000000">
                <a:alpha val="16000"/>
              </a:srgbClr>
            </a:outerShdw>
          </a:effectLst>
        </p:spPr>
      </p:sp>
      <p:sp>
        <p:nvSpPr>
          <p:cNvPr id="60" name="Text 58"/>
          <p:cNvSpPr txBox="1"/>
          <p:nvPr/>
        </p:nvSpPr>
        <p:spPr>
          <a:xfrm>
            <a:off x="4553712" y="4498848"/>
            <a:ext cx="3127248" cy="256032"/>
          </a:xfrm>
          <a:prstGeom prst="rect">
            <a:avLst/>
          </a:prstGeom>
          <a:noFill/>
          <a:ln/>
        </p:spPr>
        <p:txBody>
          <a:bodyPr wrap="square" lIns="0" tIns="0" rIns="0" bIns="0" rtlCol="0" anchor="t"/>
          <a:lstStyle/>
          <a:p>
            <a:pPr algn="l" indent="0" marL="0">
              <a:lnSpc>
                <a:spcPct val="120000"/>
              </a:lnSpc>
              <a:buNone/>
            </a:pPr>
            <a:r>
              <a:rPr lang="en-US" sz="1150" b="1" dirty="0">
                <a:solidFill>
                  <a:srgbClr val="6F9C8A"/>
                </a:solidFill>
                <a:latin typeface="Calibri" pitchFamily="34" charset="0"/>
                <a:ea typeface="Calibri" pitchFamily="34" charset="-122"/>
                <a:cs typeface="Calibri" pitchFamily="34" charset="-120"/>
              </a:rPr>
              <a:t>Cut the generation cap from 420 tokens to 200</a:t>
            </a:r>
            <a:endParaRPr lang="en-US" sz="1150" dirty="0"/>
          </a:p>
        </p:txBody>
      </p:sp>
      <p:sp>
        <p:nvSpPr>
          <p:cNvPr id="61" name="Text 59"/>
          <p:cNvSpPr txBox="1"/>
          <p:nvPr/>
        </p:nvSpPr>
        <p:spPr>
          <a:xfrm>
            <a:off x="4553712" y="4773168"/>
            <a:ext cx="3127248" cy="1152144"/>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The system prompt asks for two to four spoken sentences, about 120 tokens. At single-digit tokens per second on CPU, a 420-token budget funds a minute of latency for output nobody wants read aloud.</a:t>
            </a:r>
            <a:endParaRPr lang="en-US" sz="950" dirty="0"/>
          </a:p>
        </p:txBody>
      </p:sp>
      <p:sp>
        <p:nvSpPr>
          <p:cNvPr id="62" name="Shape 60"/>
          <p:cNvSpPr/>
          <p:nvPr/>
        </p:nvSpPr>
        <p:spPr>
          <a:xfrm>
            <a:off x="8046720" y="4370832"/>
            <a:ext cx="3483864" cy="1664208"/>
          </a:xfrm>
          <a:prstGeom prst="roundRect">
            <a:avLst>
              <a:gd name="adj" fmla="val 8791"/>
            </a:avLst>
          </a:prstGeom>
          <a:solidFill>
            <a:srgbClr val="141D19">
              <a:alpha val="88000"/>
            </a:srgbClr>
          </a:solidFill>
          <a:ln w="12700">
            <a:solidFill>
              <a:srgbClr val="B8891A"/>
            </a:solidFill>
            <a:prstDash val="solid"/>
          </a:ln>
          <a:effectLst>
            <a:outerShdw sx="100000" sy="100000" kx="0" ky="0" algn="bl" rotWithShape="0" blurRad="152400" dist="25400" dir="5400000">
              <a:srgbClr val="000000">
                <a:alpha val="16000"/>
              </a:srgbClr>
            </a:outerShdw>
          </a:effectLst>
        </p:spPr>
      </p:sp>
      <p:sp>
        <p:nvSpPr>
          <p:cNvPr id="63" name="Text 61"/>
          <p:cNvSpPr txBox="1"/>
          <p:nvPr/>
        </p:nvSpPr>
        <p:spPr>
          <a:xfrm>
            <a:off x="8247888" y="4480560"/>
            <a:ext cx="3108960" cy="384048"/>
          </a:xfrm>
          <a:prstGeom prst="rect">
            <a:avLst/>
          </a:prstGeom>
          <a:noFill/>
          <a:ln/>
        </p:spPr>
        <p:txBody>
          <a:bodyPr wrap="square" lIns="0" tIns="0" rIns="0" bIns="0" rtlCol="0" anchor="t"/>
          <a:lstStyle/>
          <a:p>
            <a:pPr algn="l" indent="0" marL="0">
              <a:lnSpc>
                <a:spcPct val="120000"/>
              </a:lnSpc>
              <a:buNone/>
            </a:pPr>
            <a:r>
              <a:rPr lang="en-US" sz="1800" b="1" dirty="0">
                <a:solidFill>
                  <a:srgbClr val="F9BF29"/>
                </a:solidFill>
                <a:latin typeface="Calibri" pitchFamily="34" charset="0"/>
                <a:ea typeface="Calibri" pitchFamily="34" charset="-122"/>
                <a:cs typeface="Calibri" pitchFamily="34" charset="-120"/>
              </a:rPr>
              <a:t>50 s → ~15 s → 1.4 s</a:t>
            </a:r>
            <a:endParaRPr lang="en-US" sz="1800" dirty="0"/>
          </a:p>
        </p:txBody>
      </p:sp>
      <p:sp>
        <p:nvSpPr>
          <p:cNvPr id="64" name="Text 62"/>
          <p:cNvSpPr txBox="1"/>
          <p:nvPr/>
        </p:nvSpPr>
        <p:spPr>
          <a:xfrm>
            <a:off x="8247888" y="4937760"/>
            <a:ext cx="3108960" cy="987552"/>
          </a:xfrm>
          <a:prstGeom prst="rect">
            <a:avLst/>
          </a:prstGeom>
          <a:noFill/>
          <a:ln/>
        </p:spPr>
        <p:txBody>
          <a:bodyPr wrap="square" lIns="0" tIns="0" rIns="0" bIns="0" rtlCol="0" anchor="t"/>
          <a:lstStyle/>
          <a:p>
            <a:pPr algn="l" indent="0" marL="0">
              <a:lnSpc>
                <a:spcPct val="114000"/>
              </a:lnSpc>
              <a:buNone/>
            </a:pPr>
            <a:r>
              <a:rPr lang="en-US" sz="950" dirty="0">
                <a:solidFill>
                  <a:srgbClr val="8CA096"/>
                </a:solidFill>
                <a:latin typeface="Calibri" pitchFamily="34" charset="0"/>
                <a:ea typeface="Calibri" pitchFamily="34" charset="-122"/>
                <a:cs typeface="Calibri" pitchFamily="34" charset="-120"/>
              </a:rPr>
              <a:t>The two prompt optimizations took a turn from 50 s to about 15. The serving build took it to 1.4. Quantization contributed 3.2× and the build flag 43×, which is the ranking worth remembering: how a model is served can matter more than how it is compressed.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Speech Confidence Coach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Confidence Coach — graduation project defence</dc:title>
  <dc:subject>Native speech-to-speech AI for communication practice</dc:subject>
  <dc:creator>Ali Mohammed Abdelmgeed · Youssef Elmegharbel</dc:creator>
  <cp:lastModifiedBy>Ali Mohammed Abdelmgeed · Youssef Elmegharbel</cp:lastModifiedBy>
  <cp:revision>1</cp:revision>
  <dcterms:created xsi:type="dcterms:W3CDTF">2026-09-07T09:40:30Z</dcterms:created>
  <dcterms:modified xsi:type="dcterms:W3CDTF">2026-09-07T09:40:30Z</dcterms:modified>
</cp:coreProperties>
</file>